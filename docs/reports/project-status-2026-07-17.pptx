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3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84264"/>
            <a:ext cx="12191695" cy="173736"/>
          </a:xfrm>
          <a:prstGeom prst="rect">
            <a:avLst/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600000">
            <a:off x="7772400" y="0"/>
            <a:ext cx="4389120" cy="4389120"/>
          </a:xfrm>
          <a:prstGeom prst="arc">
            <a:avLst/>
          </a:prstGeom>
          <a:solidFill>
            <a:srgbClr val="16B8A6">
              <a:alpha val="16000"/>
            </a:srgbClr>
          </a:solidFill>
          <a:ln w="12700">
            <a:solidFill>
              <a:srgbClr val="16B8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2000000">
            <a:off x="8321040" y="2194560"/>
            <a:ext cx="3749040" cy="3749040"/>
          </a:xfrm>
          <a:prstGeom prst="arc">
            <a:avLst/>
          </a:prstGeom>
          <a:solidFill>
            <a:srgbClr val="4FB6D3">
              <a:alpha val="18000"/>
            </a:srgbClr>
          </a:solidFill>
          <a:ln w="12700">
            <a:solidFill>
              <a:srgbClr val="4FB6D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658368"/>
            <a:ext cx="2331720" cy="310896"/>
          </a:xfrm>
          <a:prstGeom prst="roundRect">
            <a:avLst>
              <a:gd name="adj" fmla="val 23529"/>
            </a:avLst>
          </a:prstGeom>
          <a:solidFill>
            <a:srgbClr val="123E4A"/>
          </a:solidFill>
          <a:ln w="12700">
            <a:solidFill>
              <a:srgbClr val="123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66751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6D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STATUS · 2026.07.17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142646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85800" y="2112264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每日项目状态汇报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713232" y="288950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8D8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零代码应用生成平台｜面向项目维护者与团队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977640"/>
            <a:ext cx="4892040" cy="1298448"/>
          </a:xfrm>
          <a:prstGeom prst="roundRect">
            <a:avLst>
              <a:gd name="adj" fmla="val 5634"/>
            </a:avLst>
          </a:prstGeom>
          <a:solidFill>
            <a:srgbClr val="123E4A"/>
          </a:solidFill>
          <a:ln w="12700">
            <a:solidFill>
              <a:srgbClr val="2B5C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187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状态判断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32688" y="451713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能力完整，工程化待补强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C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天无提交 · 当前 HEAD 893918c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28632" y="639165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北京时间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680192" y="639165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项目概览：产品能力成熟，维护节奏停滞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单体与微服务双轨并存；最新提交已完成第 14 期微服务改造。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5E6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64208"/>
            <a:ext cx="73152" cy="1572768"/>
          </a:xfrm>
          <a:prstGeom prst="rect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65376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238658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核心产品能力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688336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生成、编辑、部署、管理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28416" y="1664208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5E6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28416" y="1664208"/>
            <a:ext cx="73152" cy="1572768"/>
          </a:xfrm>
          <a:prstGeom prst="rect">
            <a:avLst/>
          </a:prstGeom>
          <a:solidFill>
            <a:srgbClr val="4FB6D3"/>
          </a:solidFill>
          <a:ln w="12700">
            <a:solidFill>
              <a:srgbClr val="4FB6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1865376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584448" y="238658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总提交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84448" y="2688336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HEAD：893918c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9904" y="1664208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5E6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9904" y="1664208"/>
            <a:ext cx="73152" cy="1572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1865376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45936" y="238658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7 天提交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45936" y="2688336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最近活跃：2025-08-26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51392" y="1664208"/>
            <a:ext cx="25786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5E6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51392" y="1664208"/>
            <a:ext cx="73152" cy="15727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07424" y="1865376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107424" y="2386584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代码形态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07424" y="2688336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 + 7 个微服务模块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538728"/>
            <a:ext cx="10972800" cy="2395728"/>
          </a:xfrm>
          <a:prstGeom prst="roundRect">
            <a:avLst>
              <a:gd name="adj" fmla="val 3053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今日判断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84080" y="3730752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896112" y="4443984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24712" y="4279392"/>
            <a:ext cx="9738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业务链路覆盖“需求 → 生成 → 编辑 → 部署 → 分享”，可用于完整教学与演示。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96112" y="4919472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" y="4754880"/>
            <a:ext cx="9738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微服务拆分、限流、安全护轨、监控等企业能力已进入代码库。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96112" y="5394960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24712" y="5230368"/>
            <a:ext cx="9738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当前主要缺口不在功能，而在 CI、可复现测试、配置治理与持续维护。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来源：README.md；git log；yu-ai-code-mother-microservice/pom.xml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当前架构：Vue 前端 + 后端双轨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最新代码同时保留完整单体项目与微服务版本，便于教学对照，也带来重复维护成本。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1920240" cy="1060704"/>
          </a:xfrm>
          <a:prstGeom prst="roundRect">
            <a:avLst>
              <a:gd name="adj" fmla="val 6897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267712"/>
            <a:ext cx="502920" cy="502920"/>
          </a:xfrm>
          <a:prstGeom prst="ellipse">
            <a:avLst/>
          </a:prstGeom>
          <a:solidFill>
            <a:srgbClr val="4FB6D3"/>
          </a:solidFill>
          <a:ln w="12700">
            <a:solidFill>
              <a:srgbClr val="4FB6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276856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2212848"/>
            <a:ext cx="8961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前端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B8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TS · Pinia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05456" y="2523744"/>
            <a:ext cx="566928" cy="0"/>
          </a:xfrm>
          <a:prstGeom prst="line">
            <a:avLst/>
          </a:prstGeom>
          <a:noFill/>
          <a:ln w="27940">
            <a:solidFill>
              <a:srgbClr val="16B8A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99816" y="1627632"/>
            <a:ext cx="52578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C9DF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847088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8144" y="1856232"/>
            <a:ext cx="1591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DUAL TRACK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4992" y="2340864"/>
            <a:ext cx="2029968" cy="1572768"/>
          </a:xfrm>
          <a:prstGeom prst="roundRect">
            <a:avLst>
              <a:gd name="adj" fmla="val 4651"/>
            </a:avLst>
          </a:prstGeom>
          <a:solidFill>
            <a:srgbClr val="EDF7F5"/>
          </a:solidFill>
          <a:ln w="12700">
            <a:solidFill>
              <a:srgbClr val="C9D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2736" y="25877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单体应用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02736" y="29900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:8123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02736" y="334670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完整业务链路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50992" y="2340864"/>
            <a:ext cx="2432304" cy="1572768"/>
          </a:xfrm>
          <a:prstGeom prst="roundRect">
            <a:avLst>
              <a:gd name="adj" fmla="val 4651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07024" y="258775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微服务版本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907024" y="299008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D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· User · Screenshot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07024" y="3346704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B8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/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366760" y="2523744"/>
            <a:ext cx="566928" cy="0"/>
          </a:xfrm>
          <a:prstGeom prst="line">
            <a:avLst/>
          </a:prstGeom>
          <a:noFill/>
          <a:ln w="27940">
            <a:solidFill>
              <a:srgbClr val="16B8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979408" y="1993392"/>
            <a:ext cx="2560320" cy="1060704"/>
          </a:xfrm>
          <a:prstGeom prst="roundRect">
            <a:avLst>
              <a:gd name="adj" fmla="val 6897"/>
            </a:avLst>
          </a:prstGeom>
          <a:solidFill>
            <a:srgbClr val="DFF2EF"/>
          </a:solidFill>
          <a:ln w="12700">
            <a:solidFill>
              <a:srgbClr val="B8D9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215798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基础设施与外部服务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235440" y="2496312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Redis · Nacos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API · COS · Chrome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4892040"/>
            <a:ext cx="109728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5E6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" y="51389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7C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架构观察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121408" y="50840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697480" y="506577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可对照学习、迁移路径清晰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623560" y="50840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506577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逻辑重复、版本不一致、测试面扩大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来源：README.md；根 pom.xml；微服务 parent pom.xml；各 Application 启动类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四大核心能力已形成闭环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从自然语言需求到可访问应用，覆盖创建、迭代、交付和治理。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2542032" cy="34564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93392"/>
            <a:ext cx="502920" cy="502920"/>
          </a:xfrm>
          <a:prstGeom prst="ellipse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002536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智能代码生成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04672" y="3182112"/>
            <a:ext cx="566928" cy="64008"/>
          </a:xfrm>
          <a:prstGeom prst="rect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4930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策略路由 + 工具调用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流式展示执行过程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4590288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EDF7F5"/>
          </a:solidFill>
          <a:ln w="12700">
            <a:solidFill>
              <a:srgbClr val="EDF7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4599432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交互体验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28416" y="1737360"/>
            <a:ext cx="2542032" cy="34564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993392"/>
            <a:ext cx="502920" cy="502920"/>
          </a:xfrm>
          <a:prstGeom prst="ellipse">
            <a:avLst/>
          </a:prstGeom>
          <a:solidFill>
            <a:srgbClr val="4FB6D3"/>
          </a:solidFill>
          <a:ln w="12700">
            <a:solidFill>
              <a:srgbClr val="4FB6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002536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661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可视化编辑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566160" y="3182112"/>
            <a:ext cx="566928" cy="64008"/>
          </a:xfrm>
          <a:prstGeom prst="rect">
            <a:avLst/>
          </a:prstGeom>
          <a:solidFill>
            <a:srgbClr val="4FB6D3"/>
          </a:solidFill>
          <a:ln w="12700">
            <a:solidFill>
              <a:srgbClr val="4FB6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34930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页面实时预览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元素级选择与 AI 修改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566160" y="4590288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EDF7F5"/>
          </a:solidFill>
          <a:ln w="12700">
            <a:solidFill>
              <a:srgbClr val="EDF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39312" y="4599432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交互体验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89904" y="1737360"/>
            <a:ext cx="2542032" cy="34564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27648" y="1993392"/>
            <a:ext cx="502920" cy="50292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2002536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27648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一键部署分享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27648" y="3182112"/>
            <a:ext cx="566928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7648" y="34930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云端部署 + 自动截图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源码打包下载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327648" y="4590288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EDF7F5"/>
          </a:solidFill>
          <a:ln w="12700">
            <a:solidFill>
              <a:srgbClr val="EDF7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599432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交付能力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851392" y="1737360"/>
            <a:ext cx="2542032" cy="34564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89136" y="1993392"/>
            <a:ext cx="502920" cy="50292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89136" y="2002536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89136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企业级管理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089136" y="3182112"/>
            <a:ext cx="566928" cy="6400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89136" y="34930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/ 应用 / 对话管理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与系统指标监控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9089136" y="4590288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EDF7F5"/>
          </a:solidFill>
          <a:ln w="12700">
            <a:solidFill>
              <a:srgbClr val="EDF7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62288" y="4599432"/>
            <a:ext cx="8412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治理能力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188720" y="5687568"/>
            <a:ext cx="9784080" cy="0"/>
          </a:xfrm>
          <a:prstGeom prst="line">
            <a:avLst/>
          </a:prstGeom>
          <a:noFill/>
          <a:ln w="25400">
            <a:solidFill>
              <a:srgbClr val="BDD7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51560" y="5532120"/>
            <a:ext cx="310896" cy="310896"/>
          </a:xfrm>
          <a:prstGeom prst="ellipse">
            <a:avLst/>
          </a:prstGeom>
          <a:solidFill>
            <a:srgbClr val="16B8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5528" y="58795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502152" y="5532120"/>
            <a:ext cx="310896" cy="310896"/>
          </a:xfrm>
          <a:prstGeom prst="ellipse">
            <a:avLst/>
          </a:prstGeom>
          <a:solidFill>
            <a:srgbClr val="16B8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46120" y="58795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952744" y="5532120"/>
            <a:ext cx="310896" cy="310896"/>
          </a:xfrm>
          <a:prstGeom prst="ellipse">
            <a:avLst/>
          </a:prstGeom>
          <a:solidFill>
            <a:srgbClr val="16B8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6712" y="58795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403336" y="5532120"/>
            <a:ext cx="310896" cy="310896"/>
          </a:xfrm>
          <a:prstGeom prst="ellipse">
            <a:avLst/>
          </a:prstGeom>
          <a:solidFill>
            <a:srgbClr val="16B8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47304" y="58795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0853928" y="5532120"/>
            <a:ext cx="310896" cy="310896"/>
          </a:xfrm>
          <a:prstGeom prst="ellipse">
            <a:avLst/>
          </a:prstGeom>
          <a:solidFill>
            <a:srgbClr val="0D2F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97896" y="587959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来源：README.md 第 20–46 行；AppController；AppEditPage.vue；ScreenshotServiceImpl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PROGRESS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近期进展：最后一轮集中交付已完成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7 天无新提交；以下为最近 20 条提交中可验证的主线。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8992" y="2029968"/>
            <a:ext cx="0" cy="3456432"/>
          </a:xfrm>
          <a:prstGeom prst="line">
            <a:avLst/>
          </a:prstGeom>
          <a:noFill/>
          <a:ln w="38100">
            <a:solidFill>
              <a:srgbClr val="BDD7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83664"/>
            <a:ext cx="384048" cy="384048"/>
          </a:xfrm>
          <a:prstGeom prst="ellipse">
            <a:avLst/>
          </a:prstGeom>
          <a:solidFill>
            <a:srgbClr val="16B8A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27048" y="17373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1746504"/>
            <a:ext cx="1152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72384" y="17007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工作流与系统优化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072384" y="207568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并发、实时性、限流、Prompt 审查、稳定性与成本优化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28632" y="173736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c55d713 → b99d502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86968" y="2962656"/>
            <a:ext cx="384048" cy="384048"/>
          </a:xfrm>
          <a:prstGeom prst="ellipse">
            <a:avLst/>
          </a:prstGeom>
          <a:solidFill>
            <a:srgbClr val="4FB6D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7048" y="2816352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2825496"/>
            <a:ext cx="1152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72384" y="277977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部署与可观测性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072384" y="315468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上线配置、Actuator、Prometheus 与 Grafana 面板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628632" y="281635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ad303cc / 18c86bc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86968" y="4041648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27048" y="3895344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0200" y="3904488"/>
            <a:ext cx="1152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072384" y="385876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微服务改造完成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072384" y="4233672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Dubbo + Nacos；拆分 User / App / Screenshot 等模块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28632" y="3895344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9211e98 → 893918c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86968" y="5120640"/>
            <a:ext cx="384048" cy="384048"/>
          </a:xfrm>
          <a:prstGeom prst="ellipse">
            <a:avLst/>
          </a:prstGeom>
          <a:solidFill>
            <a:srgbClr val="E76F5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27048" y="4974336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4983480"/>
            <a:ext cx="1152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2026-07-17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72384" y="49377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维护空窗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3072384" y="5312664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7 天提交 0；距最近代码更新约 11 个月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156448" y="5477256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5596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“昨日变更”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73184" y="5559552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无可报告提交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来源：git log --since='7 days ago'；最近 20 条提交记录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METRICS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代码库指标：能力面广，验证面偏窄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指标来自仓库静态统计；仓库未提供生产流量、生成成功率或成本遥测。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6675120" cy="4315968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385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仓库规模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3230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源文件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468880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E8EFEE"/>
          </a:solidFill>
          <a:ln w="12700">
            <a:solidFill>
              <a:srgbClr val="E8EF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0" y="2468880"/>
            <a:ext cx="3238805" cy="201168"/>
          </a:xfrm>
          <a:prstGeom prst="roundRect">
            <a:avLst>
              <a:gd name="adj" fmla="val 36364"/>
            </a:avLst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0" y="2404872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77824" y="3054096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微服务子模块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286000" y="3090672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E8EFEE"/>
          </a:solidFill>
          <a:ln w="12700">
            <a:solidFill>
              <a:srgbClr val="E8EF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0" y="3090672"/>
            <a:ext cx="2464308" cy="201168"/>
          </a:xfrm>
          <a:prstGeom prst="roundRect">
            <a:avLst>
              <a:gd name="adj" fmla="val 36364"/>
            </a:avLst>
          </a:prstGeom>
          <a:solidFill>
            <a:srgbClr val="4FB6D3"/>
          </a:solidFill>
          <a:ln w="12700">
            <a:solidFill>
              <a:srgbClr val="4FB6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3026664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77824" y="3675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前端页面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286000" y="3712464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E8EFEE"/>
          </a:solidFill>
          <a:ln w="12700">
            <a:solidFill>
              <a:srgbClr val="E8EF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3712464"/>
            <a:ext cx="1971446" cy="201168"/>
          </a:xfrm>
          <a:prstGeom prst="roundRect">
            <a:avLst>
              <a:gd name="adj" fmla="val 36364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3648456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7824" y="4297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单体测试类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286000" y="4334256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E8EFEE"/>
          </a:solidFill>
          <a:ln w="12700">
            <a:solidFill>
              <a:srgbClr val="E8EF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4334256"/>
            <a:ext cx="1478585" cy="201168"/>
          </a:xfrm>
          <a:prstGeom prst="roundRect">
            <a:avLst>
              <a:gd name="adj" fmla="val 36364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89320" y="427024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7824" y="491947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核心数据表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286000" y="4956048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E8EFEE"/>
          </a:solidFill>
          <a:ln w="12700">
            <a:solidFill>
              <a:srgbClr val="E8EF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4956048"/>
            <a:ext cx="844906" cy="201168"/>
          </a:xfrm>
          <a:prstGeom prst="roundRect">
            <a:avLst>
              <a:gd name="adj" fmla="val 36364"/>
            </a:avLst>
          </a:prstGeom>
          <a:solidFill>
            <a:srgbClr val="0C7C73"/>
          </a:solidFill>
          <a:ln w="12700">
            <a:solidFill>
              <a:srgbClr val="0C7C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9320" y="489204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479792" y="1700784"/>
            <a:ext cx="4059936" cy="1938528"/>
          </a:xfrm>
          <a:prstGeom prst="roundRect">
            <a:avLst>
              <a:gd name="adj" fmla="val 3774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90688" y="19751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运行数据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90688" y="235915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未纳入仓库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7790688" y="2907792"/>
            <a:ext cx="3218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B8D8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建议后续接入：生成成功率、P95 延迟、Token / 应用成本、部署成功率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479792" y="3858768"/>
            <a:ext cx="4059936" cy="2157984"/>
          </a:xfrm>
          <a:prstGeom prst="roundRect">
            <a:avLst>
              <a:gd name="adj" fmla="val 3390"/>
            </a:avLst>
          </a:prstGeom>
          <a:solidFill>
            <a:srgbClr val="DFF2EF"/>
          </a:solidFill>
          <a:ln w="12700">
            <a:solidFill>
              <a:srgbClr val="B8D9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0688" y="413308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技术栈快照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790688" y="4690872"/>
            <a:ext cx="109728" cy="109728"/>
          </a:xfrm>
          <a:prstGeom prst="ellipse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19288" y="4526280"/>
            <a:ext cx="3017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21 · Spring Boot 3.5.x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7790688" y="5093208"/>
            <a:ext cx="109728" cy="109728"/>
          </a:xfrm>
          <a:prstGeom prst="ellipse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19288" y="4928616"/>
            <a:ext cx="3017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LangChain4j 1.1.0 · LangGraph4j RC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7790688" y="5495544"/>
            <a:ext cx="109728" cy="109728"/>
          </a:xfrm>
          <a:prstGeom prst="ellipse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19288" y="5330952"/>
            <a:ext cx="3017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3.5 · Vite 7 · TypeScript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来源：文件统计；pom.xml；前端 package.json；sql/create_table.sql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 CI：有测试配置，但缺少可重复执行环境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仓库未发现 GitHub Actions、Jenkins 或 GitLab CI 配置。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19072"/>
            <a:ext cx="4846320" cy="4389120"/>
          </a:xfrm>
          <a:prstGeom prst="roundRect">
            <a:avLst>
              <a:gd name="adj" fmla="val 1667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本次测试快照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254203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920240" y="2816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8D8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测试方法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3456432"/>
            <a:ext cx="3730752" cy="411480"/>
          </a:xfrm>
          <a:prstGeom prst="roundRect">
            <a:avLst>
              <a:gd name="adj" fmla="val 17778"/>
            </a:avLst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456432"/>
            <a:ext cx="286981" cy="411480"/>
          </a:xfrm>
          <a:prstGeom prst="roundRect">
            <a:avLst>
              <a:gd name="adj" fmla="val 25490"/>
            </a:avLst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986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56432" y="398678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3A4A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24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96112" y="454456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主要根因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96112" y="488289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上下文依赖 MySQL / Redis 与本地配置；当前环境无法完成初始化。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0" y="1719072"/>
            <a:ext cx="587044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25312" y="1965960"/>
            <a:ext cx="329184" cy="329184"/>
          </a:xfrm>
          <a:prstGeom prst="ellipse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85623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单体测试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991856" y="18562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类 / 26 方法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314432" y="197510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87584" y="1984248"/>
            <a:ext cx="658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已配置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2770632"/>
            <a:ext cx="587044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25312" y="3017520"/>
            <a:ext cx="329184" cy="32918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90779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微服务测试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991856" y="290779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个测试文件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314432" y="302666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BE7E1"/>
          </a:solidFill>
          <a:ln w="12700">
            <a:solidFill>
              <a:srgbClr val="FBE7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87584" y="3035808"/>
            <a:ext cx="658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缺口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0" y="3822192"/>
            <a:ext cx="587044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25312" y="4069080"/>
            <a:ext cx="329184" cy="32918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95935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前端测试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991856" y="395935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个测试文件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314432" y="407822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BE7E1"/>
          </a:solidFill>
          <a:ln w="12700">
            <a:solidFill>
              <a:srgbClr val="FBE7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87584" y="4087368"/>
            <a:ext cx="658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缺口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0" y="4873752"/>
            <a:ext cx="587044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25312" y="5120640"/>
            <a:ext cx="329184" cy="329184"/>
          </a:xfrm>
          <a:prstGeom prst="ellipse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501091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流水线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991856" y="50109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未发现配置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314432" y="51297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BE7E1"/>
          </a:solidFill>
          <a:ln w="12700">
            <a:solidFill>
              <a:srgbClr val="FBE7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87584" y="5138928"/>
            <a:ext cx="658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缺口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0" y="5522976"/>
            <a:ext cx="5870448" cy="585216"/>
          </a:xfrm>
          <a:prstGeom prst="roundRect">
            <a:avLst>
              <a:gd name="adj" fmla="val 12500"/>
            </a:avLst>
          </a:prstGeom>
          <a:solidFill>
            <a:srgbClr val="DFF2EF"/>
          </a:solidFill>
          <a:ln w="12700">
            <a:solidFill>
              <a:srgbClr val="B8D9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25312" y="5632704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C7C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判断：测试失败反映环境不可复现，不等同于 24 个业务断言失败。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来源：pom.xml；src/test；本次 mvn test 输出；仓库 CI 配置搜索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RISKS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风险与阻塞：工程化缺口高于功能缺口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优先处理会影响构建、验证和上线可重复性的事项。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19072"/>
            <a:ext cx="5358384" cy="1773936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38528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947672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499616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CI / 测试环境不可复现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120640" y="1938528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1947672"/>
            <a:ext cx="310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每次变更缺少自动质量门禁；集成测试依赖外部基础设施。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718304" cy="64008"/>
          </a:xfrm>
          <a:prstGeom prst="rect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0488" y="1719072"/>
            <a:ext cx="5358384" cy="1773936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28232" y="1938528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01384" y="1947672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23176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配置与密钥治理不足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744200" y="1938528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17352" y="1947672"/>
            <a:ext cx="310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2468880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profile 文件缺失；多处 API Key 为占位，样例含弱默认口令。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46520" y="3246120"/>
            <a:ext cx="4718304" cy="64008"/>
          </a:xfrm>
          <a:prstGeom prst="rect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3803904"/>
            <a:ext cx="5358384" cy="1773936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402336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FCEEDB"/>
          </a:solidFill>
          <a:ln w="12700">
            <a:solidFill>
              <a:srgbClr val="FCEE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4032504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99616" y="39867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 / 微服务双轨重复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120640" y="4023360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93792" y="4032504"/>
            <a:ext cx="310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960" y="455371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相同业务逻辑可能漂移，版本升级与缺陷修复需同步。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22960" y="5330952"/>
            <a:ext cx="4718304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0488" y="3803904"/>
            <a:ext cx="5358384" cy="1773936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28232" y="402336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FCEEDB"/>
          </a:solidFill>
          <a:ln w="12700">
            <a:solidFill>
              <a:srgbClr val="FCEE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01384" y="4032504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123176" y="39867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依赖稳定性与可观测性覆盖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0744200" y="4023360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817352" y="4032504"/>
            <a:ext cx="310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46520" y="455371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LangGraph4j 使用 RC；Prometheus 当前只抓取单体端口。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446520" y="5330952"/>
            <a:ext cx="4718304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5998464"/>
            <a:ext cx="10972800" cy="256032"/>
          </a:xfrm>
          <a:prstGeom prst="roundRect">
            <a:avLst>
              <a:gd name="adj" fmla="val 28571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" y="5916168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当前启动阻塞：MySQL + Redis；微服务模式额外需要 Nacos；截图能力需要 Chrome / WebDriver。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来源：application.yml；application-prod-sample.yml；prometheus.yml；测试结果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下一步：先恢复“可验证”，再扩展能力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建议按质量门禁、环境复现、架构治理的顺序推进。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1097280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建立基础 CI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94176" y="1719072"/>
            <a:ext cx="6327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后端编译 / 单测；前端 type-check / build；失败阻断合并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405872" y="1828800"/>
            <a:ext cx="603504" cy="310896"/>
          </a:xfrm>
          <a:prstGeom prst="roundRect">
            <a:avLst>
              <a:gd name="adj" fmla="val 23529"/>
            </a:avLst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79024" y="1837944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1097280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615184"/>
            <a:ext cx="502920" cy="502920"/>
          </a:xfrm>
          <a:prstGeom prst="ellipse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24328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81328" y="25968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 test profile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94176" y="2596896"/>
            <a:ext cx="6327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Testcontainers 或 Mock 隔离 MySQL、Redis 与外部 AI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0405872" y="2706624"/>
            <a:ext cx="603504" cy="310896"/>
          </a:xfrm>
          <a:prstGeom prst="roundRect">
            <a:avLst>
              <a:gd name="adj" fmla="val 23529"/>
            </a:avLst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9024" y="271576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401568"/>
            <a:ext cx="1097280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493008"/>
            <a:ext cx="502920" cy="502920"/>
          </a:xfrm>
          <a:prstGeom prst="ellipse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02152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补齐一键环境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94176" y="3474720"/>
            <a:ext cx="6327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Compose 编排 MySQL、Redis、Nacos；给出最小启动清单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0405872" y="3584448"/>
            <a:ext cx="603504" cy="310896"/>
          </a:xfrm>
          <a:prstGeom prst="roundRect">
            <a:avLst>
              <a:gd name="adj" fmla="val 23529"/>
            </a:avLst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79024" y="3593592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4279392"/>
            <a:ext cx="10972800" cy="694944"/>
          </a:xfrm>
          <a:prstGeom prst="roundRect">
            <a:avLst>
              <a:gd name="adj" fmla="val 10526"/>
            </a:avLst>
          </a:prstGeom>
          <a:solidFill>
            <a:srgbClr val="EDF7F5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370832"/>
            <a:ext cx="502920" cy="50292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379976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81328" y="435254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统一依赖与代码主线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694176" y="4352544"/>
            <a:ext cx="6327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 Spring Boot 版本；明确单体 / 微服务的维护策略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405872" y="4462272"/>
            <a:ext cx="603504" cy="310896"/>
          </a:xfrm>
          <a:prstGeom prst="roundRect">
            <a:avLst>
              <a:gd name="adj" fmla="val 23529"/>
            </a:avLst>
          </a:prstGeom>
          <a:solidFill>
            <a:srgbClr val="FCEEDB"/>
          </a:solidFill>
          <a:ln w="12700">
            <a:solidFill>
              <a:srgbClr val="FCEE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9024" y="4471416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5157216"/>
            <a:ext cx="10972800" cy="694944"/>
          </a:xfrm>
          <a:prstGeom prst="roundRect">
            <a:avLst>
              <a:gd name="adj" fmla="val 10526"/>
            </a:avLst>
          </a:prstGeom>
          <a:solidFill>
            <a:srgbClr val="EDF7F5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5248656"/>
            <a:ext cx="502920" cy="502920"/>
          </a:xfrm>
          <a:prstGeom prst="ellipse">
            <a:avLst/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257800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481328" y="5230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扩展运营指标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694176" y="5230368"/>
            <a:ext cx="6327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接入成功率、P95、Token 成本、部署成功率与微服务监控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10405872" y="5340096"/>
            <a:ext cx="603504" cy="310896"/>
          </a:xfrm>
          <a:prstGeom prst="roundRect">
            <a:avLst>
              <a:gd name="adj" fmla="val 23529"/>
            </a:avLst>
          </a:prstGeom>
          <a:solidFill>
            <a:srgbClr val="DFF2EF"/>
          </a:solidFill>
          <a:ln w="12700">
            <a:solidFill>
              <a:srgbClr val="DFF2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479024" y="5349240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6181344"/>
            <a:ext cx="10972800" cy="228600"/>
          </a:xfrm>
          <a:prstGeom prst="roundRect">
            <a:avLst>
              <a:gd name="adj" fmla="val 32000"/>
            </a:avLst>
          </a:prstGeom>
          <a:solidFill>
            <a:srgbClr val="16B8A6"/>
          </a:solidFill>
          <a:ln w="12700">
            <a:solidFill>
              <a:srgbClr val="16B8A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6044184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首个可验收里程碑：全新环境执行单条命令，完成构建与核心测试。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建议基于当前仓库风险排序；未修改业务代码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40" kern="0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总结：平台闭环已成，下一阶段是工程可信度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133856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把已有能力变成可持续维护、可稳定验证、可安全上线的产品基线。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6693408" cy="4480560"/>
          </a:xfrm>
          <a:prstGeom prst="roundRect">
            <a:avLst>
              <a:gd name="adj" fmla="val 1633"/>
            </a:avLst>
          </a:prstGeom>
          <a:solidFill>
            <a:srgbClr val="0D2F3A"/>
          </a:solidFill>
          <a:ln w="12700">
            <a:solidFill>
              <a:srgbClr val="0D2F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6D4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今日结论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237744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96112" y="305409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能力完整，交付可信度不足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896112" y="3968496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4712" y="380390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四大产品能力与企业级优化已进入代码库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4416552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4712" y="42519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14 期微服务改造为最后一次集中交付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" y="4864608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4712" y="4700016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7 天无提交，维护连续性需要恢复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5312664"/>
            <a:ext cx="109728" cy="109728"/>
          </a:xfrm>
          <a:prstGeom prst="ellipse">
            <a:avLst/>
          </a:prstGeom>
          <a:solidFill>
            <a:srgbClr val="86D4C8"/>
          </a:solidFill>
          <a:ln w="12700">
            <a:solidFill>
              <a:srgbClr val="86D4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4712" y="51480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834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CI、测试复现和配置治理是最优先事项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498080" y="1664208"/>
            <a:ext cx="4041648" cy="2048256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1E4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195681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90688" y="23591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守住现有能力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790688" y="2880360"/>
            <a:ext cx="31272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冻结无验证的新功能扩张，先建立自动质量门禁。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498080" y="3968496"/>
            <a:ext cx="4041648" cy="2176272"/>
          </a:xfrm>
          <a:prstGeom prst="roundRect">
            <a:avLst>
              <a:gd name="adj" fmla="val 3361"/>
            </a:avLst>
          </a:prstGeom>
          <a:solidFill>
            <a:srgbClr val="DFF2EF"/>
          </a:solidFill>
          <a:ln w="12700">
            <a:solidFill>
              <a:srgbClr val="B8D9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90688" y="4261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90688" y="4663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2F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恢复可持续交付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90688" y="5175504"/>
            <a:ext cx="3127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37C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+ test profile + 一键基础设施，是下一轮迭代的共同起点。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66928" y="6473952"/>
            <a:ext cx="10241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报告日期：2026-07-17（北京时间）｜HEAD：893918c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93408"/>
            <a:ext cx="411480" cy="10972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7C6C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yu-ai-code-mother 每日项目状态汇报 2026-07-17</dc:title>
  <dc:subject>每日项目状态汇报</dc:subject>
  <dc:creator>Cursor Automation</dc:creator>
  <cp:lastModifiedBy>Cursor Automation</cp:lastModifiedBy>
  <cp:revision>1</cp:revision>
  <dcterms:created xsi:type="dcterms:W3CDTF">2026-07-17T09:17:05Z</dcterms:created>
  <dcterms:modified xsi:type="dcterms:W3CDTF">2026-07-17T09:17:05Z</dcterms:modified>
</cp:coreProperties>
</file>