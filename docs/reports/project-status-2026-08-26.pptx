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3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3238"/>
                </a:solidFill>
                <a:latin typeface="Calibri"/>
              </a:rPr>
              <a:t>按开发窗口统计的提交量（仓库事实）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7月下旬</c:v>
                  </c:pt>
                  <c:pt idx="1">
                    <c:v>8月上旬</c:v>
                  </c:pt>
                  <c:pt idx="2">
                    <c:v>8月中旬</c:v>
                  </c:pt>
                  <c:pt idx="3">
                    <c:v>8月26日</c:v>
                  </c:pt>
                  <c:pt idx="4">
                    <c:v>近7日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10</c:v>
                </c:pt>
                <c:pt idx="2">
                  <c:v>16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A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389120"/>
            <a:ext cx="2926080" cy="2926080"/>
          </a:xfrm>
          <a:prstGeom prst="ellipse">
            <a:avLst/>
          </a:prstGeom>
          <a:solidFill>
            <a:srgbClr val="01404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135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内部汇报  ·  项目维护者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yu-ai-code-mother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基于仓库 README、模块目录与 Git 历史归纳的当日快照。近 7 日无新提交，最新里程碑为教程第 14 期微服务改造完成。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1404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61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2026-08-26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1800" y="41605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14049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4261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北京时间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41605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14049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4261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35240" y="41605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014049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42611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教程进度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4553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期完成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84048"/>
            <a:ext cx="566928" cy="5669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55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/ 11 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115568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115568"/>
            <a:ext cx="91440" cy="1874520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2252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58368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" y="22311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近一周仓库无新提交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64992" y="1115568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12900000" dist="483870000" dir="486000000000">
              <a:srgbClr val="012A32">
                <a:alpha val="10000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64992" y="1115568"/>
            <a:ext cx="91440" cy="1874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3566160" y="12252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566160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教程期次已完成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66160" y="22311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最新为微服务改造闭环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72784" y="1115568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483830000000" dist="6145149000000" dir="29160000000000000">
              <a:srgbClr val="012A32">
                <a:alpha val="1000000000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72784" y="1115568"/>
            <a:ext cx="91440" cy="1874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6473952" y="12252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473952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历史提交总数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73952" y="22311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集中于 2025 年 7–8 月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80576" y="1115568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60144641000000000" dist="78043392300000000" dir="1.7496e+21">
              <a:srgbClr val="012A32">
                <a:alpha val="1000000000000000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80576" y="1115568"/>
            <a:ext cx="91440" cy="1874520"/>
          </a:xfrm>
          <a:prstGeom prst="rect">
            <a:avLst/>
          </a:prstGeom>
          <a:solidFill>
            <a:srgbClr val="014049"/>
          </a:solidFill>
          <a:ln/>
        </p:spPr>
      </p:sp>
      <p:sp>
        <p:nvSpPr>
          <p:cNvPr id="27" name="Text 24"/>
          <p:cNvSpPr/>
          <p:nvPr/>
        </p:nvSpPr>
        <p:spPr>
          <a:xfrm>
            <a:off x="9381744" y="12252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0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381744" y="19019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81744" y="223113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等 7 个模块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3218688"/>
            <a:ext cx="11247120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038369407e+21" dist="991151082210000000000" dir="1.04976e+26">
              <a:srgbClr val="012A32">
                <a:alpha val="1e+24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85800" y="33467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给维护者的三句判断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13232" y="389534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0"/>
          <p:cNvSpPr/>
          <p:nvPr/>
        </p:nvSpPr>
        <p:spPr>
          <a:xfrm>
            <a:off x="713232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97280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能力已闭环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337560" y="3822192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智能生成、可视化编辑、一键部署、企业管理四条主链路均已落地，单体与微服务两套代码并存。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13232" y="464515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4"/>
          <p:cNvSpPr/>
          <p:nvPr/>
        </p:nvSpPr>
        <p:spPr>
          <a:xfrm>
            <a:off x="713232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97280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近期无演进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3337560" y="4572000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天（含昨日）无提交；最近一次有效里程碑距今约 12 个月，状态以「稳定教学基线」为主。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13232" y="539496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8"/>
          <p:cNvSpPr/>
          <p:nvPr/>
        </p:nvSpPr>
        <p:spPr>
          <a:xfrm>
            <a:off x="713232" y="5394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97280" y="53218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工程债可见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3337560" y="5321808"/>
            <a:ext cx="8092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 流水线、依赖含 RC/beta、LangChain4j 二次源码残留 TODO，指标日报口径尚未建立。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690372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1958729146890005e+25" dist="1.2587618744067e+25" dir="6.29856e+30">
              <a:srgbClr val="012A32">
                <a:alpha val="1e+29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定位与范围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164592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代码生成平台：用户用自然语言描述需求，系统自动路由生成策略、流式产出代码、预览编辑并一键部署分享。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2514600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3F8F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514600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后端（单体）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34640" y="251460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· Java 21 · LangChain4j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3081528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0815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后端（微服务）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34640" y="3081528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Alibaba · Dubbo 3.3 · Nacos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85800" y="3648456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3F8F7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3648456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834640" y="3648456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TypeScript · Ant Design Vue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4215384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215384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数据与缓存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834640" y="4215384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/ Redisson · Caffeine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85800" y="4782312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3F8F7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782312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834640" y="4782312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 · Grafana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5800" y="5349240"/>
            <a:ext cx="64465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5349240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仓库形态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5349240"/>
            <a:ext cx="4160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frontend + microservice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543800" y="1097280"/>
            <a:ext cx="4160520" cy="2468880"/>
          </a:xfrm>
          <a:prstGeom prst="roundRect">
            <a:avLst>
              <a:gd name="adj" fmla="val 3704"/>
            </a:avLst>
          </a:prstGeom>
          <a:solidFill>
            <a:srgbClr val="012A32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当前阶段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77240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教学基线已封板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772400" y="2121408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期后仓库停留在「完整单体 + 微服务改造」双轨快照，适合学习与二次开发，不是持续迭代的生产主线。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543800" y="374904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328758601655031e+29" dist="1.598627580496509e+29" dir="3.779136e+35">
              <a:srgbClr val="012A32">
                <a:alpha val="1e+34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772400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代码体量快照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818120" y="431596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891540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 源文件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818120" y="49103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8915400" y="4910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818120" y="550468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8915400" y="55046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页面/组件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143000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767523424101889e+33" dist="2.0302570272305663e+33" dir="2.2674816e+40">
              <a:srgbClr val="012A32">
                <a:alpha val="1e+39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1435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5544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399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44752" y="1490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13232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需求描述进入后，AI 路由生成策略，工具调用写文件，SSE 流式展示执行过程。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263640" y="1143000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594754748609398e+37" dist="2.578426424582819e+37" dir="1.36048896e+45">
              <a:srgbClr val="012A32">
                <a:alpha val="9.999999999999999e+43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9672" y="14356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55448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0" y="1399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251192" y="1490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519672" y="2194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生成页实时预览；可选中元素并继续对话，支持原生全量修改与工程增量修改。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57200" y="36301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915338530733936e+42" dist="3.2746015592201804e+41" dir="8.16293376e+49">
              <a:srgbClr val="012A32">
                <a:alpha val="1e+49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3232" y="392277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0416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3886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444752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13232" y="468172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部署到云端并自动截封面，产出可访问地址；支持完整项目源码下载。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263640" y="3630168"/>
            <a:ext cx="5532120" cy="2267712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8624799340321e+46" dist="4.158743980209629e+45" dir="4.897760256e+54">
              <a:srgbClr val="012A32">
                <a:alpha val="9.999999999999999e+53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19672" y="392277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04164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0" y="3886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251192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6519672" y="468172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用户/应用/精选管理，限流与 Prompt 审查，AI 调用与系统性能监控。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04241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微服务拆分（yu-ai-code-mother-microservice）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353312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605349516220767e+50" dist="5.281604854866228e+49" dir="2.9386561536e+59">
              <a:srgbClr val="012A32">
                <a:alpha val="9.999999999999999e+58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" y="164592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647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9304" y="1554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89304" y="19385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通用与基础设施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37560" y="1353312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358793885600375e+54" dist="6.70763816568011e+53" dir="1.76319369216e+64">
              <a:srgbClr val="012A32">
                <a:alpha val="9.999999999999999e+63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83864" y="164592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17647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23944" y="1554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123944" y="19385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数据模型与契约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1353312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39566823471248e+58" dist="8.518700470413739e+57" dir="1.057916215296e+69">
              <a:srgbClr val="012A32">
                <a:alpha val="9.999999999999999e+68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18504" y="164592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76479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58584" y="1554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958584" y="19385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跨服务调用接口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006840" y="1353312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606249865808485e+62" dist="1.081874959742545e+62" dir="6.347497291776e+73">
              <a:srgbClr val="012A32">
                <a:alpha val="9.999999999999998e+73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153144" y="164592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176479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93224" y="1554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9793224" y="193852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用户与鉴权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02920" y="265176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579937329576776e+66" dist="1.373981198873032e+66" dir="3.8084983750656e+78">
              <a:srgbClr val="012A32">
                <a:alpha val="9.999999999999998e+78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9224" y="294436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06324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89304" y="285292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1289304" y="32369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应用与对话主流程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4297680" y="265176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816520408562505e+70" dist="1.7449561225687507e+70" dir="2.28509902503936e+83">
              <a:srgbClr val="012A32">
                <a:alpha val="9.999999999999998e+83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443984" y="294436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3063240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84064" y="285292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5084064" y="32369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模型、工作流、工具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8092440" y="2651760"/>
            <a:ext cx="3566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386980918874382e+74" dist="2.2160942756623134e+74" dir="1.371059415023616e+88">
              <a:srgbClr val="012A32">
                <a:alpha val="9.999999999999999e+88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8238744" y="294436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7616" y="3063240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878824" y="285292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8878824" y="323697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页面截图服务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457200" y="4041648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381465766970464e+78" dist="2.814439730091138e+78" dir="8.226356490141696e+92">
              <a:srgbClr val="012A32">
                <a:alpha val="9.999999999999998e+93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685800" y="41513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单体侧关键包</a:t>
            </a:r>
            <a:endParaRPr lang="en-US" sz="1800" dirty="0"/>
          </a:p>
        </p:txBody>
      </p:sp>
      <p:sp>
        <p:nvSpPr>
          <p:cNvPr id="48" name="Text 38"/>
          <p:cNvSpPr/>
          <p:nvPr/>
        </p:nvSpPr>
        <p:spPr>
          <a:xfrm>
            <a:off x="685800" y="4480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core：生成门面、模型配置、智能路由</a:t>
            </a:r>
            <a:endParaRPr lang="en-US" sz="1400" dirty="0"/>
          </a:p>
        </p:txBody>
      </p:sp>
      <p:sp>
        <p:nvSpPr>
          <p:cNvPr id="49" name="Text 39"/>
          <p:cNvSpPr/>
          <p:nvPr/>
        </p:nvSpPr>
        <p:spPr>
          <a:xfrm>
            <a:off x="685800" y="49011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langgraph4j：网站工作流、并发采图、质检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685800" y="53218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controller：应用、用户、对话、SSE、静态资源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685800" y="57424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限流与监控：AI 请求 / 错误 / Token / 耗时</a:t>
            </a:r>
            <a:endParaRPr lang="en-US" sz="1400" dirty="0"/>
          </a:p>
        </p:txBody>
      </p:sp>
      <p:sp>
        <p:nvSpPr>
          <p:cNvPr id="52" name="Shape 42"/>
          <p:cNvSpPr/>
          <p:nvPr/>
        </p:nvSpPr>
        <p:spPr>
          <a:xfrm>
            <a:off x="6309360" y="4041648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012A32"/>
          </a:solidFill>
          <a:ln/>
        </p:spPr>
      </p:sp>
      <p:sp>
        <p:nvSpPr>
          <p:cNvPr id="53" name="Text 43"/>
          <p:cNvSpPr/>
          <p:nvPr/>
        </p:nvSpPr>
        <p:spPr>
          <a:xfrm>
            <a:off x="6537960" y="4151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前端页面地图</a:t>
            </a:r>
            <a:endParaRPr lang="en-US" sz="1800" dirty="0"/>
          </a:p>
        </p:txBody>
      </p:sp>
      <p:sp>
        <p:nvSpPr>
          <p:cNvPr id="54" name="Text 44"/>
          <p:cNvSpPr/>
          <p:nvPr/>
        </p:nvSpPr>
        <p:spPr>
          <a:xfrm>
            <a:off x="6537960" y="44805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首页：提示词创建、我的应用、精选案例</a:t>
            </a:r>
            <a:endParaRPr lang="en-US" sz="1400" dirty="0"/>
          </a:p>
        </p:txBody>
      </p:sp>
      <p:sp>
        <p:nvSpPr>
          <p:cNvPr id="55" name="Text 45"/>
          <p:cNvSpPr/>
          <p:nvPr/>
        </p:nvSpPr>
        <p:spPr>
          <a:xfrm>
            <a:off x="6537960" y="49011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对话页：SSE 对话 + 右侧实时预览 + 部署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6537960" y="532180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应用编辑：用户改名 / 管理员封面与优先级</a:t>
            </a:r>
            <a:endParaRPr lang="en-US" sz="1400" dirty="0"/>
          </a:p>
        </p:txBody>
      </p:sp>
      <p:sp>
        <p:nvSpPr>
          <p:cNvPr id="57" name="Text 47"/>
          <p:cNvSpPr/>
          <p:nvPr/>
        </p:nvSpPr>
        <p:spPr>
          <a:xfrm>
            <a:off x="6537960" y="57424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管理端：应用、用户、对话历史管理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PROGRESS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078992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6E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078992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 Git 提交。下表按仓库最近有效窗口（2025-08）归纳，避免把历史里程碑写成昨日增量。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1901952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91446152405249e+83" dist="3.574338457215745e+82" dir="4.9358138940850176e+97">
              <a:srgbClr val="012A32">
                <a:alpha val="9.999999999999998e+98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2084832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0848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68880" y="1901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17720" y="190195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微服务改造完成，保留完整单体代码；含 Dubbo + Nacos、用户/应用/AI/截图拆分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779776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131366135546663e+87" dist="4.539409840663996e+86" dir="2.9614883364510103e+102">
              <a:srgbClr val="012A32">
                <a:alpha val="9.999999999999998e+103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" y="2962656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5F2F1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" y="29626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468880" y="277977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17720" y="277977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部署上线与可观测性：Prometheus / Grafana、AI 模型指标采集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216834992144262e+91" dist="5.765050497643275e+90" dir="1.7768930018706063e+107">
              <a:srgbClr val="012A32">
                <a:alpha val="9.999999999999998e+108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1792" y="384048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5F2F1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8404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468880" y="36576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617720" y="365760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并发（Redis 缓存、AI 调用）、实时性、限流、Prompt 审查、稳定性与成本优化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4535424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4405380440023213e+95" dist="7.321614132006959e+94" dir="1.0661358011223639e+112">
              <a:srgbClr val="012A32">
                <a:alpha val="9.999999999999997e+113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" y="4718304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5F2F1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" y="47183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468880" y="453542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617720" y="453542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网站生成工作流，图片并发收集等高级特性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57200" y="5413248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099483315882948e+99" dist="9.298449947648839e+98" dir="6.396814806734183e+116">
              <a:srgbClr val="012A32">
                <a:alpha val="9.999999999999998e+118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1792" y="5596128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E5F2F1"/>
          </a:solidFill>
          <a:ln/>
        </p:spPr>
      </p:sp>
      <p:sp>
        <p:nvSpPr>
          <p:cNvPr id="34" name="Text 31"/>
          <p:cNvSpPr/>
          <p:nvPr/>
        </p:nvSpPr>
        <p:spPr>
          <a:xfrm>
            <a:off x="621792" y="55961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2025-08-07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468880" y="54132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8–9 期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617720" y="54132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智能路由；可视化修改（前端 + 原生全量 + 工程增量）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078992"/>
          <a:ext cx="5623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1078992"/>
            <a:ext cx="5349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363438111713435e+103" dist="1.1809031433514024e+103" dir="3.83808888404051e+121">
              <a:srgbClr val="012A32">
                <a:alpha val="9.999999999999997e+123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56832" y="12618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工程指标（可核验）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提交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7532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次，最后一次 2025-08-26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7512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测试资产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7532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个测试类，覆盖工作流/解析/路由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7512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状态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27532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GitHub Actions 配置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67512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监控接入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27532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代码已埋点，日报无运行时读数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4434840"/>
            <a:ext cx="11247120" cy="1901952"/>
          </a:xfrm>
          <a:prstGeom prst="roundRect">
            <a:avLst>
              <a:gd name="adj" fmla="val 4808"/>
            </a:avLst>
          </a:prstGeom>
          <a:solidFill>
            <a:srgbClr val="012A32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45902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业务指标尚未接入运行时读数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85800" y="49377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生成成功率、首 Token 时延、Token 成本、部署成功率等口径，代码已埋点 ai_model_requests_total / error / token / timer，并有 Grafana 看板。本环境未连接 Prometheus，因此不编造运行数字。建议下一阶段从看板导出昨日读数写入本页。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9991566401876064e+107" dist="1.499746992056281e+107" dir="2.302853330424306e+126">
              <a:srgbClr val="012A32">
                <a:alpha val="9.999999999999997e+128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" y="129844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129844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20700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持续集成缺位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63040" y="153619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/ 其他 CI 配置。15 个测试类只能本地跑，回归状态对外不可见。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10312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34892893303826e+111" dist="1.904678679911477e+111" dir="1.3817119982545836e+131">
              <a:srgbClr val="012A32">
                <a:alpha val="9.999999999999997e+133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" y="230428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230428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63040" y="22128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双轨代码需定主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63040" y="2542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根目录单体与 microservice 同时存在。第 14 期中间态提交曾明确影响单体，后续合入易漂移。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063139744958591e+115" dist="2.418941923487576e+115" dir="8.290271989527502e+135">
              <a:srgbClr val="012A32">
                <a:alpha val="9.999999999999998e+138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1792" y="331012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33101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63040" y="32186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依赖未完全收口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63040" y="35478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1.6.0-rc2；LangChain4j 稳定版与 1.1.0-beta7 混用；二次源码含未收口 TODO。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24018747609741e+120" dist="3.0720562428292216e+119" dir="4.974163193716501e+140">
              <a:srgbClr val="012A32">
                <a:alpha val="9.999999999999999e+143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1792" y="431596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" y="43159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463040" y="422452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日报指标未打通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63040" y="455371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监控代码与 Grafana JSON 已在仓库，但缺少自动化导出与本汇报的数据管道。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57200" y="512064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00503809464371e+124" dist="3.9015114283931116e+123" dir="2.9844979162299e+145">
              <a:srgbClr val="012A32">
                <a:alpha val="9.999999999999998e+148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1792" y="5321808"/>
            <a:ext cx="64008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621792" y="532180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463040" y="52303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端到端冒烟缺失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463040" y="555955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现有测试偏工作流与工具单测，未见创建应用 → 生成 → 部署 → 截图的 CI 冒烟。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11556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516398380197513e+128" dist="4.954919514059251e+127" dir="1.79069874973794e+150">
              <a:srgbClr val="012A32">
                <a:alpha val="9.999999999999999e+153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4453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61872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仓库长期静止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8368" y="177393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距最近提交约 12 个月。依赖、模型 API 与教程环境可能已过期，新成员按 README 启动存在摩擦。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51960" y="111556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0975825942850843e+132" dist="6.2927477828552495e+131" dir="1.074419249842764e+155">
              <a:srgbClr val="012A32">
                <a:alpha val="1e+15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5312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44536"/>
          </a:solidFill>
          <a:ln/>
        </p:spPr>
      </p:sp>
      <p:sp>
        <p:nvSpPr>
          <p:cNvPr id="17" name="Text 14"/>
          <p:cNvSpPr/>
          <p:nvPr/>
        </p:nvSpPr>
        <p:spPr>
          <a:xfrm>
            <a:off x="445312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56632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 CI 即无质量门禁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3128" y="177393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任何后续补丁都缺少自动编译与测试信号，微服务多模块回归成本更高。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46720" y="111556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63929894742057e+136" dist="7.991789684226167e+135" dir="6.4465154990565844e+159">
              <a:srgbClr val="012A32">
                <a:alpha val="9.999999999999999e+163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47888" y="131673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22" name="Text 19"/>
          <p:cNvSpPr/>
          <p:nvPr/>
        </p:nvSpPr>
        <p:spPr>
          <a:xfrm>
            <a:off x="8247888" y="13167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51392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截图链路运维重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47888" y="1773936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WebDriverManager 对运行环境敏感，是部署与封面生成的常见阻塞点。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657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831909663224124e+140" dist="1.0149572898967231e+140" dir="3.8679092994339505e+164">
              <a:srgbClr val="012A32">
                <a:alpha val="1e+16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8368" y="385876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8587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261872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配置样例偏教学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58368" y="4315968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含本地默认库口令与 API Key 占位；若直接用于共享环境需先隔离密钥。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72200" y="3657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96652527229464e+144" dist="1.2889957581688384e+144" dir="2.3207455796603705e+169">
              <a:srgbClr val="012A32">
                <a:alpha val="9.999999999999998e+173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73368" y="385876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B7791F"/>
          </a:solidFill>
          <a:ln/>
        </p:spPr>
      </p:sp>
      <p:sp>
        <p:nvSpPr>
          <p:cNvPr id="32" name="Text 29"/>
          <p:cNvSpPr/>
          <p:nvPr/>
        </p:nvSpPr>
        <p:spPr>
          <a:xfrm>
            <a:off x="6373368" y="38587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76872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预发布依赖风险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73368" y="4315968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RC 与 LangChain4j beta 在版本升级时可能破坏工作流与流式工具调用。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37490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2560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09728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56748709581419e+148" dist="1.6370246128744248e+148" dir="1.3924473477962223e+174">
              <a:srgbClr val="012A32">
                <a:alpha val="9.999999999999998e+178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13350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07008" y="137160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6F8F3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13716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23160" y="118872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423160" y="153619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为单体增加编译与单测工作流；微服务至少保证 common、model、client 可构建。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10312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930070861168402e+152" dist="2.0790212583505195e+152" dir="8.354684086777334e+178">
              <a:srgbClr val="012A32">
                <a:alpha val="9.999999999999998e+183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23408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07008" y="23774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6F8F3"/>
          </a:solidFill>
          <a:ln/>
        </p:spPr>
      </p:sp>
      <p:sp>
        <p:nvSpPr>
          <p:cNvPr id="21" name="Text 18"/>
          <p:cNvSpPr/>
          <p:nvPr/>
        </p:nvSpPr>
        <p:spPr>
          <a:xfrm>
            <a:off x="1207008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423160" y="219456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写清启动主路径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423160" y="25420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在文档中明确：学习者默认跑单体，微服务为第 14 期对照实现，避免混用中间态提交。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310896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80118999368387e+156" dist="2.64035699810516e+156" dir="5.0128104520664e+183">
              <a:srgbClr val="012A32">
                <a:alpha val="9.999999999999998e+188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334670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207008" y="338328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5F2F1"/>
          </a:solidFill>
          <a:ln/>
        </p:spPr>
      </p:sp>
      <p:sp>
        <p:nvSpPr>
          <p:cNvPr id="28" name="Text 25"/>
          <p:cNvSpPr/>
          <p:nvPr/>
        </p:nvSpPr>
        <p:spPr>
          <a:xfrm>
            <a:off x="1207008" y="33832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两周内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423160" y="32004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打通指标日报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423160" y="35478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从已有 Grafana / Actuator 导出请求量、错误率、Token、耗时，写入本汇报指标页。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411480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177511291978515e+161" dist="3.353253387593553e+160" dir="3.00768627123984e+188">
              <a:srgbClr val="012A32">
                <a:alpha val="9.999999999999998e+193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0080" y="435254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207008" y="438912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E5F2F1"/>
          </a:solidFill>
          <a:ln/>
        </p:spPr>
      </p:sp>
      <p:sp>
        <p:nvSpPr>
          <p:cNvPr id="35" name="Text 32"/>
          <p:cNvSpPr/>
          <p:nvPr/>
        </p:nvSpPr>
        <p:spPr>
          <a:xfrm>
            <a:off x="1207008" y="43891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两周内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423160" y="420624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锁定依赖版本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423160" y="455371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LangGraph4j 稳定版；统一 LangChain4j，去掉 vendor 源码中的调试 TODO。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57200" y="5120640"/>
            <a:ext cx="112471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195439340812714e+165" dist="4.2586318022438123e+164" dir="1.804611762743904e+193">
              <a:srgbClr val="012A32">
                <a:alpha val="9.999999999999999e+198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40080" y="535838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5358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207008" y="539496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3F8F7"/>
          </a:solidFill>
          <a:ln/>
        </p:spPr>
      </p:sp>
      <p:sp>
        <p:nvSpPr>
          <p:cNvPr id="42" name="Text 39"/>
          <p:cNvSpPr/>
          <p:nvPr/>
        </p:nvSpPr>
        <p:spPr>
          <a:xfrm>
            <a:off x="1207008" y="53949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423160" y="52120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加一条冒烟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2423160" y="555955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覆盖「创建应用 → 流式生成 → 静态预览」最小路径，截图服务单独做成可跳过的集成测试。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-1691640"/>
            <a:ext cx="3017520" cy="3017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能力完整、教学闭环已在；工程持续集成与运行时日报尚未接上。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1404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928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331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四条核心能力与第 14 期微服务拆分作为稳定基线，不在本汇报中改业务代码。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14049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8928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承认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73952" y="2331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日零提交是事实，不是「无风险」。静止仓库的主要风险是环境过期与质量门禁缺失。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14049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858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4297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CI、启动路径说明、指标导出三条成本最低，也能让后续每日汇报变成可行动数据。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0140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38587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避免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73952" y="42976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不要同时改单体与微服务而不声明主路径；不要把 vendor TODO 当成业务未完成功能。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文件：docs/reports/project-status-2026-08-26.pptx    ·    第 11 / 11 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 2026-08-26</dc:title>
  <dc:subject>AI 零代码应用生成平台项目状态汇报</dc:subject>
  <dc:creator>yu-ai-code-mother 日报自动化</dc:creator>
  <cp:lastModifiedBy>yu-ai-code-mother 日报自动化</cp:lastModifiedBy>
  <cp:revision>1</cp:revision>
  <dcterms:created xsi:type="dcterms:W3CDTF">2026-08-26T09:13:23Z</dcterms:created>
  <dcterms:modified xsi:type="dcterms:W3CDTF">2026-08-26T09:13:23Z</dcterms:modified>
</cp:coreProperties>
</file>