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3A3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63A3C"/>
                </a:solidFill>
                <a:latin typeface="Calibri"/>
              </a:rPr>
              <a:t>提交节奏（按月，仓库统计）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提交数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6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2025-07</c:v>
                  </c:pt>
                  <c:pt idx="1">
                    <c:v>2025-08</c:v>
                  </c:pt>
                  <c:pt idx="2">
                    <c:v>近 7 日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6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14F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14F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3520440" cy="365760"/>
          </a:xfrm>
          <a:prstGeom prst="roundRect">
            <a:avLst>
              <a:gd name="adj" fmla="val 20000"/>
            </a:avLst>
          </a:prstGeom>
          <a:solidFill>
            <a:srgbClr val="014F5A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52120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  ·  维护者内部汇报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AI 零代码应用生成平台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基于仓库当前 HEAD 的工程快照：能力盘点、近期变更、风险与下一步。近 7 日无新提交，内容锚定最近里程碑（教程第 14 期）。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3474720" cy="713232"/>
          </a:xfrm>
          <a:prstGeom prst="roundRect">
            <a:avLst>
              <a:gd name="adj" fmla="val 12821"/>
            </a:avLst>
          </a:prstGeom>
          <a:solidFill>
            <a:srgbClr val="014F5A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39593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041648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39593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2026年8月20日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43400" y="3794760"/>
            <a:ext cx="3474720" cy="713232"/>
          </a:xfrm>
          <a:prstGeom prst="roundRect">
            <a:avLst>
              <a:gd name="adj" fmla="val 12821"/>
            </a:avLst>
          </a:prstGeom>
          <a:solidFill>
            <a:srgbClr val="014F5A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9704" y="39593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041648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83480" y="39593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 + 微服务双轨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046720" y="3794760"/>
            <a:ext cx="3474720" cy="713232"/>
          </a:xfrm>
          <a:prstGeom prst="roundRect">
            <a:avLst>
              <a:gd name="adj" fmla="val 12821"/>
            </a:avLst>
          </a:prstGeom>
          <a:solidFill>
            <a:srgbClr val="014F5A"/>
          </a:solidFill>
          <a:ln/>
        </p:spPr>
      </p:sp>
      <p:sp>
        <p:nvSpPr>
          <p:cNvPr id="17" name="Shape 13"/>
          <p:cNvSpPr/>
          <p:nvPr/>
        </p:nvSpPr>
        <p:spPr>
          <a:xfrm>
            <a:off x="8193024" y="395935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4041648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0" y="395935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期已闭环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0080" y="6291072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D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受众：项目维护者 / 团队　　数据口径：Git 仓库与源码结构，不含线上生产指标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663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3474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5840" y="82296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教学向企业级 AI 代码生成平台，教程已推进至第 14 期。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207008"/>
            <a:ext cx="667512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207008"/>
            <a:ext cx="91440" cy="3063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133502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平台定位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1664208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用户用自然语言描述需求，平台自动路由生成策略，流式产出 HTML / 多文件 / Vue 工程，并支持可视化改稿、一键部署、封面截图与源码下载。后台覆盖用户、应用、对话与系统监控。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816352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194560" y="2816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3.5、Java 21、LangChain4j、LangGraph4j、Vue 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3255264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仓库结构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194560" y="3255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根目录单体与 microservice 并存，前端独立工程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22960" y="3694176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数据模型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194560" y="36941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chat_history，Session 落 Redis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498080" y="1207008"/>
            <a:ext cx="41605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680960" y="1280160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9006840" y="135331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历史提交总数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006840" y="16824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集中在 2025-07 与 08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498080" y="2286000"/>
            <a:ext cx="4160520" cy="9326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680960" y="2359152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9006840" y="24323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教程期数闭环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06840" y="27614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最新：微服务改造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498080" y="3364992"/>
            <a:ext cx="4160520" cy="932688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7680960" y="3438144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400" dirty="0"/>
          </a:p>
        </p:txBody>
      </p:sp>
      <p:sp>
        <p:nvSpPr>
          <p:cNvPr id="27" name="Text 24"/>
          <p:cNvSpPr/>
          <p:nvPr/>
        </p:nvSpPr>
        <p:spPr>
          <a:xfrm>
            <a:off x="9006840" y="35112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日提交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9006840" y="3840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仓库处于静默期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02920" y="4480560"/>
            <a:ext cx="11155680" cy="1572768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30" name="Text 27"/>
          <p:cNvSpPr/>
          <p:nvPr/>
        </p:nvSpPr>
        <p:spPr>
          <a:xfrm>
            <a:off x="73152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当前判断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31520" y="49377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功能教程主线已走完「生成 → 编辑 → 部署 → 优化 → 可观测 → 微服务」。维护重点从功能补齐转向双轨代码治理、CI 与依赖老化，而不是继续堆新业务模块。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502920" y="62910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2026-08-20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37844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663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3474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5840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四大产品能力已落地，并配套智能路由、限流与监控。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261872"/>
            <a:ext cx="55778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261872"/>
            <a:ext cx="55778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Shape 6"/>
          <p:cNvSpPr/>
          <p:nvPr/>
        </p:nvSpPr>
        <p:spPr>
          <a:xfrm>
            <a:off x="758952" y="1517904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27632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44168" y="153619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58952" y="213055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需求描述后由 AI 选择 HTML / 多文件 / Vue 工程策略；工具调用写文件，SSE 流式展示执行过程。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355080" y="1261872"/>
            <a:ext cx="55778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55080" y="1261872"/>
            <a:ext cx="55778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Shape 11"/>
          <p:cNvSpPr/>
          <p:nvPr/>
        </p:nvSpPr>
        <p:spPr>
          <a:xfrm>
            <a:off x="6611112" y="1517904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6276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96328" y="153619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611112" y="213055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预览页可选中元素并与 AI 对话改稿。原生模式全量改写，工程模式增量修改，直到满意。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02920" y="3593592"/>
            <a:ext cx="55778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02920" y="3593592"/>
            <a:ext cx="55778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1" name="Shape 16"/>
          <p:cNvSpPr/>
          <p:nvPr/>
        </p:nvSpPr>
        <p:spPr>
          <a:xfrm>
            <a:off x="758952" y="3849624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95935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44168" y="386791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758952" y="446227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部署到可访问地址，自动截取封面，支持完整项目打包下载与精选案例展示。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6355080" y="3593592"/>
            <a:ext cx="55778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55080" y="3593592"/>
            <a:ext cx="55778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Shape 21"/>
          <p:cNvSpPr/>
          <p:nvPr/>
        </p:nvSpPr>
        <p:spPr>
          <a:xfrm>
            <a:off x="6611112" y="3849624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3959352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196328" y="386791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6611112" y="4462272"/>
            <a:ext cx="5074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/ 应用 / 对话后台；管理员可设精选。Prometheus 与 Grafana 观察 AI 调用。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502920" y="62910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2026-08-20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1037844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663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3474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5840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同一产品能力以单体与微服务两套代码共存，HEAD 明确保留完整单体。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243584"/>
            <a:ext cx="5440680" cy="3401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243584"/>
            <a:ext cx="5440680" cy="512064"/>
          </a:xfrm>
          <a:prstGeom prst="rect">
            <a:avLst/>
          </a:prstGeom>
          <a:solidFill>
            <a:srgbClr val="01363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129844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单体后端  src/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31520" y="199339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18745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控制器：应用、用户、对话、静态资源、工作流 SSE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31520" y="261518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0"/>
          <p:cNvSpPr/>
          <p:nvPr/>
        </p:nvSpPr>
        <p:spPr>
          <a:xfrm>
            <a:off x="1005840" y="24963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层：提示词路由、文件工具集、Guardrail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31520" y="323697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2"/>
          <p:cNvSpPr/>
          <p:nvPr/>
        </p:nvSpPr>
        <p:spPr>
          <a:xfrm>
            <a:off x="1005840" y="311810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工作流：路由、增强、生成、质检、构建、图片并发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731520" y="385876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4"/>
          <p:cNvSpPr/>
          <p:nvPr/>
        </p:nvSpPr>
        <p:spPr>
          <a:xfrm>
            <a:off x="1005840" y="3739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横切：限流、多级缓存、截图与 COS、监控采集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263640" y="1243584"/>
            <a:ext cx="5440680" cy="34015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63640" y="1243584"/>
            <a:ext cx="5440680" cy="512064"/>
          </a:xfrm>
          <a:prstGeom prst="rect">
            <a:avLst/>
          </a:prstGeom>
          <a:solidFill>
            <a:srgbClr val="01363F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371600"/>
            <a:ext cx="237744" cy="23774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84848" y="129844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  7 个模块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492240" y="1901952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/ model / client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492240" y="212140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基础能力、数据模型与跨服务接口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6492240" y="2414016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6492240" y="2633472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账号与鉴权，独立进程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92240" y="2926080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492240" y="314553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应用生成、对话与静态资源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92240" y="3438144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492240" y="3657600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模型、工具与提示词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492240" y="3950208"/>
            <a:ext cx="4983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6492240" y="4169664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网页截图与封面</a:t>
            </a:r>
            <a:endParaRPr lang="en-US" sz="1300" dirty="0"/>
          </a:p>
        </p:txBody>
      </p:sp>
      <p:sp>
        <p:nvSpPr>
          <p:cNvPr id="33" name="Shape 28"/>
          <p:cNvSpPr/>
          <p:nvPr/>
        </p:nvSpPr>
        <p:spPr>
          <a:xfrm>
            <a:off x="502920" y="4828032"/>
            <a:ext cx="11201400" cy="1261872"/>
          </a:xfrm>
          <a:prstGeom prst="rect">
            <a:avLst/>
          </a:prstGeom>
          <a:solidFill>
            <a:srgbClr val="D8F3EF"/>
          </a:solidFill>
          <a:ln/>
        </p:spPr>
      </p:sp>
      <p:sp>
        <p:nvSpPr>
          <p:cNvPr id="34" name="Text 29"/>
          <p:cNvSpPr/>
          <p:nvPr/>
        </p:nvSpPr>
        <p:spPr>
          <a:xfrm>
            <a:off x="731520" y="49377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运行依赖（本地配置口径，不含密钥）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731520" y="5230368"/>
            <a:ext cx="10789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MySQL、Redis、DeepSeek / 通义兼容接口、腾讯云 COS、Pexels、Selenium 截图。微服务额外依赖 Nacos 与 Dubbo。前端 Vite 7，共 8 个业务页面：首页、对话、编辑、登录注册与三类管理页。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502920" y="62910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2026-08-20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1037844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663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3474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5840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统计窗口优先看近 7 日；仓库最近一次提交为 2025-08-26。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243584"/>
            <a:ext cx="3520440" cy="224028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1335024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685800" y="20848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 / 近 30 日提交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2432304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昨日与本周无代码变更。本汇报记录的是静默期状态，不是功能迭代周报。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43400" y="1243584"/>
            <a:ext cx="7360920" cy="2240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0" y="1371600"/>
            <a:ext cx="6903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最近有效里程碑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0" y="1737360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2025-08-26  第 14 期完成：拆出 7 个微服务模块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0" y="2121408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中间态提交注明：勿单独检出，以免破坏单体工程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0" y="2505456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HEAD：微服务改造完成，同时保留完整单体代码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72000" y="2889504"/>
            <a:ext cx="6903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作者 1-鱼皮；当前分支与 master 同为 893918c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0292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回看主线（2025-08）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7240" y="4315968"/>
            <a:ext cx="10607040" cy="6400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Shape 16"/>
          <p:cNvSpPr/>
          <p:nvPr/>
        </p:nvSpPr>
        <p:spPr>
          <a:xfrm>
            <a:off x="1325880" y="4206240"/>
            <a:ext cx="274320" cy="274320"/>
          </a:xfrm>
          <a:prstGeom prst="ellipse">
            <a:avLst/>
          </a:prstGeom>
          <a:solidFill>
            <a:srgbClr val="01363F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45902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08-07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02920" y="48097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9 期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02920" y="50474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可视化修改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593592" y="4206240"/>
            <a:ext cx="274320" cy="274320"/>
          </a:xfrm>
          <a:prstGeom prst="ellipse">
            <a:avLst/>
          </a:prstGeom>
          <a:solidFill>
            <a:srgbClr val="01363F"/>
          </a:solidFill>
          <a:ln/>
        </p:spPr>
      </p:sp>
      <p:sp>
        <p:nvSpPr>
          <p:cNvPr id="24" name="Text 21"/>
          <p:cNvSpPr/>
          <p:nvPr/>
        </p:nvSpPr>
        <p:spPr>
          <a:xfrm>
            <a:off x="2770632" y="45902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08-12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2770632" y="48097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期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2770632" y="50474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工作流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861304" y="4206240"/>
            <a:ext cx="274320" cy="274320"/>
          </a:xfrm>
          <a:prstGeom prst="ellipse">
            <a:avLst/>
          </a:prstGeom>
          <a:solidFill>
            <a:srgbClr val="01363F"/>
          </a:solidFill>
          <a:ln/>
        </p:spPr>
      </p:sp>
      <p:sp>
        <p:nvSpPr>
          <p:cNvPr id="28" name="Text 25"/>
          <p:cNvSpPr/>
          <p:nvPr/>
        </p:nvSpPr>
        <p:spPr>
          <a:xfrm>
            <a:off x="5038344" y="45902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08-13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38344" y="48097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11 期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5038344" y="50474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 / 并发 / 成本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8129016" y="4206240"/>
            <a:ext cx="274320" cy="274320"/>
          </a:xfrm>
          <a:prstGeom prst="ellipse">
            <a:avLst/>
          </a:prstGeom>
          <a:solidFill>
            <a:srgbClr val="01363F"/>
          </a:solidFill>
          <a:ln/>
        </p:spPr>
      </p:sp>
      <p:sp>
        <p:nvSpPr>
          <p:cNvPr id="32" name="Text 29"/>
          <p:cNvSpPr/>
          <p:nvPr/>
        </p:nvSpPr>
        <p:spPr>
          <a:xfrm>
            <a:off x="7306056" y="45902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08-14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306056" y="48097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12–13 期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306056" y="50474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部署与可观测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10396728" y="4206240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3"/>
          <p:cNvSpPr/>
          <p:nvPr/>
        </p:nvSpPr>
        <p:spPr>
          <a:xfrm>
            <a:off x="9573768" y="459028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08-26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9573768" y="480974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9573768" y="504748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微服务改造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502920" y="544068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至本汇报日，仓库无后续期次或热修提交，教程代码基线停留在第 14 期完成态。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502920" y="62910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2026-08-20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037844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663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3474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5840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以下为仓库可核验的工程规模；线上业务指标需对接监控后回填。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243584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243584"/>
            <a:ext cx="27432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" y="137160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9.2k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49224" y="197510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单体业务 Java 行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9224" y="226771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com.yupi 业务包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429000" y="1243584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29000" y="1243584"/>
            <a:ext cx="27432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/>
          <p:nvPr/>
        </p:nvSpPr>
        <p:spPr>
          <a:xfrm>
            <a:off x="3575304" y="137160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8.1k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3575304" y="197510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 Java 行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75304" y="226771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七模块合计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55080" y="1243584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55080" y="1243584"/>
            <a:ext cx="27432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6"/>
          <p:cNvSpPr/>
          <p:nvPr/>
        </p:nvSpPr>
        <p:spPr>
          <a:xfrm>
            <a:off x="6501384" y="137160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5.2k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501384" y="197510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TS / Vue 行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501384" y="226771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不含 lockfile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281160" y="1243584"/>
            <a:ext cx="27432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281160" y="1243584"/>
            <a:ext cx="2743200" cy="7315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4" name="Text 21"/>
          <p:cNvSpPr/>
          <p:nvPr/>
        </p:nvSpPr>
        <p:spPr>
          <a:xfrm>
            <a:off x="9427464" y="1371600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9427464" y="1975104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单体测试类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427464" y="2267712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微服务无对等套件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502920" y="2980944"/>
          <a:ext cx="5669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8" name="Shape 24"/>
          <p:cNvSpPr/>
          <p:nvPr/>
        </p:nvSpPr>
        <p:spPr>
          <a:xfrm>
            <a:off x="6446520" y="2980944"/>
            <a:ext cx="521208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6675120" y="3127248"/>
            <a:ext cx="4800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待回填的生产指标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6675120" y="3474720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仓库没有线上运行数据。建议从已入库的 Grafana 看板与 Prometheus 端点回填：</a:t>
            </a:r>
            <a:endParaRPr lang="en-US" sz="1400" dirty="0"/>
          </a:p>
        </p:txBody>
      </p:sp>
      <p:sp>
        <p:nvSpPr>
          <p:cNvPr id="31" name="Shape 27"/>
          <p:cNvSpPr/>
          <p:nvPr/>
        </p:nvSpPr>
        <p:spPr>
          <a:xfrm>
            <a:off x="6720840" y="4261104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28"/>
          <p:cNvSpPr/>
          <p:nvPr/>
        </p:nvSpPr>
        <p:spPr>
          <a:xfrm>
            <a:off x="6995160" y="416052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日活用户 / 新建应用数</a:t>
            </a:r>
            <a:endParaRPr lang="en-US" sz="1400" dirty="0"/>
          </a:p>
        </p:txBody>
      </p:sp>
      <p:sp>
        <p:nvSpPr>
          <p:cNvPr id="33" name="Shape 29"/>
          <p:cNvSpPr/>
          <p:nvPr/>
        </p:nvSpPr>
        <p:spPr>
          <a:xfrm>
            <a:off x="6720840" y="4663440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0"/>
          <p:cNvSpPr/>
          <p:nvPr/>
        </p:nvSpPr>
        <p:spPr>
          <a:xfrm>
            <a:off x="6995160" y="4562856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生成成功率与平均耗时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6720840" y="5065776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2"/>
          <p:cNvSpPr/>
          <p:nvPr/>
        </p:nvSpPr>
        <p:spPr>
          <a:xfrm>
            <a:off x="6995160" y="4965192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 Token 与费用</a:t>
            </a:r>
            <a:endParaRPr lang="en-US" sz="1400" dirty="0"/>
          </a:p>
        </p:txBody>
      </p:sp>
      <p:sp>
        <p:nvSpPr>
          <p:cNvPr id="37" name="Shape 33"/>
          <p:cNvSpPr/>
          <p:nvPr/>
        </p:nvSpPr>
        <p:spPr>
          <a:xfrm>
            <a:off x="6720840" y="5468112"/>
            <a:ext cx="128016" cy="12801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34"/>
          <p:cNvSpPr/>
          <p:nvPr/>
        </p:nvSpPr>
        <p:spPr>
          <a:xfrm>
            <a:off x="6995160" y="536752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限流触发次数与错误率</a:t>
            </a:r>
            <a:endParaRPr lang="en-US" sz="1400" dirty="0"/>
          </a:p>
        </p:txBody>
      </p:sp>
      <p:sp>
        <p:nvSpPr>
          <p:cNvPr id="39" name="Text 35"/>
          <p:cNvSpPr/>
          <p:nvPr/>
        </p:nvSpPr>
        <p:spPr>
          <a:xfrm>
            <a:off x="502920" y="62910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2026-08-20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1037844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663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3474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工程与质量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5840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 GitHub Actions 或其他 CI 工作流，测试以本地 JUnit 为主。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243584"/>
            <a:ext cx="3611880" cy="4828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243584"/>
            <a:ext cx="3611880" cy="86868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142646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50876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9576" y="14264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状态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85800" y="2304288"/>
            <a:ext cx="3246120" cy="749808"/>
          </a:xfrm>
          <a:prstGeom prst="roundRect">
            <a:avLst>
              <a:gd name="adj" fmla="val 7317"/>
            </a:avLst>
          </a:prstGeom>
          <a:solidFill>
            <a:srgbClr val="FEE2E2"/>
          </a:solidFill>
          <a:ln/>
        </p:spPr>
      </p:sp>
      <p:sp>
        <p:nvSpPr>
          <p:cNvPr id="13" name="Text 9"/>
          <p:cNvSpPr/>
          <p:nvPr/>
        </p:nvSpPr>
        <p:spPr>
          <a:xfrm>
            <a:off x="832104" y="230428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 workflows 目录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85800" y="3182112"/>
            <a:ext cx="3246120" cy="749808"/>
          </a:xfrm>
          <a:prstGeom prst="roundRect">
            <a:avLst>
              <a:gd name="adj" fmla="val 7317"/>
            </a:avLst>
          </a:prstGeom>
          <a:solidFill>
            <a:srgbClr val="FEE2E2"/>
          </a:solidFill>
          <a:ln/>
        </p:spPr>
      </p:sp>
      <p:sp>
        <p:nvSpPr>
          <p:cNvPr id="15" name="Text 11"/>
          <p:cNvSpPr/>
          <p:nvPr/>
        </p:nvSpPr>
        <p:spPr>
          <a:xfrm>
            <a:off x="832104" y="318211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无自动化门禁记录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85800" y="4059936"/>
            <a:ext cx="3246120" cy="749808"/>
          </a:xfrm>
          <a:prstGeom prst="roundRect">
            <a:avLst>
              <a:gd name="adj" fmla="val 7317"/>
            </a:avLst>
          </a:prstGeom>
          <a:solidFill>
            <a:srgbClr val="FEE2E2"/>
          </a:solidFill>
          <a:ln/>
        </p:spPr>
      </p:sp>
      <p:sp>
        <p:nvSpPr>
          <p:cNvPr id="17" name="Text 13"/>
          <p:cNvSpPr/>
          <p:nvPr/>
        </p:nvSpPr>
        <p:spPr>
          <a:xfrm>
            <a:off x="832104" y="4059936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本环境无法核验远端流水线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85800" y="4937760"/>
            <a:ext cx="3246120" cy="749808"/>
          </a:xfrm>
          <a:prstGeom prst="roundRect">
            <a:avLst>
              <a:gd name="adj" fmla="val 7317"/>
            </a:avLst>
          </a:prstGeom>
          <a:solidFill>
            <a:srgbClr val="FEE2E2"/>
          </a:solidFill>
          <a:ln/>
        </p:spPr>
      </p:sp>
      <p:sp>
        <p:nvSpPr>
          <p:cNvPr id="19" name="Text 15"/>
          <p:cNvSpPr/>
          <p:nvPr/>
        </p:nvSpPr>
        <p:spPr>
          <a:xfrm>
            <a:off x="832104" y="493776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合并质量依赖人工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4343400" y="1243584"/>
            <a:ext cx="3611880" cy="4828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343400" y="1243584"/>
            <a:ext cx="3611880" cy="86868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22" name="Shape 18"/>
          <p:cNvSpPr/>
          <p:nvPr/>
        </p:nvSpPr>
        <p:spPr>
          <a:xfrm>
            <a:off x="4526280" y="142646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1508760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020056" y="14264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后端测试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4526280" y="2304288"/>
            <a:ext cx="3246120" cy="749808"/>
          </a:xfrm>
          <a:prstGeom prst="roundRect">
            <a:avLst>
              <a:gd name="adj" fmla="val 7317"/>
            </a:avLst>
          </a:prstGeom>
          <a:solidFill>
            <a:srgbClr val="D8F3EF"/>
          </a:solidFill>
          <a:ln/>
        </p:spPr>
      </p:sp>
      <p:sp>
        <p:nvSpPr>
          <p:cNvPr id="26" name="Text 21"/>
          <p:cNvSpPr/>
          <p:nvPr/>
        </p:nvSpPr>
        <p:spPr>
          <a:xfrm>
            <a:off x="4672584" y="230428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个测试类集中在单体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4526280" y="3182112"/>
            <a:ext cx="3246120" cy="749808"/>
          </a:xfrm>
          <a:prstGeom prst="roundRect">
            <a:avLst>
              <a:gd name="adj" fmla="val 7317"/>
            </a:avLst>
          </a:prstGeom>
          <a:solidFill>
            <a:srgbClr val="D8F3EF"/>
          </a:solidFill>
          <a:ln/>
        </p:spPr>
      </p:sp>
      <p:sp>
        <p:nvSpPr>
          <p:cNvPr id="28" name="Text 23"/>
          <p:cNvSpPr/>
          <p:nvPr/>
        </p:nvSpPr>
        <p:spPr>
          <a:xfrm>
            <a:off x="4672584" y="318211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覆盖解析、工作流、工具、截图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4526280" y="4059936"/>
            <a:ext cx="3246120" cy="749808"/>
          </a:xfrm>
          <a:prstGeom prst="roundRect">
            <a:avLst>
              <a:gd name="adj" fmla="val 7317"/>
            </a:avLst>
          </a:prstGeom>
          <a:solidFill>
            <a:srgbClr val="D8F3EF"/>
          </a:solidFill>
          <a:ln/>
        </p:spPr>
      </p:sp>
      <p:sp>
        <p:nvSpPr>
          <p:cNvPr id="30" name="Text 25"/>
          <p:cNvSpPr/>
          <p:nvPr/>
        </p:nvSpPr>
        <p:spPr>
          <a:xfrm>
            <a:off x="4672584" y="4059936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多数用例依赖外部模型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4526280" y="4937760"/>
            <a:ext cx="3246120" cy="749808"/>
          </a:xfrm>
          <a:prstGeom prst="roundRect">
            <a:avLst>
              <a:gd name="adj" fmla="val 7317"/>
            </a:avLst>
          </a:prstGeom>
          <a:solidFill>
            <a:srgbClr val="D8F3EF"/>
          </a:solidFill>
          <a:ln/>
        </p:spPr>
      </p:sp>
      <p:sp>
        <p:nvSpPr>
          <p:cNvPr id="32" name="Text 27"/>
          <p:cNvSpPr/>
          <p:nvPr/>
        </p:nvSpPr>
        <p:spPr>
          <a:xfrm>
            <a:off x="4672584" y="493776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微服务缺少对等测试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8183880" y="1243584"/>
            <a:ext cx="3611880" cy="48280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8183880" y="1243584"/>
            <a:ext cx="3611880" cy="868680"/>
          </a:xfrm>
          <a:prstGeom prst="rect">
            <a:avLst/>
          </a:prstGeom>
          <a:solidFill>
            <a:srgbClr val="01363F"/>
          </a:solidFill>
          <a:ln/>
        </p:spPr>
      </p:sp>
      <p:sp>
        <p:nvSpPr>
          <p:cNvPr id="35" name="Shape 30"/>
          <p:cNvSpPr/>
          <p:nvPr/>
        </p:nvSpPr>
        <p:spPr>
          <a:xfrm>
            <a:off x="8366760" y="142646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1508760"/>
            <a:ext cx="219456" cy="21945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8860536" y="142646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前端与监控</a:t>
            </a:r>
            <a:endParaRPr lang="en-US" sz="1800" dirty="0"/>
          </a:p>
        </p:txBody>
      </p:sp>
      <p:sp>
        <p:nvSpPr>
          <p:cNvPr id="38" name="Shape 32"/>
          <p:cNvSpPr/>
          <p:nvPr/>
        </p:nvSpPr>
        <p:spPr>
          <a:xfrm>
            <a:off x="8366760" y="2304288"/>
            <a:ext cx="3246120" cy="749808"/>
          </a:xfrm>
          <a:prstGeom prst="roundRect">
            <a:avLst>
              <a:gd name="adj" fmla="val 7317"/>
            </a:avLst>
          </a:prstGeom>
          <a:solidFill>
            <a:srgbClr val="E6F8F3"/>
          </a:solidFill>
          <a:ln/>
        </p:spPr>
      </p:sp>
      <p:sp>
        <p:nvSpPr>
          <p:cNvPr id="39" name="Text 33"/>
          <p:cNvSpPr/>
          <p:nvPr/>
        </p:nvSpPr>
        <p:spPr>
          <a:xfrm>
            <a:off x="8513064" y="230428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eslint / vue-tsc / prettier 齐全</a:t>
            </a:r>
            <a:endParaRPr lang="en-US" sz="1400" dirty="0"/>
          </a:p>
        </p:txBody>
      </p:sp>
      <p:sp>
        <p:nvSpPr>
          <p:cNvPr id="40" name="Shape 34"/>
          <p:cNvSpPr/>
          <p:nvPr/>
        </p:nvSpPr>
        <p:spPr>
          <a:xfrm>
            <a:off x="8366760" y="3182112"/>
            <a:ext cx="3246120" cy="749808"/>
          </a:xfrm>
          <a:prstGeom prst="roundRect">
            <a:avLst>
              <a:gd name="adj" fmla="val 7317"/>
            </a:avLst>
          </a:prstGeom>
          <a:solidFill>
            <a:srgbClr val="E6F8F3"/>
          </a:solidFill>
          <a:ln/>
        </p:spPr>
      </p:sp>
      <p:sp>
        <p:nvSpPr>
          <p:cNvPr id="41" name="Text 35"/>
          <p:cNvSpPr/>
          <p:nvPr/>
        </p:nvSpPr>
        <p:spPr>
          <a:xfrm>
            <a:off x="8513064" y="3182112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无前端单测或 e2e 脚本</a:t>
            </a:r>
            <a:endParaRPr lang="en-US" sz="1400" dirty="0"/>
          </a:p>
        </p:txBody>
      </p:sp>
      <p:sp>
        <p:nvSpPr>
          <p:cNvPr id="42" name="Shape 36"/>
          <p:cNvSpPr/>
          <p:nvPr/>
        </p:nvSpPr>
        <p:spPr>
          <a:xfrm>
            <a:off x="8366760" y="4059936"/>
            <a:ext cx="3246120" cy="749808"/>
          </a:xfrm>
          <a:prstGeom prst="roundRect">
            <a:avLst>
              <a:gd name="adj" fmla="val 7317"/>
            </a:avLst>
          </a:prstGeom>
          <a:solidFill>
            <a:srgbClr val="E6F8F3"/>
          </a:solidFill>
          <a:ln/>
        </p:spPr>
      </p:sp>
      <p:sp>
        <p:nvSpPr>
          <p:cNvPr id="43" name="Text 37"/>
          <p:cNvSpPr/>
          <p:nvPr/>
        </p:nvSpPr>
        <p:spPr>
          <a:xfrm>
            <a:off x="8513064" y="4059936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抓取配置已入库</a:t>
            </a:r>
            <a:endParaRPr lang="en-US" sz="1400" dirty="0"/>
          </a:p>
        </p:txBody>
      </p:sp>
      <p:sp>
        <p:nvSpPr>
          <p:cNvPr id="44" name="Shape 38"/>
          <p:cNvSpPr/>
          <p:nvPr/>
        </p:nvSpPr>
        <p:spPr>
          <a:xfrm>
            <a:off x="8366760" y="4937760"/>
            <a:ext cx="3246120" cy="749808"/>
          </a:xfrm>
          <a:prstGeom prst="roundRect">
            <a:avLst>
              <a:gd name="adj" fmla="val 7317"/>
            </a:avLst>
          </a:prstGeom>
          <a:solidFill>
            <a:srgbClr val="E6F8F3"/>
          </a:solidFill>
          <a:ln/>
        </p:spPr>
      </p:sp>
      <p:sp>
        <p:nvSpPr>
          <p:cNvPr id="45" name="Text 39"/>
          <p:cNvSpPr/>
          <p:nvPr/>
        </p:nvSpPr>
        <p:spPr>
          <a:xfrm>
            <a:off x="8513064" y="4937760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看板 JSON 已提供</a:t>
            </a:r>
            <a:endParaRPr lang="en-US" sz="1400" dirty="0"/>
          </a:p>
        </p:txBody>
      </p:sp>
      <p:sp>
        <p:nvSpPr>
          <p:cNvPr id="46" name="Text 40"/>
          <p:cNvSpPr/>
          <p:nvPr/>
        </p:nvSpPr>
        <p:spPr>
          <a:xfrm>
            <a:off x="502920" y="62910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2026-08-20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1037844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663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3474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5840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从源码与提交记录归纳，仓库没有独立的产品待办或变更日志。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225296"/>
            <a:ext cx="11201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" y="1225296"/>
            <a:ext cx="100584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502920" y="1225296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719072" y="129844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双轨长期对齐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719072" y="159105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单体与微服务各维护一份实现。第 14 期中间态曾改动单体，后续若只改一侧，行为会分叉。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920" y="2176272"/>
            <a:ext cx="11201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" y="2176272"/>
            <a:ext cx="100584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2176272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719072" y="2249424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内嵌 SDK 残留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719072" y="254203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源码中拷贝了 langchain4j 流式实现，仍有待办注释与调试打印，不应由业务层长期背负。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02920" y="3127248"/>
            <a:ext cx="11201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" y="3127248"/>
            <a:ext cx="100584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3127248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1719072" y="320040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可离线回归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719072" y="349300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现有测试偏集成与外部 API。缺少不依赖密钥即可在 CI 跑通的核心单测分层。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02920" y="4078224"/>
            <a:ext cx="11201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02920" y="4078224"/>
            <a:ext cx="100584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" y="4078224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719072" y="4151376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生产指标闭环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719072" y="444398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监控组件已接入，但日报无法自动带出成功率、耗时与费用，观测停在「有配置」。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02920" y="5029200"/>
            <a:ext cx="11201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02920" y="5029200"/>
            <a:ext cx="100584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" y="50292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1719072" y="5102352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教程后续空白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719072" y="539496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期后无新提交。微服务运维手册、网关、配置中心生产化是否继续，仓库未给出答案。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02920" y="62910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2026-08-20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037844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C2410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663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3474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5840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按影响面排序。当前无外部工单可对照，判断来自代码与提交注释。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243584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04088" y="144475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C2410C"/>
          </a:solidFill>
          <a:ln/>
        </p:spPr>
      </p:sp>
      <p:sp>
        <p:nvSpPr>
          <p:cNvPr id="9" name="Text 6"/>
          <p:cNvSpPr/>
          <p:nvPr/>
        </p:nvSpPr>
        <p:spPr>
          <a:xfrm>
            <a:off x="704088" y="14447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63040" y="14081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双轨漂移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04088" y="1883664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两套后端并行，缺陷修复与依赖升级容易漏掉一侧。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43400" y="1243584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44568" y="144475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C2410C"/>
          </a:solidFill>
          <a:ln/>
        </p:spPr>
      </p:sp>
      <p:sp>
        <p:nvSpPr>
          <p:cNvPr id="14" name="Text 11"/>
          <p:cNvSpPr/>
          <p:nvPr/>
        </p:nvSpPr>
        <p:spPr>
          <a:xfrm>
            <a:off x="4544568" y="14447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03520" y="14081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 CI 门禁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44568" y="1883664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回归只能在本地发生，静默期后的首次改动风险更大。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183880" y="1243584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85048" y="144475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/>
        </p:spPr>
      </p:sp>
      <p:sp>
        <p:nvSpPr>
          <p:cNvPr id="19" name="Text 16"/>
          <p:cNvSpPr/>
          <p:nvPr/>
        </p:nvSpPr>
        <p:spPr>
          <a:xfrm>
            <a:off x="8385048" y="14447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9144000" y="140817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外部模型依赖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385048" y="1883664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生成链路绑定在线模型接口，密钥与额度不在仓库治理范围。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2920" y="3621024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04088" y="382219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/>
        </p:spPr>
      </p:sp>
      <p:sp>
        <p:nvSpPr>
          <p:cNvPr id="24" name="Text 21"/>
          <p:cNvSpPr/>
          <p:nvPr/>
        </p:nvSpPr>
        <p:spPr>
          <a:xfrm>
            <a:off x="704088" y="38221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463040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预发布依赖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704088" y="4261104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仍是 rc2，LangChain4j 含 beta，升级窗口不明确。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4343400" y="3621024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544568" y="382219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/>
        </p:spPr>
      </p:sp>
      <p:sp>
        <p:nvSpPr>
          <p:cNvPr id="29" name="Text 26"/>
          <p:cNvSpPr/>
          <p:nvPr/>
        </p:nvSpPr>
        <p:spPr>
          <a:xfrm>
            <a:off x="4544568" y="38221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303520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截图链路脆弱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4544568" y="4261104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与 WebDriver 对环境敏感，微服务已拆成独立进程。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8183880" y="3621024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8385048" y="382219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/>
        </p:spPr>
      </p:sp>
      <p:sp>
        <p:nvSpPr>
          <p:cNvPr id="34" name="Text 31"/>
          <p:cNvSpPr/>
          <p:nvPr/>
        </p:nvSpPr>
        <p:spPr>
          <a:xfrm>
            <a:off x="8385048" y="38221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9144000" y="378561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历史中间态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8385048" y="4261104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14 期多笔提交注明勿单独使用，回滚或摘取时容易踩坑。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502920" y="62910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2026-08-20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1037844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38404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466344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34747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3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1005840" y="822960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建议本阶段做治理，不新增业务面。顺序按杠杆由高到低。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353312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13533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22376" y="1901952"/>
            <a:ext cx="9144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Shape 7"/>
          <p:cNvSpPr/>
          <p:nvPr/>
        </p:nvSpPr>
        <p:spPr>
          <a:xfrm>
            <a:off x="1261872" y="1225296"/>
            <a:ext cx="1044244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481328" y="1298448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定维护策略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81328" y="1591056"/>
            <a:ext cx="1001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明确「只保单体」「只保微服务」或「同步双轨」。未决策前冻结大功能。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02920" y="230428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" y="2304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22376" y="2852928"/>
            <a:ext cx="9144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Shape 13"/>
          <p:cNvSpPr/>
          <p:nvPr/>
        </p:nvSpPr>
        <p:spPr>
          <a:xfrm>
            <a:off x="1261872" y="2176272"/>
            <a:ext cx="1044244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1481328" y="2249424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补最小 CI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81328" y="2542032"/>
            <a:ext cx="1001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编译、可离线单测、前端 type-check 与 lint。不必一次跑通全部 AI 集成测试。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2920" y="3255264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7"/>
          <p:cNvSpPr/>
          <p:nvPr/>
        </p:nvSpPr>
        <p:spPr>
          <a:xfrm>
            <a:off x="502920" y="32552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722376" y="3803904"/>
            <a:ext cx="9144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Shape 19"/>
          <p:cNvSpPr/>
          <p:nvPr/>
        </p:nvSpPr>
        <p:spPr>
          <a:xfrm>
            <a:off x="1261872" y="3127248"/>
            <a:ext cx="1044244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481328" y="3200400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清理内嵌 SDK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481328" y="3493008"/>
            <a:ext cx="1001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去掉调试输出与待办堆积，评估回到正式依赖版本，降低分叉成本。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2920" y="4206240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42062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722376" y="4754880"/>
            <a:ext cx="9144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Shape 25"/>
          <p:cNvSpPr/>
          <p:nvPr/>
        </p:nvSpPr>
        <p:spPr>
          <a:xfrm>
            <a:off x="1261872" y="4078224"/>
            <a:ext cx="1044244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1481328" y="4151376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指标入日报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481328" y="4443984"/>
            <a:ext cx="1001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Grafana 与 Prometheus 中的生成成功率、耗时、Token 接到例行汇报。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502920" y="5157216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29"/>
          <p:cNvSpPr/>
          <p:nvPr/>
        </p:nvSpPr>
        <p:spPr>
          <a:xfrm>
            <a:off x="502920" y="515721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1261872" y="5029200"/>
            <a:ext cx="10442448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363F">
                <a:alpha val="10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1481328" y="5102352"/>
            <a:ext cx="10012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依赖体检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481328" y="5394960"/>
            <a:ext cx="1001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盘点 Spring Boot 3.5、LangChain4j beta、LangGraph4j rc 的升级与安全公告。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502920" y="62910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2026-08-20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037844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1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能力完整，节奏停住，下一步是治理而不是扩面。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014F5A"/>
          </a:solidFill>
          <a:ln/>
        </p:spPr>
      </p:sp>
      <p:sp>
        <p:nvSpPr>
          <p:cNvPr id="6" name="Shape 4"/>
          <p:cNvSpPr/>
          <p:nvPr/>
        </p:nvSpPr>
        <p:spPr>
          <a:xfrm>
            <a:off x="859536" y="190195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02536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190195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59536" y="2468880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生成、可视化编辑、部署下载、管理与监控四条主线已齐。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09360" y="164592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014F5A"/>
          </a:solidFill>
          <a:ln/>
        </p:spPr>
      </p:sp>
      <p:sp>
        <p:nvSpPr>
          <p:cNvPr id="11" name="Shape 8"/>
          <p:cNvSpPr/>
          <p:nvPr/>
        </p:nvSpPr>
        <p:spPr>
          <a:xfrm>
            <a:off x="6528816" y="190195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00253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59168" y="190195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节奏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28816" y="2468880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日零提交。基线停在 2025-08-26 第 14 期微服务完成。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40080" y="361188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014F5A"/>
          </a:solidFill>
          <a:ln/>
        </p:spPr>
      </p:sp>
      <p:sp>
        <p:nvSpPr>
          <p:cNvPr id="16" name="Shape 12"/>
          <p:cNvSpPr/>
          <p:nvPr/>
        </p:nvSpPr>
        <p:spPr>
          <a:xfrm>
            <a:off x="859536" y="386791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968496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89888" y="386791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短板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59536" y="4434840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双轨代码、无 CI、集成测试绑外网、生产指标未回填日报。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309360" y="361188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014F5A"/>
          </a:solidFill>
          <a:ln/>
        </p:spPr>
      </p:sp>
      <p:sp>
        <p:nvSpPr>
          <p:cNvPr id="21" name="Shape 16"/>
          <p:cNvSpPr/>
          <p:nvPr/>
        </p:nvSpPr>
        <p:spPr>
          <a:xfrm>
            <a:off x="6528816" y="3867912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968496"/>
            <a:ext cx="201168" cy="20116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59168" y="386791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行动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6528816" y="4434840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8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先定维护策略，再补最小门禁，最后才考虑新教程或新功能。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40080" y="62910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D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2026-08-20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0378440" y="62910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9D4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2026-08-20</dc:title>
  <dc:subject>AI 零代码应用生成平台项目状态</dc:subject>
  <dc:creator>yu-ai-code-mother 状态汇报</dc:creator>
  <cp:lastModifiedBy>yu-ai-code-mother 状态汇报</cp:lastModifiedBy>
  <cp:revision>1</cp:revision>
  <dcterms:created xsi:type="dcterms:W3CDTF">2026-08-20T09:15:46Z</dcterms:created>
  <dcterms:modified xsi:type="dcterms:W3CDTF">2026-08-20T09:15:46Z</dcterms:modified>
</cp:coreProperties>
</file>