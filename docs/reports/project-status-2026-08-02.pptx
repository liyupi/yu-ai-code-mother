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2A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Shape 3"/>
          <p:cNvSpPr/>
          <p:nvPr/>
        </p:nvSpPr>
        <p:spPr>
          <a:xfrm>
            <a:off x="7680960" y="-640080"/>
            <a:ext cx="2377440" cy="2377440"/>
          </a:xfrm>
          <a:prstGeom prst="ellipse">
            <a:avLst/>
          </a:prstGeom>
          <a:solidFill>
            <a:srgbClr val="023C4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502920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5303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STATUS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14173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零代码应用生成平台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02920" y="19659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每日项目状态汇报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502920" y="2834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2026-08-02（北京时间）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02920" y="393192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023C42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39319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状态日报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103120" y="3931920"/>
            <a:ext cx="1097280" cy="384048"/>
          </a:xfrm>
          <a:prstGeom prst="roundRect">
            <a:avLst>
              <a:gd name="adj" fmla="val 19048"/>
            </a:avLst>
          </a:prstGeom>
          <a:solidFill>
            <a:srgbClr val="023C42"/>
          </a:solidFill>
          <a:ln/>
        </p:spPr>
      </p:sp>
      <p:sp>
        <p:nvSpPr>
          <p:cNvPr id="14" name="Text 11"/>
          <p:cNvSpPr/>
          <p:nvPr/>
        </p:nvSpPr>
        <p:spPr>
          <a:xfrm>
            <a:off x="2103120" y="39319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429000" y="3931920"/>
            <a:ext cx="3474720" cy="384048"/>
          </a:xfrm>
          <a:prstGeom prst="roundRect">
            <a:avLst>
              <a:gd name="adj" fmla="val 19048"/>
            </a:avLst>
          </a:prstGeom>
          <a:solidFill>
            <a:srgbClr val="023C42"/>
          </a:solidFill>
          <a:ln/>
        </p:spPr>
      </p:sp>
      <p:sp>
        <p:nvSpPr>
          <p:cNvPr id="16" name="Text 13"/>
          <p:cNvSpPr/>
          <p:nvPr/>
        </p:nvSpPr>
        <p:spPr>
          <a:xfrm>
            <a:off x="3429000" y="39319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受众：项目维护者 / 研发团队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A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D5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教学向企业级 AI 代码生成平台 · 单体 + 微服务双形态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023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58368" y="1536192"/>
            <a:ext cx="438912" cy="438912"/>
          </a:xfrm>
          <a:prstGeom prst="ellipse">
            <a:avLst/>
          </a:prstGeom>
          <a:solidFill>
            <a:srgbClr val="D6F0E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9344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定位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85800" y="20574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用户描述需求后，AI 生成可预览、可编辑、可部署的 Web 应用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09160" y="1280160"/>
            <a:ext cx="4023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10328" y="1536192"/>
            <a:ext cx="438912" cy="438912"/>
          </a:xfrm>
          <a:prstGeom prst="ellipse">
            <a:avLst/>
          </a:prstGeom>
          <a:solidFill>
            <a:srgbClr val="D6F0E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609344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技术栈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937760" y="20574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3.5 · LangChain4j · LangGraph4j · Vue 3 · Redis · Dubbo/Nacos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57200" y="2834640"/>
            <a:ext cx="4023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58368" y="3090672"/>
            <a:ext cx="438912" cy="438912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63824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34440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代码形态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85800" y="3611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 src/ 完整可用；微服务 7 模块已拆分（教程第 14 期完成态）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4709160" y="2834640"/>
            <a:ext cx="4023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910328" y="3090672"/>
            <a:ext cx="438912" cy="438912"/>
          </a:xfrm>
          <a:prstGeom prst="ellipse">
            <a:avLst/>
          </a:prstGeom>
          <a:solidFill>
            <a:srgbClr val="D6F0EB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163824"/>
            <a:ext cx="292608" cy="29260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86400" y="30906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规模快照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4937760" y="3611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单体约 146 个 Java 文件；微服务 118 个；前端 17 个 Vue；15 个测试类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D6F0EB"/>
          </a:solidFill>
          <a:ln w="12700">
            <a:solidFill>
              <a:srgbClr val="D6F0EB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57200" y="48463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2026-08-02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7498080" y="4846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A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核心能力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D5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四大产品能力构成平台主价值链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011680" cy="3154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80160"/>
            <a:ext cx="2011680" cy="1097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554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20116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2176272"/>
            <a:ext cx="402336" cy="4023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66928" y="292608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智能代码生成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3429000"/>
            <a:ext cx="1682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需求理解、策略路由与工具调用，流式输出过程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651760" y="1280160"/>
            <a:ext cx="2011680" cy="3154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651760" y="1280160"/>
            <a:ext cx="2011680" cy="1097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5" name="Text 12"/>
          <p:cNvSpPr/>
          <p:nvPr/>
        </p:nvSpPr>
        <p:spPr>
          <a:xfrm>
            <a:off x="2788920" y="1554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291840" y="20116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2176272"/>
            <a:ext cx="402336" cy="40233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761488" y="292608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可视化编辑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816352" y="3429000"/>
            <a:ext cx="1682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选中页面元素与 AI 对话，支持全量与增量修改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846320" y="1280160"/>
            <a:ext cx="2011680" cy="3154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846320" y="1280160"/>
            <a:ext cx="2011680" cy="1097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2" name="Text 18"/>
          <p:cNvSpPr/>
          <p:nvPr/>
        </p:nvSpPr>
        <p:spPr>
          <a:xfrm>
            <a:off x="4983480" y="1554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5486400" y="20116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2176272"/>
            <a:ext cx="402336" cy="40233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956048" y="292608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一键部署分享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5010912" y="3429000"/>
            <a:ext cx="1682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云端部署、自动截图封面、分享地址与源码下载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7040880" y="1280160"/>
            <a:ext cx="2011680" cy="3154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7040880" y="1280160"/>
            <a:ext cx="2011680" cy="1097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9" name="Text 24"/>
          <p:cNvSpPr/>
          <p:nvPr/>
        </p:nvSpPr>
        <p:spPr>
          <a:xfrm>
            <a:off x="7178040" y="1554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7680960" y="20116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2176272"/>
            <a:ext cx="402336" cy="402336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50608" y="292608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企业级管理</a:t>
            </a:r>
            <a:endParaRPr lang="en-US" sz="1500" dirty="0"/>
          </a:p>
        </p:txBody>
      </p:sp>
      <p:sp>
        <p:nvSpPr>
          <p:cNvPr id="33" name="Text 27"/>
          <p:cNvSpPr/>
          <p:nvPr/>
        </p:nvSpPr>
        <p:spPr>
          <a:xfrm>
            <a:off x="7205472" y="3429000"/>
            <a:ext cx="1682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用户与应用管理、精选案例、AI 与系统监控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D6F0EB"/>
          </a:solidFill>
          <a:ln w="12700">
            <a:solidFill>
              <a:srgbClr val="D6F0EB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57200" y="48463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2026-08-02</a:t>
            </a:r>
            <a:endParaRPr lang="en-US" sz="1100" dirty="0"/>
          </a:p>
        </p:txBody>
      </p:sp>
      <p:sp>
        <p:nvSpPr>
          <p:cNvPr id="36" name="Text 30"/>
          <p:cNvSpPr/>
          <p:nvPr/>
        </p:nvSpPr>
        <p:spPr>
          <a:xfrm>
            <a:off x="7498080" y="4846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A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近期进展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D5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日业务提交为空；关注开放 Issue / PR 与日报连续性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880360" cy="3200400"/>
          </a:xfrm>
          <a:prstGeom prst="roundRect">
            <a:avLst>
              <a:gd name="adj" fmla="val 3810"/>
            </a:avLst>
          </a:prstGeom>
          <a:solidFill>
            <a:srgbClr val="012A3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5087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日报自动化持续产出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214884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昨日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5800" y="246888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2026-08-01 状态 PPT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已生成（PR #72 Draft）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85800" y="32918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业务代码提交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85800" y="3566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800" dirty="0"/>
          </a:p>
        </p:txBody>
      </p:sp>
      <p:sp>
        <p:nvSpPr>
          <p:cNvPr id="13" name="Shape 10"/>
          <p:cNvSpPr/>
          <p:nvPr/>
        </p:nvSpPr>
        <p:spPr>
          <a:xfrm>
            <a:off x="3611880" y="123444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8100000">
              <a:srgbClr val="012A30">
                <a:alpha val="7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794760" y="1490472"/>
            <a:ext cx="777240" cy="411480"/>
          </a:xfrm>
          <a:prstGeom prst="roundRect">
            <a:avLst>
              <a:gd name="adj" fmla="val 13333"/>
            </a:avLst>
          </a:prstGeom>
          <a:solidFill>
            <a:srgbClr val="D6F0EB"/>
          </a:solidFill>
          <a:ln/>
        </p:spPr>
      </p:sp>
      <p:sp>
        <p:nvSpPr>
          <p:cNvPr id="15" name="Text 12"/>
          <p:cNvSpPr/>
          <p:nvPr/>
        </p:nvSpPr>
        <p:spPr>
          <a:xfrm>
            <a:off x="3794760" y="1490472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07-26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709160" y="13716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You.com 搜索能力提案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709160" y="1691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#65 与 PR #66 仍待评审合入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611880" y="233172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8100000">
              <a:srgbClr val="012A3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794760" y="2587752"/>
            <a:ext cx="777240" cy="411480"/>
          </a:xfrm>
          <a:prstGeom prst="roundRect">
            <a:avLst>
              <a:gd name="adj" fmla="val 13333"/>
            </a:avLst>
          </a:prstGeom>
          <a:solidFill>
            <a:srgbClr val="D6F0EB"/>
          </a:solidFill>
          <a:ln/>
        </p:spPr>
      </p:sp>
      <p:sp>
        <p:nvSpPr>
          <p:cNvPr id="20" name="Text 17"/>
          <p:cNvSpPr/>
          <p:nvPr/>
        </p:nvSpPr>
        <p:spPr>
          <a:xfrm>
            <a:off x="3794760" y="2587752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主线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709160" y="2468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微服务拆分完成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4709160" y="27889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仍为 893918c（教程第 14 期完成态）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模块：user / app / ai / screenshot 等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611880" y="3429000"/>
            <a:ext cx="5074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8100000">
              <a:srgbClr val="012A3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794760" y="3685032"/>
            <a:ext cx="777240" cy="411480"/>
          </a:xfrm>
          <a:prstGeom prst="roundRect">
            <a:avLst>
              <a:gd name="adj" fmla="val 13333"/>
            </a:avLst>
          </a:prstGeom>
          <a:solidFill>
            <a:srgbClr val="D6F0EB"/>
          </a:solidFill>
          <a:ln/>
        </p:spPr>
      </p:sp>
      <p:sp>
        <p:nvSpPr>
          <p:cNvPr id="25" name="Text 22"/>
          <p:cNvSpPr/>
          <p:nvPr/>
        </p:nvSpPr>
        <p:spPr>
          <a:xfrm>
            <a:off x="3794760" y="3685032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存量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709160" y="35661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可观测与系统优化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4709160" y="38862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限流、缓存、Prompt 审查、Prometheus/Grafana 已入库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D6F0EB"/>
          </a:solidFill>
          <a:ln w="12700">
            <a:solidFill>
              <a:srgbClr val="D6F0E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7200" y="48463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2026-08-02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498080" y="4846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A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模块架构要点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D5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单体与微服务并存，便于教学对照与渐进迁移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4023360" cy="5029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5880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单体应用（src/）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" y="196596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core / langgraph4j 生成链路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应用、用户、对话、工作流 SSE 接口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监控与限流保障稳定性与成本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个测试类覆盖路由与工作流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 Vue3：用户 / 应用 / 管理后台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754880" y="123444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234440"/>
            <a:ext cx="3931920" cy="50292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325880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49240" y="12801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微服务（7 模块）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983480" y="1965960"/>
            <a:ext cx="1691640" cy="457200"/>
          </a:xfrm>
          <a:prstGeom prst="roundRect">
            <a:avLst>
              <a:gd name="adj" fmla="val 12000"/>
            </a:avLst>
          </a:prstGeom>
          <a:solidFill>
            <a:srgbClr val="D6F0EB"/>
          </a:solidFill>
          <a:ln/>
        </p:spPr>
      </p:sp>
      <p:sp>
        <p:nvSpPr>
          <p:cNvPr id="16" name="Text 12"/>
          <p:cNvSpPr/>
          <p:nvPr/>
        </p:nvSpPr>
        <p:spPr>
          <a:xfrm>
            <a:off x="5056632" y="19659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56632" y="218541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1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用户服务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812280" y="1965960"/>
            <a:ext cx="1691640" cy="457200"/>
          </a:xfrm>
          <a:prstGeom prst="roundRect">
            <a:avLst>
              <a:gd name="adj" fmla="val 12000"/>
            </a:avLst>
          </a:prstGeom>
          <a:solidFill>
            <a:srgbClr val="D6F0EB"/>
          </a:solidFill>
          <a:ln/>
        </p:spPr>
      </p:sp>
      <p:sp>
        <p:nvSpPr>
          <p:cNvPr id="19" name="Text 15"/>
          <p:cNvSpPr/>
          <p:nvPr/>
        </p:nvSpPr>
        <p:spPr>
          <a:xfrm>
            <a:off x="6885432" y="19659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885432" y="218541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1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应用服务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983480" y="2532888"/>
            <a:ext cx="1691640" cy="457200"/>
          </a:xfrm>
          <a:prstGeom prst="roundRect">
            <a:avLst>
              <a:gd name="adj" fmla="val 12000"/>
            </a:avLst>
          </a:prstGeom>
          <a:solidFill>
            <a:srgbClr val="D6F0EB"/>
          </a:solidFill>
          <a:ln/>
        </p:spPr>
      </p:sp>
      <p:sp>
        <p:nvSpPr>
          <p:cNvPr id="22" name="Text 18"/>
          <p:cNvSpPr/>
          <p:nvPr/>
        </p:nvSpPr>
        <p:spPr>
          <a:xfrm>
            <a:off x="5056632" y="253288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056632" y="275234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1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812280" y="2532888"/>
            <a:ext cx="1691640" cy="457200"/>
          </a:xfrm>
          <a:prstGeom prst="roundRect">
            <a:avLst>
              <a:gd name="adj" fmla="val 12000"/>
            </a:avLst>
          </a:prstGeom>
          <a:solidFill>
            <a:srgbClr val="D6F0EB"/>
          </a:solidFill>
          <a:ln/>
        </p:spPr>
      </p:sp>
      <p:sp>
        <p:nvSpPr>
          <p:cNvPr id="25" name="Text 21"/>
          <p:cNvSpPr/>
          <p:nvPr/>
        </p:nvSpPr>
        <p:spPr>
          <a:xfrm>
            <a:off x="6885432" y="253288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885432" y="275234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1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截图服务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983480" y="3099816"/>
            <a:ext cx="1691640" cy="457200"/>
          </a:xfrm>
          <a:prstGeom prst="roundRect">
            <a:avLst>
              <a:gd name="adj" fmla="val 12000"/>
            </a:avLst>
          </a:prstGeom>
          <a:solidFill>
            <a:srgbClr val="D6F0EB"/>
          </a:solidFill>
          <a:ln/>
        </p:spPr>
      </p:sp>
      <p:sp>
        <p:nvSpPr>
          <p:cNvPr id="28" name="Text 24"/>
          <p:cNvSpPr/>
          <p:nvPr/>
        </p:nvSpPr>
        <p:spPr>
          <a:xfrm>
            <a:off x="5056632" y="309981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056632" y="33192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1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RPC 接口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812280" y="3099816"/>
            <a:ext cx="1691640" cy="457200"/>
          </a:xfrm>
          <a:prstGeom prst="roundRect">
            <a:avLst>
              <a:gd name="adj" fmla="val 12000"/>
            </a:avLst>
          </a:prstGeom>
          <a:solidFill>
            <a:srgbClr val="D6F0EB"/>
          </a:solidFill>
          <a:ln/>
        </p:spPr>
      </p:sp>
      <p:sp>
        <p:nvSpPr>
          <p:cNvPr id="31" name="Text 27"/>
          <p:cNvSpPr/>
          <p:nvPr/>
        </p:nvSpPr>
        <p:spPr>
          <a:xfrm>
            <a:off x="6885432" y="309981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6885432" y="33192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1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通用能力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4983480" y="3666744"/>
            <a:ext cx="1691640" cy="457200"/>
          </a:xfrm>
          <a:prstGeom prst="roundRect">
            <a:avLst>
              <a:gd name="adj" fmla="val 12000"/>
            </a:avLst>
          </a:prstGeom>
          <a:solidFill>
            <a:srgbClr val="D6F0EB"/>
          </a:solidFill>
          <a:ln/>
        </p:spPr>
      </p:sp>
      <p:sp>
        <p:nvSpPr>
          <p:cNvPr id="34" name="Text 30"/>
          <p:cNvSpPr/>
          <p:nvPr/>
        </p:nvSpPr>
        <p:spPr>
          <a:xfrm>
            <a:off x="5056632" y="366674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5056632" y="38862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1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数据模型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D6F0EB"/>
          </a:solidFill>
          <a:ln w="12700">
            <a:solidFill>
              <a:srgbClr val="D6F0EB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457200" y="48463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2026-08-02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7498080" y="4846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A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 / 指标要点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D5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运行指标尚未接入日报流水线；以下为仓库侧可量化快照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3716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单元/集成测试类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单体侧覆盖核心链路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51760" y="123444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51760" y="13716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4320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4320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+ Nacos 跨服务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123444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46320" y="13716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493776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开放 Issues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3776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 与 #65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040880" y="123444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040880" y="13716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待接入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13232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生产调用量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13232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监控尚未导出到日报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8229600" cy="1143000"/>
          </a:xfrm>
          <a:prstGeom prst="roundRect">
            <a:avLst>
              <a:gd name="adj" fmla="val 8000"/>
            </a:avLst>
          </a:prstGeom>
          <a:solidFill>
            <a:srgbClr val="012A30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566160"/>
            <a:ext cx="365760" cy="3657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280160" y="34290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已有可观测基础（第 13 期）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280160" y="37947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与 Grafana AI 模型看板已入库。建议将 Token 用量、生成成功率、P95 延迟、部署成功率导出到日报指标区。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D6F0EB"/>
          </a:solidFill>
          <a:ln w="12700">
            <a:solidFill>
              <a:srgbClr val="D6F0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48463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2026-08-02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498080" y="4846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A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风险与问题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D5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按影响优先级排列，便于维护者排期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8100000">
              <a:srgbClr val="012A3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353312"/>
            <a:ext cx="502920" cy="420624"/>
          </a:xfrm>
          <a:prstGeom prst="roundRect">
            <a:avLst>
              <a:gd name="adj" fmla="val 13043"/>
            </a:avLst>
          </a:prstGeom>
          <a:solidFill>
            <a:srgbClr val="C4453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5331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28016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Vue 生成 reasoning_content 缺失（#5）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157276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thinking 模式工具调用报错，影响 VUE_PROJECT 主路径可用性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8100000">
              <a:srgbClr val="012A3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221992"/>
            <a:ext cx="502920" cy="420624"/>
          </a:xfrm>
          <a:prstGeom prst="roundRect">
            <a:avLst>
              <a:gd name="adj" fmla="val 13043"/>
            </a:avLst>
          </a:pr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22199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71600" y="214884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You.com 工具 PR 待审（#66 / #65）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244144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功能已实现且可合并，缺评审与密钥配置说明，合入节奏不确定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8100000">
              <a:srgbClr val="012A3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090672"/>
            <a:ext cx="502920" cy="420624"/>
          </a:xfrm>
          <a:prstGeom prst="roundRect">
            <a:avLst>
              <a:gd name="adj" fmla="val 13043"/>
            </a:avLst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09067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71600" y="301752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主线业务提交长期停滞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71600" y="331012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 2025-08-26 后无业务变更；日报 Draft PR 持续堆积，维护信号偏弱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12700" dir="8100000">
              <a:srgbClr val="012A3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3959352"/>
            <a:ext cx="502920" cy="420624"/>
          </a:xfrm>
          <a:prstGeom prst="roundRect">
            <a:avLst>
              <a:gd name="adj" fmla="val 13043"/>
            </a:avLst>
          </a:prstGeom>
          <a:solidFill>
            <a:srgbClr val="028090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95935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71600" y="388620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缺少业务 CI 门禁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71600" y="417880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 GitHub Actions 工作流；仅有历史 Copilot 检查，回归依赖人工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D6F0EB"/>
          </a:solidFill>
          <a:ln w="12700">
            <a:solidFill>
              <a:srgbClr val="D6F0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8463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2026-08-02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98080" y="4846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A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未完成项与下一步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D5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建议按「修复主路径 → 合入增强 → 加固工程」推进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397764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 / 待办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09160" y="1234440"/>
            <a:ext cx="397764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234440"/>
            <a:ext cx="3977640" cy="4572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建议下一步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1920240"/>
            <a:ext cx="292608" cy="292608"/>
          </a:xfrm>
          <a:prstGeom prst="ellipse">
            <a:avLst/>
          </a:prstGeom>
          <a:solidFill>
            <a:srgbClr val="D6F0EB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97280" y="1874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修复 #5：reasoning_content 兼容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" y="2377440"/>
            <a:ext cx="292608" cy="292608"/>
          </a:xfrm>
          <a:prstGeom prst="ellipse">
            <a:avLst/>
          </a:prstGeom>
          <a:solidFill>
            <a:srgbClr val="D6F0EB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2331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评审并合入 #66 You.com 搜索工具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2834640"/>
            <a:ext cx="292608" cy="292608"/>
          </a:xfrm>
          <a:prstGeom prst="ellipse">
            <a:avLst/>
          </a:prstGeom>
          <a:solidFill>
            <a:srgbClr val="D6F0E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9728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补充 youcom.api-key 配置与文档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5800" y="3291840"/>
            <a:ext cx="292608" cy="292608"/>
          </a:xfrm>
          <a:prstGeom prst="ellipse">
            <a:avLst/>
          </a:prstGeom>
          <a:solidFill>
            <a:srgbClr val="D6F0E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97280" y="3246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建立最小 CI（编译 + 单测）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85800" y="3749040"/>
            <a:ext cx="292608" cy="292608"/>
          </a:xfrm>
          <a:prstGeom prst="ellipse">
            <a:avLst/>
          </a:prstGeom>
          <a:solidFill>
            <a:srgbClr val="D6F0EB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9728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 Grafana 指标接入日报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937760" y="1920240"/>
            <a:ext cx="292608" cy="292608"/>
          </a:xfrm>
          <a:prstGeom prst="ellipse">
            <a:avLst/>
          </a:prstGeom>
          <a:solidFill>
            <a:srgbClr val="D6F0EB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49240" y="1874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优先修复 #5，恢复 Vue 生成主路径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937760" y="2377440"/>
            <a:ext cx="292608" cy="292608"/>
          </a:xfrm>
          <a:prstGeom prst="ellipse">
            <a:avLst/>
          </a:prstGeom>
          <a:solidFill>
            <a:srgbClr val="D6F0EB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349240" y="2331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 #66 代码评审与合入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937760" y="2834640"/>
            <a:ext cx="292608" cy="292608"/>
          </a:xfrm>
          <a:prstGeom prst="ellipse">
            <a:avLst/>
          </a:prstGeom>
          <a:solidFill>
            <a:srgbClr val="D6F0EB"/>
          </a:solidFill>
          <a:ln/>
        </p:spPr>
      </p:sp>
      <p:sp>
        <p:nvSpPr>
          <p:cNvPr id="34" name="Text 32"/>
          <p:cNvSpPr/>
          <p:nvPr/>
        </p:nvSpPr>
        <p:spPr>
          <a:xfrm>
            <a:off x="4937760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4924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增加 Maven 与前端 lint 最小 CI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937760" y="3291840"/>
            <a:ext cx="292608" cy="292608"/>
          </a:xfrm>
          <a:prstGeom prst="ellipse">
            <a:avLst/>
          </a:prstGeom>
          <a:solidFill>
            <a:srgbClr val="D6F0EB"/>
          </a:solidFill>
          <a:ln/>
        </p:spPr>
      </p:sp>
      <p:sp>
        <p:nvSpPr>
          <p:cNvPr id="37" name="Text 35"/>
          <p:cNvSpPr/>
          <p:nvPr/>
        </p:nvSpPr>
        <p:spPr>
          <a:xfrm>
            <a:off x="49377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349240" y="3246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导出 Token / 成功率等运行指标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937760" y="3749040"/>
            <a:ext cx="292608" cy="292608"/>
          </a:xfrm>
          <a:prstGeom prst="ellipse">
            <a:avLst/>
          </a:prstGeom>
          <a:solidFill>
            <a:srgbClr val="D6F0EB"/>
          </a:solidFill>
          <a:ln/>
        </p:spPr>
      </p:sp>
      <p:sp>
        <p:nvSpPr>
          <p:cNvPr id="40" name="Text 38"/>
          <p:cNvSpPr/>
          <p:nvPr/>
        </p:nvSpPr>
        <p:spPr>
          <a:xfrm>
            <a:off x="49377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3492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清理或批量处理堆积的 Draft 日报 PR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D6F0EB"/>
          </a:solidFill>
          <a:ln w="12700">
            <a:solidFill>
              <a:srgbClr val="D6F0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8463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2026-08-02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498080" y="4846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A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92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工程与 CI 状态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D5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仓库侧工程健康度速览（无业务向构建门禁）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114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rgbClr val="D6F0E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764792"/>
            <a:ext cx="310896" cy="31089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463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本地测试资产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325880" y="18745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个测试类覆盖 AI 路由、代码解析、LangGraph 工作流与截图工具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800600" y="1234440"/>
            <a:ext cx="4114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029200" y="1691640"/>
            <a:ext cx="457200" cy="457200"/>
          </a:xfrm>
          <a:prstGeom prst="ellipse">
            <a:avLst/>
          </a:prstGeom>
          <a:solidFill>
            <a:srgbClr val="D6F0E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2" y="1764792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69280" y="1463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Actions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669280" y="18745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无业务构建/测试 workflow；近次运行仅为 Copilot 仓库访问检查（成功）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57200" y="2834640"/>
            <a:ext cx="4114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85800" y="3291840"/>
            <a:ext cx="457200" cy="457200"/>
          </a:xfrm>
          <a:prstGeom prst="ellipse">
            <a:avLst/>
          </a:prstGeom>
          <a:solidFill>
            <a:srgbClr val="D6F0E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364992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25880" y="3063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协作状态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325880" y="34747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开放 PR：#66（You.com）、#72（昨日日报）；Issues：#5、#65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4800600" y="2834640"/>
            <a:ext cx="4114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12A30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029200" y="3291840"/>
            <a:ext cx="457200" cy="457200"/>
          </a:xfrm>
          <a:prstGeom prst="ellipse">
            <a:avLst/>
          </a:prstGeom>
          <a:solidFill>
            <a:srgbClr val="D6F0EB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352" y="3364992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669280" y="3063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2A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可观测配置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5669280" y="34747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prometheus.yml 与 Grafana AI 看板配置已入库，待接入日报指标区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D6F0EB"/>
          </a:solidFill>
          <a:ln w="12700">
            <a:solidFill>
              <a:srgbClr val="D6F0EB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57200" y="48463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每日状态  ·  2026-08-02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7498080" y="4846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23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2A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11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总结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292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平台能力完整，近期以治理与合入为主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023C4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85623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47672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1737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能力底座就绪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17320" y="2103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生成、编辑、部署、管理与微服务拆分均已具备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800600" y="150876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023C42"/>
          </a:solidFill>
          <a:ln/>
        </p:spPr>
      </p:sp>
      <p:sp>
        <p:nvSpPr>
          <p:cNvPr id="12" name="Shape 9"/>
          <p:cNvSpPr/>
          <p:nvPr/>
        </p:nvSpPr>
        <p:spPr>
          <a:xfrm>
            <a:off x="5029200" y="185623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947672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715000" y="1737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主路径需修复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715000" y="2103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#5 仍阻塞 Vue 生成主路径体验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02920" y="288036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023C42"/>
          </a:solidFill>
          <a:ln/>
        </p:spPr>
      </p:sp>
      <p:sp>
        <p:nvSpPr>
          <p:cNvPr id="17" name="Shape 13"/>
          <p:cNvSpPr/>
          <p:nvPr/>
        </p:nvSpPr>
        <p:spPr>
          <a:xfrm>
            <a:off x="731520" y="322783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319272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17320" y="3108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增强能力待合入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417320" y="3474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You.com 搜索（#66）等待评审与密钥说明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4800600" y="2880360"/>
            <a:ext cx="4069080" cy="1188720"/>
          </a:xfrm>
          <a:prstGeom prst="roundRect">
            <a:avLst>
              <a:gd name="adj" fmla="val 7692"/>
            </a:avLst>
          </a:prstGeom>
          <a:solidFill>
            <a:srgbClr val="023C42"/>
          </a:solidFill>
          <a:ln/>
        </p:spPr>
      </p:sp>
      <p:sp>
        <p:nvSpPr>
          <p:cNvPr id="22" name="Shape 17"/>
          <p:cNvSpPr/>
          <p:nvPr/>
        </p:nvSpPr>
        <p:spPr>
          <a:xfrm>
            <a:off x="5029200" y="322783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3319272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715000" y="3108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工程加固优先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5715000" y="34747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补最小 CI、清理 Draft 日报、接入运行指标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2026-08-02</dc:title>
  <dc:subject>AI 零代码应用生成平台项目状态</dc:subject>
  <dc:creator>yu-ai-code-mother automation</dc:creator>
  <cp:lastModifiedBy>yu-ai-code-mother automation</cp:lastModifiedBy>
  <cp:revision>1</cp:revision>
  <dcterms:created xsi:type="dcterms:W3CDTF">2026-08-02T09:11:56Z</dcterms:created>
  <dcterms:modified xsi:type="dcterms:W3CDTF">2026-08-02T09:11:56Z</dcterms:modified>
</cp:coreProperties>
</file>