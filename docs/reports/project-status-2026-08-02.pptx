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023C42"/>
          </a:solidFill>
          <a:ln/>
        </p:spPr>
      </p:sp>
      <p:sp>
        <p:nvSpPr>
          <p:cNvPr id="6" name="Shape 4"/>
          <p:cNvSpPr/>
          <p:nvPr/>
        </p:nvSpPr>
        <p:spPr>
          <a:xfrm>
            <a:off x="-731520" y="3474720"/>
            <a:ext cx="2194560" cy="2194560"/>
          </a:xfrm>
          <a:prstGeom prst="ellipse">
            <a:avLst/>
          </a:prstGeom>
          <a:solidFill>
            <a:srgbClr val="023C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530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1371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02920" y="19659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50292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2026-08-02（北京时间）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" y="39776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23C42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148840" y="39776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23C42"/>
          </a:solidFill>
          <a:ln/>
        </p:spPr>
      </p:sp>
      <p:sp>
        <p:nvSpPr>
          <p:cNvPr id="15" name="Text 12"/>
          <p:cNvSpPr/>
          <p:nvPr/>
        </p:nvSpPr>
        <p:spPr>
          <a:xfrm>
            <a:off x="214884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页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46120" y="397764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023C42"/>
          </a:solidFill>
          <a:ln/>
        </p:spPr>
      </p:sp>
      <p:sp>
        <p:nvSpPr>
          <p:cNvPr id="17" name="Text 14"/>
          <p:cNvSpPr/>
          <p:nvPr/>
        </p:nvSpPr>
        <p:spPr>
          <a:xfrm>
            <a:off x="3246120" y="39776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研发团队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 · 单体 + 微服务双形态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581912"/>
            <a:ext cx="438912" cy="438912"/>
          </a:xfrm>
          <a:prstGeom prst="ellipse">
            <a:avLst/>
          </a:prstGeom>
          <a:solidFill>
            <a:srgbClr val="D6F0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5506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用户描述需求后，AI 生成可预览、可编辑、可部署的 Web 应用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32588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1581912"/>
            <a:ext cx="438912" cy="438912"/>
          </a:xfrm>
          <a:prstGeom prst="ellipse">
            <a:avLst/>
          </a:prstGeom>
          <a:solidFill>
            <a:srgbClr val="D6F0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5506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· LangChain4j · LangGraph4j · Vue 3 · Redis · Dubbo/Nacos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318211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5526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代码形态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8580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src/ 完整可用；微服务 7 模块已拆分（教程第 14 期完成态）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709160" y="292608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10328" y="3182112"/>
            <a:ext cx="438912" cy="438912"/>
          </a:xfrm>
          <a:prstGeom prst="ellipse">
            <a:avLst/>
          </a:prstGeom>
          <a:solidFill>
            <a:srgbClr val="D6F0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5526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规模快照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493776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单体约 146 个 Java 文件；微服务 118 个；前端 17 个 Vue；15 个测试类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EB"/>
          </a:solidFill>
          <a:ln w="12700">
            <a:solidFill>
              <a:srgbClr val="D6F0E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2026-08-02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9808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四大产品能力构成平台主价值链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01168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17627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" y="3520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需求理解、策略路由与工具调用，流式输出过程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06040" y="128016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06040" y="128016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4612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2176272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15768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743200" y="3520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选中页面元素与 AI 对话，支持全量与增量修改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754880" y="128016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54880" y="1280160"/>
            <a:ext cx="201168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18"/>
          <p:cNvSpPr/>
          <p:nvPr/>
        </p:nvSpPr>
        <p:spPr>
          <a:xfrm>
            <a:off x="489204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39496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21762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64608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892040" y="3520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云端部署、自动截图封面、分享地址与源码下载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903720" y="128016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903720" y="128016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4"/>
          <p:cNvSpPr/>
          <p:nvPr/>
        </p:nvSpPr>
        <p:spPr>
          <a:xfrm>
            <a:off x="704088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754380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2176272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13448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040880" y="3520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用户与应用管理、精选案例、AI 与系统监控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EB"/>
          </a:solidFill>
          <a:ln w="12700">
            <a:solidFill>
              <a:srgbClr val="D6F0E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2026-08-02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49808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日业务提交为空；关注开放 Issue / PR 与日报连续性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926080" cy="3108960"/>
          </a:xfrm>
          <a:prstGeom prst="roundRect">
            <a:avLst>
              <a:gd name="adj" fmla="val 3750"/>
            </a:avLst>
          </a:prstGeom>
          <a:solidFill>
            <a:srgbClr val="012A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日报自动化持续产出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2026-08-01 状态 PPT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已生成（PR #72 Draft）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业务代码提交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13" name="Shape 10"/>
          <p:cNvSpPr/>
          <p:nvPr/>
        </p:nvSpPr>
        <p:spPr>
          <a:xfrm>
            <a:off x="3611880" y="128016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94760" y="1536192"/>
            <a:ext cx="777240" cy="411480"/>
          </a:xfrm>
          <a:prstGeom prst="roundRect">
            <a:avLst>
              <a:gd name="adj" fmla="val 13333"/>
            </a:avLst>
          </a:prstGeom>
          <a:solidFill>
            <a:srgbClr val="D6F0EB"/>
          </a:solidFill>
          <a:ln/>
        </p:spPr>
      </p:sp>
      <p:sp>
        <p:nvSpPr>
          <p:cNvPr id="15" name="Text 12"/>
          <p:cNvSpPr/>
          <p:nvPr/>
        </p:nvSpPr>
        <p:spPr>
          <a:xfrm>
            <a:off x="3794760" y="153619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07-26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091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搜索能力提案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709160" y="1737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#65 与 PR #66 仍待评审合入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11880" y="233172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94760" y="2587752"/>
            <a:ext cx="777240" cy="411480"/>
          </a:xfrm>
          <a:prstGeom prst="roundRect">
            <a:avLst>
              <a:gd name="adj" fmla="val 13333"/>
            </a:avLst>
          </a:prstGeom>
          <a:solidFill>
            <a:srgbClr val="D6F0EB"/>
          </a:solidFill>
          <a:ln/>
        </p:spPr>
      </p:sp>
      <p:sp>
        <p:nvSpPr>
          <p:cNvPr id="20" name="Text 17"/>
          <p:cNvSpPr/>
          <p:nvPr/>
        </p:nvSpPr>
        <p:spPr>
          <a:xfrm>
            <a:off x="3794760" y="258775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09160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微服务拆分完成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09160" y="2788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仍为 893918c（教程第 14 期完成态）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screenshot / client / common / model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11880" y="338328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794760" y="3639312"/>
            <a:ext cx="777240" cy="411480"/>
          </a:xfrm>
          <a:prstGeom prst="roundRect">
            <a:avLst>
              <a:gd name="adj" fmla="val 13333"/>
            </a:avLst>
          </a:prstGeom>
          <a:solidFill>
            <a:srgbClr val="D6F0EB"/>
          </a:solidFill>
          <a:ln/>
        </p:spPr>
      </p:sp>
      <p:sp>
        <p:nvSpPr>
          <p:cNvPr id="25" name="Text 22"/>
          <p:cNvSpPr/>
          <p:nvPr/>
        </p:nvSpPr>
        <p:spPr>
          <a:xfrm>
            <a:off x="3794760" y="363931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存量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0916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可观测与系统优化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709160" y="3840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限流、缓存、Prompt 审查、Prometheus/Grafana 已入库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EB"/>
          </a:solidFill>
          <a:ln w="12700">
            <a:solidFill>
              <a:srgbClr val="D6F0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2026-08-02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49808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模块架构要点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单体与微服务并存，便于教学对照与渐进迁移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411480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单体应用（src/）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19659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 / langgraph4j 生成链路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应用、用户、对话、工作流 SSE 接口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监控与限流保障稳定性与成本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个测试类覆盖路由与工作流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Vue3：用户 / 应用 / 管理后台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234440"/>
            <a:ext cx="3931920" cy="5029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2588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微服务（7 模块）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983480" y="19659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D6F0EB"/>
          </a:solidFill>
          <a:ln/>
        </p:spPr>
      </p:sp>
      <p:sp>
        <p:nvSpPr>
          <p:cNvPr id="16" name="Text 12"/>
          <p:cNvSpPr/>
          <p:nvPr/>
        </p:nvSpPr>
        <p:spPr>
          <a:xfrm>
            <a:off x="498348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用户服务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812280" y="19659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D6F0EB"/>
          </a:solidFill>
          <a:ln/>
        </p:spPr>
      </p:sp>
      <p:sp>
        <p:nvSpPr>
          <p:cNvPr id="18" name="Text 14"/>
          <p:cNvSpPr/>
          <p:nvPr/>
        </p:nvSpPr>
        <p:spPr>
          <a:xfrm>
            <a:off x="681228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 应用服务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83480" y="25146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D6F0EB"/>
          </a:solidFill>
          <a:ln/>
        </p:spPr>
      </p:sp>
      <p:sp>
        <p:nvSpPr>
          <p:cNvPr id="20" name="Text 16"/>
          <p:cNvSpPr/>
          <p:nvPr/>
        </p:nvSpPr>
        <p:spPr>
          <a:xfrm>
            <a:off x="4983480" y="2514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AI 生成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812280" y="25146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D6F0EB"/>
          </a:solidFill>
          <a:ln/>
        </p:spPr>
      </p:sp>
      <p:sp>
        <p:nvSpPr>
          <p:cNvPr id="22" name="Text 18"/>
          <p:cNvSpPr/>
          <p:nvPr/>
        </p:nvSpPr>
        <p:spPr>
          <a:xfrm>
            <a:off x="6812280" y="2514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 截图服务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983480" y="306324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D6F0EB"/>
          </a:solidFill>
          <a:ln/>
        </p:spPr>
      </p:sp>
      <p:sp>
        <p:nvSpPr>
          <p:cNvPr id="24" name="Text 20"/>
          <p:cNvSpPr/>
          <p:nvPr/>
        </p:nvSpPr>
        <p:spPr>
          <a:xfrm>
            <a:off x="498348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RPC 接口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812280" y="306324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D6F0EB"/>
          </a:solidFill>
          <a:ln/>
        </p:spPr>
      </p:sp>
      <p:sp>
        <p:nvSpPr>
          <p:cNvPr id="26" name="Text 22"/>
          <p:cNvSpPr/>
          <p:nvPr/>
        </p:nvSpPr>
        <p:spPr>
          <a:xfrm>
            <a:off x="681228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 通用能力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983480" y="36118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D6F0EB"/>
          </a:solidFill>
          <a:ln/>
        </p:spPr>
      </p:sp>
      <p:sp>
        <p:nvSpPr>
          <p:cNvPr id="28" name="Text 24"/>
          <p:cNvSpPr/>
          <p:nvPr/>
        </p:nvSpPr>
        <p:spPr>
          <a:xfrm>
            <a:off x="4983480" y="3611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数据模型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EB"/>
          </a:solidFill>
          <a:ln w="12700">
            <a:solidFill>
              <a:srgbClr val="D6F0E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2026-08-02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49808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运行指标尚未接入日报流水线；以下为仓库侧可量化快照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单元/集成测试类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单体侧覆盖核心链路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6974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与 #65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28016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9951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生产调用量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监控尚未导出到日报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012A30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03320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34440" y="3566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已有可观测基础（第 13 期）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234440" y="38862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与 Grafana AI 模型看板已入库。建议将 Token 用量、生成成功率、P95 延迟、部署成功率导出到日报指标区。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EB"/>
          </a:solidFill>
          <a:ln w="12700">
            <a:solidFill>
              <a:srgbClr val="D6F0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9808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按影响优先级排列，便于维护者排期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12A3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53312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C4453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2801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生成 reasoning_content 缺失（#5）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572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模式工具调用报错，影响 VUE_PROJECT 主路径可用性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12A3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176272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762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1031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工具 PR 待审（#66 / #65）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3957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功能已实现且可合并，缺评审与密钥配置说明，合入节奏不确定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12A3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999232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992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9260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主线业务提交长期停滞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2186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 2025-08-26 后无业务变更；日报 Draft PR 持续堆积，维护信号偏弱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12A3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822192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2219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7490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缺少业务 CI 门禁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041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GitHub Actions 工作流；仅有历史 Copilot 检查，回归依赖人工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EB"/>
          </a:solidFill>
          <a:ln w="12700">
            <a:solidFill>
              <a:srgbClr val="D6F0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未完成项与下一步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建议按「修复主路径 → 合入增强 → 加固工程」推进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 / 待办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234440"/>
            <a:ext cx="40233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292608" cy="292608"/>
          </a:xfrm>
          <a:prstGeom prst="ellipse">
            <a:avLst/>
          </a:prstGeom>
          <a:solidFill>
            <a:srgbClr val="D6F0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#5：reasoning_content 兼容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377440"/>
            <a:ext cx="292608" cy="292608"/>
          </a:xfrm>
          <a:prstGeom prst="ellipse">
            <a:avLst/>
          </a:prstGeom>
          <a:solidFill>
            <a:srgbClr val="D6F0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评审并合入 #66 You.com 搜索工具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2834640"/>
            <a:ext cx="292608" cy="292608"/>
          </a:xfrm>
          <a:prstGeom prst="ellipse">
            <a:avLst/>
          </a:prstGeom>
          <a:solidFill>
            <a:srgbClr val="D6F0E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youcom.api-key 配置与文档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291840"/>
            <a:ext cx="292608" cy="292608"/>
          </a:xfrm>
          <a:prstGeom prst="ellipse">
            <a:avLst/>
          </a:prstGeom>
          <a:solidFill>
            <a:srgbClr val="D6F0E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建立最小 CI（编译 + 单测）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3749040"/>
            <a:ext cx="292608" cy="292608"/>
          </a:xfrm>
          <a:prstGeom prst="ellipse">
            <a:avLst/>
          </a:prstGeom>
          <a:solidFill>
            <a:srgbClr val="D6F0E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Grafana 指标接入日报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1920240"/>
            <a:ext cx="292608" cy="292608"/>
          </a:xfrm>
          <a:prstGeom prst="ellipse">
            <a:avLst/>
          </a:prstGeom>
          <a:solidFill>
            <a:srgbClr val="D6F0EB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优先修复 #5，恢复 Vue 生成主路径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2377440"/>
            <a:ext cx="292608" cy="292608"/>
          </a:xfrm>
          <a:prstGeom prst="ellipse">
            <a:avLst/>
          </a:prstGeom>
          <a:solidFill>
            <a:srgbClr val="D6F0E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#66 代码评审与合入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2834640"/>
            <a:ext cx="292608" cy="292608"/>
          </a:xfrm>
          <a:prstGeom prst="ellipse">
            <a:avLst/>
          </a:prstGeom>
          <a:solidFill>
            <a:srgbClr val="D6F0EB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Maven 与前端 lint 最小 CI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92040" y="3291840"/>
            <a:ext cx="292608" cy="292608"/>
          </a:xfrm>
          <a:prstGeom prst="ellipse">
            <a:avLst/>
          </a:prstGeom>
          <a:solidFill>
            <a:srgbClr val="D6F0EB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 Token / 成功率等运行指标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92040" y="3749040"/>
            <a:ext cx="292608" cy="292608"/>
          </a:xfrm>
          <a:prstGeom prst="ellipse">
            <a:avLst/>
          </a:prstGeom>
          <a:solidFill>
            <a:srgbClr val="D6F0EB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0352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清理或批量处理堆积的 Draft 日报 PR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EB"/>
          </a:solidFill>
          <a:ln w="12700">
            <a:solidFill>
              <a:srgbClr val="D6F0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9808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工程与 CI 状态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仓库侧工程健康度速览（无业务向构建门禁）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D6F0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本地测试资产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个测试类覆盖 AI 路由、代码解析、LangGraph 工作流与截图工具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83480" y="1691640"/>
            <a:ext cx="502920" cy="502920"/>
          </a:xfrm>
          <a:prstGeom prst="ellipse">
            <a:avLst/>
          </a:prstGeom>
          <a:solidFill>
            <a:srgbClr val="D6F0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830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无业务构建/测试 workflow；近次运行仅为 Copilot 仓库访问检查（成功）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rgbClr val="D6F0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协作状态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7160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PR：#66（You.com）、#72（昨日日报 Draft）；Issues：#5、#65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754880" y="2834640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83480" y="3246120"/>
            <a:ext cx="502920" cy="502920"/>
          </a:xfrm>
          <a:prstGeom prst="ellipse">
            <a:avLst/>
          </a:prstGeom>
          <a:solidFill>
            <a:srgbClr val="D6F0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375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可观测配置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66928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与 Grafana AI 看板配置已入库，待接入日报指标区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EB"/>
          </a:solidFill>
          <a:ln w="12700">
            <a:solidFill>
              <a:srgbClr val="D6F0E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2026-08-02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9808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平台能力完整，近期以治理与合入为主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023C4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能力底座就绪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生成、编辑、部署、管理与微服务拆分均已具备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5087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023C42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202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1500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主路径需修复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1500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仍阻塞 Vue 生成主路径体验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28346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023C42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增强能力待合入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1732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搜索（#66）等待评审与密钥说明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800600" y="28346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023C42"/>
          </a:solidFill>
          <a:ln/>
        </p:spPr>
      </p:sp>
      <p:sp>
        <p:nvSpPr>
          <p:cNvPr id="22" name="Shape 17"/>
          <p:cNvSpPr/>
          <p:nvPr/>
        </p:nvSpPr>
        <p:spPr>
          <a:xfrm>
            <a:off x="5029200" y="3154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2461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1500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工程加固优先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71500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补最小 CI、清理 Draft 日报、接入运行指标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2026-08-02</dc:title>
  <dc:subject>AI 零代码应用生成平台项目状态</dc:subject>
  <dc:creator>yu-ai-code-mother automation</dc:creator>
  <cp:lastModifiedBy>yu-ai-code-mother automation</cp:lastModifiedBy>
  <cp:revision>1</cp:revision>
  <dcterms:created xsi:type="dcterms:W3CDTF">2026-08-02T09:03:15Z</dcterms:created>
  <dcterms:modified xsi:type="dcterms:W3CDTF">2026-08-02T09:03:15Z</dcterms:modified>
</cp:coreProperties>
</file>