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3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333A"/>
                </a:solidFill>
                <a:latin typeface="Calibri"/>
              </a:rPr>
              <a:t>提交节奏（按月，最近窗口无增量）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3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2025-07</c:v>
                  </c:pt>
                  <c:pt idx="1">
                    <c:v>2025-08</c:v>
                  </c:pt>
                  <c:pt idx="2">
                    <c:v>2025-09 后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3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F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F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2026-08-21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面向项目维护者与教学团队  ·  基于 master 仓库实勘  ·  北京时间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1605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13A42"/>
          </a:solidFill>
          <a:ln w="12700">
            <a:solidFill>
              <a:srgbClr val="026B7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224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451713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期已收口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29000" y="41605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13A42"/>
          </a:solidFill>
          <a:ln w="12700">
            <a:solidFill>
              <a:srgbClr val="026B7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4224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02152" y="451713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无新提交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41605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13A42"/>
          </a:solidFill>
          <a:ln w="12700">
            <a:solidFill>
              <a:srgbClr val="026B7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4224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91072" y="451713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微服务并存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006840" y="41605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13A42"/>
          </a:solidFill>
          <a:ln w="12700">
            <a:solidFill>
              <a:srgbClr val="026B7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4224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工单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079992" y="451713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 Open Issue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63550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 893918c   ·   2025-08-26   ·   教程第 14 期 - 微服务改造完成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7498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代码生成平台，当前处于教程里程碑完成后的维护静止期。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170432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170432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124358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58368" y="18836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8368" y="21579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2025-07 至 2025-08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37560" y="1170432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37560" y="1170432"/>
            <a:ext cx="91440" cy="1417320"/>
          </a:xfrm>
          <a:prstGeom prst="rect">
            <a:avLst/>
          </a:prstGeom>
          <a:solidFill>
            <a:srgbClr val="C47B2B"/>
          </a:solidFill>
          <a:ln/>
        </p:spPr>
      </p:sp>
      <p:sp>
        <p:nvSpPr>
          <p:cNvPr id="18" name="Text 14"/>
          <p:cNvSpPr/>
          <p:nvPr/>
        </p:nvSpPr>
        <p:spPr>
          <a:xfrm>
            <a:off x="3538728" y="124358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3538728" y="18836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538728" y="21579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无增量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17920" y="1170432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17920" y="1170432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19"/>
          <p:cNvSpPr/>
          <p:nvPr/>
        </p:nvSpPr>
        <p:spPr>
          <a:xfrm>
            <a:off x="6419088" y="124358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24" name="Text 20"/>
          <p:cNvSpPr/>
          <p:nvPr/>
        </p:nvSpPr>
        <p:spPr>
          <a:xfrm>
            <a:off x="6419088" y="18836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419088" y="21579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098280" y="1170432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9098280" y="1170432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4"/>
          <p:cNvSpPr/>
          <p:nvPr/>
        </p:nvSpPr>
        <p:spPr>
          <a:xfrm>
            <a:off x="9299448" y="124358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9" name="Text 25"/>
          <p:cNvSpPr/>
          <p:nvPr/>
        </p:nvSpPr>
        <p:spPr>
          <a:xfrm>
            <a:off x="9299448" y="18836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开放工单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9299448" y="21579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1 个生成缺陷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57200" y="2788920"/>
            <a:ext cx="5760720" cy="3493008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685800" y="29260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定位与范围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685800" y="3310128"/>
            <a:ext cx="5303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产品：</a:t>
            </a:r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用户描述需求，平台自动路由生成策略，流式输出代码并支持预览、修改、部署与源码下载。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形态：</a:t>
            </a:r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根目录保留完整单体（Spring Boot 3.5.4 / Java 21），另有 yu-ai-code-mother-microservice 七模块拆分。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</a:t>
            </a:r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+ Vite 7 + Ant Design Vue，覆盖对话生成、应用管理、用户与精选案例。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性质：</a:t>
            </a:r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公开教学仓库（程序员鱼皮），教程路线已推进到第 14 期微服务改造。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400800" y="2788920"/>
            <a:ext cx="5303520" cy="3493008"/>
          </a:xfrm>
          <a:prstGeom prst="roundRect">
            <a:avLst>
              <a:gd name="adj" fmla="val 2618"/>
            </a:avLst>
          </a:prstGeom>
          <a:solidFill>
            <a:srgbClr val="012A33"/>
          </a:solidFill>
          <a:ln/>
        </p:spPr>
      </p:sp>
      <p:sp>
        <p:nvSpPr>
          <p:cNvPr id="35" name="Text 31"/>
          <p:cNvSpPr/>
          <p:nvPr/>
        </p:nvSpPr>
        <p:spPr>
          <a:xfrm>
            <a:off x="6629400" y="29443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今日判断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6629400" y="33832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013A42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34381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能力面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76656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四大核心能力与可观测性配置已在代码中落地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629400" y="40690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013A42"/>
          </a:solidFill>
          <a:ln/>
        </p:spPr>
      </p:sp>
      <p:sp>
        <p:nvSpPr>
          <p:cNvPr id="40" name="Text 36"/>
          <p:cNvSpPr/>
          <p:nvPr/>
        </p:nvSpPr>
        <p:spPr>
          <a:xfrm>
            <a:off x="6766560" y="41239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活跃度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76656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日无业务提交；最近有效提交距今约 12 个月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629400" y="47548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013A42"/>
          </a:solidFill>
          <a:ln/>
        </p:spPr>
      </p:sp>
      <p:sp>
        <p:nvSpPr>
          <p:cNvPr id="43" name="Text 39"/>
          <p:cNvSpPr/>
          <p:nvPr/>
        </p:nvSpPr>
        <p:spPr>
          <a:xfrm>
            <a:off x="6766560" y="48097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社区面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76656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 Open Issue 待响应；日报 PR 多为 Draft 未合入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6629400" y="54406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013A42"/>
          </a:solidFill>
          <a:ln/>
        </p:spPr>
      </p:sp>
      <p:sp>
        <p:nvSpPr>
          <p:cNvPr id="46" name="Text 42"/>
          <p:cNvSpPr/>
          <p:nvPr/>
        </p:nvSpPr>
        <p:spPr>
          <a:xfrm>
            <a:off x="6766560" y="54955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质量面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676656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无仓库级 CI 工作流；14 个测试偏集成、依赖外部服务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定义的四条产品主线，均已在单体与微服务代码中对应实现。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143000"/>
            <a:ext cx="56235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" y="139903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996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13441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298448" y="167335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策略路由 → 工具写文件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85800" y="2103120"/>
            <a:ext cx="5166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流式输出；支持 HTML / 多文件 / Vue 项目。工具集含读写改删目录与退出。AI 路由模型（qwen-turbo）与推理模型（deepseek-reasoner）分离。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309360" y="1143000"/>
            <a:ext cx="56235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37960" y="139903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1499616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50608" y="13441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7150608" y="167335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预览页选元素，对话驱动改版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537960" y="2103120"/>
            <a:ext cx="5166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生成结果实时展示；编辑模式选择网页元素并继续与 AI 对话，直至页面满意。前端对话页采用左右分栏（消息 + iframe 预览）。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57200" y="3749040"/>
            <a:ext cx="56235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85800" y="40050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10565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98448" y="395020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1298448" y="427939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部署、封面截图、源码打包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85800" y="4709160"/>
            <a:ext cx="5166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部署后自动截取封面并上传对象存储；返回可访问地址。支持完整项目下载。截图能力在微服务中独立为 yu-ai-code-screenshot。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309360" y="3749040"/>
            <a:ext cx="562356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40050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10565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50608" y="395020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7150608" y="427939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用户、应用、精选与监控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537960" y="4709160"/>
            <a:ext cx="5166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后台可管用户与应用、设置精选。Prometheus 暴露 health/info；仓库含 Grafana 仪表盘与限流、Prompt 审查护栏。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技术架构与模块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457200" y="868680"/>
            <a:ext cx="56692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868680"/>
            <a:ext cx="56692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914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单体仓库（根目录）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1463040"/>
            <a:ext cx="5303520" cy="512064"/>
          </a:xfrm>
          <a:prstGeom prst="roundRect">
            <a:avLst>
              <a:gd name="adj" fmla="val 10714"/>
            </a:avLst>
          </a:prstGeom>
          <a:solidFill>
            <a:srgbClr val="E8F6F5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1463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17007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生成门面、解析、路由、工具与护栏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2057400"/>
            <a:ext cx="5303520" cy="512064"/>
          </a:xfrm>
          <a:prstGeom prst="roundRect">
            <a:avLst>
              <a:gd name="adj" fmla="val 10714"/>
            </a:avLst>
          </a:prstGeom>
          <a:solidFill>
            <a:srgbClr val="E8F6F5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057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2951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工作流、并发子图、配图与 Logo 工具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2651760"/>
            <a:ext cx="5303520" cy="512064"/>
          </a:xfrm>
          <a:prstGeom prst="roundRect">
            <a:avLst>
              <a:gd name="adj" fmla="val 10714"/>
            </a:avLst>
          </a:prstGeom>
          <a:solidFill>
            <a:srgbClr val="E8F6F5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2651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28895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 / 用户 / 对话 / 静态资源 / SSE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0080" y="3246120"/>
            <a:ext cx="5303520" cy="512064"/>
          </a:xfrm>
          <a:prstGeom prst="roundRect">
            <a:avLst>
              <a:gd name="adj" fmla="val 10714"/>
            </a:avLst>
          </a:prstGeom>
          <a:solidFill>
            <a:srgbClr val="E8F6F5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3246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rate limiter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34838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指标、限流、可观测性端点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0080" y="3840480"/>
            <a:ext cx="5303520" cy="512064"/>
          </a:xfrm>
          <a:prstGeom prst="roundRect">
            <a:avLst>
              <a:gd name="adj" fmla="val 10714"/>
            </a:avLst>
          </a:prstGeom>
          <a:solidFill>
            <a:srgbClr val="E8F6F5"/>
          </a:solidFill>
          <a:ln/>
        </p:spPr>
      </p:sp>
      <p:sp>
        <p:nvSpPr>
          <p:cNvPr id="26" name="Text 22"/>
          <p:cNvSpPr/>
          <p:nvPr/>
        </p:nvSpPr>
        <p:spPr>
          <a:xfrm>
            <a:off x="777240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77240" y="40782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应用、用户、截图、下载、会话记忆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355080" y="86868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355080" y="868680"/>
            <a:ext cx="5349240" cy="457200"/>
          </a:xfrm>
          <a:prstGeom prst="rect">
            <a:avLst/>
          </a:prstGeom>
          <a:solidFill>
            <a:srgbClr val="012A33"/>
          </a:solidFill>
          <a:ln/>
        </p:spPr>
      </p:sp>
      <p:sp>
        <p:nvSpPr>
          <p:cNvPr id="30" name="Text 26"/>
          <p:cNvSpPr/>
          <p:nvPr/>
        </p:nvSpPr>
        <p:spPr>
          <a:xfrm>
            <a:off x="6537960" y="914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微服务（7 模块）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537960" y="1463040"/>
            <a:ext cx="4983480" cy="512064"/>
          </a:xfrm>
          <a:prstGeom prst="roundRect">
            <a:avLst>
              <a:gd name="adj" fmla="val 10714"/>
            </a:avLst>
          </a:prstGeom>
          <a:solidFill>
            <a:srgbClr val="E8F1F4"/>
          </a:solidFill>
          <a:ln/>
        </p:spPr>
      </p:sp>
      <p:sp>
        <p:nvSpPr>
          <p:cNvPr id="32" name="Text 28"/>
          <p:cNvSpPr/>
          <p:nvPr/>
        </p:nvSpPr>
        <p:spPr>
          <a:xfrm>
            <a:off x="6675120" y="14630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675120" y="170078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+ 20 + 2 个 Java 文件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537960" y="2057400"/>
            <a:ext cx="4983480" cy="512064"/>
          </a:xfrm>
          <a:prstGeom prst="roundRect">
            <a:avLst>
              <a:gd name="adj" fmla="val 10714"/>
            </a:avLst>
          </a:prstGeom>
          <a:solidFill>
            <a:srgbClr val="E8F1F4"/>
          </a:solidFill>
          <a:ln/>
        </p:spPr>
      </p:sp>
      <p:sp>
        <p:nvSpPr>
          <p:cNvPr id="35" name="Text 31"/>
          <p:cNvSpPr/>
          <p:nvPr/>
        </p:nvSpPr>
        <p:spPr>
          <a:xfrm>
            <a:off x="6675120" y="20574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675120" y="229514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 · 7 文件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537960" y="2651760"/>
            <a:ext cx="4983480" cy="512064"/>
          </a:xfrm>
          <a:prstGeom prst="roundRect">
            <a:avLst>
              <a:gd name="adj" fmla="val 10714"/>
            </a:avLst>
          </a:prstGeom>
          <a:solidFill>
            <a:srgbClr val="E8F1F4"/>
          </a:solidFill>
          <a:ln/>
        </p:spPr>
      </p:sp>
      <p:sp>
        <p:nvSpPr>
          <p:cNvPr id="38" name="Text 34"/>
          <p:cNvSpPr/>
          <p:nvPr/>
        </p:nvSpPr>
        <p:spPr>
          <a:xfrm>
            <a:off x="6675120" y="26517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6675120" y="28895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应用编排 · 35 文件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537960" y="3246120"/>
            <a:ext cx="4983480" cy="512064"/>
          </a:xfrm>
          <a:prstGeom prst="roundRect">
            <a:avLst>
              <a:gd name="adj" fmla="val 10714"/>
            </a:avLst>
          </a:prstGeom>
          <a:solidFill>
            <a:srgbClr val="E8F1F4"/>
          </a:solidFill>
          <a:ln/>
        </p:spPr>
      </p:sp>
      <p:sp>
        <p:nvSpPr>
          <p:cNvPr id="41" name="Text 37"/>
          <p:cNvSpPr/>
          <p:nvPr/>
        </p:nvSpPr>
        <p:spPr>
          <a:xfrm>
            <a:off x="6675120" y="324612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675120" y="34838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模型与工具 · 31 文件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6537960" y="3840480"/>
            <a:ext cx="4983480" cy="512064"/>
          </a:xfrm>
          <a:prstGeom prst="roundRect">
            <a:avLst>
              <a:gd name="adj" fmla="val 10714"/>
            </a:avLst>
          </a:prstGeom>
          <a:solidFill>
            <a:srgbClr val="E8F1F4"/>
          </a:solidFill>
          <a:ln/>
        </p:spPr>
      </p:sp>
      <p:sp>
        <p:nvSpPr>
          <p:cNvPr id="44" name="Text 40"/>
          <p:cNvSpPr/>
          <p:nvPr/>
        </p:nvSpPr>
        <p:spPr>
          <a:xfrm>
            <a:off x="6675120" y="384048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6675120" y="40782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截图部署 · 5 文件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457200" y="4828032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47" name="Text 43"/>
          <p:cNvSpPr/>
          <p:nvPr/>
        </p:nvSpPr>
        <p:spPr>
          <a:xfrm>
            <a:off x="457200" y="482803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/ Java 21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3337560" y="4828032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49" name="Text 45"/>
          <p:cNvSpPr/>
          <p:nvPr/>
        </p:nvSpPr>
        <p:spPr>
          <a:xfrm>
            <a:off x="3337560" y="482803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1.1.0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6217920" y="4828032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51" name="Text 47"/>
          <p:cNvSpPr/>
          <p:nvPr/>
        </p:nvSpPr>
        <p:spPr>
          <a:xfrm>
            <a:off x="6217920" y="482803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1.6.0-rc2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9098280" y="4828032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53" name="Text 49"/>
          <p:cNvSpPr/>
          <p:nvPr/>
        </p:nvSpPr>
        <p:spPr>
          <a:xfrm>
            <a:off x="9098280" y="482803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3.3 + Nacos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457200" y="5266944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55" name="Text 51"/>
          <p:cNvSpPr/>
          <p:nvPr/>
        </p:nvSpPr>
        <p:spPr>
          <a:xfrm>
            <a:off x="457200" y="526694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Redisson + Caffeine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3337560" y="5266944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57" name="Text 53"/>
          <p:cNvSpPr/>
          <p:nvPr/>
        </p:nvSpPr>
        <p:spPr>
          <a:xfrm>
            <a:off x="3337560" y="526694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+ Vite 7</a:t>
            </a:r>
            <a:endParaRPr lang="en-US" sz="1200" dirty="0"/>
          </a:p>
        </p:txBody>
      </p:sp>
      <p:sp>
        <p:nvSpPr>
          <p:cNvPr id="58" name="Shape 54"/>
          <p:cNvSpPr/>
          <p:nvPr/>
        </p:nvSpPr>
        <p:spPr>
          <a:xfrm>
            <a:off x="6217920" y="5266944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59" name="Text 55"/>
          <p:cNvSpPr/>
          <p:nvPr/>
        </p:nvSpPr>
        <p:spPr>
          <a:xfrm>
            <a:off x="6217920" y="526694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9098280" y="5266944"/>
            <a:ext cx="2761488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61" name="Text 57"/>
          <p:cNvSpPr/>
          <p:nvPr/>
        </p:nvSpPr>
        <p:spPr>
          <a:xfrm>
            <a:off x="9098280" y="526694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腾讯云 COS / Pexels / DashScope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7498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优先看近 7 日；因 master 无增量，同时回看最近有效里程碑与社区动态。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115568"/>
            <a:ext cx="3657600" cy="5029200"/>
          </a:xfrm>
          <a:prstGeom prst="roundRect">
            <a:avLst>
              <a:gd name="adj" fmla="val 2500"/>
            </a:avLst>
          </a:prstGeom>
          <a:solidFill>
            <a:srgbClr val="012A33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1298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16276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400" dirty="0"/>
          </a:p>
        </p:txBody>
      </p:sp>
      <p:sp>
        <p:nvSpPr>
          <p:cNvPr id="14" name="Text 10"/>
          <p:cNvSpPr/>
          <p:nvPr/>
        </p:nvSpPr>
        <p:spPr>
          <a:xfrm>
            <a:off x="6858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 / 合并到 master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5800" y="30175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窗口：2026-08-14 至 2026-08-21。HEAD 仍为 893918c。自动化日报 PR 持续产出但未合入主线。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85800" y="44348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013A42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4553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昨日结论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2960" y="484632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8 月 20 日状态一致：代码面无变化，维护焦点仍在社区工单与质量基建。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297680" y="1115568"/>
            <a:ext cx="7406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62272" y="1316736"/>
            <a:ext cx="1417320" cy="493776"/>
          </a:xfrm>
          <a:prstGeom prst="roundRect">
            <a:avLst>
              <a:gd name="adj" fmla="val 9259"/>
            </a:avLst>
          </a:prstGeom>
          <a:solidFill>
            <a:srgbClr val="028090"/>
          </a:solidFill>
          <a:ln/>
        </p:spPr>
      </p:sp>
      <p:sp>
        <p:nvSpPr>
          <p:cNvPr id="21" name="Text 17"/>
          <p:cNvSpPr/>
          <p:nvPr/>
        </p:nvSpPr>
        <p:spPr>
          <a:xfrm>
            <a:off x="4462272" y="131673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989320" y="120700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989320" y="148132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期完成：微服务拆分、Dubbo + Nacos 跨服务调用、截图服务独立，并保留完整单体。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297680" y="2103120"/>
            <a:ext cx="7406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462272" y="2304288"/>
            <a:ext cx="1417320" cy="493776"/>
          </a:xfrm>
          <a:prstGeom prst="roundRect">
            <a:avLst>
              <a:gd name="adj" fmla="val 9259"/>
            </a:avLst>
          </a:prstGeom>
          <a:solidFill>
            <a:srgbClr val="E8F6F5"/>
          </a:solidFill>
          <a:ln/>
        </p:spPr>
      </p:sp>
      <p:sp>
        <p:nvSpPr>
          <p:cNvPr id="26" name="Text 22"/>
          <p:cNvSpPr/>
          <p:nvPr/>
        </p:nvSpPr>
        <p:spPr>
          <a:xfrm>
            <a:off x="4462272" y="230428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989320" y="21945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989320" y="24688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期可观测性：Prometheus 端点与 Grafana 仪表盘入库。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297680" y="3090672"/>
            <a:ext cx="7406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462272" y="3291840"/>
            <a:ext cx="1417320" cy="493776"/>
          </a:xfrm>
          <a:prstGeom prst="roundRect">
            <a:avLst>
              <a:gd name="adj" fmla="val 9259"/>
            </a:avLst>
          </a:prstGeom>
          <a:solidFill>
            <a:srgbClr val="E8F6F5"/>
          </a:solidFill>
          <a:ln/>
        </p:spPr>
      </p:sp>
      <p:sp>
        <p:nvSpPr>
          <p:cNvPr id="31" name="Text 27"/>
          <p:cNvSpPr/>
          <p:nvPr/>
        </p:nvSpPr>
        <p:spPr>
          <a:xfrm>
            <a:off x="4462272" y="32918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989320" y="318211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989320" y="345643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期：限流、Prompt 审查、并发缓存、成本与稳定性优化连续落地。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297680" y="4078224"/>
            <a:ext cx="7406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462272" y="4279392"/>
            <a:ext cx="1417320" cy="493776"/>
          </a:xfrm>
          <a:prstGeom prst="roundRect">
            <a:avLst>
              <a:gd name="adj" fmla="val 9259"/>
            </a:avLst>
          </a:prstGeom>
          <a:solidFill>
            <a:srgbClr val="E8F6F5"/>
          </a:solidFill>
          <a:ln/>
        </p:spPr>
      </p:sp>
      <p:sp>
        <p:nvSpPr>
          <p:cNvPr id="36" name="Text 32"/>
          <p:cNvSpPr/>
          <p:nvPr/>
        </p:nvSpPr>
        <p:spPr>
          <a:xfrm>
            <a:off x="4462272" y="427939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2026-08-11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89320" y="416966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5989320" y="444398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#81：清华 npm 镜像缺少 @vitejs/plugin-vue@6，前端安装失败（仍 Open）。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4297680" y="5065776"/>
            <a:ext cx="74066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4462272" y="5266944"/>
            <a:ext cx="1417320" cy="493776"/>
          </a:xfrm>
          <a:prstGeom prst="roundRect">
            <a:avLst>
              <a:gd name="adj" fmla="val 9259"/>
            </a:avLst>
          </a:prstGeom>
          <a:solidFill>
            <a:srgbClr val="E8F6F5"/>
          </a:solidFill>
          <a:ln/>
        </p:spPr>
      </p:sp>
      <p:sp>
        <p:nvSpPr>
          <p:cNvPr id="41" name="Text 37"/>
          <p:cNvSpPr/>
          <p:nvPr/>
        </p:nvSpPr>
        <p:spPr>
          <a:xfrm>
            <a:off x="4462272" y="526694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2026-07-26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989320" y="515721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5989320" y="543153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#65：You.com 联网搜索工具，代码中尚未出现对应实现。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7498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上方为仓库可核实数字；下方产品运营指标当前环境无法读取，明确标为待补齐。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1097280"/>
          <a:ext cx="5852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644652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583680" y="12070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6583680" y="1773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 Java 文件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583680" y="20848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已排除 vendored LangChain4j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8972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9326880" y="12070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9326880" y="1773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页面/组件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326880" y="20848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含管理端与对话页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46520" y="26974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583680" y="28072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6583680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测试类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83680" y="36850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src/test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189720" y="26974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326880" y="28072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9326880" y="3374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9326880" y="36850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2 + 管理 3 + 应用 2 + 首页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4480560"/>
            <a:ext cx="109728" cy="1645920"/>
          </a:xfrm>
          <a:prstGeom prst="rect">
            <a:avLst/>
          </a:prstGeom>
          <a:solidFill>
            <a:srgbClr val="C47B2B"/>
          </a:solidFill>
          <a:ln/>
        </p:spPr>
      </p:sp>
      <p:sp>
        <p:nvSpPr>
          <p:cNvPr id="30" name="Text 25"/>
          <p:cNvSpPr/>
          <p:nvPr/>
        </p:nvSpPr>
        <p:spPr>
          <a:xfrm>
            <a:off x="777240" y="45902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产品运营指标 · 待补齐（非仓库可观测）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7724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生成成功率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777240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HTML / 多文件 / Vue 分流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356616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部署成功率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3566160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含截图与 COS 上传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35508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/ 成本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6355080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对应第 11 期成本优化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9144000" y="4937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日活与精选转化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9144000" y="53218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需生产库或埋点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质量与测试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74980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仓库没有持续集成门禁；现有测试以集成场景为主，前端脚本未接入流水线。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078992"/>
            <a:ext cx="3675888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078992"/>
            <a:ext cx="3675888" cy="91440"/>
          </a:xfrm>
          <a:prstGeom prst="rect">
            <a:avLst/>
          </a:prstGeom>
          <a:solidFill>
            <a:srgbClr val="C45C4A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128016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无仓库 CI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0080" y="1682496"/>
            <a:ext cx="3310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不存在 .github/workflows。GitHub Actions 仅见 2026-03 Copilot 仓库访问检查，不能代表构建或回归。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97680" y="1078992"/>
            <a:ext cx="3675888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1078992"/>
            <a:ext cx="3675888" cy="91440"/>
          </a:xfrm>
          <a:prstGeom prst="rect">
            <a:avLst/>
          </a:prstGeom>
          <a:solidFill>
            <a:srgbClr val="C47B2B"/>
          </a:solidFill>
          <a:ln/>
        </p:spPr>
      </p:sp>
      <p:sp>
        <p:nvSpPr>
          <p:cNvPr id="17" name="Text 13"/>
          <p:cNvSpPr/>
          <p:nvPr/>
        </p:nvSpPr>
        <p:spPr>
          <a:xfrm>
            <a:off x="4480560" y="128016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测试偏集成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480560" y="1682496"/>
            <a:ext cx="3310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个测试类中，CodeParser 为纯单测；其余工作流 / 工具 / AI 服务测试依赖真实模型与外部 API。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138160" y="1078992"/>
            <a:ext cx="3675888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38160" y="1078992"/>
            <a:ext cx="3675888" cy="91440"/>
          </a:xfrm>
          <a:prstGeom prst="rect">
            <a:avLst/>
          </a:prstGeom>
          <a:solidFill>
            <a:srgbClr val="027A6B"/>
          </a:solidFill>
          <a:ln/>
        </p:spPr>
      </p:sp>
      <p:sp>
        <p:nvSpPr>
          <p:cNvPr id="21" name="Text 17"/>
          <p:cNvSpPr/>
          <p:nvPr/>
        </p:nvSpPr>
        <p:spPr>
          <a:xfrm>
            <a:off x="8321040" y="128016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前端有脚本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321040" y="1682496"/>
            <a:ext cx="3310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提供 lint、type-check、build；但无人值守流水线调用。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57200" y="3273552"/>
            <a:ext cx="1124712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85800" y="3401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测试清单（单体 src/test）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85800" y="3840480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22960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CodeParserTest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343400" y="3840480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29" name="Text 25"/>
          <p:cNvSpPr/>
          <p:nvPr/>
        </p:nvSpPr>
        <p:spPr>
          <a:xfrm>
            <a:off x="448056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门面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80560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AiCodeGeneratorFacadeTest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001000" y="3840480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32" name="Text 28"/>
          <p:cNvSpPr/>
          <p:nvPr/>
        </p:nvSpPr>
        <p:spPr>
          <a:xfrm>
            <a:off x="8138160" y="3840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138160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AiCodeGenTypeRoutingServiceTest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85800" y="4553712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35" name="Text 31"/>
          <p:cNvSpPr/>
          <p:nvPr/>
        </p:nvSpPr>
        <p:spPr>
          <a:xfrm>
            <a:off x="822960" y="45537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生成服务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822960" y="4809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AiCodeGeneratorServiceTest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4343400" y="4553712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38" name="Text 34"/>
          <p:cNvSpPr/>
          <p:nvPr/>
        </p:nvSpPr>
        <p:spPr>
          <a:xfrm>
            <a:off x="4480560" y="45537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480560" y="4809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Concurrent / Subgraph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8001000" y="4553712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41" name="Text 37"/>
          <p:cNvSpPr/>
          <p:nvPr/>
        </p:nvSpPr>
        <p:spPr>
          <a:xfrm>
            <a:off x="8138160" y="45537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配图工具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8138160" y="4809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ImageSearch / Logo / Mermaid / Undraw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685800" y="5266944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44" name="Text 40"/>
          <p:cNvSpPr/>
          <p:nvPr/>
        </p:nvSpPr>
        <p:spPr>
          <a:xfrm>
            <a:off x="822960" y="52669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822960" y="5522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ImageCollectionServiceTest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4343400" y="5266944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47" name="Text 43"/>
          <p:cNvSpPr/>
          <p:nvPr/>
        </p:nvSpPr>
        <p:spPr>
          <a:xfrm>
            <a:off x="4480560" y="52669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4480560" y="5522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AiConcurrentTest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8001000" y="5266944"/>
            <a:ext cx="3520440" cy="585216"/>
          </a:xfrm>
          <a:prstGeom prst="roundRect">
            <a:avLst>
              <a:gd name="adj" fmla="val 9375"/>
            </a:avLst>
          </a:prstGeom>
          <a:solidFill>
            <a:srgbClr val="E8F6F5"/>
          </a:solidFill>
          <a:ln/>
        </p:spPr>
      </p:sp>
      <p:sp>
        <p:nvSpPr>
          <p:cNvPr id="50" name="Text 46"/>
          <p:cNvSpPr/>
          <p:nvPr/>
        </p:nvSpPr>
        <p:spPr>
          <a:xfrm>
            <a:off x="8138160" y="52669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8138160" y="5522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WebScreenshotUtilsTest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C45C4A"/>
          </a:solidFill>
          <a:ln w="12700">
            <a:solidFill>
              <a:srgbClr val="C45C4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74980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按影响面排列：生成主路径缺陷优先，其次是学习者安装摩擦与质量门禁缺口。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078992"/>
            <a:ext cx="55778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" y="128016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C45C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17320" y="1261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  Vue 生成失败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" y="173736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工具调用缺少 reasoning_content，2025-12 起仍 Open。直接影响 Vue 项目主路径。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63640" y="1078992"/>
            <a:ext cx="55778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4808" y="128016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C47B2B"/>
          </a:solidFill>
          <a:ln/>
        </p:spPr>
      </p:sp>
      <p:sp>
        <p:nvSpPr>
          <p:cNvPr id="18" name="Text 14"/>
          <p:cNvSpPr/>
          <p:nvPr/>
        </p:nvSpPr>
        <p:spPr>
          <a:xfrm>
            <a:off x="6464808" y="1280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223760" y="1261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#81  前端安装失败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464808" y="173736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 npm 镜像 404：@vitejs/plugin-vue@6。学习者按视频改 registry 后无法 npm i。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57200" y="2816352"/>
            <a:ext cx="55778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58368" y="301752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C47B2B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" y="3017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41732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#65  联网搜索未落地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8368" y="347472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提案要求新增 YoucomSearchTool，仓库内无对应类，能力缺口仍在。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263640" y="2816352"/>
            <a:ext cx="55778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64808" y="301752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C47B2B"/>
          </a:solidFill>
          <a:ln/>
        </p:spPr>
      </p:sp>
      <p:sp>
        <p:nvSpPr>
          <p:cNvPr id="28" name="Text 24"/>
          <p:cNvSpPr/>
          <p:nvPr/>
        </p:nvSpPr>
        <p:spPr>
          <a:xfrm>
            <a:off x="6464808" y="3017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22376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双栈漂移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464808" y="347472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单体与微服务并行，中间态提交曾污染单体；后续改动需同步两边。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457200" y="4553712"/>
            <a:ext cx="55778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58368" y="4754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C47B2B"/>
          </a:solidFill>
          <a:ln/>
        </p:spPr>
      </p:sp>
      <p:sp>
        <p:nvSpPr>
          <p:cNvPr id="33" name="Text 29"/>
          <p:cNvSpPr/>
          <p:nvPr/>
        </p:nvSpPr>
        <p:spPr>
          <a:xfrm>
            <a:off x="658368" y="47548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41732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质量门禁缺失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58368" y="521208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CI，回归依赖本地手工跑集成测试，外部密钥缺失时无法验证。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263640" y="4553712"/>
            <a:ext cx="5577840" cy="1609344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464808" y="475488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4A6F74"/>
          </a:solidFill>
          <a:ln/>
        </p:spPr>
      </p:sp>
      <p:sp>
        <p:nvSpPr>
          <p:cNvPr id="38" name="Text 34"/>
          <p:cNvSpPr/>
          <p:nvPr/>
        </p:nvSpPr>
        <p:spPr>
          <a:xfrm>
            <a:off x="6464808" y="47548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722376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Vendored 调试残留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6464808" y="5212080"/>
            <a:ext cx="5257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拷贝的 LangChain4j 含待办注释与调试输出，增加升级与排障噪音。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8016" y="6601968"/>
            <a:ext cx="12063679" cy="256032"/>
          </a:xfrm>
          <a:prstGeom prst="rect">
            <a:avLst/>
          </a:prstGeom>
          <a:solidFill>
            <a:srgbClr val="012A33"/>
          </a:solidFill>
          <a:ln w="12700">
            <a:solidFill>
              <a:srgbClr val="012A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601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24128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7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65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743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57200" y="7498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按影响面排序：先修主路径缺陷，再降低学习者摩擦，最后补质量门禁。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115568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" y="1298448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3" name="Text 9"/>
          <p:cNvSpPr/>
          <p:nvPr/>
        </p:nvSpPr>
        <p:spPr>
          <a:xfrm>
            <a:off x="621792" y="129844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120700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复现并修复 Issue #5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63040" y="153619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Vue 生成链路兼容 DeepSeek 工具调用的 reasoning_content，避免助手消息校验失败。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509760" y="1371600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E8F6F5"/>
          </a:solidFill>
          <a:ln/>
        </p:spPr>
      </p:sp>
      <p:sp>
        <p:nvSpPr>
          <p:cNvPr id="17" name="Text 13"/>
          <p:cNvSpPr/>
          <p:nvPr/>
        </p:nvSpPr>
        <p:spPr>
          <a:xfrm>
            <a:off x="9509760" y="13716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本周优先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139696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" y="2322576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0" name="Text 16"/>
          <p:cNvSpPr/>
          <p:nvPr/>
        </p:nvSpPr>
        <p:spPr>
          <a:xfrm>
            <a:off x="621792" y="232257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463040" y="22311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化解前端安装摩擦 #81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63040" y="25603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写明官方 registry 或可用镜像；核对 Vite 7 与 plugin-vue 6 在国内镜像的可用性。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9509760" y="2395728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E8F6F5"/>
          </a:solidFill>
          <a:ln/>
        </p:spPr>
      </p:sp>
      <p:sp>
        <p:nvSpPr>
          <p:cNvPr id="24" name="Text 20"/>
          <p:cNvSpPr/>
          <p:nvPr/>
        </p:nvSpPr>
        <p:spPr>
          <a:xfrm>
            <a:off x="9509760" y="239572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文档小改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57200" y="3163824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" y="3346704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7" name="Text 23"/>
          <p:cNvSpPr/>
          <p:nvPr/>
        </p:nvSpPr>
        <p:spPr>
          <a:xfrm>
            <a:off x="621792" y="334670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463040" y="325526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 Issue #65 是否纳入教程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463040" y="358444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若纳入：按 BaseTool 规范补 YoucomSearchTool 与配置项；若不纳入：关闭或降级为讨论。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9509760" y="3419856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E8F6F5"/>
          </a:solidFill>
          <a:ln/>
        </p:spPr>
      </p:sp>
      <p:sp>
        <p:nvSpPr>
          <p:cNvPr id="31" name="Text 27"/>
          <p:cNvSpPr/>
          <p:nvPr/>
        </p:nvSpPr>
        <p:spPr>
          <a:xfrm>
            <a:off x="9509760" y="341985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产品决策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457200" y="4187952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1792" y="4370832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34" name="Text 30"/>
          <p:cNvSpPr/>
          <p:nvPr/>
        </p:nvSpPr>
        <p:spPr>
          <a:xfrm>
            <a:off x="621792" y="437083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463040" y="427939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463040" y="460857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单体：可离线的 CodeParser 单测；前端：lint + type-check。避免再依赖真实模型密钥。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9509760" y="4443984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E8F6F5"/>
          </a:solidFill>
          <a:ln/>
        </p:spPr>
      </p:sp>
      <p:sp>
        <p:nvSpPr>
          <p:cNvPr id="38" name="Text 34"/>
          <p:cNvSpPr/>
          <p:nvPr/>
        </p:nvSpPr>
        <p:spPr>
          <a:xfrm>
            <a:off x="9509760" y="44439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质量基建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457200" y="521208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3">
                <a:alpha val="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21792" y="5394960"/>
            <a:ext cx="658368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41" name="Text 37"/>
          <p:cNvSpPr/>
          <p:nvPr/>
        </p:nvSpPr>
        <p:spPr>
          <a:xfrm>
            <a:off x="621792" y="539496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1463040" y="53035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明确双栈维护边界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1463040" y="563270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在文档中声明「日常以哪套为准、微服务如何从单体同步」，减少后续分叉。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9509760" y="5468112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E8F6F5"/>
          </a:solidFill>
          <a:ln/>
        </p:spPr>
      </p:sp>
      <p:sp>
        <p:nvSpPr>
          <p:cNvPr id="45" name="Text 41"/>
          <p:cNvSpPr/>
          <p:nvPr/>
        </p:nvSpPr>
        <p:spPr>
          <a:xfrm>
            <a:off x="9509760" y="546811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能力已齐、主线静止、社区待响应。下一步以修缺陷和降摩擦为主。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024E58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8745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9842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1920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稳住的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8680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管理四条能力与微服务拆分已经在代码中闭环，教学第 14 期可视为当前基线。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34840" y="164592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024E58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18745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8424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76088" y="1920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停住的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663440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自 2025-08-26 后再无业务提交。近 7 日、近 12 月增量均为零，平台进入维护静止。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229600" y="164592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024E58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58200" y="18745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198424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70848" y="19202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卡住的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8458200" y="256032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生成缺陷、前端安装镜像问题、联网搜索提案仍 Open；没有 CI 守门。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164592" y="6355080"/>
            <a:ext cx="12027103" cy="502920"/>
          </a:xfrm>
          <a:prstGeom prst="rect">
            <a:avLst/>
          </a:prstGeom>
          <a:solidFill>
            <a:srgbClr val="012228"/>
          </a:solidFill>
          <a:ln w="12700">
            <a:solidFill>
              <a:srgbClr val="01222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" y="6355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下一次关注：#5 是否复现、#81 文档是否更新、最小 CI 是否立项。   ·   2026-08-21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2026-08-21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2026-08-21T09:14:06Z</dcterms:created>
  <dcterms:modified xsi:type="dcterms:W3CDTF">2026-08-21T09:14:06Z</dcterms:modified>
</cp:coreProperties>
</file>