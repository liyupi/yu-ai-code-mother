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540000">
            <a:off x="-457200" y="822960"/>
            <a:ext cx="12984480" cy="11430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540000">
            <a:off x="-365760" y="4160520"/>
            <a:ext cx="13350240" cy="777240"/>
          </a:xfrm>
          <a:prstGeom prst="rect">
            <a:avLst/>
          </a:prstGeom>
          <a:solidFill>
            <a:srgbClr val="1C7293">
              <a:alpha val="7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-685800"/>
            <a:ext cx="3063240" cy="3063240"/>
          </a:xfrm>
          <a:prstGeom prst="ellipse">
            <a:avLst/>
          </a:prstGeom>
          <a:solidFill>
            <a:srgbClr val="1C7293">
              <a:alpha val="6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502920"/>
            <a:ext cx="1234440" cy="1234440"/>
          </a:xfrm>
          <a:prstGeom prst="ellipse">
            <a:avLst/>
          </a:prstGeom>
          <a:solidFill>
            <a:srgbClr val="02C39A">
              <a:alpha val="95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440680"/>
            <a:ext cx="1097280" cy="109728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91440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49808" y="170078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· yu-ai-code-mother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2128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E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运行日：2026-06-24（北京时间）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" y="2999232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363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</a:t>
            </a:r>
            <a:pPr algn="l" indent="0" marL="0">
              <a:buNone/>
            </a:pPr>
            <a:r>
              <a:rPr lang="en-US" sz="1330" dirty="0">
                <a:solidFill>
                  <a:srgbClr val="EA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Spring Boot 3 + LangChain4j/LangGraph4j + Vue 3 的企业级 AI 代码生成平台，支持对话生成、可视化改页、一键部署与后台运营。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749808" y="5321808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02C39A"/>
          </a:solidFill>
          <a:ln w="635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37210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12848" y="5321808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 w="635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5372100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75888" y="532180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 w="635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537210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93792" y="5321808"/>
            <a:ext cx="1243584" cy="310896"/>
          </a:xfrm>
          <a:prstGeom prst="roundRect">
            <a:avLst>
              <a:gd name="adj" fmla="val 23529"/>
            </a:avLst>
          </a:prstGeom>
          <a:solidFill>
            <a:srgbClr val="02C39A"/>
          </a:solidFill>
          <a:ln w="635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53721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0" y="614476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D9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项目维护者 / 团队视角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502920"/>
            <a:ext cx="2011680" cy="201168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82880"/>
            <a:ext cx="685800" cy="6858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84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35440" y="457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当前形态与边界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72600" y="6510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2026-06-24 北京时间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123444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25400" dist="50800" dir="2700000">
              <a:srgbClr val="1B344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一句话状态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1965960"/>
            <a:ext cx="4343400" cy="8778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平台主链路已具备“需求输入 → AI 生成 → 实时预览 → 对话修改 → 部署/下载 → 后台管理”的闭环；仓库同时保留单体完整版与微服务演进版。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0976" y="3127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今日判断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50976" y="3529584"/>
            <a:ext cx="4370832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天无新增提交；最近可引用变更集中在微服务改造收口、可观测性与部署上线。当前汇报基于 README、代码结构、配置与提交历史生成。</a:t>
            </a:r>
            <a:endParaRPr lang="en-US" sz="1370" dirty="0"/>
          </a:p>
        </p:txBody>
      </p:sp>
      <p:sp>
        <p:nvSpPr>
          <p:cNvPr id="15" name="Shape 13"/>
          <p:cNvSpPr/>
          <p:nvPr/>
        </p:nvSpPr>
        <p:spPr>
          <a:xfrm>
            <a:off x="950976" y="4617720"/>
            <a:ext cx="1664208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635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668012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单体：可运行主链路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88920" y="4617720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 w="635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2072" y="4668012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微服务：演进版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34256" y="4617720"/>
            <a:ext cx="1078992" cy="310896"/>
          </a:xfrm>
          <a:prstGeom prst="roundRect">
            <a:avLst>
              <a:gd name="adj" fmla="val 23529"/>
            </a:avLst>
          </a:prstGeom>
          <a:solidFill>
            <a:srgbClr val="02C39A"/>
          </a:solidFill>
          <a:ln w="635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466801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1234440"/>
            <a:ext cx="51206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6350">
            <a:solidFill>
              <a:srgbClr val="B9DDE5">
                <a:alpha val="90000"/>
              </a:srgbClr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1B3440">
                <a:alpha val="13000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14630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61848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150608" y="1408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根目录后端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50608" y="17373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3.5.4，端口 8123，承载 AI 生成、部署、监控与业务 API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172200" y="2560320"/>
            <a:ext cx="5120640" cy="1033272"/>
          </a:xfrm>
          <a:prstGeom prst="roundRect">
            <a:avLst>
              <a:gd name="adj" fmla="val 7080"/>
            </a:avLst>
          </a:prstGeom>
          <a:solidFill>
            <a:srgbClr val="E7F6F8"/>
          </a:solidFill>
          <a:ln w="6350">
            <a:solidFill>
              <a:srgbClr val="B9DDE5">
                <a:alpha val="90000"/>
              </a:srgbClr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1B3440">
                <a:alpha val="13000000000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46520" y="27889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94436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7150608" y="27340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前端工程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50608" y="30632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+ Ant Design Vue，负责创建、对话、预览和管理体验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6172200" y="3886200"/>
            <a:ext cx="5120640" cy="1033272"/>
          </a:xfrm>
          <a:prstGeom prst="roundRect">
            <a:avLst>
              <a:gd name="adj" fmla="val 7080"/>
            </a:avLst>
          </a:prstGeom>
          <a:solidFill>
            <a:srgbClr val="FFFFFF"/>
          </a:solidFill>
          <a:ln w="6350">
            <a:solidFill>
              <a:srgbClr val="B9DDE5">
                <a:alpha val="90000"/>
              </a:srgbClr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1B3440">
                <a:alpha val="130000000000000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46520" y="41148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27024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7150608" y="40599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50608" y="4389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 等模块，面向拆分演进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566928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依据：README.md；yu-ai-code-mother-frontend/README.md；pom.xml；yu-ai-code-mother-microservice/*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502920"/>
            <a:ext cx="2011680" cy="201168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82880"/>
            <a:ext cx="685800" cy="6858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84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35440" y="457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已具备的产品闭环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72600" y="6510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2026-06-24 北京时间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1170432"/>
            <a:ext cx="52303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1B3440">
                <a:alpha val="1.3e+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335024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4173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44168" y="13350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智能代码生成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9536" y="1828800"/>
            <a:ext cx="482803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SSE 流式对话触发生成；AI 路由选择 HTML、多文件或 Vue 工程模式，并调用文件读写改删工具落盘。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6199632" y="1170432"/>
            <a:ext cx="52303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1B3440">
                <a:alpha val="1.3e+2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64224" y="133502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4173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85432" y="13350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可视化编辑与实时预览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1828800"/>
            <a:ext cx="482803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对话页左右分栏：左侧聊天，右侧 iframe 预览；编辑模式可点选页面元素并把 DOM 上下文带回 AI。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658368" y="3017520"/>
            <a:ext cx="52303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1B3440">
                <a:alpha val="1.3e+3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182112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6440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44168" y="31821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一键部署、封面与源码下载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9536" y="3675888"/>
            <a:ext cx="482803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生成应用可部署到本地静态目录；Vue 工程先构建 dist；部署后异步截图上传 COS，并支持 ZIP 下载。</a:t>
            </a:r>
            <a:endParaRPr lang="en-US" sz="1330" dirty="0"/>
          </a:p>
        </p:txBody>
      </p:sp>
      <p:sp>
        <p:nvSpPr>
          <p:cNvPr id="25" name="Shape 23"/>
          <p:cNvSpPr/>
          <p:nvPr/>
        </p:nvSpPr>
        <p:spPr>
          <a:xfrm>
            <a:off x="6199632" y="3017520"/>
            <a:ext cx="52303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1B3440">
                <a:alpha val="1.3e+3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64224" y="3182112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326440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85432" y="31821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后台运营与观测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0" y="3675888"/>
            <a:ext cx="4828032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支持用户、应用、对话管理，精选应用配置；接入 Actuator + Prometheus 暴露 AI 请求、错误、Token、时延指标。</a:t>
            </a:r>
            <a:endParaRPr lang="en-US" sz="1330" dirty="0"/>
          </a:p>
        </p:txBody>
      </p:sp>
      <p:sp>
        <p:nvSpPr>
          <p:cNvPr id="30" name="Shape 28"/>
          <p:cNvSpPr/>
          <p:nvPr/>
        </p:nvSpPr>
        <p:spPr>
          <a:xfrm>
            <a:off x="1234440" y="4983480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 w="6350">
            <a:solidFill>
              <a:srgbClr val="065A82">
                <a:alpha val="0"/>
              </a:srgbClr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1B3440">
                <a:alpha val="1.3e+44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481328" y="5175504"/>
            <a:ext cx="9052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能力链路：创建应用  →  AI 对话生成  →  预览/可视化编辑  →  部署分享  →  后台运营</a:t>
            </a:r>
            <a:endParaRPr lang="en-US" sz="1520" dirty="0"/>
          </a:p>
        </p:txBody>
      </p:sp>
      <p:sp>
        <p:nvSpPr>
          <p:cNvPr id="32" name="Text 30"/>
          <p:cNvSpPr/>
          <p:nvPr/>
        </p:nvSpPr>
        <p:spPr>
          <a:xfrm>
            <a:off x="566928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依据：AppController.java；AppServiceImpl.java；AiCodeGeneratorFacade.java；visualEditor.ts；AiModelMetricsCollector.java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502920"/>
            <a:ext cx="2011680" cy="201168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82880"/>
            <a:ext cx="685800" cy="6858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84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架构与主流程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35440" y="457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单体主链路 + 微服务演进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72600" y="6510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2026-06-24 北京时间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1325880"/>
            <a:ext cx="151790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B9DDE5"/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1B3440">
                <a:alpha val="1.3e+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" y="153619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用户需求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768096" y="18470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2212848" y="1664208"/>
            <a:ext cx="347472" cy="32918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325880"/>
            <a:ext cx="1517904" cy="1024128"/>
          </a:xfrm>
          <a:prstGeom prst="roundRect">
            <a:avLst>
              <a:gd name="adj" fmla="val 7143"/>
            </a:avLst>
          </a:prstGeom>
          <a:solidFill>
            <a:srgbClr val="E7F6F8"/>
          </a:solidFill>
          <a:ln w="6350">
            <a:solidFill>
              <a:srgbClr val="B9DDE5"/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1B3440">
                <a:alpha val="1.2999999999999999e+5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70048" y="153619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前端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2670048" y="18470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创建/对话/预览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114800" y="1664208"/>
            <a:ext cx="347472" cy="32918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2272" y="1325880"/>
            <a:ext cx="151790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B9DDE5"/>
            </a:solidFill>
            <a:prstDash val="solid"/>
          </a:ln>
          <a:effectLst>
            <a:outerShdw sx="100000" sy="100000" kx="0" ky="0" algn="bl" rotWithShape="0" blurRad="3.5210699032441527e+49" dist="7.042139806488305e+49" dir="9.795520512000002e+58">
              <a:srgbClr val="1B3440">
                <a:alpha val="1.2999999999999998e+5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53619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API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4572000" y="18470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8123 /api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016752" y="1664208"/>
            <a:ext cx="347472" cy="32918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4224" y="1325880"/>
            <a:ext cx="1517904" cy="1024128"/>
          </a:xfrm>
          <a:prstGeom prst="roundRect">
            <a:avLst>
              <a:gd name="adj" fmla="val 7143"/>
            </a:avLst>
          </a:prstGeom>
          <a:solidFill>
            <a:srgbClr val="E7F6F8"/>
          </a:solidFill>
          <a:ln w="6350">
            <a:solidFill>
              <a:srgbClr val="B9DDE5"/>
            </a:solidFill>
            <a:prstDash val="solid"/>
          </a:ln>
          <a:effectLst>
            <a:outerShdw sx="100000" sy="100000" kx="0" ky="0" algn="bl" rotWithShape="0" blurRad="4.471758777120074e+53" dist="8.943517554240149e+53" dir="5.877312307200001e+63">
              <a:srgbClr val="1B3440">
                <a:alpha val="1.2999999999999998e+64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73952" y="153619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服务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6473952" y="18470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路由+生成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7918704" y="1664208"/>
            <a:ext cx="347472" cy="32918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66176" y="1325880"/>
            <a:ext cx="1517904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B9DDE5"/>
            </a:solidFill>
            <a:prstDash val="solid"/>
          </a:ln>
          <a:effectLst>
            <a:outerShdw sx="100000" sy="100000" kx="0" ky="0" algn="bl" rotWithShape="0" blurRad="5.679133646942494e+57" dist="1.1358267293884988e+58" dir="3.526387384320001e+68">
              <a:srgbClr val="1B3440">
                <a:alpha val="1.2999999999999999e+69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75904" y="153619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代码产物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8375904" y="18470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HTML/多文件/Vue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9820656" y="1664208"/>
            <a:ext cx="347472" cy="329184"/>
          </a:xfrm>
          <a:prstGeom prst="chevron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68128" y="1325880"/>
            <a:ext cx="1517904" cy="1024128"/>
          </a:xfrm>
          <a:prstGeom prst="roundRect">
            <a:avLst>
              <a:gd name="adj" fmla="val 7143"/>
            </a:avLst>
          </a:prstGeom>
          <a:solidFill>
            <a:srgbClr val="E7F6F8"/>
          </a:solidFill>
          <a:ln w="6350">
            <a:solidFill>
              <a:srgbClr val="B9DDE5"/>
            </a:solidFill>
            <a:prstDash val="solid"/>
          </a:ln>
          <a:effectLst>
            <a:outerShdw sx="100000" sy="100000" kx="0" ky="0" algn="bl" rotWithShape="0" blurRad="7.212499731616968e+61" dist="1.4424999463233936e+62" dir="2.1158324305920003e+73">
              <a:srgbClr val="1B3440">
                <a:alpha val="1.3e+74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277856" y="1536192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部署观测</a:t>
            </a:r>
            <a:endParaRPr lang="en-US" sz="1340" dirty="0"/>
          </a:p>
        </p:txBody>
      </p:sp>
      <p:sp>
        <p:nvSpPr>
          <p:cNvPr id="32" name="Text 30"/>
          <p:cNvSpPr/>
          <p:nvPr/>
        </p:nvSpPr>
        <p:spPr>
          <a:xfrm>
            <a:off x="10277856" y="184708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静态目录+指标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868680" y="3090672"/>
            <a:ext cx="48920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9.15987465915355e+65" dist="1.83197493183071e+66" dir="1.2694994583552002e+78">
              <a:srgbClr val="1B3440">
                <a:alpha val="1.3e+7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170432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单体版（当前完整主链路）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70432" y="3858768"/>
            <a:ext cx="42519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生成 / 工作流演示 / 部署 / 监控集中在根目录后端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前端默认连接 8123 /api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更适合作为当前可验证能力基线</a:t>
            </a:r>
            <a:endParaRPr lang="en-US" sz="1380" dirty="0"/>
          </a:p>
        </p:txBody>
      </p:sp>
      <p:sp>
        <p:nvSpPr>
          <p:cNvPr id="36" name="Shape 34"/>
          <p:cNvSpPr/>
          <p:nvPr/>
        </p:nvSpPr>
        <p:spPr>
          <a:xfrm>
            <a:off x="6419088" y="3090672"/>
            <a:ext cx="48920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1.1633040817125008e+70" dist="2.3266081634250016e+70" dir="7.616996750131201e+82">
              <a:srgbClr val="1B3440">
                <a:alpha val="1.3e+84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20840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微服务版（架构演进方向）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720840" y="3858768"/>
            <a:ext cx="42519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user/app/screenshot 等服务已拆分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Dubbo + Nacos 跨服务调用已铺底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工作流、监控与网关仍需进一步对齐</a:t>
            </a:r>
            <a:endParaRPr lang="en-US" sz="1380" dirty="0"/>
          </a:p>
        </p:txBody>
      </p:sp>
      <p:sp>
        <p:nvSpPr>
          <p:cNvPr id="39" name="Text 37"/>
          <p:cNvSpPr/>
          <p:nvPr/>
        </p:nvSpPr>
        <p:spPr>
          <a:xfrm>
            <a:off x="566928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依据：yu-ai-code-mother-frontend/src/config/env.ts；yu-ai-code-mother-microservice/pom.xml；各 application.yml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502920"/>
            <a:ext cx="2011680" cy="201168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82880"/>
            <a:ext cx="685800" cy="6858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84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近期变更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35440" y="457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提交历史视角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72600" y="6510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2026-06-24 北京时间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9264" y="1527048"/>
            <a:ext cx="384048" cy="384048"/>
          </a:xfrm>
          <a:prstGeom prst="ellipse">
            <a:avLst/>
          </a:prstGeom>
          <a:solidFill>
            <a:srgbClr val="5F7480"/>
          </a:solidFill>
          <a:ln w="12700">
            <a:solidFill>
              <a:srgbClr val="5F748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1892808"/>
            <a:ext cx="54864" cy="932688"/>
          </a:xfrm>
          <a:prstGeom prst="rect">
            <a:avLst/>
          </a:prstGeom>
          <a:solidFill>
            <a:srgbClr val="B9DDE5"/>
          </a:solidFill>
          <a:ln w="12700">
            <a:solidFill>
              <a:srgbClr val="B9DDE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2768" y="1344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123444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E7F6F8"/>
          </a:solidFill>
          <a:ln w="6350">
            <a:solidFill>
              <a:srgbClr val="B9DDE5"/>
            </a:solidFill>
            <a:prstDash val="solid"/>
          </a:ln>
          <a:effectLst>
            <a:outerShdw sx="100000" sy="100000" kx="0" ky="0" algn="bl" rotWithShape="0" blurRad="1.477396183774876e+74" dist="2.954792367549752e+74" dir="4.57019805007872e+87">
              <a:srgbClr val="1B3440">
                <a:alpha val="1.3e+8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18688" y="1399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无新增提交</a:t>
            </a:r>
            <a:endParaRPr lang="en-US" sz="1640" dirty="0"/>
          </a:p>
        </p:txBody>
      </p:sp>
      <p:sp>
        <p:nvSpPr>
          <p:cNvPr id="15" name="Text 13"/>
          <p:cNvSpPr/>
          <p:nvPr/>
        </p:nvSpPr>
        <p:spPr>
          <a:xfrm>
            <a:off x="3218688" y="173736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运行日窗口内未发现新的 Git 提交，可视为代码状态稳定或本仓库近期未同步开发。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969264" y="294436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3310128"/>
            <a:ext cx="54864" cy="932688"/>
          </a:xfrm>
          <a:prstGeom prst="rect">
            <a:avLst/>
          </a:prstGeom>
          <a:solidFill>
            <a:srgbClr val="B9DDE5"/>
          </a:solidFill>
          <a:ln w="12700">
            <a:solidFill>
              <a:srgbClr val="B9DDE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27614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265176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B9DDE5"/>
            </a:solidFill>
            <a:prstDash val="solid"/>
          </a:ln>
          <a:effectLst>
            <a:outerShdw sx="100000" sy="100000" kx="0" ky="0" algn="bl" rotWithShape="0" blurRad="1.8762931533940924e+78" dist="3.752586306788185e+78" dir="2.742118830047232e+92">
              <a:srgbClr val="1B3440">
                <a:alpha val="1.3e+9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18688" y="28163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</a:t>
            </a:r>
            <a:endParaRPr lang="en-US" sz="1640" dirty="0"/>
          </a:p>
        </p:txBody>
      </p:sp>
      <p:sp>
        <p:nvSpPr>
          <p:cNvPr id="21" name="Text 19"/>
          <p:cNvSpPr/>
          <p:nvPr/>
        </p:nvSpPr>
        <p:spPr>
          <a:xfrm>
            <a:off x="3218688" y="31546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 893918c：包含完整单体项目代码，并完成微服务 user/app/ai/screenshot 等模块改造收口。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969264" y="436168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4727448"/>
            <a:ext cx="54864" cy="91440"/>
          </a:xfrm>
          <a:prstGeom prst="rect">
            <a:avLst/>
          </a:prstGeom>
          <a:solidFill>
            <a:srgbClr val="B9DDE5"/>
          </a:solidFill>
          <a:ln w="12700">
            <a:solidFill>
              <a:srgbClr val="B9DDE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72768" y="4178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26080" y="406908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B9DDE5"/>
            </a:solidFill>
            <a:prstDash val="solid"/>
          </a:ln>
          <a:effectLst>
            <a:outerShdw sx="100000" sy="100000" kx="0" ky="0" algn="bl" rotWithShape="0" blurRad="2.3828923048104974e+82" dist="4.765784609620995e+82" dir="1.6452712980283393e+97">
              <a:srgbClr val="1B3440">
                <a:alpha val="1.3e+99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18688" y="4233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4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可观测性与部署上线</a:t>
            </a:r>
            <a:endParaRPr lang="en-US" sz="1640" dirty="0"/>
          </a:p>
        </p:txBody>
      </p:sp>
      <p:sp>
        <p:nvSpPr>
          <p:cNvPr id="27" name="Text 25"/>
          <p:cNvSpPr/>
          <p:nvPr/>
        </p:nvSpPr>
        <p:spPr>
          <a:xfrm>
            <a:off x="3218688" y="45720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13 期接入业务与 AI 指标监控；第 12 期完成部署上线相关能力。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1143000" y="5623560"/>
            <a:ext cx="9966960" cy="420624"/>
          </a:xfrm>
          <a:prstGeom prst="roundRect">
            <a:avLst>
              <a:gd name="adj" fmla="val 17391"/>
            </a:avLst>
          </a:prstGeom>
          <a:solidFill>
            <a:srgbClr val="065A82"/>
          </a:solidFill>
          <a:ln w="635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53312" y="5769864"/>
            <a:ext cx="9555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解读：近期主题从“部署上线、可观测性”推进到“微服务拆分”，下一阶段重点应是把主链路能力迁移/打通到微服务形态。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566928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依据：git log --since=7 days ago；git log --max-count=12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502920"/>
            <a:ext cx="2011680" cy="201168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82880"/>
            <a:ext cx="685800" cy="6858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84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35440" y="457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可直接引用与待接入口径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72600" y="6510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2026-06-24 北京时间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" y="1143000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3.0262732271093317e+86" dist="6.052546454218663e+86" dir="9.871627788170037e+101">
              <a:srgbClr val="1B3440">
                <a:alpha val="1.3e+10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" y="1289304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77824" y="194767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生成模式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2240280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63240" y="1143000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3.8433669984288512e+90" dist="7.6867339968577025e+90" dir="5.9229766729020215e+106">
              <a:srgbClr val="1B3440">
                <a:alpha val="1.3e+10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27832" y="1289304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227832" y="194767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27832" y="2240280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3 个 admin 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13248" y="1143000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4.8810760880046414e+94" dist="9.762152176009283e+94" dir="3.553786003741213e+111">
              <a:srgbClr val="1B3440">
                <a:alpha val="1.3e+11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1289304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5577840" y="194767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测试文件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2240280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src/test/java 下 *Test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63256" y="1143000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6.198966631765894e+98" dist="1.2397933263531789e+99" dir="2.1322716022447277e+116">
              <a:srgbClr val="1B3440">
                <a:alpha val="1.3e+11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27848" y="1289304"/>
            <a:ext cx="1728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5/60s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7927848" y="1947672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对话限流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27848" y="2240280"/>
            <a:ext cx="1728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用户维度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3246120"/>
            <a:ext cx="4800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7.872687622342685e+102" dist="1.574537524468537e+103" dir="1.2793629613468366e+121">
              <a:srgbClr val="1B3440">
                <a:alpha val="1.3e+12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7552" y="3529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监控已暴露的 AI 指标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87552" y="3986784"/>
            <a:ext cx="39776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ai_model_requests_total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ai_model_errors_total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ai_model_tokens_total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ai_model_response_duration_seconds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87552" y="4956048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 w="635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500634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Prometheus: /api/actuator/prometheus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3246120"/>
            <a:ext cx="4800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9.998313280375211e+106" dist="1.9996626560750422e+107" dir="7.67617776808102e+125">
              <a:srgbClr val="1B3440">
                <a:alpha val="1.3e+129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35295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测试配置状态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263640" y="3986784"/>
            <a:ext cx="4069080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未发现 .github/workflows 自动化 CI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后端：Spring Boot test 依赖 + 14 个测试类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前端：npm run build / lint / type-check</a:t>
            </a:r>
            <a:endParaRPr lang="en-US" sz="1240" dirty="0"/>
          </a:p>
          <a:p>
            <a:pPr algn="l" indent="0" marL="0">
              <a:buNone/>
            </a:pPr>
            <a:r>
              <a:rPr lang="en-US" sz="1240" dirty="0">
                <a:solidFill>
                  <a:srgbClr val="18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本次汇报未运行全量测试，外部依赖包含 MySQL、Redis、AI Key、COS、Selenium 环境</a:t>
            </a:r>
            <a:endParaRPr lang="en-US" sz="1240" dirty="0"/>
          </a:p>
        </p:txBody>
      </p:sp>
      <p:sp>
        <p:nvSpPr>
          <p:cNvPr id="34" name="Text 32"/>
          <p:cNvSpPr/>
          <p:nvPr/>
        </p:nvSpPr>
        <p:spPr>
          <a:xfrm>
            <a:off x="566928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依据：CodeGenTypeEnum.java；router/index.ts；src/test/java；pom.xml；package.json；prometheus.yml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502920"/>
            <a:ext cx="2011680" cy="201168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82880"/>
            <a:ext cx="685800" cy="6858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84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35440" y="457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需要继续收口的工作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72600" y="6510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2026-06-24 北京时间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" y="1115568"/>
            <a:ext cx="5029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1.2697857866076517e+111" dist="2.5395715732153033e+111" dir="4.605706660848612e+130">
              <a:srgbClr val="1B3440">
                <a:alpha val="1.3e+13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1371600"/>
            <a:ext cx="438912" cy="438912"/>
          </a:xfrm>
          <a:prstGeom prst="ellipse">
            <a:avLst/>
          </a:prstGeom>
          <a:solidFill>
            <a:srgbClr val="E28743"/>
          </a:solidFill>
          <a:ln w="12700">
            <a:solidFill>
              <a:srgbClr val="E287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517904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499616" y="129844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主链路与工作流割裂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1499616" y="164592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工作流通过 /workflow 演示接口暴露，尚未完全接入用户-facing 的 /app/chat/gen/code。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6199632" y="1115568"/>
            <a:ext cx="5029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1.6126279489917177e+115" dist="3.2252558979834354e+115" dir="2.763423996509167e+135">
              <a:srgbClr val="1B3440">
                <a:alpha val="1.3e+13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371600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17904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986016" y="1298448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微服务能力未完全对齐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6986016" y="164592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微服务版未覆盖单体中的工作流、AI 监控和完整部署体验；也未发现 API Gateway 模块。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713232" y="2560320"/>
            <a:ext cx="5029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2.0480374952194813e+119" dist="4.0960749904389626e+119" dir="1.6580543979055002e+140">
              <a:srgbClr val="1B3440">
                <a:alpha val="1.3000000000000001e+14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281635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962656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1499616" y="274320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自动化质量门禁缺失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499616" y="309067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仓库未发现 GitHub Actions；测试依赖外部服务，缺少轻量 smoke test 与报告自动生成链路。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6199632" y="2560320"/>
            <a:ext cx="5029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2.6010076189287412e+123" dist="5.2020152378574823e+123" dir="9.948326387433002e+144">
              <a:srgbClr val="1B3440">
                <a:alpha val="1.3000000000000001e+14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2816352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962656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986016" y="274320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运行统计需落地</a:t>
            </a:r>
            <a:endParaRPr lang="en-US" sz="1560" dirty="0"/>
          </a:p>
        </p:txBody>
      </p:sp>
      <p:sp>
        <p:nvSpPr>
          <p:cNvPr id="29" name="Text 27"/>
          <p:cNvSpPr/>
          <p:nvPr/>
        </p:nvSpPr>
        <p:spPr>
          <a:xfrm>
            <a:off x="6986016" y="309067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今日新增应用、对话轮次、部署成功率、Token 消耗等指标已有口径建议，但尚需从 DB/Prometheus 采集。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713232" y="4005072"/>
            <a:ext cx="109270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3.303279676039501e+127" dist="6.606559352079002e+127" dir="5.968995832459801e+149">
              <a:srgbClr val="1B3440">
                <a:alpha val="1.3000000000000001e+15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4400" y="4261104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407408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499616" y="4187952"/>
            <a:ext cx="9939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6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生产化配置仍需整理</a:t>
            </a:r>
            <a:endParaRPr lang="en-US" sz="1560" dirty="0"/>
          </a:p>
        </p:txBody>
      </p:sp>
      <p:sp>
        <p:nvSpPr>
          <p:cNvPr id="34" name="Text 32"/>
          <p:cNvSpPr/>
          <p:nvPr/>
        </p:nvSpPr>
        <p:spPr>
          <a:xfrm>
            <a:off x="1499616" y="4535424"/>
            <a:ext cx="9866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Key、COS、Pexels、Selenium、Nacos 等配置较多，缺少一键本地环境或部署编排。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566928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依据：WorkflowSseController.java；AppServiceImpl.java；microservice 目录；.github/workflows 搜索结果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502920"/>
            <a:ext cx="2011680" cy="201168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82880"/>
            <a:ext cx="685800" cy="6858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84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35440" y="457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当前主要不确定性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72600" y="6510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2026-06-24 北京时间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1353312"/>
            <a:ext cx="486460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F0C28F"/>
            </a:solidFill>
            <a:prstDash val="solid"/>
          </a:ln>
          <a:effectLst>
            <a:outerShdw sx="100000" sy="100000" kx="0" ky="0" algn="bl" rotWithShape="0" blurRad="4.195165188570166e+131" dist="8.390330377140333e+131" dir="3.581397499475881e+154">
              <a:srgbClr val="1B3440">
                <a:alpha val="1.3e+1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55448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E28743"/>
          </a:solidFill>
          <a:ln w="6350">
            <a:solidFill>
              <a:srgbClr val="E287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0477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416" y="1591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依赖门槛高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42416" y="2066544"/>
            <a:ext cx="4279392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Redis / Nacos / AI Key / COS / Selenium 等均需配置，阻碍本地复现与自动化验证。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353312"/>
            <a:ext cx="486460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5.327859789484111e+135" dist="1.0655719578968222e+136" dir="2.1488384996855287e+159">
              <a:srgbClr val="1B3440">
                <a:alpha val="1.3e+164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241280" y="155448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 w="635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14432" y="160477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56248" y="1591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双架构维护成本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56248" y="2066544"/>
            <a:ext cx="4279392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单体与微服务并存，能力迁移节奏不一致时容易出现修复遗漏或行为差异。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9808" y="3694176"/>
            <a:ext cx="486460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6.766381932644821e+139" dist="1.3532763865289643e+140" dir="1.2893030998113172e+164">
              <a:srgbClr val="1B3440">
                <a:alpha val="1.3e+16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38953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 w="635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94563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" y="3931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部署方案扩展性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42416" y="4407408"/>
            <a:ext cx="4279392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当前部署偏本地文件系统静态目录，多实例一致性、隔离和清理策略需进一步设计。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694176"/>
            <a:ext cx="4864608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7F6F8"/>
            </a:solidFill>
            <a:prstDash val="solid"/>
          </a:ln>
          <a:effectLst>
            <a:outerShdw sx="100000" sy="100000" kx="0" ky="0" algn="bl" rotWithShape="0" blurRad="8.593305054458923e+143" dist="1.7186610108917847e+144" dir="7.735818598867904e+168">
              <a:srgbClr val="1B3440">
                <a:alpha val="1.3e+174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41280" y="3895344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1C7293"/>
          </a:solidFill>
          <a:ln w="635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14432" y="394563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56248" y="3931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安全与告警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56248" y="4407408"/>
            <a:ext cx="4279392" cy="5120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流式场景护轨与 Prometheus 告警规则仍需补强，生产运行异常发现链路不完整。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980176" y="1207008"/>
            <a:ext cx="54864" cy="4279392"/>
          </a:xfrm>
          <a:prstGeom prst="rect">
            <a:avLst/>
          </a:prstGeom>
          <a:solidFill>
            <a:srgbClr val="B9DDE5"/>
          </a:solidFill>
          <a:ln w="12700">
            <a:solidFill>
              <a:srgbClr val="B9DDE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3401568"/>
            <a:ext cx="10378440" cy="54864"/>
          </a:xfrm>
          <a:prstGeom prst="rect">
            <a:avLst/>
          </a:prstGeom>
          <a:solidFill>
            <a:srgbClr val="B9DDE5"/>
          </a:solidFill>
          <a:ln w="12700">
            <a:solidFill>
              <a:srgbClr val="B9DDE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依据：application.yml；application-prod-sample.yml；prometheus.yml；AppConstant.java；AiCodeGeneratorServiceFactory.java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0"/>
            <a:ext cx="7315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-502920"/>
            <a:ext cx="2011680" cy="2011680"/>
          </a:xfrm>
          <a:prstGeom prst="ellipse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182880"/>
            <a:ext cx="685800" cy="685800"/>
          </a:xfrm>
          <a:prstGeom prst="ellipse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840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235440" y="457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面向维护者的短链路行动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| 每日项目状态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72600" y="65105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2026-06-24 北京时间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123444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399032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72768" y="1069848"/>
            <a:ext cx="9601200" cy="758952"/>
          </a:xfrm>
          <a:prstGeom prst="roundRect">
            <a:avLst>
              <a:gd name="adj" fmla="val 9639"/>
            </a:avLst>
          </a:prstGeom>
          <a:solidFill>
            <a:srgbClr val="E7F6F8"/>
          </a:solidFill>
          <a:ln w="6350">
            <a:solidFill>
              <a:srgbClr val="B9DDE5">
                <a:alpha val="95000"/>
              </a:srgbClr>
            </a:solidFill>
            <a:prstDash val="solid"/>
          </a:ln>
          <a:effectLst>
            <a:outerShdw sx="100000" sy="100000" kx="0" ky="0" algn="bl" rotWithShape="0" blurRad="1.0913497419162833e+148" dist="2.1826994838325667e+148" dir="4.6414911593207425e+173">
              <a:srgbClr val="1B3440">
                <a:alpha val="1.2999999999999998e+17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12161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补齐自动化健康检查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4800600" y="1216152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新增最小 CI：后端编译/单测可跳过外部集成，前端 type-check + build，避免无反馈合入。</a:t>
            </a:r>
            <a:endParaRPr lang="en-US" sz="1190" dirty="0"/>
          </a:p>
        </p:txBody>
      </p:sp>
      <p:sp>
        <p:nvSpPr>
          <p:cNvPr id="15" name="Shape 13"/>
          <p:cNvSpPr/>
          <p:nvPr/>
        </p:nvSpPr>
        <p:spPr>
          <a:xfrm>
            <a:off x="868680" y="222199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386584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72768" y="2057400"/>
            <a:ext cx="96012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6350">
            <a:solidFill>
              <a:srgbClr val="B9DDE5">
                <a:alpha val="95000"/>
              </a:srgbClr>
            </a:solidFill>
            <a:prstDash val="solid"/>
          </a:ln>
          <a:effectLst>
            <a:outerShdw sx="100000" sy="100000" kx="0" ky="0" algn="bl" rotWithShape="0" blurRad="1.38601417223368e+152" dist="2.77202834446736e+152" dir="2.7848946955924455e+178">
              <a:srgbClr val="1B3440">
                <a:alpha val="1.2999999999999998e+18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28800" y="220370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打通主链路与工作流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4800600" y="2203704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 LangGraph4j 工作流是否作为正式生成链路，若是则接入 /app/chat/gen/code 并统一日志/指标。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868680" y="320954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37413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72768" y="3044952"/>
            <a:ext cx="96012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6350">
            <a:solidFill>
              <a:srgbClr val="B9DDE5">
                <a:alpha val="95000"/>
              </a:srgbClr>
            </a:solidFill>
            <a:prstDash val="solid"/>
          </a:ln>
          <a:effectLst>
            <a:outerShdw sx="100000" sy="100000" kx="0" ky="0" algn="bl" rotWithShape="0" blurRad="1.7602379987367734e+156" dist="3.520475997473547e+156" dir="1.6709368173554673e+183">
              <a:srgbClr val="1B3440">
                <a:alpha val="1.2999999999999997e+18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28800" y="319125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落地日报指标采集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4800600" y="3191256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app、chat_history 与 Prometheus 抽取新增应用、对话轮次、成功率、Token 与 P95 生成时延。</a:t>
            </a:r>
            <a:endParaRPr lang="en-US" sz="1190" dirty="0"/>
          </a:p>
        </p:txBody>
      </p:sp>
      <p:sp>
        <p:nvSpPr>
          <p:cNvPr id="25" name="Shape 23"/>
          <p:cNvSpPr/>
          <p:nvPr/>
        </p:nvSpPr>
        <p:spPr>
          <a:xfrm>
            <a:off x="868680" y="419709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361688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572768" y="4032504"/>
            <a:ext cx="96012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6350">
            <a:solidFill>
              <a:srgbClr val="B9DDE5">
                <a:alpha val="95000"/>
              </a:srgbClr>
            </a:solidFill>
            <a:prstDash val="solid"/>
          </a:ln>
          <a:effectLst>
            <a:outerShdw sx="100000" sy="100000" kx="0" ky="0" algn="bl" rotWithShape="0" blurRad="2.235502258395702e+160" dist="4.471004516791404e+160" dir="1.0025620904132804e+188">
              <a:srgbClr val="1B3440">
                <a:alpha val="1.2999999999999996e+19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828800" y="417880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收敛微服务交付边界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4800600" y="417880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明确网关、配置中心、截图、AI 生成与部署职责，补齐单体迁移清单和兼容验证。</a:t>
            </a:r>
            <a:endParaRPr lang="en-US" sz="1190" dirty="0"/>
          </a:p>
        </p:txBody>
      </p:sp>
      <p:sp>
        <p:nvSpPr>
          <p:cNvPr id="30" name="Shape 28"/>
          <p:cNvSpPr/>
          <p:nvPr/>
        </p:nvSpPr>
        <p:spPr>
          <a:xfrm>
            <a:off x="868680" y="518464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349240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572768" y="5020056"/>
            <a:ext cx="96012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6350">
            <a:solidFill>
              <a:srgbClr val="B9DDE5">
                <a:alpha val="95000"/>
              </a:srgbClr>
            </a:solidFill>
            <a:prstDash val="solid"/>
          </a:ln>
          <a:effectLst>
            <a:outerShdw sx="100000" sy="100000" kx="0" ky="0" algn="bl" rotWithShape="0" blurRad="2.8390878681625417e+164" dist="5.678175736325083e+164" dir="6.015372542479682e+192">
              <a:srgbClr val="1B3440">
                <a:alpha val="1.2999999999999996e+199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828800" y="51663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提升部署与安全基线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4800600" y="5166360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9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增加产物隔离、清理、访问控制、护轨启用策略与 Prometheus 告警规则。</a:t>
            </a:r>
            <a:endParaRPr lang="en-US" sz="1190" dirty="0"/>
          </a:p>
        </p:txBody>
      </p:sp>
      <p:sp>
        <p:nvSpPr>
          <p:cNvPr id="35" name="Shape 33"/>
          <p:cNvSpPr/>
          <p:nvPr/>
        </p:nvSpPr>
        <p:spPr>
          <a:xfrm>
            <a:off x="1572768" y="6071616"/>
            <a:ext cx="9601200" cy="310896"/>
          </a:xfrm>
          <a:prstGeom prst="roundRect">
            <a:avLst>
              <a:gd name="adj" fmla="val 23529"/>
            </a:avLst>
          </a:prstGeom>
          <a:solidFill>
            <a:srgbClr val="065A82"/>
          </a:solidFill>
          <a:ln w="635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83080" y="6181344"/>
            <a:ext cx="9189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优先级建议：先保证自动化反馈与指标口径，再推进工作流正式化和微服务能力迁移。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依据：基于当前代码结构、配置与风险项归纳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560320" cy="256032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4206240"/>
            <a:ext cx="2834640" cy="2834640"/>
          </a:xfrm>
          <a:prstGeom prst="ellipse">
            <a:avLst/>
          </a:prstGeom>
          <a:solidFill>
            <a:srgbClr val="065A82">
              <a:alpha val="8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4882896"/>
            <a:ext cx="868680" cy="8686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7498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04672" y="157276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项目主链路已经可讲清、可演示；下一阶段重点是“把能力做稳、把链路打通、把状态量化”。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32688" y="2487168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615184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已具备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23160" y="2606040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生成、可视化编辑、部署下载、后台运营、Prometheus 指标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2688" y="32004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28416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近期主题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23160" y="3319272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微服务改造完成；运行日近 7 天未发现新提交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3913632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041648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重点关注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23160" y="4032504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工作流接入、CI 缺失、外部依赖门槛、生产化部署与安全告警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32688" y="4626864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754880"/>
            <a:ext cx="1051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建议动作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423160" y="4745736"/>
            <a:ext cx="5943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1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优先补齐自动化质量门禁和指标采集，再推进微服务能力对齐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98280" y="1024128"/>
            <a:ext cx="214884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3.605641592566428e+168" dist="7.211283185132856e+168" dir="3.6092235254878095e+197">
              <a:srgbClr val="1B3440">
                <a:alpha val="1.2999999999999998e+20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0" y="13167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日报文件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08592" y="175564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docs/reports/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F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project-status-2026-06-24.pptx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829800" y="5961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2026-06-24</dc:title>
  <dc:subject>每日项目状态汇报</dc:subject>
  <dc:creator>Cursor Automation</dc:creator>
  <cp:lastModifiedBy>Cursor Automation</cp:lastModifiedBy>
  <cp:revision>1</cp:revision>
  <dcterms:created xsi:type="dcterms:W3CDTF">2026-06-24T09:08:54Z</dcterms:created>
  <dcterms:modified xsi:type="dcterms:W3CDTF">2026-06-24T09:08:54Z</dcterms:modified>
</cp:coreProperties>
</file>