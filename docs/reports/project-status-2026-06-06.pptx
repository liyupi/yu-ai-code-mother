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40880" y="0"/>
            <a:ext cx="5212080" cy="6858000"/>
          </a:xfrm>
          <a:prstGeom prst="rect">
            <a:avLst/>
          </a:prstGeom>
          <a:solidFill>
            <a:srgbClr val="07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3108960" cy="3108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-822960"/>
            <a:ext cx="2743200" cy="2743200"/>
          </a:xfrm>
          <a:prstGeom prst="ellipse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0" y="4846320"/>
            <a:ext cx="2468880" cy="24688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960120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0">
                <a:solidFill>
                  <a:srgbClr val="B2EBF2"/>
                </a:solidFill>
                <a:latin typeface="Georgia"/>
              </a:rPr>
              <a:t>AI 零代码应用生成平台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713232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7498079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DAF5F6"/>
                </a:solidFill>
                <a:latin typeface="Calibri"/>
              </a:rPr>
              <a:t>面向项目维护者 / 团队的研发态势、风险与下一步建议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096512"/>
            <a:ext cx="166420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6E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4224528"/>
            <a:ext cx="804672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464515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6FAFA"/>
                </a:solidFill>
                <a:latin typeface="Calibri"/>
              </a:rPr>
              <a:t>核心能力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096512"/>
            <a:ext cx="166420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6E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4224528"/>
            <a:ext cx="804672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Calibri"/>
              </a:rPr>
              <a:t>287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464515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6FAFA"/>
                </a:solidFill>
                <a:latin typeface="Calibri"/>
              </a:rPr>
              <a:t>Java 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096512"/>
            <a:ext cx="166420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6E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4224528"/>
            <a:ext cx="804672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464515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6FAFA"/>
                </a:solidFill>
                <a:latin typeface="Calibri"/>
              </a:rPr>
              <a:t>前端源码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4096512"/>
            <a:ext cx="166420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6E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4224528"/>
            <a:ext cx="804672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464515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D6FAFA"/>
                </a:solidFill>
                <a:latin typeface="Calibri"/>
              </a:rPr>
              <a:t>测试文件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97296"/>
            <a:ext cx="38404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F4F5"/>
                </a:solidFill>
                <a:latin typeface="Calibri"/>
              </a:rPr>
              <a:t>运行日（北京时间）：2026-06-06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97296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DDF4F5"/>
                </a:solidFill>
                <a:latin typeface="Calibri"/>
              </a:rPr>
              <a:t>配色：Ocean Gradient / Teal Trust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281160" y="-868680"/>
            <a:ext cx="3474720" cy="2011680"/>
          </a:xfrm>
          <a:prstGeom prst="arc">
            <a:avLst/>
          </a:prstGeom>
          <a:noFill/>
          <a:ln w="2032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310896" cy="310896"/>
          </a:xfrm>
          <a:prstGeom prst="ellipse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7040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53042"/>
                </a:solidFill>
                <a:latin typeface="Georgia"/>
              </a:rPr>
              <a:t>项目概览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96112"/>
            <a:ext cx="8503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基于 README、主要模块与当前分支代码结构整理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1874519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512064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每日项目状态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46520"/>
            <a:ext cx="10881360" cy="9144"/>
          </a:xfrm>
          <a:prstGeom prst="rect">
            <a:avLst/>
          </a:prstGeom>
          <a:solidFill>
            <a:srgbClr val="C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yu-ai-code-mother | 2026-06-06 |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1463040"/>
            <a:ext cx="3291840" cy="43891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1417320"/>
            <a:ext cx="329184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1417320"/>
            <a:ext cx="109728" cy="4389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581912"/>
            <a:ext cx="28803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定位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1874519"/>
            <a:ext cx="530352" cy="53035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1993391"/>
            <a:ext cx="402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560320"/>
            <a:ext cx="2670048" cy="24231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企业级 AI 代码生成 / 应用生成平台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以 Spring Boot 3、LangChain4j、Vue 3 为主栈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覆盖从需求描述、生成、预览、部署到管理的完整链路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教学项目属性明显，包含单体与微服务演进代码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1463040"/>
            <a:ext cx="3291840" cy="43891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1417320"/>
            <a:ext cx="329184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1417320"/>
            <a:ext cx="109728" cy="43891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1581912"/>
            <a:ext cx="28803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当前形态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1874519"/>
            <a:ext cx="530352" cy="53035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1993391"/>
            <a:ext cx="402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560320"/>
            <a:ext cx="2670048" cy="24231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根目录保留单体 Spring Boot 后端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microservice 目录拆分 common/model/client/user/app/ai/screenshot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frontend 目录为 Vue 3 + TypeScript + Ant Design Vue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Prometheus 配置与 Actuator 指标端点已出现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7" y="1463040"/>
            <a:ext cx="3291840" cy="43891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28431" y="1417320"/>
            <a:ext cx="329184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28431" y="1417320"/>
            <a:ext cx="109728" cy="4389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3" y="1581912"/>
            <a:ext cx="28803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状态判断</a:t>
            </a:r>
          </a:p>
        </p:txBody>
      </p:sp>
      <p:sp>
        <p:nvSpPr>
          <p:cNvPr id="30" name="Oval 29"/>
          <p:cNvSpPr/>
          <p:nvPr/>
        </p:nvSpPr>
        <p:spPr>
          <a:xfrm>
            <a:off x="8302752" y="187451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993391"/>
            <a:ext cx="402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2560320"/>
            <a:ext cx="2670048" cy="24231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近 7 天未发现新增提交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最近提交集中在微服务改造完成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单体和微服务双轨共存，需明确主维护路径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生产指标数据需接入后才能形成趋势分析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281160" y="-868680"/>
            <a:ext cx="3474720" cy="2011680"/>
          </a:xfrm>
          <a:prstGeom prst="arc">
            <a:avLst/>
          </a:prstGeom>
          <a:noFill/>
          <a:ln w="2032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310896" cy="310896"/>
          </a:xfrm>
          <a:prstGeom prst="ellipse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7040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53042"/>
                </a:solidFill>
                <a:latin typeface="Georgia"/>
              </a:rPr>
              <a:t>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96112"/>
            <a:ext cx="8503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从产品说明与控制器 / 服务接口提炼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1874519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512064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每日项目状态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46520"/>
            <a:ext cx="10881360" cy="9144"/>
          </a:xfrm>
          <a:prstGeom prst="rect">
            <a:avLst/>
          </a:prstGeom>
          <a:solidFill>
            <a:srgbClr val="C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yu-ai-code-mother | 2026-06-06 |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463040"/>
            <a:ext cx="5166360" cy="166420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1417320"/>
            <a:ext cx="5166360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1417320"/>
            <a:ext cx="109728" cy="166420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1581912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智能代码生成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1892808"/>
            <a:ext cx="530352" cy="53035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2011680"/>
            <a:ext cx="402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1856232"/>
            <a:ext cx="3749039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1E293B"/>
                </a:solidFill>
                <a:latin typeface="Calibri"/>
              </a:rPr>
              <a:t>基于用户提示词，通过 AI 路由选择 HTML、多文件或 Vue 项目生成策略，并支持 SSE 流式输出。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463040"/>
            <a:ext cx="5166360" cy="166420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417320"/>
            <a:ext cx="5166360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1417320"/>
            <a:ext cx="109728" cy="166420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581912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可视化编辑</a:t>
            </a:r>
          </a:p>
        </p:txBody>
      </p:sp>
      <p:sp>
        <p:nvSpPr>
          <p:cNvPr id="23" name="Oval 22"/>
          <p:cNvSpPr/>
          <p:nvPr/>
        </p:nvSpPr>
        <p:spPr>
          <a:xfrm>
            <a:off x="6601968" y="1892808"/>
            <a:ext cx="530352" cy="53035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5976" y="2011680"/>
            <a:ext cx="402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1856232"/>
            <a:ext cx="3749039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1E293B"/>
                </a:solidFill>
                <a:latin typeface="Calibri"/>
              </a:rPr>
              <a:t>前端包含 visualEditor 工具，目标是让用户选择页面元素并通过对话迭代修改。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703320"/>
            <a:ext cx="5166360" cy="166420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" y="3657600"/>
            <a:ext cx="5166360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3657600"/>
            <a:ext cx="109728" cy="166420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3822191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部署与分享</a:t>
            </a:r>
          </a:p>
        </p:txBody>
      </p:sp>
      <p:sp>
        <p:nvSpPr>
          <p:cNvPr id="30" name="Oval 29"/>
          <p:cNvSpPr/>
          <p:nvPr/>
        </p:nvSpPr>
        <p:spPr>
          <a:xfrm>
            <a:off x="1005840" y="4133087"/>
            <a:ext cx="530352" cy="53035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" y="4251959"/>
            <a:ext cx="402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3352" y="4096512"/>
            <a:ext cx="3749039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1E293B"/>
                </a:solidFill>
                <a:latin typeface="Calibri"/>
              </a:rPr>
              <a:t>应用部署接口、静态资源访问、截图封面与源码 ZIP 下载形成交付闭环。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45936" y="3703320"/>
            <a:ext cx="5166360" cy="166420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0" y="3657600"/>
            <a:ext cx="5166360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09360" y="3657600"/>
            <a:ext cx="109728" cy="16642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3822191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企业级管理</a:t>
            </a:r>
          </a:p>
        </p:txBody>
      </p:sp>
      <p:sp>
        <p:nvSpPr>
          <p:cNvPr id="37" name="Oval 36"/>
          <p:cNvSpPr/>
          <p:nvPr/>
        </p:nvSpPr>
        <p:spPr>
          <a:xfrm>
            <a:off x="6601968" y="413308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5976" y="4251959"/>
            <a:ext cx="402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096512"/>
            <a:ext cx="3749039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1E293B"/>
                </a:solidFill>
                <a:latin typeface="Calibri"/>
              </a:rPr>
              <a:t>应用管理、用户管理、精选应用、权限控制、限流与后台监控能力已在代码中体现。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281160" y="-868680"/>
            <a:ext cx="3474720" cy="2011680"/>
          </a:xfrm>
          <a:prstGeom prst="arc">
            <a:avLst/>
          </a:prstGeom>
          <a:noFill/>
          <a:ln w="2032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310896" cy="310896"/>
          </a:xfrm>
          <a:prstGeom prst="ellipse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7040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53042"/>
                </a:solidFill>
                <a:latin typeface="Georgia"/>
              </a:rPr>
              <a:t>主要模块与架构视图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96112"/>
            <a:ext cx="8503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单体、微服务与前端三层资产共存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1874519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512064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每日项目状态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46520"/>
            <a:ext cx="10881360" cy="9144"/>
          </a:xfrm>
          <a:prstGeom prst="rect">
            <a:avLst/>
          </a:prstGeom>
          <a:solidFill>
            <a:srgbClr val="C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yu-ai-code-mother | 2026-06-06 |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1417320"/>
            <a:ext cx="10149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1417320"/>
            <a:ext cx="201168" cy="960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1591056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53042"/>
                </a:solidFill>
                <a:latin typeface="Calibri"/>
              </a:rPr>
              <a:t>Vue 3 前端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581912"/>
            <a:ext cx="71323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475569"/>
                </a:solidFill>
                <a:latin typeface="Calibri"/>
              </a:rPr>
              <a:t>主页 / 应用对话 / 应用编辑 / 管理后台
API SDK、路由、Pinia 状态、Ant Design Vue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623560" y="2350008"/>
            <a:ext cx="502920" cy="411480"/>
          </a:xfrm>
          <a:prstGeom prst="downArrow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2834640"/>
            <a:ext cx="10149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7552" y="2834640"/>
            <a:ext cx="201168" cy="9601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6464" y="3008376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53042"/>
                </a:solidFill>
                <a:latin typeface="Calibri"/>
              </a:rPr>
              <a:t>Spring Boot 单体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999232"/>
            <a:ext cx="71323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475569"/>
                </a:solidFill>
                <a:latin typeface="Calibri"/>
              </a:rPr>
              <a:t>App/User/ChatHistory/StaticResource/Workflow 控制器
AI 生成、截图、部署、下载、缓存、限流、监控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623560" y="3767328"/>
            <a:ext cx="502920" cy="411480"/>
          </a:xfrm>
          <a:prstGeom prst="downArrow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552" y="4251960"/>
            <a:ext cx="10149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251960"/>
            <a:ext cx="201168" cy="9601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6464" y="4425696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53042"/>
                </a:solidFill>
                <a:latin typeface="Calibri"/>
              </a:rPr>
              <a:t>微服务拆分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416552"/>
            <a:ext cx="713232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475569"/>
                </a:solidFill>
                <a:latin typeface="Calibri"/>
              </a:rPr>
              <a:t>common/model/client/user/app/ai/screenshot
Dubbo + Nacos 跨服务调用方向已落地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5577840"/>
            <a:ext cx="1014984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7552" y="5532120"/>
            <a:ext cx="10149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5532120"/>
            <a:ext cx="109728" cy="65836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742432"/>
            <a:ext cx="9144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53042"/>
                </a:solidFill>
                <a:latin typeface="Calibri"/>
              </a:rPr>
              <a:t>建议维护关注点：明确单体与微服务的主线关系，减少重复实现导致的修复遗漏。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281160" y="-868680"/>
            <a:ext cx="3474720" cy="2011680"/>
          </a:xfrm>
          <a:prstGeom prst="arc">
            <a:avLst/>
          </a:prstGeom>
          <a:noFill/>
          <a:ln w="2032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310896" cy="310896"/>
          </a:xfrm>
          <a:prstGeom prst="ellipse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7040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53042"/>
                </a:solidFill>
                <a:latin typeface="Georgia"/>
              </a:rPr>
              <a:t>昨日 / 近期变更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96112"/>
            <a:ext cx="8503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最近 7 天无提交，以下为当前分支最近提交脉络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1874519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512064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每日项目状态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46520"/>
            <a:ext cx="10881360" cy="9144"/>
          </a:xfrm>
          <a:prstGeom prst="rect">
            <a:avLst/>
          </a:prstGeom>
          <a:solidFill>
            <a:srgbClr val="C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yu-ai-code-mother | 2026-06-06 | 05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1408176"/>
            <a:ext cx="256032" cy="256032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2" y="1682495"/>
            <a:ext cx="27432" cy="502920"/>
          </a:xfrm>
          <a:prstGeom prst="rect">
            <a:avLst/>
          </a:prstGeom>
          <a:solidFill>
            <a:srgbClr val="B4C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325880"/>
            <a:ext cx="14173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53042"/>
                </a:solidFill>
                <a:latin typeface="Calibri"/>
              </a:rPr>
              <a:t>近 7 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325880"/>
            <a:ext cx="7955279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1E293B"/>
                </a:solidFill>
                <a:latin typeface="Calibri"/>
              </a:rPr>
              <a:t>未发现新增提交记录，报告不虚构“昨日变更”。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2276856"/>
            <a:ext cx="256032" cy="25603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8992" y="2551176"/>
            <a:ext cx="27432" cy="502920"/>
          </a:xfrm>
          <a:prstGeom prst="rect">
            <a:avLst/>
          </a:prstGeom>
          <a:solidFill>
            <a:srgbClr val="B4C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2194560"/>
            <a:ext cx="14173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53042"/>
                </a:solidFill>
                <a:latin typeface="Calibri"/>
              </a:rPr>
              <a:t>教程第 14 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194560"/>
            <a:ext cx="7955279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1E293B"/>
                </a:solidFill>
                <a:latin typeface="Calibri"/>
              </a:rPr>
              <a:t>微服务改造完成；此前中间提交覆盖 common/model/client/user/app/ai/screenshot。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3145535"/>
            <a:ext cx="256032" cy="25603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8992" y="3419856"/>
            <a:ext cx="27432" cy="502920"/>
          </a:xfrm>
          <a:prstGeom prst="rect">
            <a:avLst/>
          </a:prstGeom>
          <a:solidFill>
            <a:srgbClr val="B4C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063239"/>
            <a:ext cx="14173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53042"/>
                </a:solidFill>
                <a:latin typeface="Calibri"/>
              </a:rPr>
              <a:t>跨服务调用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063239"/>
            <a:ext cx="7955279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1E293B"/>
                </a:solidFill>
                <a:latin typeface="Calibri"/>
              </a:rPr>
              <a:t>提交记录显示 Dubbo + Nacos 跨服务调用已进入改造范围。</a:t>
            </a:r>
          </a:p>
        </p:txBody>
      </p:sp>
      <p:sp>
        <p:nvSpPr>
          <p:cNvPr id="24" name="Oval 23"/>
          <p:cNvSpPr/>
          <p:nvPr/>
        </p:nvSpPr>
        <p:spPr>
          <a:xfrm>
            <a:off x="960120" y="4014215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78992" y="4288536"/>
            <a:ext cx="27432" cy="502920"/>
          </a:xfrm>
          <a:prstGeom prst="rect">
            <a:avLst/>
          </a:prstGeom>
          <a:solidFill>
            <a:srgbClr val="B4C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3931920"/>
            <a:ext cx="14173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53042"/>
                </a:solidFill>
                <a:latin typeface="Calibri"/>
              </a:rPr>
              <a:t>教程第 13 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931920"/>
            <a:ext cx="7955279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1E293B"/>
                </a:solidFill>
                <a:latin typeface="Calibri"/>
              </a:rPr>
              <a:t>可观测性：Prometheus 配置、Actuator 暴露 health/info/prometheus。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" y="4882896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78992" y="5157216"/>
            <a:ext cx="27432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4800600"/>
            <a:ext cx="14173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53042"/>
                </a:solidFill>
                <a:latin typeface="Calibri"/>
              </a:rPr>
              <a:t>教程第 12 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800600"/>
            <a:ext cx="7955279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1E293B"/>
                </a:solidFill>
                <a:latin typeface="Calibri"/>
              </a:rPr>
              <a:t>部署上线：应用部署、截图封面与静态资源访问链路增强。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" y="5861304"/>
            <a:ext cx="10241280" cy="502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0120" y="5815584"/>
            <a:ext cx="1024128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5815584"/>
            <a:ext cx="109728" cy="5029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980176"/>
            <a:ext cx="9509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53042"/>
                </a:solidFill>
                <a:latin typeface="Calibri"/>
              </a:rPr>
              <a:t>解读：近期重点不是新增功能堆叠，而是架构从单体向可拆分服务形态演进。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281160" y="-868680"/>
            <a:ext cx="3474720" cy="2011680"/>
          </a:xfrm>
          <a:prstGeom prst="arc">
            <a:avLst/>
          </a:prstGeom>
          <a:noFill/>
          <a:ln w="2032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310896" cy="310896"/>
          </a:xfrm>
          <a:prstGeom prst="ellipse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7040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53042"/>
                </a:solidFill>
                <a:latin typeface="Georgia"/>
              </a:rPr>
              <a:t>数据 / 指标要点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96112"/>
            <a:ext cx="8503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仓库静态指标 + 已配置的运行指标入口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1874519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512064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每日项目状态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46520"/>
            <a:ext cx="10881360" cy="9144"/>
          </a:xfrm>
          <a:prstGeom prst="rect">
            <a:avLst/>
          </a:prstGeom>
          <a:solidFill>
            <a:srgbClr val="C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yu-ai-code-mother | 2026-06-06 | 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1463040"/>
            <a:ext cx="2240280" cy="129844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1417320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1417320"/>
            <a:ext cx="109728" cy="12984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700784"/>
            <a:ext cx="10972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09688"/>
                </a:solidFill>
                <a:latin typeface="Georgia"/>
              </a:rPr>
              <a:t>287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39696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Java 源文件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94176" y="1463040"/>
            <a:ext cx="2240280" cy="129844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0" y="1417320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1417320"/>
            <a:ext cx="109728" cy="129844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2" y="1700784"/>
            <a:ext cx="10972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E7490"/>
                </a:solidFill>
                <a:latin typeface="Georgia"/>
              </a:rP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2139696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前端 Vue/TS 源文件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1463040"/>
            <a:ext cx="2240280" cy="129844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3952" y="1417320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73952" y="1417320"/>
            <a:ext cx="109728" cy="129844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4" y="1700784"/>
            <a:ext cx="10972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6366F1"/>
                </a:solidFill>
                <a:latin typeface="Georgia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4" y="2139696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后端测试文件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1463040"/>
            <a:ext cx="2240280" cy="129844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0304" y="1417320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90304" y="1417320"/>
            <a:ext cx="109728" cy="12984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6336" y="1700784"/>
            <a:ext cx="10972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59E0B"/>
                </a:solidFill>
                <a:latin typeface="Georgia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6336" y="2139696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微服务模块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" y="3108960"/>
            <a:ext cx="5166360" cy="230428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" y="3063240"/>
            <a:ext cx="5166360" cy="2304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3063240"/>
            <a:ext cx="109728" cy="230428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3227832"/>
            <a:ext cx="4754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代码资产分布（根单体包）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3611880"/>
            <a:ext cx="132588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langgraph4j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50592" y="3639312"/>
            <a:ext cx="2697480" cy="11887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450592" y="3639312"/>
            <a:ext cx="2495169" cy="11887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3611880"/>
            <a:ext cx="320040" cy="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37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3922776"/>
            <a:ext cx="132588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ai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50592" y="3950208"/>
            <a:ext cx="2697480" cy="11887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50592" y="3950208"/>
            <a:ext cx="1416177" cy="11887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57800" y="3922776"/>
            <a:ext cx="320040" cy="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4233672"/>
            <a:ext cx="132588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model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50592" y="4261104"/>
            <a:ext cx="2697480" cy="11887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450592" y="4261104"/>
            <a:ext cx="1348740" cy="11887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57800" y="4233672"/>
            <a:ext cx="320040" cy="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4544568"/>
            <a:ext cx="132588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core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50592" y="4572000"/>
            <a:ext cx="2697480" cy="11887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450592" y="4572000"/>
            <a:ext cx="1011555" cy="1188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800" y="4544568"/>
            <a:ext cx="320040" cy="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4855464"/>
            <a:ext cx="132588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service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450592" y="4882896"/>
            <a:ext cx="2697480" cy="11887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450592" y="4882896"/>
            <a:ext cx="674370" cy="1188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57800" y="4855464"/>
            <a:ext cx="320040" cy="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37376" y="3108960"/>
            <a:ext cx="4800600" cy="230428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00800" y="3063240"/>
            <a:ext cx="4800600" cy="2304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400800" y="3063240"/>
            <a:ext cx="109728" cy="230428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56832" y="322783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运行指标入口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93408" y="3566160"/>
            <a:ext cx="4041648" cy="1325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5"/>
              </a:spcAft>
              <a:defRPr sz="1320">
                <a:solidFill>
                  <a:srgbClr val="1E293B"/>
                </a:solidFill>
                <a:latin typeface="Calibri"/>
              </a:defRPr>
            </a:pPr>
            <a:r>
              <a:t>Prometheus 抓取路径：/api/actuator/prometheus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320">
                <a:solidFill>
                  <a:srgbClr val="1E293B"/>
                </a:solidFill>
                <a:latin typeface="Calibri"/>
              </a:defRPr>
            </a:pPr>
            <a:r>
              <a:t>应用端口：8123，默认 context-path：/api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320">
                <a:solidFill>
                  <a:srgbClr val="1E293B"/>
                </a:solidFill>
                <a:latin typeface="Calibri"/>
              </a:defRPr>
            </a:pPr>
            <a:r>
              <a:t>健康检查、info、prometheus 已在 Actuator 暴露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320">
                <a:solidFill>
                  <a:srgbClr val="1E293B"/>
                </a:solidFill>
                <a:latin typeface="Calibri"/>
              </a:defRPr>
            </a:pPr>
            <a:r>
              <a:t>仓库未包含生产调用量 / 成功率 / 成本数据，需后续接入真实面板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281160" y="-868680"/>
            <a:ext cx="3474720" cy="2011680"/>
          </a:xfrm>
          <a:prstGeom prst="arc">
            <a:avLst/>
          </a:prstGeom>
          <a:noFill/>
          <a:ln w="2032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310896" cy="310896"/>
          </a:xfrm>
          <a:prstGeom prst="ellipse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7040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53042"/>
                </a:solidFill>
                <a:latin typeface="Georgia"/>
              </a:rPr>
              <a:t>质量与测试状态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96112"/>
            <a:ext cx="8503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已有测试与构建脚本，但 CI 配置未在仓库中发现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1874519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512064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每日项目状态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46520"/>
            <a:ext cx="10881360" cy="9144"/>
          </a:xfrm>
          <a:prstGeom prst="rect">
            <a:avLst/>
          </a:prstGeom>
          <a:solidFill>
            <a:srgbClr val="C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yu-ai-code-mother | 2026-06-06 | 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" y="1463040"/>
            <a:ext cx="5074920" cy="42519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1417320"/>
            <a:ext cx="50749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1417320"/>
            <a:ext cx="109728" cy="4251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1581912"/>
            <a:ext cx="4663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已有基础</a:t>
            </a:r>
          </a:p>
        </p:txBody>
      </p:sp>
      <p:sp>
        <p:nvSpPr>
          <p:cNvPr id="16" name="Oval 15"/>
          <p:cNvSpPr/>
          <p:nvPr/>
        </p:nvSpPr>
        <p:spPr>
          <a:xfrm>
            <a:off x="1078992" y="1874519"/>
            <a:ext cx="530352" cy="5303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1993391"/>
            <a:ext cx="402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578608"/>
            <a:ext cx="4160520" cy="21488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后端根项目存在 Spring Boot Test 依赖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已发现 14 个 Java 测试文件，覆盖解析、AI 生成、工作流、图片工具、截图等方向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前端 package.json 提供 build、type-check、lint、preview 等脚本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Prometheus / Actuator 配置支持后续运行质量观测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463040"/>
            <a:ext cx="5074920" cy="42519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417320"/>
            <a:ext cx="50749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1417320"/>
            <a:ext cx="109728" cy="4251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581912"/>
            <a:ext cx="4663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缺口 / 状态</a:t>
            </a:r>
          </a:p>
        </p:txBody>
      </p:sp>
      <p:sp>
        <p:nvSpPr>
          <p:cNvPr id="23" name="Oval 22"/>
          <p:cNvSpPr/>
          <p:nvPr/>
        </p:nvSpPr>
        <p:spPr>
          <a:xfrm>
            <a:off x="6611112" y="187451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993391"/>
            <a:ext cx="4023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2578608"/>
            <a:ext cx="4160520" cy="21488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未发现 .github/workflows 工作流配置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微服务目录未发现对应测试文件，拆分后回归验证需补齐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部分测试可能依赖 AI Key、外部图片 / 截图服务或本地环境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建议把可离线单元测试与需外部依赖的集成测试分层执行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281160" y="-868680"/>
            <a:ext cx="3474720" cy="2011680"/>
          </a:xfrm>
          <a:prstGeom prst="arc">
            <a:avLst/>
          </a:prstGeom>
          <a:noFill/>
          <a:ln w="2032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310896" cy="310896"/>
          </a:xfrm>
          <a:prstGeom prst="ellipse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7040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53042"/>
                </a:solidFill>
                <a:latin typeface="Georgia"/>
              </a:rPr>
              <a:t>风险与阻塞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96112"/>
            <a:ext cx="8503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当前仓库视角下的交付风险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1874519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512064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每日项目状态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46520"/>
            <a:ext cx="10881360" cy="9144"/>
          </a:xfrm>
          <a:prstGeom prst="rect">
            <a:avLst/>
          </a:prstGeom>
          <a:solidFill>
            <a:srgbClr val="C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yu-ai-code-mother | 2026-06-06 | 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" y="1371600"/>
            <a:ext cx="4983480" cy="10241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1325880"/>
            <a:ext cx="49834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1325880"/>
            <a:ext cx="109728" cy="10241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1490472"/>
            <a:ext cx="45720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双轨代码维护风险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801368"/>
            <a:ext cx="43616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1E293B"/>
                </a:solidFill>
                <a:latin typeface="Calibri"/>
              </a:rPr>
              <a:t>单体与微服务同时存在，业务修复可能只落在一侧。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371600"/>
            <a:ext cx="4983480" cy="10241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1325880"/>
            <a:ext cx="49834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1325880"/>
            <a:ext cx="109728" cy="10241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490472"/>
            <a:ext cx="45720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外部依赖配置风险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1801368"/>
            <a:ext cx="43616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1E293B"/>
                </a:solidFill>
                <a:latin typeface="Calibri"/>
              </a:rPr>
              <a:t>AI Key、COS、Pexels、DashScope、MySQL、Redis、Nacos 等需要环境治理。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" y="2834639"/>
            <a:ext cx="4983480" cy="10241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2788920"/>
            <a:ext cx="49834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2788920"/>
            <a:ext cx="109728" cy="102412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" y="2953512"/>
            <a:ext cx="45720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测试可重复性风险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3264408"/>
            <a:ext cx="43616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1E293B"/>
                </a:solidFill>
                <a:latin typeface="Calibri"/>
              </a:rPr>
              <a:t>AI、截图、网络图片等测试若未隔离，容易在 CI 中不稳定。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91656" y="2834639"/>
            <a:ext cx="4983480" cy="10241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2788920"/>
            <a:ext cx="49834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55080" y="2788920"/>
            <a:ext cx="109728" cy="10241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2953512"/>
            <a:ext cx="45720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监控数据闭环不足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3264408"/>
            <a:ext cx="43616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1E293B"/>
                </a:solidFill>
                <a:latin typeface="Calibri"/>
              </a:rPr>
              <a:t>已有指标入口，但缺少线上面板、告警规则和业务指标口径。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" y="4297680"/>
            <a:ext cx="10469880" cy="102412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4251960"/>
            <a:ext cx="104698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" y="4251960"/>
            <a:ext cx="109728" cy="102412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" y="4416552"/>
            <a:ext cx="100584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安全与成本控制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4727448"/>
            <a:ext cx="98480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1E293B"/>
                </a:solidFill>
                <a:latin typeface="Calibri"/>
              </a:rPr>
              <a:t>AI 请求限流已有雏形，仍需跟踪调用成本、提示词注入、代码执行边界。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281160" y="-868680"/>
            <a:ext cx="3474720" cy="2011680"/>
          </a:xfrm>
          <a:prstGeom prst="arc">
            <a:avLst/>
          </a:prstGeom>
          <a:noFill/>
          <a:ln w="2032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310896" cy="310896"/>
          </a:xfrm>
          <a:prstGeom prst="ellipse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7040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53042"/>
                </a:solidFill>
                <a:latin typeface="Georgia"/>
              </a:rPr>
              <a:t>未完成项与下一步建议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96112"/>
            <a:ext cx="8503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面向维护者的可执行优先级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1874519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512064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每日项目状态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46520"/>
            <a:ext cx="10881360" cy="9144"/>
          </a:xfrm>
          <a:prstGeom prst="rect">
            <a:avLst/>
          </a:prstGeom>
          <a:solidFill>
            <a:srgbClr val="C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yu-ai-code-mother | 2026-06-06 |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1371600"/>
            <a:ext cx="5257800" cy="452628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1325880"/>
            <a:ext cx="52578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1325880"/>
            <a:ext cx="109728" cy="4526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1490472"/>
            <a:ext cx="4846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未完成 / 待明确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1810512"/>
            <a:ext cx="4389120" cy="32186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明确单体项目与微服务项目的主维护入口和发布路径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补充微服务拆分后的契约测试、启动说明与本地联调文档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确认可视化编辑功能的端到端验收路径与边界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补齐业务指标：生成成功率、部署成功率、AI 调用成本、平均生成耗时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对外部服务 Key、环境变量和样例配置进行安全梳理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371600"/>
            <a:ext cx="5074920" cy="452628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1325880"/>
            <a:ext cx="50749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1325880"/>
            <a:ext cx="109728" cy="4526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490472"/>
            <a:ext cx="4663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3042"/>
                </a:solidFill>
                <a:latin typeface="Calibri"/>
              </a:rPr>
              <a:t>建议下一步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10512"/>
            <a:ext cx="4370832" cy="32186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为主线服务建立最小 CI：后端单元测试 + 前端 type-check/build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把 AI 生成、部署、截图链路拆成可观测漏斗，接入 Prometheus / Grafana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沉淀关键接口契约：应用创建、流式生成、部署、下载、精选管理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将外部依赖测试隔离为 profile 或集成测试阶段，降低日常回归成本</a:t>
            </a:r>
          </a:p>
          <a:p>
            <a:pPr>
              <a:lnSpc>
                <a:spcPct val="112000"/>
              </a:lnSpc>
              <a:spcAft>
                <a:spcPts val="405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整理架构决策记录，说明为何保留单体、何时切换微服务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281160" y="-868680"/>
            <a:ext cx="3474720" cy="2011680"/>
          </a:xfrm>
          <a:prstGeom prst="arc">
            <a:avLst/>
          </a:prstGeom>
          <a:noFill/>
          <a:ln w="2032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6080760"/>
            <a:ext cx="310896" cy="310896"/>
          </a:xfrm>
          <a:prstGeom prst="ellipse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7040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53042"/>
                </a:solidFill>
                <a:latin typeface="Georgia"/>
              </a:rP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896112"/>
            <a:ext cx="8503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当前状态：能力链路完整，工程化治理进入关键阶段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1874519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512064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每日项目状态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46520"/>
            <a:ext cx="10881360" cy="9144"/>
          </a:xfrm>
          <a:prstGeom prst="rect">
            <a:avLst/>
          </a:prstGeom>
          <a:solidFill>
            <a:srgbClr val="C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yu-ai-code-mother | 2026-06-06 |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1344168"/>
            <a:ext cx="10561320" cy="384048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298448"/>
            <a:ext cx="1056132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1298448"/>
            <a:ext cx="109728" cy="3840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1673352"/>
            <a:ext cx="1828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53042"/>
                </a:solidFill>
                <a:latin typeface="Georgia"/>
              </a:rPr>
              <a:t>一句话判断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148840"/>
            <a:ext cx="93726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Calibri"/>
              </a:rPr>
              <a:t>yu-ai-code-mother 已具备 AI 应用生成平台的核心产品闭环；近期重点应从“功能实现”转向“主线收敛、可验证交付、监控与成本闭环”。</a:t>
            </a:r>
          </a:p>
        </p:txBody>
      </p:sp>
      <p:sp>
        <p:nvSpPr>
          <p:cNvPr id="17" name="Oval 16"/>
          <p:cNvSpPr/>
          <p:nvPr/>
        </p:nvSpPr>
        <p:spPr>
          <a:xfrm>
            <a:off x="1143000" y="3794760"/>
            <a:ext cx="475488" cy="47548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913632"/>
            <a:ext cx="182880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3730752"/>
            <a:ext cx="9601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53042"/>
                </a:solidFill>
                <a:latin typeface="Calibri"/>
              </a:rPr>
              <a:t>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4050791"/>
            <a:ext cx="217627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生成、预览、部署、管理链路基本完整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3794760"/>
            <a:ext cx="475488" cy="47548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913632"/>
            <a:ext cx="182880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3730752"/>
            <a:ext cx="9601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53042"/>
                </a:solidFill>
                <a:latin typeface="Calibri"/>
              </a:rPr>
              <a:t>进展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050791"/>
            <a:ext cx="217627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微服务改造与可观测性是最近提交主轴</a:t>
            </a:r>
          </a:p>
        </p:txBody>
      </p:sp>
      <p:sp>
        <p:nvSpPr>
          <p:cNvPr id="25" name="Oval 24"/>
          <p:cNvSpPr/>
          <p:nvPr/>
        </p:nvSpPr>
        <p:spPr>
          <a:xfrm>
            <a:off x="7818120" y="379476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3913632"/>
            <a:ext cx="182880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3730752"/>
            <a:ext cx="9601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53042"/>
                </a:solidFill>
                <a:latin typeface="Calibri"/>
              </a:rPr>
              <a:t>优先级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050791"/>
            <a:ext cx="217627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先补 CI / 测试分层，再接入业务指标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241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报告来源：README、主要模块目录、pom/package 配置、最近 git 提交、测试与监控配置扫描。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2026-06-06</dc:title>
  <dc:subject>AI 零代码应用生成平台项目状态</dc:subject>
  <dc:creator>Cursor Automation</dc:creator>
  <cp:keywords/>
  <dc:description>Generated from repository README, module structure, recent commits, and config scan.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