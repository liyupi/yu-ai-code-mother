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0A2E36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9144000" cy="73152"/>
          </a:xfrm>
          <a:prstGeom prst="rect">
            <a:avLst/>
          </a:prstGeom>
          <a:solidFill>
            <a:srgbClr val="0AD4C8"/>
          </a:solidFill>
          <a:ln/>
        </p:spPr>
      </p:sp>
      <p:sp>
        <p:nvSpPr>
          <p:cNvPr id="4" name="Shape 2"/>
          <p:cNvSpPr/>
          <p:nvPr/>
        </p:nvSpPr>
        <p:spPr>
          <a:xfrm>
            <a:off x="6583680" y="-731520"/>
            <a:ext cx="3657600" cy="3657600"/>
          </a:xfrm>
          <a:prstGeom prst="ellipse">
            <a:avLst/>
          </a:prstGeom>
          <a:solidFill>
            <a:srgbClr val="0F4A52">
              <a:alpha val="60000"/>
            </a:srgbClr>
          </a:solidFill>
          <a:ln/>
        </p:spPr>
      </p:sp>
      <p:sp>
        <p:nvSpPr>
          <p:cNvPr id="5" name="Shape 3"/>
          <p:cNvSpPr/>
          <p:nvPr/>
        </p:nvSpPr>
        <p:spPr>
          <a:xfrm>
            <a:off x="-1097280" y="3200400"/>
            <a:ext cx="3200400" cy="3200400"/>
          </a:xfrm>
          <a:prstGeom prst="ellipse">
            <a:avLst/>
          </a:prstGeom>
          <a:solidFill>
            <a:srgbClr val="0F4A52">
              <a:alpha val="55000"/>
            </a:srgbClr>
          </a:solidFill>
          <a:ln/>
        </p:spPr>
      </p:sp>
      <p:sp>
        <p:nvSpPr>
          <p:cNvPr id="6" name="Text 4"/>
          <p:cNvSpPr/>
          <p:nvPr/>
        </p:nvSpPr>
        <p:spPr>
          <a:xfrm>
            <a:off x="1005840" y="530352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400" kern="0" dirty="0">
                <a:solidFill>
                  <a:srgbClr val="0A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STATUS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502920" y="1371600"/>
            <a:ext cx="77724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AI 零代码应用生成平台</a:t>
            </a:r>
            <a:endParaRPr lang="en-US" sz="3600" dirty="0"/>
          </a:p>
        </p:txBody>
      </p:sp>
      <p:sp>
        <p:nvSpPr>
          <p:cNvPr id="8" name="Text 6"/>
          <p:cNvSpPr/>
          <p:nvPr/>
        </p:nvSpPr>
        <p:spPr>
          <a:xfrm>
            <a:off x="502920" y="20574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1AABB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每日项目状态汇报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502920" y="2743200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A8C8C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面向项目维护者与核心贡献者  ·  北京时间 2026-08-04</a:t>
            </a:r>
            <a:endParaRPr lang="en-US" sz="1500" dirty="0"/>
          </a:p>
        </p:txBody>
      </p:sp>
      <p:sp>
        <p:nvSpPr>
          <p:cNvPr id="10" name="Shape 8"/>
          <p:cNvSpPr/>
          <p:nvPr/>
        </p:nvSpPr>
        <p:spPr>
          <a:xfrm>
            <a:off x="502920" y="3383280"/>
            <a:ext cx="2194560" cy="777240"/>
          </a:xfrm>
          <a:prstGeom prst="roundRect">
            <a:avLst>
              <a:gd name="adj" fmla="val 11765"/>
            </a:avLst>
          </a:prstGeom>
          <a:solidFill>
            <a:srgbClr val="0F4A52"/>
          </a:solidFill>
          <a:ln/>
        </p:spPr>
      </p:sp>
      <p:sp>
        <p:nvSpPr>
          <p:cNvPr id="11" name="Text 9"/>
          <p:cNvSpPr/>
          <p:nvPr/>
        </p:nvSpPr>
        <p:spPr>
          <a:xfrm>
            <a:off x="640080" y="3474720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AD4C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40080" y="3730752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893918c</a:t>
            </a:r>
            <a:endParaRPr lang="en-US" sz="1800" dirty="0"/>
          </a:p>
        </p:txBody>
      </p:sp>
      <p:sp>
        <p:nvSpPr>
          <p:cNvPr id="13" name="Shape 11"/>
          <p:cNvSpPr/>
          <p:nvPr/>
        </p:nvSpPr>
        <p:spPr>
          <a:xfrm>
            <a:off x="2880360" y="3383280"/>
            <a:ext cx="4754880" cy="777240"/>
          </a:xfrm>
          <a:prstGeom prst="roundRect">
            <a:avLst>
              <a:gd name="adj" fmla="val 11765"/>
            </a:avLst>
          </a:prstGeom>
          <a:solidFill>
            <a:srgbClr val="0F4A52"/>
          </a:solidFill>
          <a:ln/>
        </p:spPr>
      </p:sp>
      <p:sp>
        <p:nvSpPr>
          <p:cNvPr id="14" name="Text 12"/>
          <p:cNvSpPr/>
          <p:nvPr/>
        </p:nvSpPr>
        <p:spPr>
          <a:xfrm>
            <a:off x="3520440" y="3611880"/>
            <a:ext cx="3931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教程第 14 期 · 微服务改造完成态</a:t>
            </a:r>
            <a:endParaRPr lang="en-US" sz="16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项目概览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4846320" cy="3520440"/>
          </a:xfrm>
          <a:prstGeom prst="roundRect">
            <a:avLst>
              <a:gd name="adj" fmla="val 2597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143000" y="1207008"/>
            <a:ext cx="3657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定位与栈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685800" y="1645920"/>
            <a:ext cx="43891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企业级 AI 代码生成教学平台，覆盖智能体、工作流与微服务全栈实践。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685800" y="224028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8F5F6"/>
          </a:solidFill>
          <a:ln/>
        </p:spPr>
      </p:sp>
      <p:sp>
        <p:nvSpPr>
          <p:cNvPr id="12" name="Text 10"/>
          <p:cNvSpPr/>
          <p:nvPr/>
        </p:nvSpPr>
        <p:spPr>
          <a:xfrm>
            <a:off x="822960" y="230428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后端：Spring Boot 3.5 / Java 21 / LangChain4j / LangGraph4j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685800" y="274320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8F5F6"/>
          </a:solidFill>
          <a:ln/>
        </p:spPr>
      </p:sp>
      <p:sp>
        <p:nvSpPr>
          <p:cNvPr id="14" name="Text 12"/>
          <p:cNvSpPr/>
          <p:nvPr/>
        </p:nvSpPr>
        <p:spPr>
          <a:xfrm>
            <a:off x="822960" y="280720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前端：Vue 3 + Vite + Ant Design Vue + Pinia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685800" y="324612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8F5F6"/>
          </a:solidFill>
          <a:ln/>
        </p:spPr>
      </p:sp>
      <p:sp>
        <p:nvSpPr>
          <p:cNvPr id="16" name="Text 14"/>
          <p:cNvSpPr/>
          <p:nvPr/>
        </p:nvSpPr>
        <p:spPr>
          <a:xfrm>
            <a:off x="822960" y="331012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架构：单体完整代码 + 微服务拆分（7 子模块）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85800" y="3749040"/>
            <a:ext cx="4389120" cy="438912"/>
          </a:xfrm>
          <a:prstGeom prst="roundRect">
            <a:avLst>
              <a:gd name="adj" fmla="val 12500"/>
            </a:avLst>
          </a:prstGeom>
          <a:solidFill>
            <a:srgbClr val="E8F5F6"/>
          </a:solidFill>
          <a:ln/>
        </p:spPr>
      </p:sp>
      <p:sp>
        <p:nvSpPr>
          <p:cNvPr id="18" name="Text 16"/>
          <p:cNvSpPr/>
          <p:nvPr/>
        </p:nvSpPr>
        <p:spPr>
          <a:xfrm>
            <a:off x="822960" y="3813048"/>
            <a:ext cx="4114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运维：Prometheus 抓取 + Grafana AI 指标面板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532120" y="1005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553212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4000" dirty="0"/>
          </a:p>
        </p:txBody>
      </p:sp>
      <p:sp>
        <p:nvSpPr>
          <p:cNvPr id="21" name="Text 19"/>
          <p:cNvSpPr/>
          <p:nvPr/>
        </p:nvSpPr>
        <p:spPr>
          <a:xfrm>
            <a:off x="562356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核心产品能力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7223760" y="100584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3" name="Text 21"/>
          <p:cNvSpPr/>
          <p:nvPr/>
        </p:nvSpPr>
        <p:spPr>
          <a:xfrm>
            <a:off x="7223760" y="132588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7</a:t>
            </a:r>
            <a:endParaRPr lang="en-US" sz="4000" dirty="0"/>
          </a:p>
        </p:txBody>
      </p:sp>
      <p:sp>
        <p:nvSpPr>
          <p:cNvPr id="24" name="Text 22"/>
          <p:cNvSpPr/>
          <p:nvPr/>
        </p:nvSpPr>
        <p:spPr>
          <a:xfrm>
            <a:off x="7315200" y="205740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微服务子模块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532120" y="27432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6" name="Text 24"/>
          <p:cNvSpPr/>
          <p:nvPr/>
        </p:nvSpPr>
        <p:spPr>
          <a:xfrm>
            <a:off x="553212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</a:t>
            </a:r>
            <a:endParaRPr lang="en-US" sz="4000" dirty="0"/>
          </a:p>
        </p:txBody>
      </p:sp>
      <p:sp>
        <p:nvSpPr>
          <p:cNvPr id="27" name="Text 25"/>
          <p:cNvSpPr/>
          <p:nvPr/>
        </p:nvSpPr>
        <p:spPr>
          <a:xfrm>
            <a:off x="562356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后端测试类</a:t>
            </a:r>
            <a:endParaRPr lang="en-US" sz="1300" dirty="0"/>
          </a:p>
        </p:txBody>
      </p:sp>
      <p:sp>
        <p:nvSpPr>
          <p:cNvPr id="28" name="Shape 26"/>
          <p:cNvSpPr/>
          <p:nvPr/>
        </p:nvSpPr>
        <p:spPr>
          <a:xfrm>
            <a:off x="7223760" y="2743200"/>
            <a:ext cx="15544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9" name="Text 27"/>
          <p:cNvSpPr/>
          <p:nvPr/>
        </p:nvSpPr>
        <p:spPr>
          <a:xfrm>
            <a:off x="7223760" y="3063240"/>
            <a:ext cx="15544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6</a:t>
            </a:r>
            <a:endParaRPr lang="en-US" sz="4000" dirty="0"/>
          </a:p>
        </p:txBody>
      </p:sp>
      <p:sp>
        <p:nvSpPr>
          <p:cNvPr id="30" name="Text 28"/>
          <p:cNvSpPr/>
          <p:nvPr/>
        </p:nvSpPr>
        <p:spPr>
          <a:xfrm>
            <a:off x="7315200" y="3794760"/>
            <a:ext cx="1371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 控制器</a:t>
            </a:r>
            <a:endParaRPr lang="en-US" sz="13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核心能力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3716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6F0F2"/>
          </a:solidFill>
          <a:ln/>
        </p:spPr>
      </p:sp>
      <p:sp>
        <p:nvSpPr>
          <p:cNvPr id="10" name="Text 8"/>
          <p:cNvSpPr/>
          <p:nvPr/>
        </p:nvSpPr>
        <p:spPr>
          <a:xfrm>
            <a:off x="146304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智能代码生成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1463040" y="1828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需求描述 → 策略路由 → 工具调用写文件，SSE 流式展示执行过程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54880" y="105156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4937760" y="137160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6F0F2"/>
          </a:solidFill>
          <a:ln/>
        </p:spPr>
      </p:sp>
      <p:sp>
        <p:nvSpPr>
          <p:cNvPr id="14" name="Text 12"/>
          <p:cNvSpPr/>
          <p:nvPr/>
        </p:nvSpPr>
        <p:spPr>
          <a:xfrm>
            <a:off x="5760720" y="137160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可视化编辑</a:t>
            </a: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5760720" y="182880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选中页面元素与 AI 对话增量/全量修改，原生与工程模式双路径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457200" y="278892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640080" y="3108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6F0F2"/>
          </a:solidFill>
          <a:ln/>
        </p:spPr>
      </p:sp>
      <p:sp>
        <p:nvSpPr>
          <p:cNvPr id="18" name="Text 16"/>
          <p:cNvSpPr/>
          <p:nvPr/>
        </p:nvSpPr>
        <p:spPr>
          <a:xfrm>
            <a:off x="146304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一键部署分享</a:t>
            </a: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146304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云端部署、封面截图、可访问链接与完整源码下载</a:t>
            </a:r>
            <a:endParaRPr lang="en-US" sz="1400" dirty="0"/>
          </a:p>
        </p:txBody>
      </p:sp>
      <p:sp>
        <p:nvSpPr>
          <p:cNvPr id="20" name="Shape 18"/>
          <p:cNvSpPr/>
          <p:nvPr/>
        </p:nvSpPr>
        <p:spPr>
          <a:xfrm>
            <a:off x="4754880" y="2788920"/>
            <a:ext cx="4069080" cy="1554480"/>
          </a:xfrm>
          <a:prstGeom prst="roundRect">
            <a:avLst>
              <a:gd name="adj" fmla="val 588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937760" y="3108960"/>
            <a:ext cx="640080" cy="640080"/>
          </a:xfrm>
          <a:prstGeom prst="roundRect">
            <a:avLst>
              <a:gd name="adj" fmla="val 17143"/>
            </a:avLst>
          </a:prstGeom>
          <a:solidFill>
            <a:srgbClr val="D6F0F2"/>
          </a:solidFill>
          <a:ln/>
        </p:spPr>
      </p:sp>
      <p:sp>
        <p:nvSpPr>
          <p:cNvPr id="22" name="Text 20"/>
          <p:cNvSpPr/>
          <p:nvPr/>
        </p:nvSpPr>
        <p:spPr>
          <a:xfrm>
            <a:off x="5760720" y="3108960"/>
            <a:ext cx="2834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企业级管理</a:t>
            </a: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5760720" y="3566160"/>
            <a:ext cx="28346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用户/应用管理、精选案例、AI 调用与系统性能监控</a:t>
            </a:r>
            <a:endParaRPr lang="en-US" sz="14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模块与架构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" y="1051560"/>
            <a:ext cx="2743200" cy="50292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10" name="Text 8"/>
          <p:cNvSpPr/>
          <p:nvPr/>
        </p:nvSpPr>
        <p:spPr>
          <a:xfrm>
            <a:off x="457200" y="1115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单体应用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685800" y="1783080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/ tools / guardrail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685800" y="2258568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14" name="Text 12"/>
          <p:cNvSpPr/>
          <p:nvPr/>
        </p:nvSpPr>
        <p:spPr>
          <a:xfrm>
            <a:off x="91440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core：解析·保存·构建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685800" y="2734056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16" name="Text 14"/>
          <p:cNvSpPr/>
          <p:nvPr/>
        </p:nvSpPr>
        <p:spPr>
          <a:xfrm>
            <a:off x="91440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langgraph4j 工作流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85800" y="3209544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145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· ratelimiter</a:t>
            </a:r>
            <a:endParaRPr lang="en-US" sz="1400" dirty="0"/>
          </a:p>
        </p:txBody>
      </p:sp>
      <p:sp>
        <p:nvSpPr>
          <p:cNvPr id="19" name="Shape 17"/>
          <p:cNvSpPr/>
          <p:nvPr/>
        </p:nvSpPr>
        <p:spPr>
          <a:xfrm>
            <a:off x="685800" y="3685032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20" name="Text 18"/>
          <p:cNvSpPr/>
          <p:nvPr/>
        </p:nvSpPr>
        <p:spPr>
          <a:xfrm>
            <a:off x="914400" y="3621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controller × 6</a:t>
            </a:r>
            <a:endParaRPr lang="en-US" sz="1400" dirty="0"/>
          </a:p>
        </p:txBody>
      </p:sp>
      <p:sp>
        <p:nvSpPr>
          <p:cNvPr id="21" name="Shape 19"/>
          <p:cNvSpPr/>
          <p:nvPr/>
        </p:nvSpPr>
        <p:spPr>
          <a:xfrm>
            <a:off x="3337560" y="105156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3337560" y="1051560"/>
            <a:ext cx="2743200" cy="50292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23" name="Text 21"/>
          <p:cNvSpPr/>
          <p:nvPr/>
        </p:nvSpPr>
        <p:spPr>
          <a:xfrm>
            <a:off x="3337560" y="1115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微服务拆分</a:t>
            </a:r>
            <a:endParaRPr lang="en-US" sz="1600" dirty="0"/>
          </a:p>
        </p:txBody>
      </p:sp>
      <p:sp>
        <p:nvSpPr>
          <p:cNvPr id="24" name="Shape 22"/>
          <p:cNvSpPr/>
          <p:nvPr/>
        </p:nvSpPr>
        <p:spPr>
          <a:xfrm>
            <a:off x="3566160" y="1783080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25" name="Text 23"/>
          <p:cNvSpPr/>
          <p:nvPr/>
        </p:nvSpPr>
        <p:spPr>
          <a:xfrm>
            <a:off x="379476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yu-ai-code-common</a:t>
            </a:r>
            <a:endParaRPr lang="en-US" sz="1400" dirty="0"/>
          </a:p>
        </p:txBody>
      </p:sp>
      <p:sp>
        <p:nvSpPr>
          <p:cNvPr id="26" name="Shape 24"/>
          <p:cNvSpPr/>
          <p:nvPr/>
        </p:nvSpPr>
        <p:spPr>
          <a:xfrm>
            <a:off x="3566160" y="2258568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27" name="Text 25"/>
          <p:cNvSpPr/>
          <p:nvPr/>
        </p:nvSpPr>
        <p:spPr>
          <a:xfrm>
            <a:off x="379476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yu-ai-code-model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3566160" y="2734056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29" name="Text 27"/>
          <p:cNvSpPr/>
          <p:nvPr/>
        </p:nvSpPr>
        <p:spPr>
          <a:xfrm>
            <a:off x="379476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yu-ai-code-client</a:t>
            </a:r>
            <a:endParaRPr lang="en-US" sz="1400" dirty="0"/>
          </a:p>
        </p:txBody>
      </p:sp>
      <p:sp>
        <p:nvSpPr>
          <p:cNvPr id="30" name="Shape 28"/>
          <p:cNvSpPr/>
          <p:nvPr/>
        </p:nvSpPr>
        <p:spPr>
          <a:xfrm>
            <a:off x="3566160" y="3209544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31" name="Text 29"/>
          <p:cNvSpPr/>
          <p:nvPr/>
        </p:nvSpPr>
        <p:spPr>
          <a:xfrm>
            <a:off x="3794760" y="3145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/ app / ai</a:t>
            </a:r>
            <a:endParaRPr lang="en-US" sz="1400" dirty="0"/>
          </a:p>
        </p:txBody>
      </p:sp>
      <p:sp>
        <p:nvSpPr>
          <p:cNvPr id="32" name="Shape 30"/>
          <p:cNvSpPr/>
          <p:nvPr/>
        </p:nvSpPr>
        <p:spPr>
          <a:xfrm>
            <a:off x="3566160" y="3685032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33" name="Text 31"/>
          <p:cNvSpPr/>
          <p:nvPr/>
        </p:nvSpPr>
        <p:spPr>
          <a:xfrm>
            <a:off x="3794760" y="3621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screenshot 服务</a:t>
            </a:r>
            <a:endParaRPr lang="en-US" sz="1400" dirty="0"/>
          </a:p>
        </p:txBody>
      </p:sp>
      <p:sp>
        <p:nvSpPr>
          <p:cNvPr id="34" name="Shape 32"/>
          <p:cNvSpPr/>
          <p:nvPr/>
        </p:nvSpPr>
        <p:spPr>
          <a:xfrm>
            <a:off x="6217920" y="1051560"/>
            <a:ext cx="2743200" cy="3474720"/>
          </a:xfrm>
          <a:prstGeom prst="roundRect">
            <a:avLst>
              <a:gd name="adj" fmla="val 3333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35" name="Shape 33"/>
          <p:cNvSpPr/>
          <p:nvPr/>
        </p:nvSpPr>
        <p:spPr>
          <a:xfrm>
            <a:off x="6217920" y="1051560"/>
            <a:ext cx="2743200" cy="50292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36" name="Text 34"/>
          <p:cNvSpPr/>
          <p:nvPr/>
        </p:nvSpPr>
        <p:spPr>
          <a:xfrm>
            <a:off x="6217920" y="1115568"/>
            <a:ext cx="274320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前端与运维</a:t>
            </a:r>
            <a:endParaRPr lang="en-US" sz="1600" dirty="0"/>
          </a:p>
        </p:txBody>
      </p:sp>
      <p:sp>
        <p:nvSpPr>
          <p:cNvPr id="37" name="Shape 35"/>
          <p:cNvSpPr/>
          <p:nvPr/>
        </p:nvSpPr>
        <p:spPr>
          <a:xfrm>
            <a:off x="6446520" y="1783080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38" name="Text 36"/>
          <p:cNvSpPr/>
          <p:nvPr/>
        </p:nvSpPr>
        <p:spPr>
          <a:xfrm>
            <a:off x="6675120" y="1719072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pages：home / app / admin</a:t>
            </a:r>
            <a:endParaRPr lang="en-US" sz="1400" dirty="0"/>
          </a:p>
        </p:txBody>
      </p:sp>
      <p:sp>
        <p:nvSpPr>
          <p:cNvPr id="39" name="Shape 37"/>
          <p:cNvSpPr/>
          <p:nvPr/>
        </p:nvSpPr>
        <p:spPr>
          <a:xfrm>
            <a:off x="6446520" y="2258568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40" name="Text 38"/>
          <p:cNvSpPr/>
          <p:nvPr/>
        </p:nvSpPr>
        <p:spPr>
          <a:xfrm>
            <a:off x="6675120" y="2194560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可视化编辑组件</a:t>
            </a:r>
            <a:endParaRPr lang="en-US" sz="1400" dirty="0"/>
          </a:p>
        </p:txBody>
      </p:sp>
      <p:sp>
        <p:nvSpPr>
          <p:cNvPr id="41" name="Shape 39"/>
          <p:cNvSpPr/>
          <p:nvPr/>
        </p:nvSpPr>
        <p:spPr>
          <a:xfrm>
            <a:off x="6446520" y="2734056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42" name="Text 40"/>
          <p:cNvSpPr/>
          <p:nvPr/>
        </p:nvSpPr>
        <p:spPr>
          <a:xfrm>
            <a:off x="6675120" y="2670048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OpenAPI → TypeScript</a:t>
            </a:r>
            <a:endParaRPr lang="en-US" sz="1400" dirty="0"/>
          </a:p>
        </p:txBody>
      </p:sp>
      <p:sp>
        <p:nvSpPr>
          <p:cNvPr id="43" name="Shape 41"/>
          <p:cNvSpPr/>
          <p:nvPr/>
        </p:nvSpPr>
        <p:spPr>
          <a:xfrm>
            <a:off x="6446520" y="3209544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44" name="Text 42"/>
          <p:cNvSpPr/>
          <p:nvPr/>
        </p:nvSpPr>
        <p:spPr>
          <a:xfrm>
            <a:off x="6675120" y="3145536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</a:t>
            </a:r>
            <a:endParaRPr lang="en-US" sz="1400" dirty="0"/>
          </a:p>
        </p:txBody>
      </p:sp>
      <p:sp>
        <p:nvSpPr>
          <p:cNvPr id="45" name="Shape 43"/>
          <p:cNvSpPr/>
          <p:nvPr/>
        </p:nvSpPr>
        <p:spPr>
          <a:xfrm>
            <a:off x="6446520" y="3685032"/>
            <a:ext cx="128016" cy="128016"/>
          </a:xfrm>
          <a:prstGeom prst="ellipse">
            <a:avLst/>
          </a:prstGeom>
          <a:solidFill>
            <a:srgbClr val="1AABB8"/>
          </a:solidFill>
          <a:ln/>
        </p:spPr>
      </p:sp>
      <p:sp>
        <p:nvSpPr>
          <p:cNvPr id="46" name="Text 44"/>
          <p:cNvSpPr/>
          <p:nvPr/>
        </p:nvSpPr>
        <p:spPr>
          <a:xfrm>
            <a:off x="6675120" y="3621024"/>
            <a:ext cx="2103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Grafana AI 面板</a:t>
            </a:r>
            <a:endParaRPr lang="en-US" sz="14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近期进展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640080"/>
          </a:xfrm>
          <a:prstGeom prst="roundRect">
            <a:avLst>
              <a:gd name="adj" fmla="val 11429"/>
            </a:avLst>
          </a:prstGeom>
          <a:solidFill>
            <a:srgbClr val="E8F5F6"/>
          </a:solidFill>
          <a:ln/>
        </p:spPr>
      </p:sp>
      <p:sp>
        <p:nvSpPr>
          <p:cNvPr id="9" name="Text 7"/>
          <p:cNvSpPr/>
          <p:nvPr/>
        </p:nvSpPr>
        <p:spPr>
          <a:xfrm>
            <a:off x="1097280" y="1143000"/>
            <a:ext cx="74066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日主线无业务代码合入；活跃产出集中在每日状态汇报自动化（Draft PR）。昨日 #74 已产出。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457200" y="18745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40080" y="20574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0D5C6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主线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155448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教程第 14 期已完成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8580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微服务收官（893918c），单体与 7 模块并存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4754880" y="187452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205740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D97706"/>
          </a:solidFill>
          <a:ln/>
        </p:spPr>
      </p:sp>
      <p:sp>
        <p:nvSpPr>
          <p:cNvPr id="17" name="Text 15"/>
          <p:cNvSpPr/>
          <p:nvPr/>
        </p:nvSpPr>
        <p:spPr>
          <a:xfrm>
            <a:off x="4937760" y="205740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社区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852160" y="203911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You.com 搜索 PR 待审</a:t>
            </a:r>
            <a:endParaRPr lang="en-US" sz="1500" dirty="0"/>
          </a:p>
        </p:txBody>
      </p:sp>
      <p:sp>
        <p:nvSpPr>
          <p:cNvPr id="19" name="Text 17"/>
          <p:cNvSpPr/>
          <p:nvPr/>
        </p:nvSpPr>
        <p:spPr>
          <a:xfrm>
            <a:off x="4983480" y="251460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 + Issue #65：联网搜索工具，未合入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457200" y="320040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640080" y="338328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C23B22"/>
          </a:solidFill>
          <a:ln/>
        </p:spPr>
      </p:sp>
      <p:sp>
        <p:nvSpPr>
          <p:cNvPr id="22" name="Text 20"/>
          <p:cNvSpPr/>
          <p:nvPr/>
        </p:nvSpPr>
        <p:spPr>
          <a:xfrm>
            <a:off x="640080" y="3383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缺陷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155448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Vue 生成 reasoning 未解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68580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#5：缺 reasoning_content，社区仍有反馈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4754880" y="3200400"/>
            <a:ext cx="406908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4937760" y="3383280"/>
            <a:ext cx="777240" cy="292608"/>
          </a:xfrm>
          <a:prstGeom prst="roundRect">
            <a:avLst>
              <a:gd name="adj" fmla="val 18750"/>
            </a:avLst>
          </a:prstGeom>
          <a:solidFill>
            <a:srgbClr val="2F9E74"/>
          </a:solidFill>
          <a:ln/>
        </p:spPr>
      </p:sp>
      <p:sp>
        <p:nvSpPr>
          <p:cNvPr id="27" name="Text 25"/>
          <p:cNvSpPr/>
          <p:nvPr/>
        </p:nvSpPr>
        <p:spPr>
          <a:xfrm>
            <a:off x="4937760" y="3383280"/>
            <a:ext cx="777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日报</a:t>
            </a:r>
            <a:endParaRPr lang="en-US" sz="1200" dirty="0"/>
          </a:p>
        </p:txBody>
      </p:sp>
      <p:sp>
        <p:nvSpPr>
          <p:cNvPr id="28" name="Text 26"/>
          <p:cNvSpPr/>
          <p:nvPr/>
        </p:nvSpPr>
        <p:spPr>
          <a:xfrm>
            <a:off x="5852160" y="3364992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昨日汇报已产出</a:t>
            </a:r>
            <a:endParaRPr lang="en-US" sz="1500" dirty="0"/>
          </a:p>
        </p:txBody>
      </p:sp>
      <p:sp>
        <p:nvSpPr>
          <p:cNvPr id="29" name="Text 27"/>
          <p:cNvSpPr/>
          <p:nvPr/>
        </p:nvSpPr>
        <p:spPr>
          <a:xfrm>
            <a:off x="4983480" y="3840480"/>
            <a:ext cx="36576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#74（08-03）Draft；今日延续同一基线</a:t>
            </a:r>
            <a:endParaRPr lang="en-US" sz="13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数据与指标要点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457200" y="914400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以下为仓库静态盘点与可观测性配置摘要；运行时业务指标待接入生产数据后填充。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457200" y="13716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57200" y="1371600"/>
            <a:ext cx="2011680" cy="9144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5720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次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 7 日业务提交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54864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相对 HEAD 无新合入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2606040" y="13716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2606040" y="1371600"/>
            <a:ext cx="2011680" cy="9144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17" name="Text 15"/>
          <p:cNvSpPr/>
          <p:nvPr/>
        </p:nvSpPr>
        <p:spPr>
          <a:xfrm>
            <a:off x="260604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3600" dirty="0"/>
          </a:p>
        </p:txBody>
      </p:sp>
      <p:sp>
        <p:nvSpPr>
          <p:cNvPr id="18" name="Text 16"/>
          <p:cNvSpPr/>
          <p:nvPr/>
        </p:nvSpPr>
        <p:spPr>
          <a:xfrm>
            <a:off x="260604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269748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开放 Issues</a:t>
            </a:r>
            <a:endParaRPr lang="en-US" sz="1300" dirty="0"/>
          </a:p>
        </p:txBody>
      </p:sp>
      <p:sp>
        <p:nvSpPr>
          <p:cNvPr id="20" name="Text 18"/>
          <p:cNvSpPr/>
          <p:nvPr/>
        </p:nvSpPr>
        <p:spPr>
          <a:xfrm>
            <a:off x="269748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#5 缺陷 · #65 特性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754880" y="13716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54880" y="1371600"/>
            <a:ext cx="2011680" cy="9144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23" name="Text 21"/>
          <p:cNvSpPr/>
          <p:nvPr/>
        </p:nvSpPr>
        <p:spPr>
          <a:xfrm>
            <a:off x="475488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3600" dirty="0"/>
          </a:p>
        </p:txBody>
      </p:sp>
      <p:sp>
        <p:nvSpPr>
          <p:cNvPr id="24" name="Text 22"/>
          <p:cNvSpPr/>
          <p:nvPr/>
        </p:nvSpPr>
        <p:spPr>
          <a:xfrm>
            <a:off x="4754880" y="2286000"/>
            <a:ext cx="20116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个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484632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特性 PR 待审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484632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#66 You.com 搜索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6903720" y="1371600"/>
            <a:ext cx="2011680" cy="2148840"/>
          </a:xfrm>
          <a:prstGeom prst="roundRect">
            <a:avLst>
              <a:gd name="adj" fmla="val 454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8" name="Shape 26"/>
          <p:cNvSpPr/>
          <p:nvPr/>
        </p:nvSpPr>
        <p:spPr>
          <a:xfrm>
            <a:off x="6903720" y="1371600"/>
            <a:ext cx="2011680" cy="9144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29" name="Text 27"/>
          <p:cNvSpPr/>
          <p:nvPr/>
        </p:nvSpPr>
        <p:spPr>
          <a:xfrm>
            <a:off x="6903720" y="1691640"/>
            <a:ext cx="201168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15s</a:t>
            </a:r>
            <a:endParaRPr lang="en-US" sz="3600" dirty="0"/>
          </a:p>
        </p:txBody>
      </p:sp>
      <p:sp>
        <p:nvSpPr>
          <p:cNvPr id="30" name="Text 28"/>
          <p:cNvSpPr/>
          <p:nvPr/>
        </p:nvSpPr>
        <p:spPr>
          <a:xfrm>
            <a:off x="6995160" y="260604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抓取间隔（全局）</a:t>
            </a:r>
            <a:endParaRPr lang="en-US" sz="1300" dirty="0"/>
          </a:p>
        </p:txBody>
      </p:sp>
      <p:sp>
        <p:nvSpPr>
          <p:cNvPr id="31" name="Text 29"/>
          <p:cNvSpPr/>
          <p:nvPr/>
        </p:nvSpPr>
        <p:spPr>
          <a:xfrm>
            <a:off x="6995160" y="2971800"/>
            <a:ext cx="1828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5A6F7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应用抓取 10s</a:t>
            </a:r>
            <a:endParaRPr lang="en-US" sz="1200" dirty="0"/>
          </a:p>
        </p:txBody>
      </p:sp>
      <p:sp>
        <p:nvSpPr>
          <p:cNvPr id="32" name="Shape 30"/>
          <p:cNvSpPr/>
          <p:nvPr/>
        </p:nvSpPr>
        <p:spPr>
          <a:xfrm>
            <a:off x="457200" y="374904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E8F5F6"/>
          </a:solidFill>
          <a:ln/>
        </p:spPr>
      </p:sp>
      <p:sp>
        <p:nvSpPr>
          <p:cNvPr id="33" name="Text 31"/>
          <p:cNvSpPr/>
          <p:nvPr/>
        </p:nvSpPr>
        <p:spPr>
          <a:xfrm>
            <a:off x="1097280" y="388620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说明：Token 消耗、生成成功率、部署次数、P95 延迟等运行指标依赖 Actuator/Prometheus 生产抓取；本日报以仓库与 GitHub 元数据为准。</a:t>
            </a:r>
            <a:endParaRPr lang="en-US" sz="13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风险与阻塞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D5C63">
                <a:alpha val="6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40080" y="116128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C23B22"/>
          </a:solidFill>
          <a:ln/>
        </p:spPr>
      </p:sp>
      <p:sp>
        <p:nvSpPr>
          <p:cNvPr id="10" name="Text 8"/>
          <p:cNvSpPr/>
          <p:nvPr/>
        </p:nvSpPr>
        <p:spPr>
          <a:xfrm>
            <a:off x="640080" y="116128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高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325880" y="105156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DeepSeek reasoning_content 兼容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325880" y="134416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Issue #5 影响 Vue 工程生成链路；LangChain4j 未透传推理字段，工具二次调用失败。社区建议换模型或打补丁。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457200" y="182880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D5C63">
                <a:alpha val="6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640080" y="202996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15" name="Text 13"/>
          <p:cNvSpPr/>
          <p:nvPr/>
        </p:nvSpPr>
        <p:spPr>
          <a:xfrm>
            <a:off x="640080" y="202996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1325880" y="192024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特性 PR 长期未合入</a:t>
            </a:r>
            <a:endParaRPr lang="en-US" sz="1500" dirty="0"/>
          </a:p>
        </p:txBody>
      </p:sp>
      <p:sp>
        <p:nvSpPr>
          <p:cNvPr id="17" name="Text 15"/>
          <p:cNvSpPr/>
          <p:nvPr/>
        </p:nvSpPr>
        <p:spPr>
          <a:xfrm>
            <a:off x="1325880" y="221284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 #66（You.com）自 2026-07-26 开放，配套 Issue #65 仍 OPEN，存在需求悬空与重复劳动风险。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457200" y="269748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D5C63">
                <a:alpha val="6000"/>
              </a:srgbClr>
            </a:outerShdw>
          </a:effectLst>
        </p:spPr>
      </p:sp>
      <p:sp>
        <p:nvSpPr>
          <p:cNvPr id="19" name="Shape 17"/>
          <p:cNvSpPr/>
          <p:nvPr/>
        </p:nvSpPr>
        <p:spPr>
          <a:xfrm>
            <a:off x="640080" y="289864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D97706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289864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中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1325880" y="278892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缺少业务 CI 门禁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1325880" y="308152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仓库无 Maven/前端构建与测试的 GitHub Actions；近期仅有 Copilot 访问检查成功记录。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57200" y="3566160"/>
            <a:ext cx="8229600" cy="777240"/>
          </a:xfrm>
          <a:prstGeom prst="roundRect">
            <a:avLst>
              <a:gd name="adj" fmla="val 941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76200" dist="12700" dir="16200000">
              <a:srgbClr val="0D5C63">
                <a:alpha val="6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640080" y="3767328"/>
            <a:ext cx="502920" cy="365760"/>
          </a:xfrm>
          <a:prstGeom prst="roundRect">
            <a:avLst>
              <a:gd name="adj" fmla="val 15000"/>
            </a:avLst>
          </a:prstGeom>
          <a:solidFill>
            <a:srgbClr val="2F9E74"/>
          </a:solidFill>
          <a:ln/>
        </p:spPr>
      </p:sp>
      <p:sp>
        <p:nvSpPr>
          <p:cNvPr id="25" name="Text 23"/>
          <p:cNvSpPr/>
          <p:nvPr/>
        </p:nvSpPr>
        <p:spPr>
          <a:xfrm>
            <a:off x="640080" y="3767328"/>
            <a:ext cx="5029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低</a:t>
            </a:r>
            <a:endParaRPr lang="en-US" sz="1300" dirty="0"/>
          </a:p>
        </p:txBody>
      </p:sp>
      <p:sp>
        <p:nvSpPr>
          <p:cNvPr id="26" name="Text 24"/>
          <p:cNvSpPr/>
          <p:nvPr/>
        </p:nvSpPr>
        <p:spPr>
          <a:xfrm>
            <a:off x="1325880" y="3657600"/>
            <a:ext cx="7132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日报 Draft 堆积</a:t>
            </a:r>
            <a:endParaRPr lang="en-US" sz="1500" dirty="0"/>
          </a:p>
        </p:txBody>
      </p:sp>
      <p:sp>
        <p:nvSpPr>
          <p:cNvPr id="27" name="Text 25"/>
          <p:cNvSpPr/>
          <p:nvPr/>
        </p:nvSpPr>
        <p:spPr>
          <a:xfrm>
            <a:off x="1325880" y="3950208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多日「每日项目状态」Draft PR（含昨日 #74）未合并，文档分支噪音增大，建议定期合入或清理策略。</a:t>
            </a:r>
            <a:endParaRPr lang="en-US" sz="13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下一步计划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9601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9" name="Shape 7"/>
          <p:cNvSpPr/>
          <p:nvPr/>
        </p:nvSpPr>
        <p:spPr>
          <a:xfrm>
            <a:off x="594360" y="1051560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0D5C63"/>
          </a:solidFill>
          <a:ln/>
        </p:spPr>
      </p:sp>
      <p:sp>
        <p:nvSpPr>
          <p:cNvPr id="10" name="Text 8"/>
          <p:cNvSpPr/>
          <p:nvPr/>
        </p:nvSpPr>
        <p:spPr>
          <a:xfrm>
            <a:off x="594360" y="10515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01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417320" y="10332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修复 #5 生成链路</a:t>
            </a:r>
            <a:endParaRPr lang="en-US" sz="1600" dirty="0"/>
          </a:p>
        </p:txBody>
      </p:sp>
      <p:sp>
        <p:nvSpPr>
          <p:cNvPr id="12" name="Text 10"/>
          <p:cNvSpPr/>
          <p:nvPr/>
        </p:nvSpPr>
        <p:spPr>
          <a:xfrm>
            <a:off x="4663440" y="10332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评估补丁或换模型；验证 Vue 工程模式工具调用</a:t>
            </a:r>
            <a:endParaRPr lang="en-US" sz="1400" dirty="0"/>
          </a:p>
        </p:txBody>
      </p:sp>
      <p:sp>
        <p:nvSpPr>
          <p:cNvPr id="13" name="Shape 11"/>
          <p:cNvSpPr/>
          <p:nvPr/>
        </p:nvSpPr>
        <p:spPr>
          <a:xfrm>
            <a:off x="457200" y="16459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4" name="Shape 12"/>
          <p:cNvSpPr/>
          <p:nvPr/>
        </p:nvSpPr>
        <p:spPr>
          <a:xfrm>
            <a:off x="594360" y="1737360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D6F0F2"/>
          </a:solidFill>
          <a:ln/>
        </p:spPr>
      </p:sp>
      <p:sp>
        <p:nvSpPr>
          <p:cNvPr id="15" name="Text 13"/>
          <p:cNvSpPr/>
          <p:nvPr/>
        </p:nvSpPr>
        <p:spPr>
          <a:xfrm>
            <a:off x="594360" y="17373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02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1417320" y="17190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评审合入 #66</a:t>
            </a:r>
            <a:endParaRPr lang="en-US" sz="1600" dirty="0"/>
          </a:p>
        </p:txBody>
      </p:sp>
      <p:sp>
        <p:nvSpPr>
          <p:cNvPr id="17" name="Text 15"/>
          <p:cNvSpPr/>
          <p:nvPr/>
        </p:nvSpPr>
        <p:spPr>
          <a:xfrm>
            <a:off x="4663440" y="17190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核对 API Key、单测与微服务 AI 模块集成后合并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457200" y="23317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594360" y="2423160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D6F0F2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24231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03</a:t>
            </a:r>
            <a:endParaRPr lang="en-US" sz="1600" dirty="0"/>
          </a:p>
        </p:txBody>
      </p:sp>
      <p:sp>
        <p:nvSpPr>
          <p:cNvPr id="21" name="Text 19"/>
          <p:cNvSpPr/>
          <p:nvPr/>
        </p:nvSpPr>
        <p:spPr>
          <a:xfrm>
            <a:off x="1417320" y="24048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补最小 CI</a:t>
            </a:r>
            <a:endParaRPr lang="en-US" sz="1600" dirty="0"/>
          </a:p>
        </p:txBody>
      </p:sp>
      <p:sp>
        <p:nvSpPr>
          <p:cNvPr id="22" name="Text 20"/>
          <p:cNvSpPr/>
          <p:nvPr/>
        </p:nvSpPr>
        <p:spPr>
          <a:xfrm>
            <a:off x="4663440" y="24048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为单体 / 微服务与前端增加构建与单测工作流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457200" y="30175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4" name="Shape 22"/>
          <p:cNvSpPr/>
          <p:nvPr/>
        </p:nvSpPr>
        <p:spPr>
          <a:xfrm>
            <a:off x="594360" y="3108960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D6F0F2"/>
          </a:solidFill>
          <a:ln/>
        </p:spPr>
      </p:sp>
      <p:sp>
        <p:nvSpPr>
          <p:cNvPr id="25" name="Text 23"/>
          <p:cNvSpPr/>
          <p:nvPr/>
        </p:nvSpPr>
        <p:spPr>
          <a:xfrm>
            <a:off x="594360" y="31089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04</a:t>
            </a:r>
            <a:endParaRPr lang="en-US" sz="1600" dirty="0"/>
          </a:p>
        </p:txBody>
      </p:sp>
      <p:sp>
        <p:nvSpPr>
          <p:cNvPr id="26" name="Text 24"/>
          <p:cNvSpPr/>
          <p:nvPr/>
        </p:nvSpPr>
        <p:spPr>
          <a:xfrm>
            <a:off x="1417320" y="30906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运行指标入日报</a:t>
            </a:r>
            <a:endParaRPr lang="en-US" sz="1600" dirty="0"/>
          </a:p>
        </p:txBody>
      </p:sp>
      <p:sp>
        <p:nvSpPr>
          <p:cNvPr id="27" name="Text 25"/>
          <p:cNvSpPr/>
          <p:nvPr/>
        </p:nvSpPr>
        <p:spPr>
          <a:xfrm>
            <a:off x="4663440" y="30906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打通 Actuator → Prometheus → 日报数据区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457200" y="3703320"/>
            <a:ext cx="8229600" cy="594360"/>
          </a:xfrm>
          <a:prstGeom prst="roundRect">
            <a:avLst>
              <a:gd name="adj" fmla="val 12308"/>
            </a:avLst>
          </a:prstGeom>
          <a:solidFill>
            <a:srgbClr val="FFFFFF"/>
          </a:solidFill>
          <a:ln/>
        </p:spPr>
      </p:sp>
      <p:sp>
        <p:nvSpPr>
          <p:cNvPr id="29" name="Shape 27"/>
          <p:cNvSpPr/>
          <p:nvPr/>
        </p:nvSpPr>
        <p:spPr>
          <a:xfrm>
            <a:off x="594360" y="3794760"/>
            <a:ext cx="640080" cy="411480"/>
          </a:xfrm>
          <a:prstGeom prst="roundRect">
            <a:avLst>
              <a:gd name="adj" fmla="val 17778"/>
            </a:avLst>
          </a:prstGeom>
          <a:solidFill>
            <a:srgbClr val="D6F0F2"/>
          </a:solidFill>
          <a:ln/>
        </p:spPr>
      </p:sp>
      <p:sp>
        <p:nvSpPr>
          <p:cNvPr id="30" name="Text 28"/>
          <p:cNvSpPr/>
          <p:nvPr/>
        </p:nvSpPr>
        <p:spPr>
          <a:xfrm>
            <a:off x="594360" y="3794760"/>
            <a:ext cx="6400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05</a:t>
            </a:r>
            <a:endParaRPr lang="en-US" sz="1600" dirty="0"/>
          </a:p>
        </p:txBody>
      </p:sp>
      <p:sp>
        <p:nvSpPr>
          <p:cNvPr id="31" name="Text 29"/>
          <p:cNvSpPr/>
          <p:nvPr/>
        </p:nvSpPr>
        <p:spPr>
          <a:xfrm>
            <a:off x="1417320" y="3776472"/>
            <a:ext cx="3200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报告合入治理</a:t>
            </a:r>
            <a:endParaRPr lang="en-US" sz="1600" dirty="0"/>
          </a:p>
        </p:txBody>
      </p:sp>
      <p:sp>
        <p:nvSpPr>
          <p:cNvPr id="32" name="Text 30"/>
          <p:cNvSpPr/>
          <p:nvPr/>
        </p:nvSpPr>
        <p:spPr>
          <a:xfrm>
            <a:off x="4663440" y="3776472"/>
            <a:ext cx="3840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制定日报合入节奏或归档规则，降低 PR 噪音</a:t>
            </a:r>
            <a:endParaRPr lang="en-US" sz="14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未完成项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51560"/>
            <a:ext cx="406908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68580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FDE8E4"/>
          </a:solidFill>
          <a:ln/>
        </p:spPr>
      </p:sp>
      <p:sp>
        <p:nvSpPr>
          <p:cNvPr id="10" name="Text 8"/>
          <p:cNvSpPr/>
          <p:nvPr/>
        </p:nvSpPr>
        <p:spPr>
          <a:xfrm>
            <a:off x="132588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缺陷与体验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685800" y="205740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#5：缺 reasoning_content，Vue 生成失败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685800" y="256032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模型接口变更，需兼容层或升级策略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685800" y="306324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社区仍反馈未解决，优先于新特性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685800" y="3566160"/>
            <a:ext cx="36118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补充工程模式多轮工具调用回归用例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4709160" y="1051560"/>
            <a:ext cx="3977640" cy="3474720"/>
          </a:xfrm>
          <a:prstGeom prst="roundRect">
            <a:avLst>
              <a:gd name="adj" fmla="val 2632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4937760" y="128016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F0F2"/>
          </a:solidFill>
          <a:ln/>
        </p:spPr>
      </p:sp>
      <p:sp>
        <p:nvSpPr>
          <p:cNvPr id="17" name="Text 15"/>
          <p:cNvSpPr/>
          <p:nvPr/>
        </p:nvSpPr>
        <p:spPr>
          <a:xfrm>
            <a:off x="5577840" y="1371600"/>
            <a:ext cx="29260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特性与工程化</a:t>
            </a:r>
            <a:endParaRPr lang="en-US" sz="1800" dirty="0"/>
          </a:p>
        </p:txBody>
      </p:sp>
      <p:sp>
        <p:nvSpPr>
          <p:cNvPr id="18" name="Text 16"/>
          <p:cNvSpPr/>
          <p:nvPr/>
        </p:nvSpPr>
        <p:spPr>
          <a:xfrm>
            <a:off x="4937760" y="205740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Issue #65 / PR #66：You.com 搜索待合入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4937760" y="256032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业务向 CI/CD 流水线尚未建立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4937760" y="306324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运行时 KPI 尚未进入日报自动化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4937760" y="3566160"/>
            <a:ext cx="35661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历史日报 Draft PR 需合并或归档</a:t>
            </a:r>
            <a:endParaRPr lang="en-US" sz="14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CI / 测试状态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1051560"/>
          </a:xfrm>
          <a:prstGeom prst="roundRect">
            <a:avLst>
              <a:gd name="adj" fmla="val 869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234440" y="1143000"/>
            <a:ext cx="71323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无业务构建/测试工作流</a:t>
            </a:r>
            <a:endParaRPr lang="en-US" sz="1800" dirty="0"/>
          </a:p>
        </p:txBody>
      </p:sp>
      <p:sp>
        <p:nvSpPr>
          <p:cNvPr id="10" name="Text 8"/>
          <p:cNvSpPr/>
          <p:nvPr/>
        </p:nvSpPr>
        <p:spPr>
          <a:xfrm>
            <a:off x="1234440" y="1508760"/>
            <a:ext cx="7132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仓库未配置 Maven / Vue 的 GitHub Actions 门禁；最近 Actions 记录主要为 Copilot 仓库访问检查（均 success）。</a:t>
            </a:r>
            <a:endParaRPr lang="en-US" sz="1400" dirty="0"/>
          </a:p>
        </p:txBody>
      </p:sp>
      <p:sp>
        <p:nvSpPr>
          <p:cNvPr id="11" name="Shape 9"/>
          <p:cNvSpPr/>
          <p:nvPr/>
        </p:nvSpPr>
        <p:spPr>
          <a:xfrm>
            <a:off x="457200" y="23317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640080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F0F2"/>
          </a:solidFill>
          <a:ln/>
        </p:spPr>
      </p:sp>
      <p:sp>
        <p:nvSpPr>
          <p:cNvPr id="13" name="Text 11"/>
          <p:cNvSpPr/>
          <p:nvPr/>
        </p:nvSpPr>
        <p:spPr>
          <a:xfrm>
            <a:off x="64008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后端单测资产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64008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个测试类：路由、门面、CodeParser、LangGraph 工作流与图片工具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3337560" y="23317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3520440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F0F2"/>
          </a:solidFill>
          <a:ln/>
        </p:spPr>
      </p:sp>
      <p:sp>
        <p:nvSpPr>
          <p:cNvPr id="17" name="Text 15"/>
          <p:cNvSpPr/>
          <p:nvPr/>
        </p:nvSpPr>
        <p:spPr>
          <a:xfrm>
            <a:off x="352044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前端质量脚本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352044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含 type-check / lint / format；尚未在 CI 中自动执行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6217920" y="2331720"/>
            <a:ext cx="2743200" cy="2148840"/>
          </a:xfrm>
          <a:prstGeom prst="roundRect">
            <a:avLst>
              <a:gd name="adj" fmla="val 4255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25400" dir="16200000">
              <a:srgbClr val="0D5C63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2560320"/>
            <a:ext cx="502920" cy="502920"/>
          </a:xfrm>
          <a:prstGeom prst="roundRect">
            <a:avLst>
              <a:gd name="adj" fmla="val 18182"/>
            </a:avLst>
          </a:prstGeom>
          <a:solidFill>
            <a:srgbClr val="D6F0F2"/>
          </a:solidFill>
          <a:ln/>
        </p:spPr>
      </p:sp>
      <p:sp>
        <p:nvSpPr>
          <p:cNvPr id="21" name="Text 19"/>
          <p:cNvSpPr/>
          <p:nvPr/>
        </p:nvSpPr>
        <p:spPr>
          <a:xfrm>
            <a:off x="6400800" y="3200400"/>
            <a:ext cx="23774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可观测性配置</a:t>
            </a:r>
            <a:endParaRPr lang="en-US" sz="1500" dirty="0"/>
          </a:p>
        </p:txBody>
      </p:sp>
      <p:sp>
        <p:nvSpPr>
          <p:cNvPr id="22" name="Text 20"/>
          <p:cNvSpPr/>
          <p:nvPr/>
        </p:nvSpPr>
        <p:spPr>
          <a:xfrm>
            <a:off x="6400800" y="3611880"/>
            <a:ext cx="2377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prometheus.yml 与 Grafana AI 面板配置文件已就绪</a:t>
            </a:r>
            <a:endParaRPr lang="en-US" sz="13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2F8F8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09728" cy="5143500"/>
          </a:xfrm>
          <a:prstGeom prst="rect">
            <a:avLst/>
          </a:prstGeom>
          <a:solidFill>
            <a:srgbClr val="0D5C63"/>
          </a:solidFill>
          <a:ln/>
        </p:spPr>
      </p:sp>
      <p:sp>
        <p:nvSpPr>
          <p:cNvPr id="4" name="Text 2"/>
          <p:cNvSpPr/>
          <p:nvPr/>
        </p:nvSpPr>
        <p:spPr>
          <a:xfrm>
            <a:off x="457200" y="256032"/>
            <a:ext cx="7772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0D5C63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总结</a:t>
            </a:r>
            <a:endParaRPr lang="en-US" sz="3200" dirty="0"/>
          </a:p>
        </p:txBody>
      </p:sp>
      <p:sp>
        <p:nvSpPr>
          <p:cNvPr id="5" name="Shape 3"/>
          <p:cNvSpPr/>
          <p:nvPr/>
        </p:nvSpPr>
        <p:spPr>
          <a:xfrm>
            <a:off x="457200" y="749808"/>
            <a:ext cx="1280160" cy="45720"/>
          </a:xfrm>
          <a:prstGeom prst="rect">
            <a:avLst/>
          </a:prstGeom>
          <a:solidFill>
            <a:srgbClr val="1AABB8"/>
          </a:solidFill>
          <a:ln/>
        </p:spPr>
      </p:sp>
      <p:sp>
        <p:nvSpPr>
          <p:cNvPr id="6" name="Shape 4"/>
          <p:cNvSpPr/>
          <p:nvPr/>
        </p:nvSpPr>
        <p:spPr>
          <a:xfrm>
            <a:off x="0" y="4800600"/>
            <a:ext cx="9144000" cy="342900"/>
          </a:xfrm>
          <a:prstGeom prst="rect">
            <a:avLst/>
          </a:prstGeom>
          <a:solidFill>
            <a:srgbClr val="D6F0F2"/>
          </a:solidFill>
          <a:ln/>
        </p:spPr>
      </p:sp>
      <p:sp>
        <p:nvSpPr>
          <p:cNvPr id="7" name="Text 5"/>
          <p:cNvSpPr/>
          <p:nvPr/>
        </p:nvSpPr>
        <p:spPr>
          <a:xfrm>
            <a:off x="457200" y="484632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0D5C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yu-ai-code-mother  ·  每日项目状态  ·  2026-08-04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1005840"/>
            <a:ext cx="8229600" cy="777240"/>
          </a:xfrm>
          <a:prstGeom prst="roundRect">
            <a:avLst>
              <a:gd name="adj" fmla="val 11765"/>
            </a:avLst>
          </a:prstGeom>
          <a:solidFill>
            <a:srgbClr val="0D5C63"/>
          </a:solidFill>
          <a:ln/>
        </p:spPr>
      </p:sp>
      <p:sp>
        <p:nvSpPr>
          <p:cNvPr id="9" name="Text 7"/>
          <p:cNvSpPr/>
          <p:nvPr/>
        </p:nvSpPr>
        <p:spPr>
          <a:xfrm>
            <a:off x="685800" y="1143000"/>
            <a:ext cx="77724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主线稳定在微服务完成态；优先消化缺陷与待审特性，补齐工程化短板。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457200" y="201168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1" name="Shape 9"/>
          <p:cNvSpPr/>
          <p:nvPr/>
        </p:nvSpPr>
        <p:spPr>
          <a:xfrm>
            <a:off x="640080" y="2121408"/>
            <a:ext cx="329184" cy="329184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12" name="Text 10"/>
          <p:cNvSpPr/>
          <p:nvPr/>
        </p:nvSpPr>
        <p:spPr>
          <a:xfrm>
            <a:off x="640080" y="212140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400" dirty="0"/>
          </a:p>
        </p:txBody>
      </p:sp>
      <p:sp>
        <p:nvSpPr>
          <p:cNvPr id="13" name="Text 11"/>
          <p:cNvSpPr/>
          <p:nvPr/>
        </p:nvSpPr>
        <p:spPr>
          <a:xfrm>
            <a:off x="1188720" y="21031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能力完备：生成 / 可视化编辑 / 部署 / 管理 + 单体与微服务双形态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457200" y="265176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5" name="Shape 13"/>
          <p:cNvSpPr/>
          <p:nvPr/>
        </p:nvSpPr>
        <p:spPr>
          <a:xfrm>
            <a:off x="640080" y="2761488"/>
            <a:ext cx="329184" cy="329184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16" name="Text 14"/>
          <p:cNvSpPr/>
          <p:nvPr/>
        </p:nvSpPr>
        <p:spPr>
          <a:xfrm>
            <a:off x="640080" y="276148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400" dirty="0"/>
          </a:p>
        </p:txBody>
      </p:sp>
      <p:sp>
        <p:nvSpPr>
          <p:cNvPr id="17" name="Text 15"/>
          <p:cNvSpPr/>
          <p:nvPr/>
        </p:nvSpPr>
        <p:spPr>
          <a:xfrm>
            <a:off x="1188720" y="27432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近期变更：近 7 日无业务提交；日报自动化持续产出（含昨日 #74）</a:t>
            </a:r>
            <a:endParaRPr lang="en-US" sz="1500" dirty="0"/>
          </a:p>
        </p:txBody>
      </p:sp>
      <p:sp>
        <p:nvSpPr>
          <p:cNvPr id="18" name="Shape 16"/>
          <p:cNvSpPr/>
          <p:nvPr/>
        </p:nvSpPr>
        <p:spPr>
          <a:xfrm>
            <a:off x="457200" y="329184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19" name="Shape 17"/>
          <p:cNvSpPr/>
          <p:nvPr/>
        </p:nvSpPr>
        <p:spPr>
          <a:xfrm>
            <a:off x="640080" y="3401568"/>
            <a:ext cx="329184" cy="329184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20" name="Text 18"/>
          <p:cNvSpPr/>
          <p:nvPr/>
        </p:nvSpPr>
        <p:spPr>
          <a:xfrm>
            <a:off x="640080" y="340156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1" name="Text 19"/>
          <p:cNvSpPr/>
          <p:nvPr/>
        </p:nvSpPr>
        <p:spPr>
          <a:xfrm>
            <a:off x="1188720" y="338328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关键阻塞：#5 reasoning_content；#66/#65 待审；缺业务 CI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457200" y="3931920"/>
            <a:ext cx="8229600" cy="548640"/>
          </a:xfrm>
          <a:prstGeom prst="roundRect">
            <a:avLst>
              <a:gd name="adj" fmla="val 13333"/>
            </a:avLst>
          </a:prstGeom>
          <a:solidFill>
            <a:srgbClr val="FFFFFF"/>
          </a:solidFill>
          <a:ln/>
        </p:spPr>
      </p:sp>
      <p:sp>
        <p:nvSpPr>
          <p:cNvPr id="23" name="Shape 21"/>
          <p:cNvSpPr/>
          <p:nvPr/>
        </p:nvSpPr>
        <p:spPr>
          <a:xfrm>
            <a:off x="640080" y="4041648"/>
            <a:ext cx="329184" cy="329184"/>
          </a:xfrm>
          <a:prstGeom prst="ellipse">
            <a:avLst/>
          </a:prstGeom>
          <a:solidFill>
            <a:srgbClr val="0D5C63"/>
          </a:solidFill>
          <a:ln/>
        </p:spPr>
      </p:sp>
      <p:sp>
        <p:nvSpPr>
          <p:cNvPr id="24" name="Text 22"/>
          <p:cNvSpPr/>
          <p:nvPr/>
        </p:nvSpPr>
        <p:spPr>
          <a:xfrm>
            <a:off x="640080" y="40416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1188720" y="40233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1A2B2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建议节奏：修缺陷 → 合特性 → 建 CI → 指标入日报 → 报告治理</a:t>
            </a:r>
            <a:endParaRPr lang="en-US" sz="15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每日项目状态汇报 2026-08-04</dc:title>
  <dc:subject>PptxGenJS Presentation</dc:subject>
  <dc:creator>yu-ai-code-mother automation</dc:creator>
  <cp:lastModifiedBy>yu-ai-code-mother automation</cp:lastModifiedBy>
  <cp:revision>1</cp:revision>
  <dcterms:created xsi:type="dcterms:W3CDTF">2026-08-04T09:04:40Z</dcterms:created>
  <dcterms:modified xsi:type="dcterms:W3CDTF">2026-08-04T09:04:40Z</dcterms:modified>
</cp:coreProperties>
</file>