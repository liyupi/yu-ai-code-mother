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覆盖信号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单体测试</c:v>
                  </c:pt>
                  <c:pt idx="1">
                    <c:v>前端脚本</c:v>
                  </c:pt>
                  <c:pt idx="2">
                    <c:v>CI</c:v>
                  </c:pt>
                  <c:pt idx="3">
                    <c:v>微服务测试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73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b"/>
        <c:majorGridlines>
          <c:spPr>
            <a:ln w="5080" cap="flat">
              <a:solidFill>
                <a:srgbClr val="DC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73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0"/>
            <a:ext cx="5120640" cy="6858000"/>
          </a:xfrm>
          <a:prstGeom prst="rect">
            <a:avLst/>
          </a:prstGeom>
          <a:solidFill>
            <a:srgbClr val="21295C">
              <a:alpha val="96000"/>
            </a:srgbClr>
          </a:solidFill>
          <a:ln w="12700">
            <a:solidFill>
              <a:srgbClr val="21295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1005840"/>
            <a:ext cx="5029200" cy="5029200"/>
          </a:xfrm>
          <a:prstGeom prst="arc">
            <a:avLst/>
          </a:prstGeom>
          <a:noFill/>
          <a:ln w="25400">
            <a:solidFill>
              <a:srgbClr val="02C39A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0" y="2103120"/>
            <a:ext cx="3840480" cy="3840480"/>
          </a:xfrm>
          <a:prstGeom prst="arc">
            <a:avLst/>
          </a:prstGeom>
          <a:noFill/>
          <a:ln w="38100">
            <a:solidFill>
              <a:srgbClr val="1C7293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02920" y="5440680"/>
            <a:ext cx="2011680" cy="2011680"/>
          </a:xfrm>
          <a:prstGeom prst="ellipse">
            <a:avLst/>
          </a:prstGeom>
          <a:solidFill>
            <a:srgbClr val="02C39A">
              <a:alpha val="7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658368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71780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自动化日报 · 北京时间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1536192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每日项目状态汇报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29077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E8EE"/>
                </a:solidFill>
              </a:rPr>
              <a:t>yu-ai-code-mother · 面向项目维护者 / 团队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22960" y="541324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2026-06-04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635240" y="1051560"/>
            <a:ext cx="3337560" cy="4434840"/>
          </a:xfrm>
          <a:prstGeom prst="roundRect">
            <a:avLst>
              <a:gd name="adj" fmla="val 2192"/>
            </a:avLst>
          </a:prstGeom>
          <a:solidFill>
            <a:srgbClr val="F2FFFD"/>
          </a:solidFill>
          <a:ln w="10160">
            <a:solidFill>
              <a:srgbClr val="4DC7C2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973568" y="1417320"/>
            <a:ext cx="1371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今日判断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973568" y="178308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稳定维护态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973568" y="2487168"/>
            <a:ext cx="2542032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天无新增代码提交；当前仓库保留单体版、前端和微服务改造结果，适合聚焦可运行性、测试分层和环境文档补齐。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73568" y="388620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73568" y="392277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77072" y="3968496"/>
            <a:ext cx="16459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核心能力已成型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73568" y="4462272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4498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77072" y="4544568"/>
            <a:ext cx="16459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主要工程形态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0"/>
            <a:ext cx="235915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38360" y="-731520"/>
            <a:ext cx="2834640" cy="2834640"/>
          </a:xfrm>
          <a:prstGeom prst="arc">
            <a:avLst/>
          </a:prstGeom>
          <a:noFill/>
          <a:ln w="19050">
            <a:solidFill>
              <a:srgbClr val="B8DDE3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89611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README、目录结构、配置与近期提交生成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652881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737E"/>
                </a:solidFill>
              </a:rPr>
              <a:t>yu-ai-code-mother · 每日项目状态 · 2026-06-04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01400" y="645566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85800" y="1417320"/>
            <a:ext cx="91440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691640"/>
            <a:ext cx="402336" cy="40233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1728216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81328" y="1627632"/>
            <a:ext cx="12801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81328" y="1975104"/>
            <a:ext cx="15087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+ LangChain4j + LangGraph4j，默认 /api、8123。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79476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94760" y="1417320"/>
            <a:ext cx="9144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0" y="1691640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0" y="1728216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90288" y="1627632"/>
            <a:ext cx="12801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前端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90288" y="1975104"/>
            <a:ext cx="160020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 + Ant Design Vue，覆盖生成、预览、部署和后台管理。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90372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903720" y="1417320"/>
            <a:ext cx="9144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0" y="1691640"/>
            <a:ext cx="402336" cy="40233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0" y="1728216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699248" y="1627632"/>
            <a:ext cx="1371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微服务版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99248" y="1975104"/>
            <a:ext cx="162763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拆分用户、应用、截图、AI 能力模块。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10012680" y="1417320"/>
            <a:ext cx="1508760" cy="1417320"/>
          </a:xfrm>
          <a:prstGeom prst="roundRect">
            <a:avLst>
              <a:gd name="adj" fmla="val 5161"/>
            </a:avLst>
          </a:prstGeom>
          <a:solidFill>
            <a:srgbClr val="E8F7F6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012680" y="1417320"/>
            <a:ext cx="91440" cy="1417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22992" y="1682496"/>
            <a:ext cx="5943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49840" y="19568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维护态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685800" y="33375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32688" y="3611880"/>
            <a:ext cx="1097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工程范围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14400" y="4005072"/>
            <a:ext cx="429768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2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根目录为完整单体后端，含 AI 生成、部署、监控、数据访问。</a:t>
            </a:r>
            <a:endParaRPr lang="en-US" sz="1280" dirty="0"/>
          </a:p>
          <a:p>
            <a:r>
              <a:rPr lang="en-US" sz="12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前端独立目录，默认连接后端 8123/api。</a:t>
            </a:r>
            <a:endParaRPr lang="en-US" sz="1280" dirty="0"/>
          </a:p>
          <a:p>
            <a:r>
              <a:rPr lang="en-US" sz="12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微服务目录保留最终改造结果，并依赖 Nacos / Dubbo。</a:t>
            </a:r>
            <a:endParaRPr lang="en-US" sz="1280" dirty="0"/>
          </a:p>
        </p:txBody>
      </p:sp>
      <p:sp>
        <p:nvSpPr>
          <p:cNvPr id="36" name="Shape 34"/>
          <p:cNvSpPr/>
          <p:nvPr/>
        </p:nvSpPr>
        <p:spPr>
          <a:xfrm>
            <a:off x="6080760" y="33375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55080" y="3611880"/>
            <a:ext cx="1097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当前信号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355080" y="4005072"/>
            <a:ext cx="461772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2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定位为企业级 AI 代码生成平台教学项目。</a:t>
            </a:r>
            <a:endParaRPr lang="en-US" sz="1280" dirty="0"/>
          </a:p>
          <a:p>
            <a:r>
              <a:rPr lang="en-US" sz="12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最新历史提交为 2025-08-26 微服务改造完成。</a:t>
            </a:r>
            <a:endParaRPr lang="en-US" sz="1280" dirty="0"/>
          </a:p>
          <a:p>
            <a:r>
              <a:rPr lang="en-US" sz="12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天未发现新增代码提交或 CI 运行记录。</a:t>
            </a:r>
            <a:endParaRPr lang="en-US" sz="12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0"/>
            <a:ext cx="235915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38360" y="-731520"/>
            <a:ext cx="2834640" cy="2834640"/>
          </a:xfrm>
          <a:prstGeom prst="arc">
            <a:avLst/>
          </a:prstGeom>
          <a:noFill/>
          <a:ln w="19050">
            <a:solidFill>
              <a:srgbClr val="B8DDE3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89611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描述的四大能力已形成端到端产品闭环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652881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737E"/>
                </a:solidFill>
              </a:rPr>
              <a:t>yu-ai-code-mother · 每日项目状态 · 2026-06-04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01400" y="645566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417320"/>
            <a:ext cx="48920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1417320"/>
            <a:ext cx="91440" cy="15727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173736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19072" y="167335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19072" y="207568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需求描述 → AI 分析策略 → 工具调用 → 代码文件落盘；支持流式输出执行过程。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48920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417320"/>
            <a:ext cx="91440" cy="15727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173736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205472" y="167335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205472" y="207568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生成应用实时预览，进入编辑模式选择元素，并通过 AI 对话持续修改页面。</a:t>
            </a:r>
            <a:endParaRPr lang="en-US" sz="128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48920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3703320"/>
            <a:ext cx="91440" cy="15727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02336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719072" y="395935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一键部署分享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19072" y="436168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云端部署、自动封面截图、分享访问地址，并支持完整项目源码下载。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6217920" y="3703320"/>
            <a:ext cx="48920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3703320"/>
            <a:ext cx="91440" cy="15727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3952" y="402336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205472" y="395935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05472" y="436168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用户管理、应用管理、系统监控、AI 调用与业务指标观察、精选应用设置。</a:t>
            </a:r>
            <a:endParaRPr lang="en-US" sz="1280" dirty="0"/>
          </a:p>
        </p:txBody>
      </p:sp>
      <p:sp>
        <p:nvSpPr>
          <p:cNvPr id="31" name="Shape 29"/>
          <p:cNvSpPr/>
          <p:nvPr/>
        </p:nvSpPr>
        <p:spPr>
          <a:xfrm>
            <a:off x="5897880" y="1417320"/>
            <a:ext cx="0" cy="3886200"/>
          </a:xfrm>
          <a:prstGeom prst="line">
            <a:avLst/>
          </a:prstGeom>
          <a:noFill/>
          <a:ln w="15240">
            <a:solidFill>
              <a:srgbClr val="B8DDE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0"/>
            <a:ext cx="235915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38360" y="-731520"/>
            <a:ext cx="2834640" cy="2834640"/>
          </a:xfrm>
          <a:prstGeom prst="arc">
            <a:avLst/>
          </a:prstGeom>
          <a:noFill/>
          <a:ln w="19050">
            <a:solidFill>
              <a:srgbClr val="B8DDE3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主要模块与职责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89611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单体、前端、微服务三条工程线并存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652881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737E"/>
                </a:solidFill>
              </a:rPr>
              <a:t>yu-ai-code-mother · 每日项目状态 · 2026-06-04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01400" y="645566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298448"/>
            <a:ext cx="49834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1298448"/>
            <a:ext cx="91440" cy="4434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1572768"/>
            <a:ext cx="1097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模块地图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87552" y="205740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093976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44752" y="2075688"/>
            <a:ext cx="1645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service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880360" y="2075688"/>
            <a:ext cx="2240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API、用户/应用/对话、截图、下载等业务编排</a:t>
            </a:r>
            <a:endParaRPr lang="en-US" sz="1140" dirty="0"/>
          </a:p>
        </p:txBody>
      </p:sp>
      <p:sp>
        <p:nvSpPr>
          <p:cNvPr id="18" name="Shape 16"/>
          <p:cNvSpPr/>
          <p:nvPr/>
        </p:nvSpPr>
        <p:spPr>
          <a:xfrm>
            <a:off x="987552" y="2715768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752344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44752" y="2734056"/>
            <a:ext cx="1645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langgraph4j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2734056"/>
            <a:ext cx="2240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服务、工具调用、工作流路由、质量检查与并发子图</a:t>
            </a:r>
            <a:endParaRPr lang="en-US" sz="1140" dirty="0"/>
          </a:p>
        </p:txBody>
      </p:sp>
      <p:sp>
        <p:nvSpPr>
          <p:cNvPr id="22" name="Shape 20"/>
          <p:cNvSpPr/>
          <p:nvPr/>
        </p:nvSpPr>
        <p:spPr>
          <a:xfrm>
            <a:off x="987552" y="337413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4107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44752" y="3392424"/>
            <a:ext cx="1645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880360" y="3392424"/>
            <a:ext cx="2240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多文件 / Vue 项目代码解析、保存与构建门面</a:t>
            </a:r>
            <a:endParaRPr lang="en-US" sz="1140" dirty="0"/>
          </a:p>
        </p:txBody>
      </p:sp>
      <p:sp>
        <p:nvSpPr>
          <p:cNvPr id="26" name="Shape 24"/>
          <p:cNvSpPr/>
          <p:nvPr/>
        </p:nvSpPr>
        <p:spPr>
          <a:xfrm>
            <a:off x="987552" y="4032504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069080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44752" y="4050792"/>
            <a:ext cx="1645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frontend/src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880360" y="4050792"/>
            <a:ext cx="2240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首页、对话页、编辑页、管理页、登录态与 OpenAPI 封装</a:t>
            </a:r>
            <a:endParaRPr lang="en-US" sz="1140" dirty="0"/>
          </a:p>
        </p:txBody>
      </p:sp>
      <p:sp>
        <p:nvSpPr>
          <p:cNvPr id="30" name="Shape 28"/>
          <p:cNvSpPr/>
          <p:nvPr/>
        </p:nvSpPr>
        <p:spPr>
          <a:xfrm>
            <a:off x="987552" y="4690872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27448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444752" y="4709160"/>
            <a:ext cx="16459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microservice/*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880360" y="4709160"/>
            <a:ext cx="2240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common/model/client/user/app/screenshot/ai 模块拆分</a:t>
            </a:r>
            <a:endParaRPr lang="en-US" sz="1140" dirty="0"/>
          </a:p>
        </p:txBody>
      </p:sp>
      <p:sp>
        <p:nvSpPr>
          <p:cNvPr id="34" name="Shape 32"/>
          <p:cNvSpPr/>
          <p:nvPr/>
        </p:nvSpPr>
        <p:spPr>
          <a:xfrm>
            <a:off x="6172200" y="1298448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F8FEFD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446520" y="1572768"/>
            <a:ext cx="1463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运行/依赖视图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583680" y="2103120"/>
            <a:ext cx="1600200" cy="658368"/>
          </a:xfrm>
          <a:prstGeom prst="roundRect">
            <a:avLst>
              <a:gd name="adj" fmla="val 11111"/>
            </a:avLst>
          </a:prstGeom>
          <a:solidFill>
            <a:srgbClr val="E8F7F6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876288" y="2304288"/>
            <a:ext cx="8229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前端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732520" y="2103120"/>
            <a:ext cx="1783080" cy="658368"/>
          </a:xfrm>
          <a:prstGeom prst="roundRect">
            <a:avLst>
              <a:gd name="adj" fmla="val 11111"/>
            </a:avLst>
          </a:prstGeom>
          <a:solidFill>
            <a:srgbClr val="E4F4FA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915400" y="2304288"/>
            <a:ext cx="12344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 8123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83880" y="2432304"/>
            <a:ext cx="5486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315200" y="3401568"/>
            <a:ext cx="1463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662672" y="3566160"/>
            <a:ext cx="64008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235440" y="3401568"/>
            <a:ext cx="1463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601200" y="3566160"/>
            <a:ext cx="64008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315200" y="4315968"/>
            <a:ext cx="1463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626096" y="4480560"/>
            <a:ext cx="73152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API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35440" y="4315968"/>
            <a:ext cx="1463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464040" y="4480560"/>
            <a:ext cx="96012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COS/截图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3680" y="5230368"/>
            <a:ext cx="4023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微服务模式额外依赖 Nacos + Dubbo，多服务端口尚未由网关统一。</a:t>
            </a:r>
            <a:endParaRPr lang="en-US" sz="12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0"/>
            <a:ext cx="235915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38360" y="-731520"/>
            <a:ext cx="2834640" cy="2834640"/>
          </a:xfrm>
          <a:prstGeom prst="arc">
            <a:avLst/>
          </a:prstGeom>
          <a:noFill/>
          <a:ln w="19050">
            <a:solidFill>
              <a:srgbClr val="B8DDE3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89611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天无新提交；历史主线集中在微服务改造与可观测性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652881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737E"/>
                </a:solidFill>
              </a:rPr>
              <a:t>yu-ai-code-mother · 每日项目状态 · 2026-06-04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01400" y="645566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200400"/>
            <a:ext cx="10149840" cy="0"/>
          </a:xfrm>
          <a:prstGeom prst="line">
            <a:avLst/>
          </a:prstGeom>
          <a:noFill/>
          <a:ln w="25400">
            <a:solidFill>
              <a:srgbClr val="B8DD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999232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035808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212848"/>
            <a:ext cx="10515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部署上线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37160" y="1847088"/>
            <a:ext cx="192024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完成部署相关能力沉淀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3337560" y="2999232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37560" y="3035808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08960" y="2212848"/>
            <a:ext cx="10515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88920" y="3730752"/>
            <a:ext cx="1463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560320" y="4069080"/>
            <a:ext cx="192024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 Actuator / Prometheus 监控信号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5760720" y="2999232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0" y="3035808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2120" y="2212848"/>
            <a:ext cx="10515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212080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微服务拆分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983480" y="1847088"/>
            <a:ext cx="192024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common/model/client 等核心模块</a:t>
            </a:r>
            <a:endParaRPr lang="en-US" sz="1040" dirty="0"/>
          </a:p>
        </p:txBody>
      </p:sp>
      <p:sp>
        <p:nvSpPr>
          <p:cNvPr id="27" name="Shape 25"/>
          <p:cNvSpPr/>
          <p:nvPr/>
        </p:nvSpPr>
        <p:spPr>
          <a:xfrm>
            <a:off x="8183880" y="2999232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83880" y="3035808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955280" y="2212848"/>
            <a:ext cx="10515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635240" y="3730752"/>
            <a:ext cx="1463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7406640" y="4069080"/>
            <a:ext cx="192024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最终提交包含完整单体项目代码，可作为当前稳定基线</a:t>
            </a:r>
            <a:endParaRPr lang="en-US" sz="1040" dirty="0"/>
          </a:p>
        </p:txBody>
      </p:sp>
      <p:sp>
        <p:nvSpPr>
          <p:cNvPr id="32" name="Shape 30"/>
          <p:cNvSpPr/>
          <p:nvPr/>
        </p:nvSpPr>
        <p:spPr>
          <a:xfrm>
            <a:off x="10607040" y="2999232"/>
            <a:ext cx="402336" cy="40233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035808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378440" y="2212848"/>
            <a:ext cx="10515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2026-06-04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058400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今日巡检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9829800" y="1847088"/>
            <a:ext cx="192024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4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天无新增提交，仓库处于稳定维护态</a:t>
            </a:r>
            <a:endParaRPr lang="en-US" sz="1040" dirty="0"/>
          </a:p>
        </p:txBody>
      </p:sp>
      <p:sp>
        <p:nvSpPr>
          <p:cNvPr id="37" name="Shape 35"/>
          <p:cNvSpPr/>
          <p:nvPr/>
        </p:nvSpPr>
        <p:spPr>
          <a:xfrm>
            <a:off x="914400" y="5166360"/>
            <a:ext cx="9875520" cy="713232"/>
          </a:xfrm>
          <a:prstGeom prst="roundRect">
            <a:avLst>
              <a:gd name="adj" fmla="val 10256"/>
            </a:avLst>
          </a:prstGeom>
          <a:solidFill>
            <a:srgbClr val="E8F7F6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170432" y="5422392"/>
            <a:ext cx="9144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注意：多个 2025-08-26 中间态提交明确标注“不宜单独使用”，当前应以最新 893918c 作为代码基线。</a:t>
            </a:r>
            <a:endParaRPr lang="en-US" sz="12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0"/>
            <a:ext cx="235915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38360" y="-731520"/>
            <a:ext cx="2834640" cy="2834640"/>
          </a:xfrm>
          <a:prstGeom prst="arc">
            <a:avLst/>
          </a:prstGeom>
          <a:noFill/>
          <a:ln w="19050">
            <a:solidFill>
              <a:srgbClr val="B8DDE3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89611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当前以仓库可观测信号和配置状态为主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652881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737E"/>
                </a:solidFill>
              </a:rPr>
              <a:t>yu-ai-code-mother · 每日项目状态 · 2026-06-04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01400" y="645566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1417320"/>
            <a:ext cx="2331720" cy="1627632"/>
          </a:xfrm>
          <a:prstGeom prst="roundRect">
            <a:avLst>
              <a:gd name="adj" fmla="val 4494"/>
            </a:avLst>
          </a:prstGeom>
          <a:solidFill>
            <a:srgbClr val="E8F7F6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1417320"/>
            <a:ext cx="91440" cy="16276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17007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947672" y="1773936"/>
            <a:ext cx="896112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天新增提交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1947672" y="2139696"/>
            <a:ext cx="868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 --since=7.days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611880" y="1417320"/>
            <a:ext cx="233172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11880" y="1417320"/>
            <a:ext cx="91440" cy="16276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13048" y="17007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736592" y="1773936"/>
            <a:ext cx="896112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后端测试类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4736592" y="2139696"/>
            <a:ext cx="868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src/test 中 *Test*.java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400800" y="1417320"/>
            <a:ext cx="233172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1417320"/>
            <a:ext cx="91440" cy="1627632"/>
          </a:xfrm>
          <a:prstGeom prst="rect">
            <a:avLst/>
          </a:prstGeom>
          <a:solidFill>
            <a:srgbClr val="E08E45"/>
          </a:solidFill>
          <a:ln w="12700">
            <a:solidFill>
              <a:srgbClr val="E08E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1968" y="17007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8E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7525512" y="1773936"/>
            <a:ext cx="896112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workflow</a:t>
            </a:r>
            <a:endParaRPr lang="en-US" sz="1180" dirty="0"/>
          </a:p>
        </p:txBody>
      </p:sp>
      <p:sp>
        <p:nvSpPr>
          <p:cNvPr id="25" name="Text 23"/>
          <p:cNvSpPr/>
          <p:nvPr/>
        </p:nvSpPr>
        <p:spPr>
          <a:xfrm>
            <a:off x="7525512" y="2139696"/>
            <a:ext cx="868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89720" y="1417320"/>
            <a:ext cx="233172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89720" y="1417320"/>
            <a:ext cx="91440" cy="16276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90888" y="17007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10314432" y="1773936"/>
            <a:ext cx="896112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主要工程形态</a:t>
            </a:r>
            <a:endParaRPr lang="en-US" sz="1180" dirty="0"/>
          </a:p>
        </p:txBody>
      </p:sp>
      <p:sp>
        <p:nvSpPr>
          <p:cNvPr id="30" name="Text 28"/>
          <p:cNvSpPr/>
          <p:nvPr/>
        </p:nvSpPr>
        <p:spPr>
          <a:xfrm>
            <a:off x="10314432" y="2139696"/>
            <a:ext cx="868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/ 前端 / 微服务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822960" y="365760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" y="3657600"/>
            <a:ext cx="91440" cy="1600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78992" y="3931920"/>
            <a:ext cx="1097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监控配置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78992" y="4315968"/>
            <a:ext cx="44805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抓取 /api/actuator/prometheus。</a:t>
            </a:r>
            <a:endParaRPr lang="en-US" sz="1180" dirty="0"/>
          </a:p>
          <a:p>
            <a:r>
              <a:rPr lang="en-US" sz="11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后端暴露 health、info、prometheus 端点。</a:t>
            </a:r>
            <a:endParaRPr lang="en-US" sz="1180" dirty="0"/>
          </a:p>
          <a:p>
            <a:r>
              <a:rPr lang="en-US" sz="11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调用指标有 Micrometer 收集器。</a:t>
            </a:r>
            <a:endParaRPr lang="en-US" sz="1180" dirty="0"/>
          </a:p>
        </p:txBody>
      </p:sp>
      <p:sp>
        <p:nvSpPr>
          <p:cNvPr id="35" name="Shape 33"/>
          <p:cNvSpPr/>
          <p:nvPr/>
        </p:nvSpPr>
        <p:spPr>
          <a:xfrm>
            <a:off x="6400800" y="3657600"/>
            <a:ext cx="4617720" cy="1600200"/>
          </a:xfrm>
          <a:prstGeom prst="roundRect">
            <a:avLst>
              <a:gd name="adj" fmla="val 4571"/>
            </a:avLst>
          </a:prstGeom>
          <a:solidFill>
            <a:srgbClr val="FFF8F2"/>
          </a:solidFill>
          <a:ln w="10160">
            <a:solidFill>
              <a:srgbClr val="F1C79A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3657600"/>
            <a:ext cx="91440" cy="1600200"/>
          </a:xfrm>
          <a:prstGeom prst="rect">
            <a:avLst/>
          </a:prstGeom>
          <a:solidFill>
            <a:srgbClr val="E08E45"/>
          </a:solidFill>
          <a:ln w="12700">
            <a:solidFill>
              <a:srgbClr val="E08E4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56832" y="3931920"/>
            <a:ext cx="12801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测试/CI 状态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656832" y="4315968"/>
            <a:ext cx="3886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后端有 Spring Boot 测试，但多依赖真实 MySQL/Redis/AI Key。</a:t>
            </a:r>
            <a:endParaRPr lang="en-US" sz="1180" dirty="0"/>
          </a:p>
          <a:p>
            <a:r>
              <a:rPr lang="en-US" sz="11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前端有 build / lint 脚本，无单元或 E2E 测试框架。</a:t>
            </a:r>
            <a:endParaRPr lang="en-US" sz="1180" dirty="0"/>
          </a:p>
          <a:p>
            <a:r>
              <a:rPr lang="en-US" sz="118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微服务目录未发现测试代码。</a:t>
            </a:r>
            <a:endParaRPr lang="en-US" sz="118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1920240" y="5440680"/>
          <a:ext cx="8138160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0"/>
            <a:ext cx="235915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38360" y="-731520"/>
            <a:ext cx="2834640" cy="2834640"/>
          </a:xfrm>
          <a:prstGeom prst="arc">
            <a:avLst/>
          </a:prstGeom>
          <a:noFill/>
          <a:ln w="19050">
            <a:solidFill>
              <a:srgbClr val="B8DDE3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89611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当前主要风险来自环境复杂度、测试依赖和工程边界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652881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737E"/>
                </a:solidFill>
              </a:rPr>
              <a:t>yu-ai-code-mother · 每日项目状态 · 2026-06-04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01400" y="645566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141732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1417320"/>
            <a:ext cx="91440" cy="1417320"/>
          </a:xfrm>
          <a:prstGeom prst="rect">
            <a:avLst/>
          </a:prstGeom>
          <a:solidFill>
            <a:srgbClr val="E08E45"/>
          </a:solidFill>
          <a:ln w="12700">
            <a:solidFill>
              <a:srgbClr val="E08E4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" y="1764792"/>
            <a:ext cx="384048" cy="384048"/>
          </a:xfrm>
          <a:prstGeom prst="ellipse">
            <a:avLst/>
          </a:prstGeom>
          <a:solidFill>
            <a:srgbClr val="E08E45"/>
          </a:solidFill>
          <a:ln w="12700">
            <a:solidFill>
              <a:srgbClr val="E08E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18013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18488" y="167335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环境启动复杂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618488" y="2057400"/>
            <a:ext cx="345643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完整跑通依赖 MySQL、Redis、AI API Key、COS、Selenium/Chrome；微服务模式还需要 Nacos。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6263640" y="141732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FF7F5"/>
          </a:solidFill>
          <a:ln w="10160">
            <a:solidFill>
              <a:srgbClr val="F2B5AD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1417320"/>
            <a:ext cx="91440" cy="1417320"/>
          </a:xfrm>
          <a:prstGeom prst="rect">
            <a:avLst/>
          </a:prstGeom>
          <a:solidFill>
            <a:srgbClr val="C7524A"/>
          </a:solidFill>
          <a:ln w="12700">
            <a:solidFill>
              <a:srgbClr val="C752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19672" y="1764792"/>
            <a:ext cx="384048" cy="384048"/>
          </a:xfrm>
          <a:prstGeom prst="ellipse">
            <a:avLst/>
          </a:prstGeom>
          <a:solidFill>
            <a:srgbClr val="C7524A"/>
          </a:solidFill>
          <a:ln w="12700">
            <a:solidFill>
              <a:srgbClr val="C752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9672" y="18013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04888" y="167335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自动化不足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104888" y="2057400"/>
            <a:ext cx="345643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CI 配置；测试多为集成形态，缺少可在无外部 Key 环境稳定运行的最小回归集。</a:t>
            </a:r>
            <a:endParaRPr lang="en-US" sz="1170" dirty="0"/>
          </a:p>
        </p:txBody>
      </p:sp>
      <p:sp>
        <p:nvSpPr>
          <p:cNvPr id="23" name="Shape 21"/>
          <p:cNvSpPr/>
          <p:nvPr/>
        </p:nvSpPr>
        <p:spPr>
          <a:xfrm>
            <a:off x="777240" y="370332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3703320"/>
            <a:ext cx="9144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3272" y="4050792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3272" y="40873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618488" y="395935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双架构并存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618488" y="4343400"/>
            <a:ext cx="345643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单体与微服务代码同时存在，前端默认仍指向单体 8123，微服务缺少统一网关入口。</a:t>
            </a:r>
            <a:endParaRPr lang="en-US" sz="1170" dirty="0"/>
          </a:p>
        </p:txBody>
      </p:sp>
      <p:sp>
        <p:nvSpPr>
          <p:cNvPr id="29" name="Shape 27"/>
          <p:cNvSpPr/>
          <p:nvPr/>
        </p:nvSpPr>
        <p:spPr>
          <a:xfrm>
            <a:off x="6263640" y="370332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63640" y="3703320"/>
            <a:ext cx="91440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19672" y="4050792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19672" y="40873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04888" y="3959352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配置安全与版本风险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04888" y="4343400"/>
            <a:ext cx="345643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7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默认配置含示例密码和 API Key 占位；LangGraph4j 使用 rc 版本，生产前需评估。</a:t>
            </a:r>
            <a:endParaRPr lang="en-US" sz="1170" dirty="0"/>
          </a:p>
        </p:txBody>
      </p:sp>
      <p:sp>
        <p:nvSpPr>
          <p:cNvPr id="35" name="Shape 33"/>
          <p:cNvSpPr/>
          <p:nvPr/>
        </p:nvSpPr>
        <p:spPr>
          <a:xfrm>
            <a:off x="1097280" y="5486400"/>
            <a:ext cx="9921240" cy="475488"/>
          </a:xfrm>
          <a:prstGeom prst="roundRect">
            <a:avLst>
              <a:gd name="adj" fmla="val 15385"/>
            </a:avLst>
          </a:prstGeom>
          <a:solidFill>
            <a:srgbClr val="E8F7F6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417320" y="5632704"/>
            <a:ext cx="89611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阻塞性质：不是单点代码缺陷，而是“环境 + 自动化 + 架构入口”组合导致的可验证性风险。</a:t>
            </a:r>
            <a:endParaRPr lang="en-US" sz="12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0"/>
            <a:ext cx="235915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38360" y="-731520"/>
            <a:ext cx="2834640" cy="2834640"/>
          </a:xfrm>
          <a:prstGeom prst="arc">
            <a:avLst/>
          </a:prstGeom>
          <a:noFill/>
          <a:ln w="19050">
            <a:solidFill>
              <a:srgbClr val="B8DDE3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89611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建议把缺口拆为可运行性、质量保障、微服务完善三类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652881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737E"/>
                </a:solidFill>
              </a:rPr>
              <a:t>yu-ai-code-mother · 每日项目状态 · 2026-06-04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01400" y="645566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1444752"/>
            <a:ext cx="3246120" cy="41605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1444752"/>
            <a:ext cx="91440" cy="4160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" y="1783080"/>
            <a:ext cx="438912" cy="43891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1819656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1773936"/>
            <a:ext cx="1371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可运行性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16152" y="2487168"/>
            <a:ext cx="2395728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补充 docker-compose：MySQL / Redis / Nacos。</a:t>
            </a:r>
            <a:endParaRPr lang="en-US" sz="1220" dirty="0"/>
          </a:p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 .env 示例与本地启动检查清单。</a:t>
            </a:r>
            <a:endParaRPr lang="en-US" sz="1220" dirty="0"/>
          </a:p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明确单体优先或微服务优先的默认开发路径。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216152" y="4800600"/>
            <a:ext cx="2331720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0" y="1444752"/>
            <a:ext cx="3246120" cy="41605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0" y="1444752"/>
            <a:ext cx="91440" cy="41605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28032" y="17830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1819656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40680" y="1773936"/>
            <a:ext cx="1371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质量保障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10912" y="2487168"/>
            <a:ext cx="2395728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CI：后端无外部依赖测试 + 前端 build/lint。</a:t>
            </a:r>
            <a:endParaRPr lang="en-US" sz="1220" dirty="0"/>
          </a:p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集成测试与单元测试分层，外部 API 使用 Mock。</a:t>
            </a:r>
            <a:endParaRPr lang="en-US" sz="1220" dirty="0"/>
          </a:p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微服务模块补充最小服务/接口测试。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5010912" y="4800600"/>
            <a:ext cx="2331720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66760" y="1444752"/>
            <a:ext cx="3246120" cy="41605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0160">
            <a:solidFill>
              <a:srgbClr val="D7E9EC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66760" y="1444752"/>
            <a:ext cx="91440" cy="41605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22792" y="1783080"/>
            <a:ext cx="438912" cy="43891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22792" y="1819656"/>
            <a:ext cx="438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35440" y="1773936"/>
            <a:ext cx="1371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架构完善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805672" y="2487168"/>
            <a:ext cx="2395728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微服务模式增加 API Gateway 或统一入口说明。</a:t>
            </a:r>
            <a:endParaRPr lang="en-US" sz="1220" dirty="0"/>
          </a:p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统一前端 API_BASE_URL 和多环境配置策略。</a:t>
            </a:r>
            <a:endParaRPr lang="en-US" sz="1220" dirty="0"/>
          </a:p>
          <a:p>
            <a:r>
              <a:rPr lang="en-US" sz="1220" dirty="0">
                <a:solidFill>
                  <a:srgbClr val="17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 yu-ai-code-ai 是否独立服务化。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8805672" y="4800600"/>
            <a:ext cx="2331720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0"/>
            <a:ext cx="235915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38360" y="-731520"/>
            <a:ext cx="2834640" cy="2834640"/>
          </a:xfrm>
          <a:prstGeom prst="arc">
            <a:avLst/>
          </a:prstGeom>
          <a:noFill/>
          <a:ln w="19050">
            <a:solidFill>
              <a:srgbClr val="B8DDE3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89611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按降低维护成本与提升可验证性排序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652881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737E"/>
                </a:solidFill>
              </a:rPr>
              <a:t>yu-ai-code-mother · 每日项目状态 · 2026-06-04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01400" y="645566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1353312"/>
            <a:ext cx="102412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170432" y="15087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20240" y="1499616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锁定默认运行模式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3977640" y="1499616"/>
            <a:ext cx="6309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优先用单体版作为新人和回归验证入口，微服务作为扩展架构路线。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914400" y="2313432"/>
            <a:ext cx="10241280" cy="676656"/>
          </a:xfrm>
          <a:prstGeom prst="roundRect">
            <a:avLst>
              <a:gd name="adj" fmla="val 10811"/>
            </a:avLst>
          </a:prstGeom>
          <a:solidFill>
            <a:srgbClr val="F8FEFD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170432" y="24688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920240" y="2459736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补齐环境文档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3977640" y="2459736"/>
            <a:ext cx="6309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compose / env / 启动脚本说明，降低 MySQL、Redis、Nacos、Key 配置门槛。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914400" y="3273552"/>
            <a:ext cx="102412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70432" y="34290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920240" y="3419856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引入基础 CI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3977640" y="3419856"/>
            <a:ext cx="6309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后端选择无外部依赖的最小测试集，前端执行 build 和 lint。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914400" y="4233672"/>
            <a:ext cx="10241280" cy="676656"/>
          </a:xfrm>
          <a:prstGeom prst="roundRect">
            <a:avLst>
              <a:gd name="adj" fmla="val 10811"/>
            </a:avLst>
          </a:prstGeom>
          <a:solidFill>
            <a:srgbClr val="F8FEFD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170432" y="43891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920240" y="4379976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测试分层改造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3977640" y="4379976"/>
            <a:ext cx="6309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AI / COS / 截图等集成测试隔离，默认回归使用 Mock 或条件开关。</a:t>
            </a:r>
            <a:endParaRPr lang="en-US" sz="1230" dirty="0"/>
          </a:p>
        </p:txBody>
      </p:sp>
      <p:sp>
        <p:nvSpPr>
          <p:cNvPr id="27" name="Shape 25"/>
          <p:cNvSpPr/>
          <p:nvPr/>
        </p:nvSpPr>
        <p:spPr>
          <a:xfrm>
            <a:off x="914400" y="5193792"/>
            <a:ext cx="102412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0160">
            <a:solidFill>
              <a:srgbClr val="B8DDE3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170432" y="5349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920240" y="5340096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微服务入口收敛</a:t>
            </a:r>
            <a:endParaRPr lang="en-US" sz="1380" dirty="0"/>
          </a:p>
        </p:txBody>
      </p:sp>
      <p:sp>
        <p:nvSpPr>
          <p:cNvPr id="30" name="Text 28"/>
          <p:cNvSpPr/>
          <p:nvPr/>
        </p:nvSpPr>
        <p:spPr>
          <a:xfrm>
            <a:off x="3977640" y="5340096"/>
            <a:ext cx="6309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补充网关或统一反向代理方案，明确前端访问路径。</a:t>
            </a:r>
            <a:endParaRPr lang="en-US" sz="1230" dirty="0"/>
          </a:p>
        </p:txBody>
      </p:sp>
      <p:sp>
        <p:nvSpPr>
          <p:cNvPr id="31" name="Shape 29"/>
          <p:cNvSpPr/>
          <p:nvPr/>
        </p:nvSpPr>
        <p:spPr>
          <a:xfrm>
            <a:off x="3794760" y="6263640"/>
            <a:ext cx="4297680" cy="292608"/>
          </a:xfrm>
          <a:prstGeom prst="roundRect">
            <a:avLst>
              <a:gd name="adj" fmla="val 1562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67912" y="6323076"/>
            <a:ext cx="4151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优先级：运行路径 &gt; 自动化验证 &gt; 微服务增强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0"/>
            <a:ext cx="5120640" cy="6858000"/>
          </a:xfrm>
          <a:prstGeom prst="rect">
            <a:avLst/>
          </a:prstGeom>
          <a:solidFill>
            <a:srgbClr val="21295C">
              <a:alpha val="96000"/>
            </a:srgbClr>
          </a:solidFill>
          <a:ln w="12700">
            <a:solidFill>
              <a:srgbClr val="21295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1005840"/>
            <a:ext cx="5029200" cy="5029200"/>
          </a:xfrm>
          <a:prstGeom prst="arc">
            <a:avLst/>
          </a:prstGeom>
          <a:noFill/>
          <a:ln w="25400">
            <a:solidFill>
              <a:srgbClr val="02C39A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0" y="2103120"/>
            <a:ext cx="3840480" cy="3840480"/>
          </a:xfrm>
          <a:prstGeom prst="arc">
            <a:avLst/>
          </a:prstGeom>
          <a:noFill/>
          <a:ln w="38100">
            <a:solidFill>
              <a:srgbClr val="1C7293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502920" y="5440680"/>
            <a:ext cx="2011680" cy="2011680"/>
          </a:xfrm>
          <a:prstGeom prst="ellipse">
            <a:avLst/>
          </a:prstGeom>
          <a:solidFill>
            <a:srgbClr val="02C39A">
              <a:alpha val="7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658368"/>
            <a:ext cx="822960" cy="292608"/>
          </a:xfrm>
          <a:prstGeom prst="roundRect">
            <a:avLst>
              <a:gd name="adj" fmla="val 15625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717804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</a:rPr>
              <a:t>结论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12984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今日总结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841248" y="1993392"/>
            <a:ext cx="56692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D8F5F1"/>
                </a:solidFill>
              </a:rPr>
              <a:t>项目能力完整，近期无代码变化；后续重点应从“功能追加”转向“可运行、可测试、可维护”。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68680" y="3063240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3090672"/>
            <a:ext cx="5943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057400" y="3090672"/>
            <a:ext cx="4892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D8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生成、可视化编辑、部署分享、企业级管理已在 README 和工程结构中体现。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68680" y="3721608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75818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25880" y="3749040"/>
            <a:ext cx="5943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057400" y="3749040"/>
            <a:ext cx="4892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D8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天无新增提交，最新历史基线为微服务改造完成。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868680" y="4379976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41655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407408"/>
            <a:ext cx="5943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057400" y="4407408"/>
            <a:ext cx="4892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D8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环境依赖和自动化缺口会影响交付验证与团队协作效率。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868680" y="5038344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507492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25880" y="5065776"/>
            <a:ext cx="5943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057400" y="5065776"/>
            <a:ext cx="4892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D8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优先补齐本地环境、CI 最小回归集、微服务统一入口。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7635240" y="1207008"/>
            <a:ext cx="3474720" cy="4526280"/>
          </a:xfrm>
          <a:prstGeom prst="roundRect">
            <a:avLst>
              <a:gd name="adj" fmla="val 2105"/>
            </a:avLst>
          </a:prstGeom>
          <a:solidFill>
            <a:srgbClr val="F2FFFD"/>
          </a:solidFill>
          <a:ln w="10160">
            <a:solidFill>
              <a:srgbClr val="4DC7C2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936992" y="1572768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报告文件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936992" y="1993392"/>
            <a:ext cx="25420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docs/reports/project-status-2026-06-04.pptx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936992" y="2907792"/>
            <a:ext cx="25603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D7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检查方式：markitdown 文本抽取、占位符扫描、LibreOffice 渲染 PDF/JPEG 后进行视觉复核。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936992" y="4800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2026-06-04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2026-06-04</dc:title>
  <dc:subject>每日项目状态汇报</dc:subject>
  <dc:creator>Cursor Automation</dc:creator>
  <cp:lastModifiedBy>Cursor Automation</cp:lastModifiedBy>
  <cp:revision>1</cp:revision>
  <dcterms:created xsi:type="dcterms:W3CDTF">2026-06-04T09:08:44Z</dcterms:created>
  <dcterms:modified xsi:type="dcterms:W3CDTF">2026-06-04T09:08:44Z</dcterms:modified>
</cp:coreProperties>
</file>