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F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92240" y="0"/>
            <a:ext cx="5715000" cy="6858000"/>
          </a:xfrm>
          <a:prstGeom prst="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731520"/>
            <a:ext cx="2926080" cy="2926080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4434840"/>
            <a:ext cx="2468880" cy="24688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63640" y="5303520"/>
            <a:ext cx="2011680" cy="2011680"/>
          </a:xfrm>
          <a:prstGeom prst="ellipse">
            <a:avLst/>
          </a:prstGeom>
          <a:solidFill>
            <a:srgbClr val="0D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694944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68580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CBF5F0"/>
                </a:solidFill>
                <a:latin typeface="Calibri"/>
              </a:rPr>
              <a:t>AI 零代码应用生成平台（yu-ai-code-mother）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62179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E5F7FA"/>
                </a:solidFill>
                <a:latin typeface="Calibri"/>
              </a:rPr>
              <a:t>面向项目维护者 / 团队的自动化状态快照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2834640" cy="3017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94660"/>
            <a:ext cx="268833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运行日（北京时间） 2026-06-20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926080"/>
            <a:ext cx="2788920" cy="301752"/>
          </a:xfrm>
          <a:prstGeom prst="roundRect">
            <a:avLst/>
          </a:prstGeom>
          <a:solidFill>
            <a:srgbClr val="12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2994660"/>
            <a:ext cx="2642615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配色：Ocean Gradient / Teal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261872"/>
            <a:ext cx="822960" cy="5120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463040"/>
            <a:ext cx="12801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BF5F0"/>
                </a:solidFill>
                <a:latin typeface="Calibri"/>
              </a:rPr>
              <a:t>核心能力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76272"/>
            <a:ext cx="822960" cy="5120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1645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BF5F0"/>
                </a:solidFill>
                <a:latin typeface="Calibri"/>
              </a:rPr>
              <a:t>近 7 天开发提交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72968"/>
            <a:ext cx="11430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1C4BE"/>
                </a:solidFill>
                <a:latin typeface="Calibri"/>
              </a:rPr>
              <a:t>无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55264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BF5F0"/>
                </a:solidFill>
                <a:latin typeface="Calibri"/>
              </a:rPr>
              <a:t>需补质量门禁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F5F0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CBF5F0"/>
                </a:solidFill>
                <a:latin typeface="Calibri"/>
              </a:rPr>
              <a:t>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5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今日快照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基于 README、模块目录、配置与最近 7 天 Git 记录的静态仓库分析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55063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9688"/>
                </a:solidFill>
                <a:latin typeface="Georg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README 明确核心能力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生成 / 编辑 / 部署 / 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0876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655063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1C4BE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84831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主要工程区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1343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后端 / 前端 / 微服务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50876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1655063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A623"/>
                </a:solidFill>
                <a:latin typeface="Georg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084831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近 7 天开发提交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31343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本地分支日志为空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0876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655063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25858"/>
                </a:solidFill>
                <a:latin typeface="Georgia"/>
              </a:rPr>
              <a:t>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84831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CI 工作流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31343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.github/workflows 不存在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017520"/>
            <a:ext cx="5303520" cy="22860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97180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2971800"/>
            <a:ext cx="109728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136392"/>
            <a:ext cx="4818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总体判断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630168"/>
            <a:ext cx="4846320" cy="14996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平台能力主干完整：AI 代码生成、实时预览、可视化编辑、部署分享与后台管理均有对应实现。当前代码基线近期无新增开发提交，维护重点应放在质量门禁、双轨后端取舍与微服务回归保障。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3017520"/>
            <a:ext cx="4983480" cy="22860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2971800"/>
            <a:ext cx="4983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2971800"/>
            <a:ext cx="109728" cy="2286000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3136392"/>
            <a:ext cx="449884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今日关注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630168"/>
            <a:ext cx="4526280" cy="14996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1. 明确单体与微服务主线
2. 建立最小 CI：后端 compile + 前端 build/lint
3. 将外部依赖测试分层隔离
4. 清理调试输出与配置样例风险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教学向企业级 AI 代码生成平台，聚焦 AI 驱动业务与后端架构设计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463040"/>
            <a:ext cx="4983480" cy="448056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9728" cy="4480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81912"/>
            <a:ext cx="3931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定位与目标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4526280" cy="36941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• 对标大厂 AI 应用生成器
• 基于 Spring Boot 3 + LangChain4j + Vue 3
• 覆盖 AI 智能体、AI 工作流、流式输出、部署与监控
• 面向学习者与项目维护团队沉淀全栈能力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463040"/>
            <a:ext cx="5257800" cy="448056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9320" y="14173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9320" y="1417320"/>
            <a:ext cx="109728" cy="4480560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18488"/>
            <a:ext cx="475488" cy="475488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81912"/>
            <a:ext cx="42062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架构版图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075688"/>
            <a:ext cx="4800600" cy="36941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前端 Vue 3 与单体后端形成完整闭环；微服务版拆分用户、应用、AI、截图等能力，依赖 Nacos + Dubbo。数据层以 MySQL / Redis / COS 为核心。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34640"/>
            <a:ext cx="4160520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903220"/>
            <a:ext cx="39776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Vue 3 前端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64992"/>
            <a:ext cx="4480560" cy="310896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433572"/>
            <a:ext cx="429768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Spring Boot 单体后端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95344"/>
            <a:ext cx="3886200" cy="310896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63924"/>
            <a:ext cx="370332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Dubbo 微服务拆分版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25696"/>
            <a:ext cx="4617720" cy="310896"/>
          </a:xfrm>
          <a:prstGeom prst="roundRect">
            <a:avLst/>
          </a:prstGeom>
          <a:solidFill>
            <a:srgbClr val="538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94276"/>
            <a:ext cx="443484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MySQL / Redis / COS / Prometheus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README 中明确的四大产品能力，代码中已有对应模块支撑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508760"/>
            <a:ext cx="5074920" cy="16916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9728" cy="1691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6420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27632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智能代码生成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4617720" cy="9052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需求描述 → 策略路由 → 工具调用 → 文件生成；支持 HTML、多文件、Vue 工程三类生成路径。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08760"/>
            <a:ext cx="5074920" cy="16916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109728" cy="1691640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664208"/>
            <a:ext cx="475488" cy="475488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27632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可视化编辑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21408"/>
            <a:ext cx="4617720" cy="9052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生成应用实时预览，编辑模式可选中页面元素并通过 AI 对话快速修改。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657600"/>
            <a:ext cx="5074920" cy="16916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611880"/>
            <a:ext cx="109728" cy="1691640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813048"/>
            <a:ext cx="475488" cy="475488"/>
          </a:xfrm>
          <a:prstGeom prst="ellipse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0448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76472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一键部署分享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270248"/>
            <a:ext cx="4617720" cy="9052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应用部署、封面截图、访问地址分享与完整源码下载形成发布闭环。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657600"/>
            <a:ext cx="5074920" cy="16916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611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611880"/>
            <a:ext cx="109728" cy="1691640"/>
          </a:xfrm>
          <a:prstGeom prst="roundRect">
            <a:avLst/>
          </a:prstGeom>
          <a:solidFill>
            <a:srgbClr val="2D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3813048"/>
            <a:ext cx="475488" cy="475488"/>
          </a:xfrm>
          <a:prstGeom prst="ellipse">
            <a:avLst/>
          </a:prstGeom>
          <a:solidFill>
            <a:srgbClr val="2D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0448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76472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企业级管理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270248"/>
            <a:ext cx="4617720" cy="9052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用户、应用、对话、精选内容、限流与 Prometheus 指标为运营治理提供基础。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5715000"/>
            <a:ext cx="256032" cy="256032"/>
          </a:xfrm>
          <a:prstGeom prst="ellipse">
            <a:avLst/>
          </a:prstGeom>
          <a:solidFill>
            <a:srgbClr val="CB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20440" y="5715000"/>
            <a:ext cx="256032" cy="256032"/>
          </a:xfrm>
          <a:prstGeom prst="ellipse">
            <a:avLst/>
          </a:prstGeom>
          <a:solidFill>
            <a:srgbClr val="E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63640" y="5715000"/>
            <a:ext cx="256032" cy="256032"/>
          </a:xfrm>
          <a:prstGeom prst="ellipse">
            <a:avLst/>
          </a:prstGeom>
          <a:solidFill>
            <a:srgbClr val="CB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06840" y="5715000"/>
            <a:ext cx="256032" cy="256032"/>
          </a:xfrm>
          <a:prstGeom prst="ellipse">
            <a:avLst/>
          </a:prstGeom>
          <a:solidFill>
            <a:srgbClr val="E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主要模块目录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从仓库结构看，单体后端最完整，微服务拆分版正在承接业务边界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463040"/>
            <a:ext cx="5074920" cy="16002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9728" cy="1600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81912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单体后端 src/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4617720" cy="8138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Controller / Service / AI / LangGraph4j / 监控
端口 8123，功能闭环最完整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463040"/>
            <a:ext cx="5074920" cy="16002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109728" cy="1600200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618488"/>
            <a:ext cx="475488" cy="475488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581912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前端 yu-ai-code-mother-frontend/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075688"/>
            <a:ext cx="4617720" cy="8138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Vue 3 + Ant Design Vue
首页、对话预览、可视化编辑、后台管理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520439"/>
            <a:ext cx="5074920" cy="16002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109728" cy="1600200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675887"/>
            <a:ext cx="475488" cy="475488"/>
          </a:xfrm>
          <a:prstGeom prst="ellipse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673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639312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微服务 yu-ai-code-mother-microservice/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133087"/>
            <a:ext cx="4617720" cy="8138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common / model / client / user / app / ai / screenshot
依赖 Dubbo + Nacos，多端口运行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520439"/>
            <a:ext cx="5074920" cy="160020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474720"/>
            <a:ext cx="109728" cy="1600200"/>
          </a:xfrm>
          <a:prstGeom prst="roundRect">
            <a:avLst/>
          </a:prstGeom>
          <a:solidFill>
            <a:srgbClr val="2D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3675887"/>
            <a:ext cx="475488" cy="475488"/>
          </a:xfrm>
          <a:prstGeom prst="ellipse">
            <a:avLst/>
          </a:prstGeom>
          <a:solidFill>
            <a:srgbClr val="2D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7673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639312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数据与基础设施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133087"/>
            <a:ext cx="4617720" cy="8138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sql/create_table.sql 定义 user/app/chat_history
prometheus.yml 抓取后端指标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194560"/>
            <a:ext cx="457200" cy="27432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0" y="4251960"/>
            <a:ext cx="457200" cy="27432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昨日 / 近期变更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最近 7 天本地 Git 日志优先；当前分支无新增开发提交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A623"/>
                </a:solidFill>
                <a:latin typeface="Georgia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近 7 天开发提交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git log --since=7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9688"/>
                </a:solidFill>
                <a:latin typeface="Georgia"/>
              </a:rPr>
              <a:t>893918c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当前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与 origin/master 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A4C65"/>
                </a:solidFill>
                <a:latin typeface="Georgia"/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远程 cursor 分支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存在并行实验分支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2834639"/>
            <a:ext cx="5212080" cy="26060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2788920"/>
            <a:ext cx="52120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2788920"/>
            <a:ext cx="109728" cy="2606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953512"/>
            <a:ext cx="472744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近期状态归纳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447287"/>
            <a:ext cx="4754880" cy="18196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• 本地分支近 7 天没有业务代码提交
• 当前自动化任务仅新增每日汇报文件
• README 与目录显示功能主干已成型
• 远程存在多个 cursor 分支，合入节奏需要维护者确认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834639"/>
            <a:ext cx="5074920" cy="26060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2788920"/>
            <a:ext cx="50749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2788920"/>
            <a:ext cx="109728" cy="2606040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953512"/>
            <a:ext cx="45902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对维护工作的含义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447287"/>
            <a:ext cx="4617720" cy="18196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代码基线相对稳定，但缺少 CI 导致“稳定”主要来自静态观察。建议先建立可重复的最小构建链路，再推动架构与测试债务收敛。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806440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6144768"/>
            <a:ext cx="7772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读取文档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08176" y="5943600"/>
            <a:ext cx="1965960" cy="22860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29000" y="5806440"/>
            <a:ext cx="292608" cy="292608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6144768"/>
            <a:ext cx="7772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扫描模块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9896" y="5943600"/>
            <a:ext cx="1965960" cy="22860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720" y="5806440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6144768"/>
            <a:ext cx="7772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检查提交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1616" y="5943600"/>
            <a:ext cx="1965960" cy="22860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92440" y="5806440"/>
            <a:ext cx="292608" cy="292608"/>
          </a:xfrm>
          <a:prstGeom prst="ellipse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6144768"/>
            <a:ext cx="7772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生成报告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数据 / 指标要点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当前为静态仓库指标；运行态质量与业务指标需要接入 CI 和监控后持续追踪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9688"/>
                </a:solidFill>
                <a:latin typeface="Georg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代码生成类型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HTML / 多文件 / Vue 工程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1C4BE"/>
                </a:solidFill>
                <a:latin typeface="Georgia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单体后端测试类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多为集成测试，依赖外部环境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25858"/>
                </a:solidFill>
                <a:latin typeface="Georg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微服务测试类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拆分版缺少自动回归覆盖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4173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1" y="1563624"/>
            <a:ext cx="146304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5A623"/>
                </a:solidFill>
                <a:latin typeface="Georgia"/>
              </a:rP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1993392"/>
            <a:ext cx="1783080" cy="2103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72F41"/>
                </a:solidFill>
                <a:latin typeface="Calibri"/>
              </a:rPr>
              <a:t>外部依赖类别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221992"/>
            <a:ext cx="173736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AI Key / MySQL / Redis / COS / Selenium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108960"/>
            <a:ext cx="5166360" cy="21488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06324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063240"/>
            <a:ext cx="109728" cy="2148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227832"/>
            <a:ext cx="468172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可观测基础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721608"/>
            <a:ext cx="4709160" cy="1362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后端已暴露 health、info、prometheus 端点，仓库包含 prometheus.yml，可作为后续接入 AI 调用量、响应时延、错误率与资源消耗的基础。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3108960"/>
            <a:ext cx="5074920" cy="214884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40"/>
            <a:ext cx="5074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3063240"/>
            <a:ext cx="109728" cy="2148840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227832"/>
            <a:ext cx="45902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当前缺口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721608"/>
            <a:ext cx="4617720" cy="1362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无自动化流水线与运行态报表，无法直接判断最近构建是否通过、测试是否稳定、线上指标是否健康；需要先补最小质量采集链路。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05840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功能主干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532120"/>
            <a:ext cx="3108960" cy="109728"/>
          </a:xfrm>
          <a:prstGeom prst="round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0" y="5532120"/>
            <a:ext cx="2549347" cy="10972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88152"/>
            <a:ext cx="1005840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测试自动化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5788152"/>
            <a:ext cx="3108960" cy="109728"/>
          </a:xfrm>
          <a:prstGeom prst="round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28800" y="5788152"/>
            <a:ext cx="1088136" cy="10972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44183"/>
            <a:ext cx="1005840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86C76"/>
                </a:solidFill>
                <a:latin typeface="Calibri"/>
              </a:rPr>
              <a:t>CI 门禁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6044183"/>
            <a:ext cx="3108960" cy="109728"/>
          </a:xfrm>
          <a:prstGeom prst="round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28800" y="6044183"/>
            <a:ext cx="248716" cy="109728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CI / 测试状态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仓库无自动化 CI 配置；测试资产集中在单体后端，前端具备 build 与 lint 脚本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463040"/>
            <a:ext cx="3291840" cy="402336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9728" cy="4023360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475488" cy="475488"/>
          </a:xfrm>
          <a:prstGeom prst="ellipse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81912"/>
            <a:ext cx="22402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CI 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2834640" cy="32369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状态：未发现
.github/workflows 不存在
未见 Jenkinsfile / Dockerfile / GitLab CI
影响：无法从流水线判断最近绿/红状态。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463040"/>
            <a:ext cx="3291840" cy="402336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109728" cy="40233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1848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581912"/>
            <a:ext cx="224027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后端测试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075688"/>
            <a:ext cx="2834640" cy="32369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单体 src/test 下约 15 个测试类
覆盖 AI 服务、LangGraph 工作流、解析器与工具
注意：多项测试依赖真实 AI API、Redis、MySQL、COS、Selenium。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5" y="1463040"/>
            <a:ext cx="3063240" cy="402336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79" y="1417320"/>
            <a:ext cx="3063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417320"/>
            <a:ext cx="109728" cy="4023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161848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70992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581912"/>
            <a:ext cx="201167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前端质量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2075688"/>
            <a:ext cx="2606040" cy="32369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package.json 提供：
• npm run build
• npm run lint
• npm run format
未发现 Vitest/Jest 单元测试配置。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742432"/>
            <a:ext cx="2331720" cy="301752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5811012"/>
            <a:ext cx="2185415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CI: 未接入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5742432"/>
            <a:ext cx="2331720" cy="30175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5811012"/>
            <a:ext cx="2185415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后端: 有测试但偏集成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5742432"/>
            <a:ext cx="2331720" cy="3017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5811012"/>
            <a:ext cx="2185415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前端: 有构建/静检脚本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风险与阻塞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风险主要来自架构双轨、外部依赖复杂度与缺少可重复质量门禁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" y="1344168"/>
            <a:ext cx="5074920" cy="1078992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109728" cy="1078992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499616"/>
            <a:ext cx="475488" cy="475488"/>
          </a:xfrm>
          <a:prstGeom prst="ellipse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63039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72F41"/>
                </a:solidFill>
                <a:latin typeface="Calibri"/>
              </a:rPr>
              <a:t>双轨后端未统一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5"/>
            <a:ext cx="4617720" cy="2926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C2B34"/>
                </a:solidFill>
                <a:latin typeface="Calibri"/>
              </a:rPr>
              <a:t>单体含 LangGraph4j；微服务版尚未完整承接工作流能力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44168"/>
            <a:ext cx="5074920" cy="1078992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98448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298448"/>
            <a:ext cx="109728" cy="107899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49961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91056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463039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72F41"/>
                </a:solidFill>
                <a:latin typeface="Calibri"/>
              </a:rPr>
              <a:t>环境依赖复杂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56815"/>
            <a:ext cx="4617720" cy="2926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C2B34"/>
                </a:solidFill>
                <a:latin typeface="Calibri"/>
              </a:rPr>
              <a:t>MySQL、Redis、Nacos、Dubbo、多 AI Key、COS、Selenium 均可能影响本地验证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2825496"/>
            <a:ext cx="5074920" cy="1078992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779776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779776"/>
            <a:ext cx="109728" cy="107899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2980944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072384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944368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72F41"/>
                </a:solidFill>
                <a:latin typeface="Calibri"/>
              </a:rPr>
              <a:t>测试难以稳定运行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438144"/>
            <a:ext cx="4617720" cy="2926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C2B34"/>
                </a:solidFill>
                <a:latin typeface="Calibri"/>
              </a:rPr>
              <a:t>集成测试依赖真实外部服务，缺少 Mock 与分层标签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825496"/>
            <a:ext cx="5074920" cy="1078992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2779776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2779776"/>
            <a:ext cx="109728" cy="1078992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2980944"/>
            <a:ext cx="475488" cy="475488"/>
          </a:xfrm>
          <a:prstGeom prst="ellipse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072384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944368"/>
            <a:ext cx="40233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72F41"/>
                </a:solidFill>
                <a:latin typeface="Calibri"/>
              </a:rPr>
              <a:t>依赖与补丁维护成本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438144"/>
            <a:ext cx="4617720" cy="2926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C2B34"/>
                </a:solidFill>
                <a:latin typeface="Calibri"/>
              </a:rPr>
              <a:t>内嵌 LangChain4j 相关补丁与 rc 依赖增加升级风险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" y="4306824"/>
            <a:ext cx="5074920" cy="1078992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4261104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4261104"/>
            <a:ext cx="109728" cy="107899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462272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553712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4425696"/>
            <a:ext cx="402336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72F41"/>
                </a:solidFill>
                <a:latin typeface="Calibri"/>
              </a:rPr>
              <a:t>配置样例风险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4919472"/>
            <a:ext cx="4617720" cy="2926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C2B34"/>
                </a:solidFill>
                <a:latin typeface="Calibri"/>
              </a:rPr>
              <a:t>默认密码与占位 Key 需通过环境变量和样例文件规范化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468112"/>
            <a:ext cx="10515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72F41"/>
                </a:solidFill>
                <a:latin typeface="Calibri"/>
              </a:rPr>
              <a:t>风险热区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5413248"/>
            <a:ext cx="219456" cy="21945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96144" y="5413248"/>
            <a:ext cx="219456" cy="219456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625328" y="5413248"/>
            <a:ext cx="219456" cy="219456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09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72F41"/>
                </a:solidFill>
                <a:latin typeface="Georgia"/>
              </a:rPr>
              <a:t>建议下一步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86C76"/>
                </a:solidFill>
                <a:latin typeface="Calibri"/>
              </a:rPr>
              <a:t>以质量门禁和主线收敛为优先，降低后续功能迭代的不确定性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99032"/>
            <a:ext cx="502920" cy="3017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7612"/>
            <a:ext cx="35661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53896" y="1371600"/>
            <a:ext cx="9875520" cy="694944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17320" y="1325880"/>
            <a:ext cx="98755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1325880"/>
            <a:ext cx="109728" cy="69494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1490472"/>
            <a:ext cx="9390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72F41"/>
                </a:solidFill>
                <a:latin typeface="Calibri"/>
              </a:rPr>
              <a:t>明确主开发线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984248"/>
            <a:ext cx="9418320" cy="-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C2B34"/>
                </a:solidFill>
                <a:latin typeface="Calibri"/>
              </a:rPr>
              <a:t>确认单体或微服务为主线；若保留双轨，文档化能力边界与同步策略。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340864"/>
            <a:ext cx="502920" cy="301752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09444"/>
            <a:ext cx="35661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53896" y="2313432"/>
            <a:ext cx="9875520" cy="694944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2267712"/>
            <a:ext cx="98755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7320" y="2267712"/>
            <a:ext cx="109728" cy="694944"/>
          </a:xfrm>
          <a:prstGeom prst="roundRect">
            <a:avLst/>
          </a:prstGeom>
          <a:solidFill>
            <a:srgbClr val="E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3352" y="2432304"/>
            <a:ext cx="9390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72F41"/>
                </a:solidFill>
                <a:latin typeface="Calibri"/>
              </a:rPr>
              <a:t>补最小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2926080"/>
            <a:ext cx="9418320" cy="-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C2B34"/>
                </a:solidFill>
                <a:latin typeface="Calibri"/>
              </a:rPr>
              <a:t>GitHub Actions：后端 mvn compile、前端 build/lint，先建立可重复反馈。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82696"/>
            <a:ext cx="502920" cy="30175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351276"/>
            <a:ext cx="35661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3896" y="3255263"/>
            <a:ext cx="9875520" cy="694944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17320" y="3209544"/>
            <a:ext cx="98755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17320" y="3209544"/>
            <a:ext cx="109728" cy="69494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73352" y="3374136"/>
            <a:ext cx="9390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72F41"/>
                </a:solidFill>
                <a:latin typeface="Calibri"/>
              </a:rPr>
              <a:t>测试分层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867911"/>
            <a:ext cx="9418320" cy="-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C2B34"/>
                </a:solidFill>
                <a:latin typeface="Calibri"/>
              </a:rPr>
              <a:t>为外部依赖测试增加 integration 标签；核心生成逻辑引入 Mock AI。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224528"/>
            <a:ext cx="502920" cy="301752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293108"/>
            <a:ext cx="35661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53896" y="4197096"/>
            <a:ext cx="9875520" cy="694944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17320" y="4151376"/>
            <a:ext cx="98755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17320" y="4151376"/>
            <a:ext cx="109728" cy="69494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73352" y="4315968"/>
            <a:ext cx="9390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72F41"/>
                </a:solidFill>
                <a:latin typeface="Calibri"/>
              </a:rPr>
              <a:t>微服务回归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3352" y="4809744"/>
            <a:ext cx="9418320" cy="-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C2B34"/>
                </a:solidFill>
                <a:latin typeface="Calibri"/>
              </a:rPr>
              <a:t>围绕 user/app/screenshot 的核心服务补单测与接口契约验证。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166360"/>
            <a:ext cx="502920" cy="301752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234940"/>
            <a:ext cx="35661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53896" y="5138928"/>
            <a:ext cx="9875520" cy="694944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17320" y="5093208"/>
            <a:ext cx="987552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417320" y="5093208"/>
            <a:ext cx="109728" cy="694944"/>
          </a:xfrm>
          <a:prstGeom prst="roundRect">
            <a:avLst/>
          </a:prstGeom>
          <a:solidFill>
            <a:srgbClr val="0A4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73352" y="5257800"/>
            <a:ext cx="9390888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72F41"/>
                </a:solidFill>
                <a:latin typeface="Calibri"/>
              </a:rPr>
              <a:t>清理技术债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3352" y="5751576"/>
            <a:ext cx="9418320" cy="-914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C2B34"/>
                </a:solidFill>
                <a:latin typeface="Calibri"/>
              </a:rPr>
              <a:t>移除调试输出，梳理 LangChain4j 补丁来源，统一环境变量清单。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881360" y="1664208"/>
            <a:ext cx="384048" cy="182880"/>
          </a:xfrm>
          <a:prstGeom prst="rightArrow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10881360" y="2606040"/>
            <a:ext cx="384048" cy="182880"/>
          </a:xfrm>
          <a:prstGeom prst="rightArrow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10881360" y="3547872"/>
            <a:ext cx="384048" cy="182880"/>
          </a:xfrm>
          <a:prstGeom prst="rightArrow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10881360" y="4489704"/>
            <a:ext cx="384048" cy="182880"/>
          </a:xfrm>
          <a:prstGeom prst="rightArrow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86C76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86C76"/>
                </a:solidFill>
                <a:latin typeface="Calibr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F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F5F0"/>
                </a:solidFill>
                <a:latin typeface="Calibri"/>
              </a:rPr>
              <a:t>功能主干已具备，下一阶段建议把“可验证、可维护、可演进”作为主线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61288"/>
            <a:ext cx="1143000" cy="54864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" y="1508760"/>
            <a:ext cx="3383280" cy="347472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09728" cy="3474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664208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27632"/>
            <a:ext cx="23317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当前能力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21408"/>
            <a:ext cx="2926080" cy="2688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AI 代码生成、可视化编辑、一键部署、后台治理能力已形成产品闭环。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383280" cy="347472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463040"/>
            <a:ext cx="109728" cy="34747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6420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75564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627632"/>
            <a:ext cx="23317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当前短板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121408"/>
            <a:ext cx="2926080" cy="2688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无 CI、微服务测试缺失、外部依赖多，导致质量反馈不可重复。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5" y="1508760"/>
            <a:ext cx="3246120" cy="3474720"/>
          </a:xfrm>
          <a:prstGeom prst="roundRect">
            <a:avLst/>
          </a:prstGeom>
          <a:solidFill>
            <a:srgbClr val="D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4630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463040"/>
            <a:ext cx="109728" cy="3474720"/>
          </a:xfrm>
          <a:prstGeom prst="roundRect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664208"/>
            <a:ext cx="475488" cy="475488"/>
          </a:xfrm>
          <a:prstGeom prst="ellipse">
            <a:avLst/>
          </a:prstGeom>
          <a:solidFill>
            <a:srgbClr val="31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55648"/>
            <a:ext cx="47548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627632"/>
            <a:ext cx="219455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72F41"/>
                </a:solidFill>
                <a:latin typeface="Calibri"/>
              </a:rPr>
              <a:t>行动方向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121408"/>
            <a:ext cx="2788920" cy="2688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C2B34"/>
                </a:solidFill>
                <a:latin typeface="Calibri"/>
              </a:rPr>
              <a:t>先补最小质量门禁，再推动架构主线收敛与测试分层。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5577840"/>
            <a:ext cx="7406640" cy="301752"/>
          </a:xfrm>
          <a:prstGeom prst="roundRect">
            <a:avLst/>
          </a:prstGeom>
          <a:solidFill>
            <a:srgbClr val="12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6312" y="5646420"/>
            <a:ext cx="726033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报告文件：docs/reports/project-status-2026-06-20.pptx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CBF5F0"/>
                </a:solidFill>
                <a:latin typeface="Calibri"/>
              </a:rPr>
              <a:t>yu-ai-code-mother | 每日项目状态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CBF5F0"/>
                </a:solidFill>
                <a:latin typeface="Calibri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327648"/>
            <a:ext cx="10972800" cy="9144"/>
          </a:xfrm>
          <a:prstGeom prst="rect">
            <a:avLst/>
          </a:prstGeom>
          <a:solidFill>
            <a:srgbClr val="5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