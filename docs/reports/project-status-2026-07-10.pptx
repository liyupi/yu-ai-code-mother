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9080" y="0"/>
            <a:ext cx="4114800" cy="6858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0"/>
            <a:ext cx="4114800" cy="68580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502920"/>
            <a:ext cx="11155680" cy="5852160"/>
          </a:xfrm>
          <a:prstGeom prst="roundRect">
            <a:avLst/>
          </a:prstGeom>
          <a:solidFill>
            <a:srgbClr val="0A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9281160" y="-182880"/>
            <a:ext cx="3291840" cy="3291840"/>
          </a:xfrm>
          <a:prstGeom prst="arc">
            <a:avLst/>
          </a:prstGeom>
          <a:noFill/>
          <a:ln w="1016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9592056" y="-137160"/>
            <a:ext cx="3291840" cy="3291840"/>
          </a:xfrm>
          <a:prstGeom prst="arc">
            <a:avLst/>
          </a:prstGeom>
          <a:noFill/>
          <a:ln w="88900">
            <a:solidFill>
              <a:srgbClr val="B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9902952" y="-91440"/>
            <a:ext cx="3291840" cy="3291840"/>
          </a:xfrm>
          <a:prstGeom prst="arc">
            <a:avLst/>
          </a:prstGeom>
          <a:noFill/>
          <a:ln w="762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87000" y="932688"/>
            <a:ext cx="201168" cy="20116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34472" y="1316736"/>
            <a:ext cx="274320" cy="274320"/>
          </a:xfrm>
          <a:prstGeom prst="ellipse">
            <a:avLst/>
          </a:prstGeom>
          <a:solidFill>
            <a:srgbClr val="B8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1700784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822960"/>
            <a:ext cx="1371600" cy="31089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886968"/>
            <a:ext cx="1316736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DAILY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508760"/>
            <a:ext cx="7955279" cy="594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FFFFF"/>
                </a:solidFill>
                <a:latin typeface="Georgia"/>
              </a:rPr>
              <a:t>AI 零代码应用生成平台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130552"/>
            <a:ext cx="6583680" cy="685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 i="0">
                <a:solidFill>
                  <a:srgbClr val="FFFFFF"/>
                </a:solidFill>
                <a:latin typeface="Georgia"/>
              </a:rPr>
              <a:t>每日项目状态汇报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980944"/>
            <a:ext cx="786384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B8EAE3"/>
                </a:solidFill>
                <a:latin typeface="Calibri"/>
              </a:rPr>
              <a:t>运行日：2026-07-10（北京时间）｜受众：项目维护者 / 团队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886200"/>
            <a:ext cx="20574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78407" y="4050791"/>
            <a:ext cx="73152" cy="841248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576" y="4032504"/>
            <a:ext cx="16002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1295C"/>
                </a:solidFill>
                <a:latin typeface="Georgia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7864" y="4599432"/>
            <a:ext cx="15544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近 7 天本地提交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54680" y="3886200"/>
            <a:ext cx="20574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264408" y="4050791"/>
            <a:ext cx="73152" cy="841248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65576" y="4032504"/>
            <a:ext cx="16002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1295C"/>
                </a:solidFill>
                <a:latin typeface="Georgia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83864" y="4599432"/>
            <a:ext cx="15544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微服务子模块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40680" y="3886200"/>
            <a:ext cx="205740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550408" y="4050791"/>
            <a:ext cx="73152" cy="841248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51576" y="4032504"/>
            <a:ext cx="160020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1295C"/>
                </a:solidFill>
                <a:latin typeface="Georgia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69864" y="4599432"/>
            <a:ext cx="15544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单体测试类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5486400"/>
            <a:ext cx="886968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1">
                <a:solidFill>
                  <a:srgbClr val="B8EAE3"/>
                </a:solidFill>
                <a:latin typeface="Calibri"/>
              </a:rPr>
              <a:t>主线判断：单体后端 + Vue 前端可作为当前完整主路径；微服务拆分已推进但仍需闭环。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B8EAE3"/>
                </a:solidFill>
                <a:latin typeface="Calibri"/>
              </a:rPr>
              <a:t>yu-ai-code-mother · 每日项目状态 · 2026-07-10 · 01</a:t>
            </a:r>
          </a:p>
        </p:txBody>
      </p:sp>
      <p:sp>
        <p:nvSpPr>
          <p:cNvPr id="31" name="Oval 30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9281160" y="-182880"/>
            <a:ext cx="3291840" cy="3291840"/>
          </a:xfrm>
          <a:prstGeom prst="arc">
            <a:avLst/>
          </a:prstGeom>
          <a:noFill/>
          <a:ln w="1016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9592056" y="-137160"/>
            <a:ext cx="3291840" cy="3291840"/>
          </a:xfrm>
          <a:prstGeom prst="arc">
            <a:avLst/>
          </a:prstGeom>
          <a:noFill/>
          <a:ln w="889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9902952" y="-91440"/>
            <a:ext cx="3291840" cy="3291840"/>
          </a:xfrm>
          <a:prstGeom prst="arc">
            <a:avLst/>
          </a:prstGeom>
          <a:noFill/>
          <a:ln w="76200">
            <a:solidFill>
              <a:srgbClr val="065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87000" y="932688"/>
            <a:ext cx="201168" cy="20116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34472" y="1316736"/>
            <a:ext cx="274320" cy="27432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81944" y="1700784"/>
            <a:ext cx="347472" cy="34747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347472"/>
            <a:ext cx="84124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Georgia"/>
              </a:rPr>
              <a:t>项目概览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960120"/>
            <a:ext cx="713232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6D7A"/>
                </a:solidFill>
                <a:latin typeface="Calibri"/>
              </a:rPr>
              <a:t>仓库呈现“完整单体 + 微服务演进 + Vue 前端”的双架构形态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3749039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4400" y="1664208"/>
            <a:ext cx="1371600" cy="310896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1728216"/>
            <a:ext cx="1316736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PROJECT SNAPSHOT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121408"/>
            <a:ext cx="292608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定位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2606040"/>
            <a:ext cx="3291840" cy="21031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93000"/>
              </a:lnSpc>
            </a:pPr>
            <a:r>
              <a:rPr sz="1450" b="0">
                <a:solidFill>
                  <a:srgbClr val="1D2B36"/>
                </a:solidFill>
                <a:latin typeface="Calibri"/>
              </a:rPr>
              <a:t>• 面向 AI 应用生成与代码生成教学实践</a:t>
            </a:r>
          </a:p>
          <a:p>
            <a:pPr algn="l">
              <a:lnSpc>
                <a:spcPct val="93000"/>
              </a:lnSpc>
            </a:pPr>
            <a:r>
              <a:rPr sz="1450" b="0">
                <a:solidFill>
                  <a:srgbClr val="1D2B36"/>
                </a:solidFill>
                <a:latin typeface="Calibri"/>
              </a:rPr>
              <a:t>• 技术栈覆盖 Spring Boot 3、LangChain4j、LangGraph4j、Vue 3、Vite</a:t>
            </a:r>
          </a:p>
          <a:p>
            <a:pPr algn="l">
              <a:lnSpc>
                <a:spcPct val="93000"/>
              </a:lnSpc>
            </a:pPr>
            <a:r>
              <a:rPr sz="1450" b="0">
                <a:solidFill>
                  <a:srgbClr val="1D2B36"/>
                </a:solidFill>
                <a:latin typeface="Calibri"/>
              </a:rPr>
              <a:t>• 强调智能体工作流、SSE 流式输出、部署分享与后台管理</a:t>
            </a:r>
          </a:p>
          <a:p>
            <a:pPr algn="l">
              <a:lnSpc>
                <a:spcPct val="93000"/>
              </a:lnSpc>
            </a:pPr>
            <a:r>
              <a:rPr sz="1450" b="0">
                <a:solidFill>
                  <a:srgbClr val="1D2B36"/>
                </a:solidFill>
                <a:latin typeface="Calibri"/>
              </a:rPr>
              <a:t>• 仓库同时保留完整单体与微服务拆分版本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74920"/>
            <a:ext cx="324612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1C7293"/>
                </a:solidFill>
                <a:latin typeface="Calibri"/>
              </a:rPr>
              <a:t>当前最完整可用路径：单体后端（8123 /api）+ Vue 前端。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0600" y="1417320"/>
            <a:ext cx="6309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74920" y="1746504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1819656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BE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1618488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单体后端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1636776"/>
            <a:ext cx="30175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</a:rPr>
              <a:t>src/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002536"/>
            <a:ext cx="50292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D2B36"/>
                </a:solidFill>
                <a:latin typeface="Calibri"/>
              </a:rPr>
              <a:t>AI 生成、应用管理、工作流、监控、部署等能力集中在根工程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2834640"/>
            <a:ext cx="6309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74920" y="3163824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74920" y="3236976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3035808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微服务演进版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054096"/>
            <a:ext cx="30175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</a:rPr>
              <a:t>yu-ai-code-mother-microservice/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3419856"/>
            <a:ext cx="50292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D2B36"/>
                </a:solidFill>
                <a:latin typeface="Calibri"/>
              </a:rPr>
              <a:t>common/model/client/user/app/ai/screenshot 七模块拆分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00600" y="4251960"/>
            <a:ext cx="630936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074920" y="4581144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74920" y="4654296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0" y="4453128"/>
            <a:ext cx="18288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前端应用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471416"/>
            <a:ext cx="30175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1C7293"/>
                </a:solidFill>
                <a:latin typeface="Calibri"/>
              </a:rPr>
              <a:t>yu-ai-code-mother-frontend/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4837176"/>
            <a:ext cx="5029200" cy="320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D2B36"/>
                </a:solidFill>
                <a:latin typeface="Calibri"/>
              </a:rPr>
              <a:t>Vue 3 + TypeScript + Ant Design Vue，含对话、预览、管理页面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00600" y="5532120"/>
            <a:ext cx="6309360" cy="603504"/>
          </a:xfrm>
          <a:prstGeom prst="roundRect">
            <a:avLst/>
          </a:prstGeom>
          <a:solidFill>
            <a:srgbClr val="B8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5696712"/>
            <a:ext cx="5806440" cy="21031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1295C"/>
                </a:solidFill>
                <a:latin typeface="Calibri"/>
              </a:rPr>
              <a:t>状态判断：项目能力广，但生产化闭环重点在架构统一、配置治理、测试与 CI 补齐。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6D7A"/>
                </a:solidFill>
                <a:latin typeface="Calibri"/>
              </a:rPr>
              <a:t>yu-ai-code-mother · 每日项目状态 · 2026-07-10 · 02</a:t>
            </a:r>
          </a:p>
        </p:txBody>
      </p:sp>
      <p:sp>
        <p:nvSpPr>
          <p:cNvPr id="37" name="Oval 36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4124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Georgia"/>
              </a:rPr>
              <a:t>主要模块与职责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713232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6D7A"/>
                </a:solidFill>
                <a:latin typeface="Calibri"/>
              </a:rPr>
              <a:t>从目录结构看，单体承载完整业务，微服务承载拆分中的边界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44752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6112" y="1764792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37944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4752" y="1609344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单体后端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1956816"/>
            <a:ext cx="242316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src/main/java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" y="320040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273552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3044952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微服务目录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3392424"/>
            <a:ext cx="242316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yu-ai-code-mother-microservice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315968"/>
            <a:ext cx="1088136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96112" y="4636007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709159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4480559"/>
            <a:ext cx="192024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前端与运维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828031"/>
            <a:ext cx="242316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frontend / prometheus / grafana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86200" y="1773936"/>
            <a:ext cx="1426464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22776" y="1847088"/>
            <a:ext cx="1353312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controller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58968" y="1773936"/>
            <a:ext cx="1316736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95544" y="1847088"/>
            <a:ext cx="1243584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ai / core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22007" y="1773936"/>
            <a:ext cx="1536191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58583" y="1847088"/>
            <a:ext cx="1463039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langgraph4j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04503" y="1773936"/>
            <a:ext cx="1097280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79" y="1847088"/>
            <a:ext cx="1024127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monitor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48087" y="1773936"/>
            <a:ext cx="1536191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84663" y="1847088"/>
            <a:ext cx="1463039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ratelimiter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3209544"/>
            <a:ext cx="987552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22776" y="3282696"/>
            <a:ext cx="914400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common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0056" y="3209544"/>
            <a:ext cx="877824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56632" y="3282696"/>
            <a:ext cx="804672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model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44184" y="3209544"/>
            <a:ext cx="987552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3282696"/>
            <a:ext cx="914400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client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78040" y="3209544"/>
            <a:ext cx="841248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14616" y="3282696"/>
            <a:ext cx="768096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user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65592" y="3209544"/>
            <a:ext cx="841248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2167" y="3282696"/>
            <a:ext cx="768096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app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53144" y="3209544"/>
            <a:ext cx="841248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19" y="3282696"/>
            <a:ext cx="768096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ai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40696" y="3209544"/>
            <a:ext cx="1426464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77272" y="3282696"/>
            <a:ext cx="1353312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screenshot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86200" y="4645152"/>
            <a:ext cx="877824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22776" y="4718304"/>
            <a:ext cx="804672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Vue 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910328" y="4645152"/>
            <a:ext cx="1426464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946904" y="4718304"/>
            <a:ext cx="1353312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TypeScript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83096" y="4645152"/>
            <a:ext cx="1865376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19672" y="4718304"/>
            <a:ext cx="1792224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Ant Design Vue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94776" y="4645152"/>
            <a:ext cx="1426464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31351" y="4718304"/>
            <a:ext cx="1353312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Prometheus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67544" y="4645152"/>
            <a:ext cx="1097280" cy="329184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04119" y="4718304"/>
            <a:ext cx="1024127" cy="137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Grafana</a:t>
            </a:r>
          </a:p>
        </p:txBody>
      </p:sp>
      <p:sp>
        <p:nvSpPr>
          <p:cNvPr id="53" name="Down Arrow 52"/>
          <p:cNvSpPr/>
          <p:nvPr/>
        </p:nvSpPr>
        <p:spPr>
          <a:xfrm>
            <a:off x="5715000" y="2542032"/>
            <a:ext cx="457200" cy="320040"/>
          </a:xfrm>
          <a:prstGeom prst="downArrow">
            <a:avLst/>
          </a:prstGeom>
          <a:solidFill>
            <a:srgbClr val="B8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own Arrow 53"/>
          <p:cNvSpPr/>
          <p:nvPr/>
        </p:nvSpPr>
        <p:spPr>
          <a:xfrm>
            <a:off x="5715000" y="3977639"/>
            <a:ext cx="457200" cy="320040"/>
          </a:xfrm>
          <a:prstGeom prst="downArrow">
            <a:avLst/>
          </a:prstGeom>
          <a:solidFill>
            <a:srgbClr val="B8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22960" y="5596128"/>
            <a:ext cx="10378440" cy="530352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5742432"/>
            <a:ext cx="982980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FFFFFF"/>
                </a:solidFill>
                <a:latin typeface="Calibri"/>
              </a:rPr>
              <a:t>模块结论：单体是功能全集；微服务已拆出用户、应用、截图和公共模型，但工作流、网关、监控等仍未完整下沉。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6D7A"/>
                </a:solidFill>
                <a:latin typeface="Calibri"/>
              </a:rPr>
              <a:t>yu-ai-code-mother · 每日项目状态 · 2026-07-10 · 03</a:t>
            </a:r>
          </a:p>
        </p:txBody>
      </p:sp>
      <p:sp>
        <p:nvSpPr>
          <p:cNvPr id="58" name="Oval 57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4124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Georgia"/>
              </a:rPr>
              <a:t>当前核心能力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713232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6D7A"/>
                </a:solidFill>
                <a:latin typeface="Calibri"/>
              </a:rPr>
              <a:t>围绕“需求输入 → 生成 → 预览编辑 → 部署分享 → 管理监控”的产品链路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1732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05256" y="1636776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709928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645920"/>
            <a:ext cx="4251960" cy="3017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智能代码生成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167128"/>
            <a:ext cx="4636008" cy="1051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AI 自动路由 HTML / 多文件 / Vue 项目生成策略</a:t>
            </a:r>
          </a:p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工具调用读写文件，SSE 实时输出执行过程</a:t>
            </a:r>
          </a:p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Prompt 安全与输出重试 guardrail 已接入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41732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91656" y="1636776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709928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22008" y="1645920"/>
            <a:ext cx="4251960" cy="3017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可视化编辑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167128"/>
            <a:ext cx="4636008" cy="1051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生成应用可实时展示在前端对话页</a:t>
            </a:r>
          </a:p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iframe 内点选元素后继续与 AI 对话修改页面</a:t>
            </a:r>
          </a:p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支持高亮、元素选择与编辑上下文传递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79476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05256" y="4014216"/>
            <a:ext cx="420624" cy="420624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4087368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5607" y="4023360"/>
            <a:ext cx="4251960" cy="3017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部署与分享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" y="4544568"/>
            <a:ext cx="4636008" cy="1051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应用部署后生成可访问地址</a:t>
            </a:r>
          </a:p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支持静态资源访问、封面截图与源码下载</a:t>
            </a:r>
          </a:p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精选应用用于案例展示与运营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794760"/>
            <a:ext cx="51663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91656" y="4014216"/>
            <a:ext cx="420624" cy="420624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4087368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22008" y="4023360"/>
            <a:ext cx="4251960" cy="3017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21295C"/>
                </a:solidFill>
                <a:latin typeface="Calibri"/>
              </a:rPr>
              <a:t>企业级管理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8" y="4544568"/>
            <a:ext cx="4636008" cy="10515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用户、应用、对话历史与后台管理接口</a:t>
            </a:r>
          </a:p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Redis Session、多级缓存、Redisson 限流</a:t>
            </a:r>
          </a:p>
          <a:p>
            <a:pPr algn="l">
              <a:lnSpc>
                <a:spcPct val="88000"/>
              </a:lnSpc>
            </a:pPr>
            <a:r>
              <a:rPr sz="1350" b="0">
                <a:solidFill>
                  <a:srgbClr val="1D2B36"/>
                </a:solidFill>
                <a:latin typeface="Calibri"/>
              </a:rPr>
              <a:t>• Actuator + Prometheus + Grafana 监控样例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6D7A"/>
                </a:solidFill>
                <a:latin typeface="Calibri"/>
              </a:rPr>
              <a:t>yu-ai-code-mother · 每日项目状态 · 2026-07-10 · 04</a:t>
            </a:r>
          </a:p>
        </p:txBody>
      </p:sp>
      <p:sp>
        <p:nvSpPr>
          <p:cNvPr id="25" name="Oval 24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4124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Georgia"/>
              </a:rPr>
              <a:t>昨日 / 近期变更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713232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6D7A"/>
                </a:solidFill>
                <a:latin typeface="Calibri"/>
              </a:rPr>
              <a:t>近 7 天无提交；近期基线参考仓库最近历史提交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" y="2761488"/>
            <a:ext cx="9875520" cy="54864"/>
          </a:xfrm>
          <a:prstGeom prst="rect">
            <a:avLst/>
          </a:prstGeom>
          <a:solidFill>
            <a:srgbClr val="B8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2560320"/>
            <a:ext cx="438912" cy="438912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633472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90672"/>
            <a:ext cx="233172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3291840"/>
            <a:ext cx="1874519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5F6D7A"/>
                </a:solidFill>
                <a:latin typeface="Calibri"/>
              </a:rPr>
              <a:t>近 7 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566160"/>
            <a:ext cx="19202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0 个本地提交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931920"/>
            <a:ext cx="1901952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D2B36"/>
                </a:solidFill>
                <a:latin typeface="Calibri"/>
              </a:rPr>
              <a:t>未发现昨日或最近一周新增代码变更</a:t>
            </a:r>
          </a:p>
        </p:txBody>
      </p:sp>
      <p:sp>
        <p:nvSpPr>
          <p:cNvPr id="11" name="Oval 10"/>
          <p:cNvSpPr/>
          <p:nvPr/>
        </p:nvSpPr>
        <p:spPr>
          <a:xfrm>
            <a:off x="3840480" y="2560320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633472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3090672"/>
            <a:ext cx="233172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4487" y="3291840"/>
            <a:ext cx="1874519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5F6D7A"/>
                </a:solidFill>
                <a:latin typeface="Calibri"/>
              </a:rPr>
              <a:t>最近历史基线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4487" y="3566160"/>
            <a:ext cx="19202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教程第 14 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04487" y="3931920"/>
            <a:ext cx="1901952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D2B36"/>
                </a:solidFill>
                <a:latin typeface="Calibri"/>
              </a:rPr>
              <a:t>微服务改造完成，保留完整单体项目代码</a:t>
            </a:r>
          </a:p>
        </p:txBody>
      </p:sp>
      <p:sp>
        <p:nvSpPr>
          <p:cNvPr id="17" name="Oval 16"/>
          <p:cNvSpPr/>
          <p:nvPr/>
        </p:nvSpPr>
        <p:spPr>
          <a:xfrm>
            <a:off x="6629400" y="2560320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2633472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3090672"/>
            <a:ext cx="233172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93407" y="3291840"/>
            <a:ext cx="1874519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5F6D7A"/>
                </a:solidFill>
                <a:latin typeface="Calibri"/>
              </a:rPr>
              <a:t>同批改造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7" y="3566160"/>
            <a:ext cx="19202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Dubbo + Nacos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7" y="3931920"/>
            <a:ext cx="1901952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D2B36"/>
                </a:solidFill>
                <a:latin typeface="Calibri"/>
              </a:rPr>
              <a:t>服务接口、用户、应用、AI、截图模块拆分</a:t>
            </a:r>
          </a:p>
        </p:txBody>
      </p:sp>
      <p:sp>
        <p:nvSpPr>
          <p:cNvPr id="23" name="Oval 22"/>
          <p:cNvSpPr/>
          <p:nvPr/>
        </p:nvSpPr>
        <p:spPr>
          <a:xfrm>
            <a:off x="9418319" y="2560320"/>
            <a:ext cx="438912" cy="43891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19" y="2633472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59" y="3090672"/>
            <a:ext cx="233172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2328" y="3291840"/>
            <a:ext cx="1874519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5F6D7A"/>
                </a:solidFill>
                <a:latin typeface="Calibri"/>
              </a:rPr>
              <a:t>前序基线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566160"/>
            <a:ext cx="192024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1" i="0">
                <a:solidFill>
                  <a:srgbClr val="21295C"/>
                </a:solidFill>
                <a:latin typeface="Calibri"/>
              </a:rPr>
              <a:t>可观测性 / 部署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3931920"/>
            <a:ext cx="1901952" cy="38404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1D2B36"/>
                </a:solidFill>
                <a:latin typeface="Calibri"/>
              </a:rPr>
              <a:t>Prometheus/Grafana 样例与部署上线能力形成基础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074920"/>
            <a:ext cx="10652760" cy="749808"/>
          </a:xfrm>
          <a:prstGeom prst="roundRect">
            <a:avLst/>
          </a:prstGeom>
          <a:solidFill>
            <a:srgbClr val="E8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321808"/>
            <a:ext cx="1005840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1" i="0">
                <a:solidFill>
                  <a:srgbClr val="21295C"/>
                </a:solidFill>
                <a:latin typeface="Calibri"/>
              </a:rPr>
              <a:t>日报口径：由于运行日为 2026-07-10，`git log --since=7 days ago` 无结果；近期进展按仓库最近可见提交归纳，不等同于昨日交付。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6D7A"/>
                </a:solidFill>
                <a:latin typeface="Calibri"/>
              </a:rPr>
              <a:t>yu-ai-code-mother · 每日项目状态 · 2026-07-10 · 05</a:t>
            </a:r>
          </a:p>
        </p:txBody>
      </p:sp>
      <p:sp>
        <p:nvSpPr>
          <p:cNvPr id="32" name="Oval 31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4124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Georgia"/>
              </a:rPr>
              <a:t>数据 / 指标要点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713232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6D7A"/>
                </a:solidFill>
                <a:latin typeface="Calibri"/>
              </a:rPr>
              <a:t>当前以仓库静态信号为主，运行态指标需接入环境后采集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1248" y="1581912"/>
            <a:ext cx="73152" cy="813816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42416" y="1563624"/>
            <a:ext cx="269748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1295C"/>
                </a:solidFill>
                <a:latin typeface="Georgia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2130552"/>
            <a:ext cx="265176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工程形态：单体 / 微服务 / 前端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41732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36008" y="1581912"/>
            <a:ext cx="73152" cy="813816"/>
          </a:xfrm>
          <a:prstGeom prst="round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37176" y="1563624"/>
            <a:ext cx="269748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1295C"/>
                </a:solidFill>
                <a:latin typeface="Georgia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55464" y="2130552"/>
            <a:ext cx="265176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微服务子模块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41732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30768" y="1581912"/>
            <a:ext cx="73152" cy="81381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31936" y="1563624"/>
            <a:ext cx="269748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1295C"/>
                </a:solidFill>
                <a:latin typeface="Georgia"/>
              </a:rPr>
              <a:t>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50224" y="2130552"/>
            <a:ext cx="265176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单体后端测试类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92608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" y="3090672"/>
            <a:ext cx="73152" cy="813816"/>
          </a:xfrm>
          <a:prstGeom prst="roundRect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6" y="3072384"/>
            <a:ext cx="269748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1295C"/>
                </a:solidFill>
                <a:latin typeface="Georgia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" y="3639312"/>
            <a:ext cx="265176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近 7 天本地提交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292608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36008" y="3090672"/>
            <a:ext cx="73152" cy="813816"/>
          </a:xfrm>
          <a:prstGeom prst="roundRect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7176" y="3072384"/>
            <a:ext cx="269748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1295C"/>
                </a:solidFill>
                <a:latin typeface="Georgia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55464" y="3639312"/>
            <a:ext cx="265176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发现的 CI workflow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21040" y="2926080"/>
            <a:ext cx="31546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30768" y="3090672"/>
            <a:ext cx="73152" cy="813816"/>
          </a:xfrm>
          <a:prstGeom prst="round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31936" y="3072384"/>
            <a:ext cx="269748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21295C"/>
                </a:solidFill>
                <a:latin typeface="Georgia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50224" y="3639312"/>
            <a:ext cx="265176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5F6D7A"/>
                </a:solidFill>
                <a:latin typeface="Calibri"/>
              </a:rPr>
              <a:t>Prometheus 抓取配置样例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617720"/>
            <a:ext cx="51663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24128" y="4919472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4128" y="4992624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782312"/>
            <a:ext cx="27432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1295C"/>
                </a:solidFill>
                <a:latin typeface="Calibri"/>
              </a:rPr>
              <a:t>已具备监控接入点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175504"/>
            <a:ext cx="388620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 i="0">
                <a:solidFill>
                  <a:srgbClr val="1D2B36"/>
                </a:solidFill>
                <a:latin typeface="Calibri"/>
              </a:rPr>
              <a:t>单体配置 Actuator + Prometheus 端点，Grafana/Prometheus 文件提供本地运维样例。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63640" y="4617720"/>
            <a:ext cx="5166360" cy="10607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510528" y="4919472"/>
            <a:ext cx="420624" cy="420624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4992624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86600" y="4782312"/>
            <a:ext cx="31089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21295C"/>
                </a:solidFill>
                <a:latin typeface="Calibri"/>
              </a:rPr>
              <a:t>缺少自动业务指标日报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86600" y="5175504"/>
            <a:ext cx="3886200" cy="2926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0" i="0">
                <a:solidFill>
                  <a:srgbClr val="1D2B36"/>
                </a:solidFill>
                <a:latin typeface="Calibri"/>
              </a:rPr>
              <a:t>暂无可直接读取的线上生成成功率、AI 成本、平均延迟、部署成功率等运行数据。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6D7A"/>
                </a:solidFill>
                <a:latin typeface="Calibri"/>
              </a:rPr>
              <a:t>yu-ai-code-mother · 每日项目状态 · 2026-07-10 · 06</a:t>
            </a:r>
          </a:p>
        </p:txBody>
      </p:sp>
      <p:sp>
        <p:nvSpPr>
          <p:cNvPr id="39" name="Oval 38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4124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Georgia"/>
              </a:rPr>
              <a:t>测试与 CI 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713232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6D7A"/>
                </a:solidFill>
                <a:latin typeface="Calibri"/>
              </a:rPr>
              <a:t>有测试入口，但自动化质量闸门仍薄弱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91640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64792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72768" y="1664208"/>
            <a:ext cx="274320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1295C"/>
                </a:solidFill>
                <a:latin typeface="Calibri"/>
              </a:rPr>
              <a:t>测试配置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40280"/>
            <a:ext cx="4617720" cy="23317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93000"/>
              </a:lnSpc>
            </a:pPr>
            <a:r>
              <a:rPr sz="1430" b="0">
                <a:solidFill>
                  <a:srgbClr val="1D2B36"/>
                </a:solidFill>
                <a:latin typeface="Calibri"/>
              </a:rPr>
              <a:t>• 根 pom 引入 spring-boot-starter-test，未见 Surefire/Failsafe/Jacoco 显式策略</a:t>
            </a:r>
          </a:p>
          <a:p>
            <a:pPr algn="l">
              <a:lnSpc>
                <a:spcPct val="93000"/>
              </a:lnSpc>
            </a:pPr>
            <a:r>
              <a:rPr sz="1430" b="0">
                <a:solidFill>
                  <a:srgbClr val="1D2B36"/>
                </a:solidFill>
                <a:latin typeface="Calibri"/>
              </a:rPr>
              <a:t>• 单体 src/test 下发现 14 个 Java 测试类</a:t>
            </a:r>
          </a:p>
          <a:p>
            <a:pPr algn="l">
              <a:lnSpc>
                <a:spcPct val="93000"/>
              </a:lnSpc>
            </a:pPr>
            <a:r>
              <a:rPr sz="1430" b="0">
                <a:solidFill>
                  <a:srgbClr val="1D2B36"/>
                </a:solidFill>
                <a:latin typeface="Calibri"/>
              </a:rPr>
              <a:t>• 测试覆盖 AI 集成、LangGraph 工作流、工具、解析器与截图能力</a:t>
            </a:r>
          </a:p>
          <a:p>
            <a:pPr algn="l">
              <a:lnSpc>
                <a:spcPct val="93000"/>
              </a:lnSpc>
            </a:pPr>
            <a:r>
              <a:rPr sz="1430" b="0">
                <a:solidFill>
                  <a:srgbClr val="1D2B36"/>
                </a:solidFill>
                <a:latin typeface="Calibri"/>
              </a:rPr>
              <a:t>• 多项测试可能依赖真实 LLM、外网、浏览器或外部服务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00600"/>
            <a:ext cx="4526280" cy="438912"/>
          </a:xfrm>
          <a:prstGeom prst="roundRect">
            <a:avLst/>
          </a:prstGeom>
          <a:solidFill>
            <a:srgbClr val="EB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4928616"/>
            <a:ext cx="4023360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065A82"/>
                </a:solidFill>
                <a:latin typeface="Calibri"/>
              </a:rPr>
              <a:t>建议：优先补 Mock/契约测试，隔离真实 AI 与外部 API。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257800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83680" y="1691640"/>
            <a:ext cx="420624" cy="420624"/>
          </a:xfrm>
          <a:prstGeom prst="ellipse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64792"/>
            <a:ext cx="420624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1664208"/>
            <a:ext cx="310896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1" i="0">
                <a:solidFill>
                  <a:srgbClr val="21295C"/>
                </a:solidFill>
                <a:latin typeface="Calibri"/>
              </a:rPr>
              <a:t>CI / 前端质量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40280"/>
            <a:ext cx="4617720" cy="23317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lnSpc>
                <a:spcPct val="93000"/>
              </a:lnSpc>
            </a:pPr>
            <a:r>
              <a:rPr sz="1430" b="0">
                <a:solidFill>
                  <a:srgbClr val="1D2B36"/>
                </a:solidFill>
                <a:latin typeface="Calibri"/>
              </a:rPr>
              <a:t>• 未发现 .github/workflows 或其他 CI 配置</a:t>
            </a:r>
          </a:p>
          <a:p>
            <a:pPr algn="l">
              <a:lnSpc>
                <a:spcPct val="93000"/>
              </a:lnSpc>
            </a:pPr>
            <a:r>
              <a:rPr sz="1430" b="0">
                <a:solidFill>
                  <a:srgbClr val="1D2B36"/>
                </a:solidFill>
                <a:latin typeface="Calibri"/>
              </a:rPr>
              <a:t>• 前端 package.json 提供 build、type-check、lint、format 脚本</a:t>
            </a:r>
          </a:p>
          <a:p>
            <a:pPr algn="l">
              <a:lnSpc>
                <a:spcPct val="93000"/>
              </a:lnSpc>
            </a:pPr>
            <a:r>
              <a:rPr sz="1430" b="0">
                <a:solidFill>
                  <a:srgbClr val="1D2B36"/>
                </a:solidFill>
                <a:latin typeface="Calibri"/>
              </a:rPr>
              <a:t>• 未发现 Vitest/Jest/Cypress/Playwright 测试脚本</a:t>
            </a:r>
          </a:p>
          <a:p>
            <a:pPr algn="l">
              <a:lnSpc>
                <a:spcPct val="93000"/>
              </a:lnSpc>
            </a:pPr>
            <a:r>
              <a:rPr sz="1430" b="0">
                <a:solidFill>
                  <a:srgbClr val="1D2B36"/>
                </a:solidFill>
                <a:latin typeface="Calibri"/>
              </a:rPr>
              <a:t>• 微服务目录未发现测试类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0" y="4800600"/>
            <a:ext cx="4526280" cy="438912"/>
          </a:xfrm>
          <a:prstGeom prst="roundRect">
            <a:avLst/>
          </a:prstGeom>
          <a:solidFill>
            <a:srgbClr val="FFF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4848" y="4928616"/>
            <a:ext cx="3977639" cy="16459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 i="0">
                <a:solidFill>
                  <a:srgbClr val="8F4F18"/>
                </a:solidFill>
                <a:latin typeface="Calibri"/>
              </a:rPr>
              <a:t>建议：建立 PR 级 Maven + 前端 type-check/lint 质量闸门。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6D7A"/>
                </a:solidFill>
                <a:latin typeface="Calibri"/>
              </a:rPr>
              <a:t>yu-ai-code-mother · 每日项目状态 · 2026-07-10 · 07</a:t>
            </a:r>
          </a:p>
        </p:txBody>
      </p:sp>
      <p:sp>
        <p:nvSpPr>
          <p:cNvPr id="19" name="Oval 18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4124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Georgia"/>
              </a:rPr>
              <a:t>风险与阻塞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713232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6D7A"/>
                </a:solidFill>
                <a:latin typeface="Calibri"/>
              </a:rPr>
              <a:t>影响生产化、团队协作和持续交付的主要约束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325880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1560" y="1444752"/>
            <a:ext cx="384048" cy="384048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517904"/>
            <a:ext cx="384048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27632" y="1444752"/>
            <a:ext cx="16002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1295C"/>
                </a:solidFill>
                <a:latin typeface="Calibri"/>
              </a:rPr>
              <a:t>架构双轨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472184"/>
            <a:ext cx="763524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D2B36"/>
                </a:solidFill>
                <a:latin typeface="Calibri"/>
              </a:rPr>
              <a:t>单体能力明显更完整；微服务缺少网关、工作流与监控闭环。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194560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313432"/>
            <a:ext cx="384048" cy="384048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386584"/>
            <a:ext cx="384048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313432"/>
            <a:ext cx="16002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1295C"/>
                </a:solidFill>
                <a:latin typeface="Calibri"/>
              </a:rPr>
              <a:t>外部依赖强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340864"/>
            <a:ext cx="763524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D2B36"/>
                </a:solidFill>
                <a:latin typeface="Calibri"/>
              </a:rPr>
              <a:t>MySQL、Redis、Nacos、DeepSeek/通义、DashScope、Pexels、COS、Chrome/Selenium 均需配置。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63239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182111"/>
            <a:ext cx="384048" cy="384048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55263"/>
            <a:ext cx="384048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182111"/>
            <a:ext cx="16002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1295C"/>
                </a:solidFill>
                <a:latin typeface="Calibri"/>
              </a:rPr>
              <a:t>测试稳定性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3209544"/>
            <a:ext cx="763524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D2B36"/>
                </a:solidFill>
                <a:latin typeface="Calibri"/>
              </a:rPr>
              <a:t>多项测试直接触达真实 AI 或外部服务，CI 中容易波动。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3931920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4050791"/>
            <a:ext cx="384048" cy="384048"/>
          </a:xfrm>
          <a:prstGeom prst="ellipse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123944"/>
            <a:ext cx="384048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050791"/>
            <a:ext cx="16002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1295C"/>
                </a:solidFill>
                <a:latin typeface="Calibri"/>
              </a:rPr>
              <a:t>依赖与内嵌代码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078224"/>
            <a:ext cx="763524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D2B36"/>
                </a:solidFill>
                <a:latin typeface="Calibri"/>
              </a:rPr>
              <a:t>LangGraph4j RC 版本、Spring Boot 版本不一致，且存在复制/魔改 LangChain4j 代码。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4800600"/>
            <a:ext cx="1056132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51560" y="4919472"/>
            <a:ext cx="384048" cy="38404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1560" y="4992624"/>
            <a:ext cx="384048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4919472"/>
            <a:ext cx="160020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50" b="1" i="0">
                <a:solidFill>
                  <a:srgbClr val="21295C"/>
                </a:solidFill>
                <a:latin typeface="Calibri"/>
              </a:rPr>
              <a:t>配置安全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46120" y="4946904"/>
            <a:ext cx="7635240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20" b="0" i="0">
                <a:solidFill>
                  <a:srgbClr val="1D2B36"/>
                </a:solidFill>
                <a:latin typeface="Calibri"/>
              </a:rPr>
              <a:t>application.yml 中有本地默认口令和 API Key 占位，需严格区分样例与运行配置。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806440"/>
            <a:ext cx="10561320" cy="402336"/>
          </a:xfrm>
          <a:prstGeom prst="round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925312"/>
            <a:ext cx="10058400" cy="146304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80" b="1" i="0">
                <a:solidFill>
                  <a:srgbClr val="FFFFFF"/>
                </a:solidFill>
                <a:latin typeface="Calibri"/>
              </a:rPr>
              <a:t>优先级判断：先收敛可运行主路径与 CI，再推进微服务网关 / 工作流下沉 / 监控指标自动化。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6D7A"/>
                </a:solidFill>
                <a:latin typeface="Calibri"/>
              </a:rPr>
              <a:t>yu-ai-code-mother · 每日项目状态 · 2026-07-10 · 08</a:t>
            </a:r>
          </a:p>
        </p:txBody>
      </p:sp>
      <p:sp>
        <p:nvSpPr>
          <p:cNvPr id="32" name="Oval 31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A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841248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295C"/>
                </a:solidFill>
                <a:latin typeface="Georgia"/>
              </a:rPr>
              <a:t>建议的下一步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60120"/>
            <a:ext cx="7132320" cy="31089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5F6D7A"/>
                </a:solidFill>
                <a:latin typeface="Calibri"/>
              </a:rPr>
              <a:t>以可维护、可验证、可演进为目标推进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" y="1618488"/>
            <a:ext cx="438912" cy="43891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8488" y="1554480"/>
            <a:ext cx="2286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21295C"/>
                </a:solidFill>
                <a:latin typeface="Calibri"/>
              </a:rPr>
              <a:t>明确当前主路径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01952"/>
            <a:ext cx="3931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 i="0">
                <a:solidFill>
                  <a:srgbClr val="1D2B36"/>
                </a:solidFill>
                <a:latin typeface="Calibri"/>
              </a:rPr>
              <a:t>将“单体 + Vue 前端”作为稳定演示路径，微服务作为演进分支说明边界。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37160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37959" y="1618488"/>
            <a:ext cx="438912" cy="43891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69164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7" y="1554480"/>
            <a:ext cx="2286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21295C"/>
                </a:solidFill>
                <a:latin typeface="Calibri"/>
              </a:rPr>
              <a:t>补齐质量闸门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50607" y="1901952"/>
            <a:ext cx="3931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 i="0">
                <a:solidFill>
                  <a:srgbClr val="1D2B36"/>
                </a:solidFill>
                <a:latin typeface="Calibri"/>
              </a:rPr>
              <a:t>新增 GitHub Actions：后端 Maven 编译/可控测试，前端 type-check + lint。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260604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2852928"/>
            <a:ext cx="438912" cy="43891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92608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18488" y="2788920"/>
            <a:ext cx="2286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21295C"/>
                </a:solidFill>
                <a:latin typeface="Calibri"/>
              </a:rPr>
              <a:t>拆分测试层级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136392"/>
            <a:ext cx="3931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 i="0">
                <a:solidFill>
                  <a:srgbClr val="1D2B36"/>
                </a:solidFill>
                <a:latin typeface="Calibri"/>
              </a:rPr>
              <a:t>将真实 AI/外网依赖测试标记为集成测试，核心解析/保存/路由增加 Mock 单测。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59" y="2606040"/>
            <a:ext cx="50749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37959" y="2852928"/>
            <a:ext cx="438912" cy="438912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59" y="292608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7" y="2788920"/>
            <a:ext cx="2286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21295C"/>
                </a:solidFill>
                <a:latin typeface="Calibri"/>
              </a:rPr>
              <a:t>配置治理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7" y="3136392"/>
            <a:ext cx="393192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 i="0">
                <a:solidFill>
                  <a:srgbClr val="1D2B36"/>
                </a:solidFill>
                <a:latin typeface="Calibri"/>
              </a:rPr>
              <a:t>抽离密钥与环境配置，提供 sample/local/prod 分层说明，避免默认口令误用。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840480"/>
            <a:ext cx="106070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05840" y="4087368"/>
            <a:ext cx="438912" cy="438912"/>
          </a:xfrm>
          <a:prstGeom prst="ellipse">
            <a:avLst/>
          </a:prstGeom>
          <a:solidFill>
            <a:srgbClr val="D95D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4160520"/>
            <a:ext cx="43891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18488" y="4023360"/>
            <a:ext cx="228600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1" i="0">
                <a:solidFill>
                  <a:srgbClr val="21295C"/>
                </a:solidFill>
                <a:latin typeface="Calibri"/>
              </a:rPr>
              <a:t>微服务闭环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18488" y="4370832"/>
            <a:ext cx="9464040" cy="219456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70" b="0" i="0">
                <a:solidFill>
                  <a:srgbClr val="1D2B36"/>
                </a:solidFill>
                <a:latin typeface="Calibri"/>
              </a:rPr>
              <a:t>补 API Gateway、服务发现文档、工作流能力下沉与跨服务调用契约。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486400"/>
            <a:ext cx="10607040" cy="621792"/>
          </a:xfrm>
          <a:prstGeom prst="roundRect">
            <a:avLst/>
          </a:prstGeom>
          <a:solidFill>
            <a:srgbClr val="B8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5687568"/>
            <a:ext cx="1001268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1" i="0">
                <a:solidFill>
                  <a:srgbClr val="21295C"/>
                </a:solidFill>
                <a:latin typeface="Calibri"/>
              </a:rPr>
              <a:t>交付策略：先用自动化验证保护现有主链路，再推进微服务与运行态指标，降低后续重构风险。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5F6D7A"/>
                </a:solidFill>
                <a:latin typeface="Calibri"/>
              </a:rPr>
              <a:t>yu-ai-code-mother · 每日项目状态 · 2026-07-10 · 09</a:t>
            </a:r>
          </a:p>
        </p:txBody>
      </p:sp>
      <p:sp>
        <p:nvSpPr>
          <p:cNvPr id="32" name="Oval 31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3317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23317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0"/>
            <a:ext cx="12191695" cy="23317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566928"/>
            <a:ext cx="10972800" cy="5577840"/>
          </a:xfrm>
          <a:prstGeom prst="roundRect">
            <a:avLst/>
          </a:prstGeom>
          <a:solidFill>
            <a:srgbClr val="0A21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9281160" y="-182880"/>
            <a:ext cx="3291840" cy="3291840"/>
          </a:xfrm>
          <a:prstGeom prst="arc">
            <a:avLst/>
          </a:prstGeom>
          <a:noFill/>
          <a:ln w="101600">
            <a:solidFill>
              <a:srgbClr val="02C3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rc 6"/>
          <p:cNvSpPr/>
          <p:nvPr/>
        </p:nvSpPr>
        <p:spPr>
          <a:xfrm>
            <a:off x="9592056" y="-137160"/>
            <a:ext cx="3291840" cy="3291840"/>
          </a:xfrm>
          <a:prstGeom prst="arc">
            <a:avLst/>
          </a:prstGeom>
          <a:noFill/>
          <a:ln w="88900">
            <a:solidFill>
              <a:srgbClr val="B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Arc 7"/>
          <p:cNvSpPr/>
          <p:nvPr/>
        </p:nvSpPr>
        <p:spPr>
          <a:xfrm>
            <a:off x="9902952" y="-91440"/>
            <a:ext cx="3291840" cy="3291840"/>
          </a:xfrm>
          <a:prstGeom prst="arc">
            <a:avLst/>
          </a:prstGeom>
          <a:noFill/>
          <a:ln w="76200">
            <a:solidFill>
              <a:srgbClr val="1C72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87000" y="932688"/>
            <a:ext cx="201168" cy="201168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634472" y="1316736"/>
            <a:ext cx="274320" cy="274320"/>
          </a:xfrm>
          <a:prstGeom prst="ellipse">
            <a:avLst/>
          </a:prstGeom>
          <a:solidFill>
            <a:srgbClr val="B8EA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81944" y="1700784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914400"/>
            <a:ext cx="3108960" cy="56692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200" b="1" i="0">
                <a:solidFill>
                  <a:srgbClr val="FFFFFF"/>
                </a:solidFill>
                <a:latin typeface="Georgia"/>
              </a:rPr>
              <a:t>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1664208"/>
            <a:ext cx="9326880" cy="53035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>
                <a:solidFill>
                  <a:srgbClr val="B8EAE3"/>
                </a:solidFill>
                <a:latin typeface="Calibri"/>
              </a:rPr>
              <a:t>当前项目功能覆盖面广，已具备 AI 代码生成平台的完整产品雏形；工程侧下一阶段重点是把“可演示”推进到“可持续验证、可稳定协作”。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788920"/>
            <a:ext cx="9921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52144" y="2898648"/>
            <a:ext cx="347472" cy="347472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2971800"/>
            <a:ext cx="34747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21295C"/>
                </a:solidFill>
                <a:latin typeface="Calibri"/>
              </a:rPr>
              <a:t>KEEP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4208" y="2953512"/>
            <a:ext cx="877824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20" b="1" i="0">
                <a:solidFill>
                  <a:srgbClr val="21295C"/>
                </a:solidFill>
                <a:latin typeface="Calibri"/>
              </a:rPr>
              <a:t>保留单体完整主路径，作为近期验收与演示基线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611879"/>
            <a:ext cx="9921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52144" y="3721607"/>
            <a:ext cx="347472" cy="34747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52144" y="3794759"/>
            <a:ext cx="34747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FOCUS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3776472"/>
            <a:ext cx="877824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20" b="1" i="0">
                <a:solidFill>
                  <a:srgbClr val="21295C"/>
                </a:solidFill>
                <a:latin typeface="Calibri"/>
              </a:rPr>
              <a:t>优先补 CI、测试分层、配置治理与运行指标采集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34840"/>
            <a:ext cx="992124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52144" y="4544568"/>
            <a:ext cx="347472" cy="347472"/>
          </a:xfrm>
          <a:prstGeom prst="ellipse">
            <a:avLst/>
          </a:prstGeom>
          <a:solidFill>
            <a:srgbClr val="F2A6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52144" y="4617720"/>
            <a:ext cx="347472" cy="201168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EVOLVE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4599431"/>
            <a:ext cx="8778240" cy="182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20" b="1" i="0">
                <a:solidFill>
                  <a:srgbClr val="21295C"/>
                </a:solidFill>
                <a:latin typeface="Calibri"/>
              </a:rPr>
              <a:t>微服务改造继续推进网关、工作流下沉与服务契约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" y="5577840"/>
            <a:ext cx="6766560" cy="256032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B8EAE3"/>
                </a:solidFill>
                <a:latin typeface="Calibri"/>
              </a:rPr>
              <a:t>报告文件：docs/reports/project-status-2026-07-10.pptx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73952"/>
            <a:ext cx="5669280" cy="228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 i="0">
                <a:solidFill>
                  <a:srgbClr val="B8EAE3"/>
                </a:solidFill>
                <a:latin typeface="Calibri"/>
              </a:rPr>
              <a:t>yu-ai-code-mother · 每日项目状态 · 2026-07-10 · 10</a:t>
            </a:r>
          </a:p>
        </p:txBody>
      </p:sp>
      <p:sp>
        <p:nvSpPr>
          <p:cNvPr id="28" name="Oval 27"/>
          <p:cNvSpPr/>
          <p:nvPr/>
        </p:nvSpPr>
        <p:spPr>
          <a:xfrm>
            <a:off x="10991088" y="6510528"/>
            <a:ext cx="91440" cy="9144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92256" y="6510528"/>
            <a:ext cx="91440" cy="9144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393424" y="6510528"/>
            <a:ext cx="91440" cy="914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零代码应用生成平台每日项目状态汇报</dc:title>
  <dc:subject>Project status report for yu-ai-code-mother</dc:subject>
  <dc:creator>Cursor Automation</dc:creator>
  <cp:keywords>yu-ai-code-mother, project status, daily report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