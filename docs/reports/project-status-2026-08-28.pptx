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0"/>
            <a:ext cx="2651760" cy="6858000"/>
          </a:xfrm>
          <a:prstGeom prst="rect">
            <a:avLst/>
          </a:prstGeom>
          <a:solidFill>
            <a:srgbClr val="012A32"/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-1005840"/>
            <a:ext cx="3108960" cy="3108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0" y="5120640"/>
            <a:ext cx="2377440" cy="2377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051560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19786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26464" y="11704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B8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196596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640080" y="2852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D5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零代码应用生成平台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40080" y="3520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面向项目维护者与教学团队的仓库健康快照，覆盖能力闭环、近期变更、质量风险和下一步。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0080" y="461772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46177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2026-08-28  北京时间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37560" y="461772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3337560" y="46177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仓库基准  master @ 893918c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35040" y="461772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6035040" y="46177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教程第 14 期完成后稳定态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59893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内部日报  ·  仅含公开仓库分析  ·  不含运行时密钥或业务数据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2331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9646920" y="31089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页状态简报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646920" y="3566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 / 进展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 / 风险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D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7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今日速览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日无新提交；以教程第 14 期完成后的仓库快照为准。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26464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1847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21792" y="24140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日提交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1792" y="2670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2026-08-21 至 08-28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37560" y="1261872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20440" y="1426464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49961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02152" y="1847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3502152" y="24140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历史提交总计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02152" y="2670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2025-07-24 起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17920" y="1261872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0" y="1426464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499616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82512" y="1847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600" dirty="0"/>
          </a:p>
        </p:txBody>
      </p:sp>
      <p:sp>
        <p:nvSpPr>
          <p:cNvPr id="21" name="Text 16"/>
          <p:cNvSpPr/>
          <p:nvPr/>
        </p:nvSpPr>
        <p:spPr>
          <a:xfrm>
            <a:off x="6382512" y="24140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382512" y="2670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+ Nacos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9098280" y="1261872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281160" y="1426464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312" y="1499616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62872" y="1847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600" dirty="0"/>
          </a:p>
        </p:txBody>
      </p:sp>
      <p:sp>
        <p:nvSpPr>
          <p:cNvPr id="27" name="Text 21"/>
          <p:cNvSpPr/>
          <p:nvPr/>
        </p:nvSpPr>
        <p:spPr>
          <a:xfrm>
            <a:off x="9262872" y="24140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后端测试类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9262872" y="2670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 25 个用例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57200" y="324612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01363F"/>
          </a:solidFill>
          <a:ln/>
        </p:spPr>
      </p:sp>
      <p:sp>
        <p:nvSpPr>
          <p:cNvPr id="30" name="Text 24"/>
          <p:cNvSpPr/>
          <p:nvPr/>
        </p:nvSpPr>
        <p:spPr>
          <a:xfrm>
            <a:off x="658368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31" name="Text 25"/>
          <p:cNvSpPr/>
          <p:nvPr/>
        </p:nvSpPr>
        <p:spPr>
          <a:xfrm>
            <a:off x="658368" y="3977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2000" dirty="0"/>
          </a:p>
        </p:txBody>
      </p:sp>
      <p:sp>
        <p:nvSpPr>
          <p:cNvPr id="32" name="Text 26"/>
          <p:cNvSpPr/>
          <p:nvPr/>
        </p:nvSpPr>
        <p:spPr>
          <a:xfrm>
            <a:off x="658368" y="4462272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定位、技术栈与双形态架构</a:t>
            </a:r>
            <a:endParaRPr lang="en-US" sz="1500" dirty="0"/>
          </a:p>
        </p:txBody>
      </p:sp>
      <p:sp>
        <p:nvSpPr>
          <p:cNvPr id="33" name="Shape 27"/>
          <p:cNvSpPr/>
          <p:nvPr/>
        </p:nvSpPr>
        <p:spPr>
          <a:xfrm>
            <a:off x="3337560" y="324612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028090"/>
          </a:solidFill>
          <a:ln/>
        </p:spPr>
      </p:sp>
      <p:sp>
        <p:nvSpPr>
          <p:cNvPr id="34" name="Text 28"/>
          <p:cNvSpPr/>
          <p:nvPr/>
        </p:nvSpPr>
        <p:spPr>
          <a:xfrm>
            <a:off x="3538728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35" name="Text 29"/>
          <p:cNvSpPr/>
          <p:nvPr/>
        </p:nvSpPr>
        <p:spPr>
          <a:xfrm>
            <a:off x="3538728" y="3977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2000" dirty="0"/>
          </a:p>
        </p:txBody>
      </p:sp>
      <p:sp>
        <p:nvSpPr>
          <p:cNvPr id="36" name="Text 30"/>
          <p:cNvSpPr/>
          <p:nvPr/>
        </p:nvSpPr>
        <p:spPr>
          <a:xfrm>
            <a:off x="3538728" y="4462272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生成、编辑、部署、治理</a:t>
            </a:r>
            <a:endParaRPr lang="en-US" sz="1500" dirty="0"/>
          </a:p>
        </p:txBody>
      </p:sp>
      <p:sp>
        <p:nvSpPr>
          <p:cNvPr id="37" name="Shape 31"/>
          <p:cNvSpPr/>
          <p:nvPr/>
        </p:nvSpPr>
        <p:spPr>
          <a:xfrm>
            <a:off x="6217920" y="324612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01363F"/>
          </a:solidFill>
          <a:ln/>
        </p:spPr>
      </p:sp>
      <p:sp>
        <p:nvSpPr>
          <p:cNvPr id="38" name="Text 32"/>
          <p:cNvSpPr/>
          <p:nvPr/>
        </p:nvSpPr>
        <p:spPr>
          <a:xfrm>
            <a:off x="6419088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39" name="Text 33"/>
          <p:cNvSpPr/>
          <p:nvPr/>
        </p:nvSpPr>
        <p:spPr>
          <a:xfrm>
            <a:off x="6419088" y="3977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进展与指标</a:t>
            </a:r>
            <a:endParaRPr lang="en-US" sz="2000" dirty="0"/>
          </a:p>
        </p:txBody>
      </p:sp>
      <p:sp>
        <p:nvSpPr>
          <p:cNvPr id="40" name="Text 34"/>
          <p:cNvSpPr/>
          <p:nvPr/>
        </p:nvSpPr>
        <p:spPr>
          <a:xfrm>
            <a:off x="6419088" y="4462272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近期提交、测试与 CI</a:t>
            </a:r>
            <a:endParaRPr lang="en-US" sz="1500" dirty="0"/>
          </a:p>
        </p:txBody>
      </p:sp>
      <p:sp>
        <p:nvSpPr>
          <p:cNvPr id="41" name="Shape 35"/>
          <p:cNvSpPr/>
          <p:nvPr/>
        </p:nvSpPr>
        <p:spPr>
          <a:xfrm>
            <a:off x="9098280" y="324612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028090"/>
          </a:solidFill>
          <a:ln/>
        </p:spPr>
      </p:sp>
      <p:sp>
        <p:nvSpPr>
          <p:cNvPr id="42" name="Text 36"/>
          <p:cNvSpPr/>
          <p:nvPr/>
        </p:nvSpPr>
        <p:spPr>
          <a:xfrm>
            <a:off x="9299448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43" name="Text 37"/>
          <p:cNvSpPr/>
          <p:nvPr/>
        </p:nvSpPr>
        <p:spPr>
          <a:xfrm>
            <a:off x="9299448" y="3977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风险与计划</a:t>
            </a:r>
            <a:endParaRPr lang="en-US" sz="2000" dirty="0"/>
          </a:p>
        </p:txBody>
      </p:sp>
      <p:sp>
        <p:nvSpPr>
          <p:cNvPr id="44" name="Text 38"/>
          <p:cNvSpPr/>
          <p:nvPr/>
        </p:nvSpPr>
        <p:spPr>
          <a:xfrm>
            <a:off x="9299448" y="4462272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阻塞项与建议下一步</a:t>
            </a:r>
            <a:endParaRPr lang="en-US" sz="1500" dirty="0"/>
          </a:p>
        </p:txBody>
      </p:sp>
      <p:sp>
        <p:nvSpPr>
          <p:cNvPr id="45" name="Text 39"/>
          <p:cNvSpPr/>
          <p:nvPr/>
        </p:nvSpPr>
        <p:spPr>
          <a:xfrm>
            <a:off x="457200" y="629107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2026-08-28</a:t>
            </a:r>
            <a:endParaRPr lang="en-US" sz="1100" dirty="0"/>
          </a:p>
        </p:txBody>
      </p:sp>
      <p:sp>
        <p:nvSpPr>
          <p:cNvPr id="46" name="Text 40"/>
          <p:cNvSpPr/>
          <p:nvPr/>
        </p:nvSpPr>
        <p:spPr>
          <a:xfrm>
            <a:off x="10424160" y="6291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4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7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教学向企业级 AI 代码生成平台，对标网页端应用生成器。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704088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61872"/>
            <a:ext cx="109728" cy="4800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平台定位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1810512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用户用自然语言描述需求，平台自动路由生成策略，流式产出 HTML / 多文件 / Vue 工程，并支持可视化改稿、一键部署与后台治理。仓库同时保留完整单体与微服务拆分，便于教程对照。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971800"/>
            <a:ext cx="6355080" cy="530352"/>
          </a:xfrm>
          <a:prstGeom prst="roundRect">
            <a:avLst>
              <a:gd name="adj" fmla="val 13793"/>
            </a:avLst>
          </a:prstGeom>
          <a:solidFill>
            <a:srgbClr val="F4FBF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97180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后端主栈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14600" y="2971800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3.5.4 · Java 21 · LangChain4j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575304"/>
            <a:ext cx="6355080" cy="530352"/>
          </a:xfrm>
          <a:prstGeom prst="roundRect">
            <a:avLst>
              <a:gd name="adj" fmla="val 13793"/>
            </a:avLst>
          </a:prstGeom>
          <a:solidFill>
            <a:srgbClr val="F4FBF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575304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前端主栈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4600" y="3575304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3.5 · TypeScript · Ant Design Vue · Vite 7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178808"/>
            <a:ext cx="6355080" cy="530352"/>
          </a:xfrm>
          <a:prstGeom prst="roundRect">
            <a:avLst>
              <a:gd name="adj" fmla="val 13793"/>
            </a:avLst>
          </a:prstGeom>
          <a:solidFill>
            <a:srgbClr val="F4FBFA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17880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数据与缓存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14600" y="4178808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Redis Session · Caffeine · Redisson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4782312"/>
            <a:ext cx="6355080" cy="530352"/>
          </a:xfrm>
          <a:prstGeom prst="roundRect">
            <a:avLst>
              <a:gd name="adj" fmla="val 13793"/>
            </a:avLst>
          </a:prstGeom>
          <a:solidFill>
            <a:srgbClr val="F4FBFA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78231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模型接入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14600" y="4782312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Chat / Reasoner · Qwen 路由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5385816"/>
            <a:ext cx="6355080" cy="530352"/>
          </a:xfrm>
          <a:prstGeom prst="roundRect">
            <a:avLst>
              <a:gd name="adj" fmla="val 13793"/>
            </a:avLst>
          </a:prstGeom>
          <a:solidFill>
            <a:srgbClr val="F4FBFA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38581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运维观测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14600" y="5385816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· Prometheus · Grafana 已入库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18120" y="1261872"/>
            <a:ext cx="3886200" cy="4800600"/>
          </a:xfrm>
          <a:prstGeom prst="roundRect">
            <a:avLst>
              <a:gd name="adj" fmla="val 2353"/>
            </a:avLst>
          </a:prstGeom>
          <a:solidFill>
            <a:srgbClr val="01363F"/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0" y="148132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4" y="1581912"/>
            <a:ext cx="219456" cy="21945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577072" y="151790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仓库结构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8092440" y="21031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单体后端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8092440" y="2377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  146 个业务 Java 文件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092440" y="28529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8092440" y="31272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模块，118 个 Java 文件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092440" y="36027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8092440" y="38770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个 Vue 页面与组件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8092440" y="43525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监控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8092440" y="46268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建表脚本 + Prometheus / Grafana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8092440" y="51023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教程进度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8092440" y="53766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1–14 期已合入 master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457200" y="629107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2026-08-28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10424160" y="6291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4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7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四条业务闭环已落地，覆盖从需求输入到上线治理。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562356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51790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61848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53619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86384" y="2231136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969264" y="2157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三种策略：原生 HTML、多文件、Vue 工程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86384" y="254203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969264" y="24688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路由自动选择生成模式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86384" y="2852928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969264" y="277977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工具调用写文件 + SSE 流式展示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86384" y="316382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3"/>
          <p:cNvSpPr/>
          <p:nvPr/>
        </p:nvSpPr>
        <p:spPr>
          <a:xfrm>
            <a:off x="969264" y="30906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工作流：增强、质检、构建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355080" y="1261872"/>
            <a:ext cx="562356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611112" y="151790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1618488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23760" y="153619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6684264" y="2231136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18"/>
          <p:cNvSpPr/>
          <p:nvPr/>
        </p:nvSpPr>
        <p:spPr>
          <a:xfrm>
            <a:off x="6867144" y="21579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生成结果实时预览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6684264" y="254203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0"/>
          <p:cNvSpPr/>
          <p:nvPr/>
        </p:nvSpPr>
        <p:spPr>
          <a:xfrm>
            <a:off x="6867144" y="24688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选中页面元素后与 AI 对话改稿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684264" y="2852928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2"/>
          <p:cNvSpPr/>
          <p:nvPr/>
        </p:nvSpPr>
        <p:spPr>
          <a:xfrm>
            <a:off x="6867144" y="277977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原生模式全量修改 / 工程增量修改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6684264" y="316382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4"/>
          <p:cNvSpPr/>
          <p:nvPr/>
        </p:nvSpPr>
        <p:spPr>
          <a:xfrm>
            <a:off x="6867144" y="30906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对话历史 Redis Session 持久化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457200" y="3657600"/>
            <a:ext cx="562356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713232" y="39136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014216"/>
            <a:ext cx="256032" cy="25603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325880" y="393192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部署与分享</a:t>
            </a:r>
            <a:endParaRPr lang="en-US" sz="2200" dirty="0"/>
          </a:p>
        </p:txBody>
      </p:sp>
      <p:sp>
        <p:nvSpPr>
          <p:cNvPr id="33" name="Shape 28"/>
          <p:cNvSpPr/>
          <p:nvPr/>
        </p:nvSpPr>
        <p:spPr>
          <a:xfrm>
            <a:off x="786384" y="462686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29"/>
          <p:cNvSpPr/>
          <p:nvPr/>
        </p:nvSpPr>
        <p:spPr>
          <a:xfrm>
            <a:off x="969264" y="45537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一键部署并生成可访问地址</a:t>
            </a:r>
            <a:endParaRPr lang="en-US" sz="1400" dirty="0"/>
          </a:p>
        </p:txBody>
      </p:sp>
      <p:sp>
        <p:nvSpPr>
          <p:cNvPr id="35" name="Shape 30"/>
          <p:cNvSpPr/>
          <p:nvPr/>
        </p:nvSpPr>
        <p:spPr>
          <a:xfrm>
            <a:off x="786384" y="493776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1"/>
          <p:cNvSpPr/>
          <p:nvPr/>
        </p:nvSpPr>
        <p:spPr>
          <a:xfrm>
            <a:off x="969264" y="48646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截图 + COS 封面</a:t>
            </a:r>
            <a:endParaRPr lang="en-US" sz="1400" dirty="0"/>
          </a:p>
        </p:txBody>
      </p:sp>
      <p:sp>
        <p:nvSpPr>
          <p:cNvPr id="37" name="Shape 32"/>
          <p:cNvSpPr/>
          <p:nvPr/>
        </p:nvSpPr>
        <p:spPr>
          <a:xfrm>
            <a:off x="786384" y="5248656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Text 33"/>
          <p:cNvSpPr/>
          <p:nvPr/>
        </p:nvSpPr>
        <p:spPr>
          <a:xfrm>
            <a:off x="969264" y="51755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完整项目源码打包下载</a:t>
            </a:r>
            <a:endParaRPr lang="en-US" sz="1400" dirty="0"/>
          </a:p>
        </p:txBody>
      </p:sp>
      <p:sp>
        <p:nvSpPr>
          <p:cNvPr id="39" name="Shape 34"/>
          <p:cNvSpPr/>
          <p:nvPr/>
        </p:nvSpPr>
        <p:spPr>
          <a:xfrm>
            <a:off x="786384" y="555955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0" name="Text 35"/>
          <p:cNvSpPr/>
          <p:nvPr/>
        </p:nvSpPr>
        <p:spPr>
          <a:xfrm>
            <a:off x="969264" y="54864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精选案例广场与应用卡片</a:t>
            </a:r>
            <a:endParaRPr lang="en-US" sz="1400" dirty="0"/>
          </a:p>
        </p:txBody>
      </p:sp>
      <p:sp>
        <p:nvSpPr>
          <p:cNvPr id="41" name="Shape 36"/>
          <p:cNvSpPr/>
          <p:nvPr/>
        </p:nvSpPr>
        <p:spPr>
          <a:xfrm>
            <a:off x="6355080" y="3657600"/>
            <a:ext cx="562356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6611112" y="39136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696" y="4014216"/>
            <a:ext cx="256032" cy="256032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7223760" y="393192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企业级治理</a:t>
            </a:r>
            <a:endParaRPr lang="en-US" sz="2200" dirty="0"/>
          </a:p>
        </p:txBody>
      </p:sp>
      <p:sp>
        <p:nvSpPr>
          <p:cNvPr id="45" name="Shape 39"/>
          <p:cNvSpPr/>
          <p:nvPr/>
        </p:nvSpPr>
        <p:spPr>
          <a:xfrm>
            <a:off x="6684264" y="462686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6" name="Text 40"/>
          <p:cNvSpPr/>
          <p:nvPr/>
        </p:nvSpPr>
        <p:spPr>
          <a:xfrm>
            <a:off x="6867144" y="45537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 / 应用 / 对话后台管理</a:t>
            </a:r>
            <a:endParaRPr lang="en-US" sz="1400" dirty="0"/>
          </a:p>
        </p:txBody>
      </p:sp>
      <p:sp>
        <p:nvSpPr>
          <p:cNvPr id="47" name="Shape 41"/>
          <p:cNvSpPr/>
          <p:nvPr/>
        </p:nvSpPr>
        <p:spPr>
          <a:xfrm>
            <a:off x="6684264" y="493776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8" name="Text 42"/>
          <p:cNvSpPr/>
          <p:nvPr/>
        </p:nvSpPr>
        <p:spPr>
          <a:xfrm>
            <a:off x="6867144" y="48646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Redisson 限流 + Prompt 安全护栏</a:t>
            </a:r>
            <a:endParaRPr lang="en-US" sz="1400" dirty="0"/>
          </a:p>
        </p:txBody>
      </p:sp>
      <p:sp>
        <p:nvSpPr>
          <p:cNvPr id="49" name="Shape 43"/>
          <p:cNvSpPr/>
          <p:nvPr/>
        </p:nvSpPr>
        <p:spPr>
          <a:xfrm>
            <a:off x="6684264" y="5248656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0" name="Text 44"/>
          <p:cNvSpPr/>
          <p:nvPr/>
        </p:nvSpPr>
        <p:spPr>
          <a:xfrm>
            <a:off x="6867144" y="51755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调用指标采集与 Grafana</a:t>
            </a:r>
            <a:endParaRPr lang="en-US" sz="1400" dirty="0"/>
          </a:p>
        </p:txBody>
      </p:sp>
      <p:sp>
        <p:nvSpPr>
          <p:cNvPr id="51" name="Shape 45"/>
          <p:cNvSpPr/>
          <p:nvPr/>
        </p:nvSpPr>
        <p:spPr>
          <a:xfrm>
            <a:off x="6684264" y="555955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2" name="Text 46"/>
          <p:cNvSpPr/>
          <p:nvPr/>
        </p:nvSpPr>
        <p:spPr>
          <a:xfrm>
            <a:off x="6867144" y="54864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权限切面与角色（user / admin）</a:t>
            </a:r>
            <a:endParaRPr lang="en-US" sz="1400" dirty="0"/>
          </a:p>
        </p:txBody>
      </p:sp>
      <p:sp>
        <p:nvSpPr>
          <p:cNvPr id="53" name="Text 47"/>
          <p:cNvSpPr/>
          <p:nvPr/>
        </p:nvSpPr>
        <p:spPr>
          <a:xfrm>
            <a:off x="457200" y="629107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2026-08-28</a:t>
            </a:r>
            <a:endParaRPr lang="en-US" sz="1100" dirty="0"/>
          </a:p>
        </p:txBody>
      </p:sp>
      <p:sp>
        <p:nvSpPr>
          <p:cNvPr id="54" name="Text 48"/>
          <p:cNvSpPr/>
          <p:nvPr/>
        </p:nvSpPr>
        <p:spPr>
          <a:xfrm>
            <a:off x="10424160" y="6291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4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7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技术架构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同一业务能力，两套交付形态并存，这是当前维护的关键特征。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548640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4447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554480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14813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单体应用（默认教学线）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58368" y="2011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根目录 Spring Boot 应用，端口 8123，上下文 /api，适合本地启动与课程演示。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" y="2743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控制器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" y="30175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User / ChatHistory / Workflow SSE / 静态资源 / 健康检查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8368" y="35478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内核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58368" y="382219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门面、解析与落盘、文件工具集、输入输出护栏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8368" y="435254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58368" y="462686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路由、提示增强、图片并发采集、质量检查、工程构建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58368" y="515721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横切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58368" y="543153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鉴权切面、限流、监控监听、COS、截图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263640" y="1261872"/>
            <a:ext cx="5440680" cy="4800600"/>
          </a:xfrm>
          <a:prstGeom prst="roundRect">
            <a:avLst>
              <a:gd name="adj" fmla="val 1905"/>
            </a:avLst>
          </a:prstGeom>
          <a:solidFill>
            <a:srgbClr val="01363F"/>
          </a:solidFill>
          <a:ln/>
        </p:spPr>
      </p:sp>
      <p:sp>
        <p:nvSpPr>
          <p:cNvPr id="19" name="Shape 16"/>
          <p:cNvSpPr/>
          <p:nvPr/>
        </p:nvSpPr>
        <p:spPr>
          <a:xfrm>
            <a:off x="6510528" y="14447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1554480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114032" y="148132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微服务拆分（第 14 期）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6473952" y="2011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Alibaba · Dubbo 3.3 · Nacos。最终提交恢复完整单体，中间态请勿单独检出。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6473952" y="278892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24" name="Text 20"/>
          <p:cNvSpPr/>
          <p:nvPr/>
        </p:nvSpPr>
        <p:spPr>
          <a:xfrm>
            <a:off x="6473952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138160" y="2788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异常、鉴权注解、COS、通用配置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473952" y="324612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27" name="Text 23"/>
          <p:cNvSpPr/>
          <p:nvPr/>
        </p:nvSpPr>
        <p:spPr>
          <a:xfrm>
            <a:off x="6473952" y="3246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813816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实体 / DTO / VO / 枚举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6473952" y="370332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30" name="Text 26"/>
          <p:cNvSpPr/>
          <p:nvPr/>
        </p:nvSpPr>
        <p:spPr>
          <a:xfrm>
            <a:off x="6473952" y="3703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8138160" y="3703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跨服务接口定义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73952" y="416052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33" name="Text 29"/>
          <p:cNvSpPr/>
          <p:nvPr/>
        </p:nvSpPr>
        <p:spPr>
          <a:xfrm>
            <a:off x="6473952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813816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账号与登录会话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6473952" y="461772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36" name="Text 32"/>
          <p:cNvSpPr/>
          <p:nvPr/>
        </p:nvSpPr>
        <p:spPr>
          <a:xfrm>
            <a:off x="6473952" y="4617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813816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应用生成与部署主链路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6473952" y="507492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39" name="Text 35"/>
          <p:cNvSpPr/>
          <p:nvPr/>
        </p:nvSpPr>
        <p:spPr>
          <a:xfrm>
            <a:off x="6473952" y="5074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8138160" y="5074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模型、工具与工作流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6473952" y="553212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42" name="Text 38"/>
          <p:cNvSpPr/>
          <p:nvPr/>
        </p:nvSpPr>
        <p:spPr>
          <a:xfrm>
            <a:off x="6473952" y="5532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8138160" y="5532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网页截图独立服务</a:t>
            </a:r>
            <a:endParaRPr lang="en-US" sz="1400" dirty="0"/>
          </a:p>
        </p:txBody>
      </p:sp>
      <p:sp>
        <p:nvSpPr>
          <p:cNvPr id="44" name="Text 40"/>
          <p:cNvSpPr/>
          <p:nvPr/>
        </p:nvSpPr>
        <p:spPr>
          <a:xfrm>
            <a:off x="457200" y="629107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2026-08-28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10424160" y="6291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4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7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以仓库真实提交为准：近 7 日静默，最近一次集中变更为微服务改造。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3703320" cy="4800600"/>
          </a:xfrm>
          <a:prstGeom prst="roundRect">
            <a:avLst>
              <a:gd name="adj" fmla="val 2469"/>
            </a:avLst>
          </a:prstGeom>
          <a:solidFill>
            <a:srgbClr val="0136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8132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463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昨日 / 近 7 日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13232" y="2011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713232" y="2788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次代码提交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3232" y="32004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统计窗口 8 月 21 日至 28 日。master 仍停在 2025-08-26 的第 14 期微服务改造完成提交。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43434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含义：功能已闭环，CI、测试分层和双架构同步尚未跟进。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434840" y="1261872"/>
            <a:ext cx="7269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363F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17720" y="1536192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D6F0EC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153619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72200" y="137160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微服务改造完成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72200" y="1700784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拆出 7 模块并接通 Dubbo 与 Nacos；最终提交同时保留完整单体。中间九次提交请勿单独使用。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434840" y="2532888"/>
            <a:ext cx="7269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363F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17720" y="2807208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D6F0EC"/>
          </a:solidFill>
          <a:ln/>
        </p:spPr>
      </p:sp>
      <p:sp>
        <p:nvSpPr>
          <p:cNvPr id="19" name="Text 16"/>
          <p:cNvSpPr/>
          <p:nvPr/>
        </p:nvSpPr>
        <p:spPr>
          <a:xfrm>
            <a:off x="4617720" y="280720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172200" y="264261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可观测性 + 部署上线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172200" y="2971800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/ Prometheus / Grafana；教程第 12–13 期合入。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434840" y="3803904"/>
            <a:ext cx="7269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363F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17720" y="4078224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D6F0EC"/>
          </a:solidFill>
          <a:ln/>
        </p:spPr>
      </p:sp>
      <p:sp>
        <p:nvSpPr>
          <p:cNvPr id="24" name="Text 21"/>
          <p:cNvSpPr/>
          <p:nvPr/>
        </p:nvSpPr>
        <p:spPr>
          <a:xfrm>
            <a:off x="4617720" y="407822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2025-08-13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172200" y="3913632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系统与成本优化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172200" y="4242816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并发缓存、AI 调用并发、限流、Prompt 审查、稳定性与成本控制。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434840" y="5074920"/>
            <a:ext cx="7269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363F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17720" y="5349240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D6F0EC"/>
          </a:solidFill>
          <a:ln/>
        </p:spPr>
      </p:sp>
      <p:sp>
        <p:nvSpPr>
          <p:cNvPr id="29" name="Text 26"/>
          <p:cNvSpPr/>
          <p:nvPr/>
        </p:nvSpPr>
        <p:spPr>
          <a:xfrm>
            <a:off x="4617720" y="534924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2025-08-12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172200" y="518464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 工作流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172200" y="5513832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网站生成图、图片并发采集、子图与高级特性。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7200" y="629107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2026-08-28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0424160" y="6291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4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7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数据与质量要点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仓库可统计指标如下；线上业务量与 Token 成本需运行时看板，本日标记为待接入。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43584"/>
            <a:ext cx="2029968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363F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35024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12064" y="199339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单体业务 Java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61488" y="1243584"/>
            <a:ext cx="2029968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363F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61488" y="1335024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816352" y="199339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 Java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65776" y="1243584"/>
            <a:ext cx="2029968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363F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65776" y="1335024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120640" y="199339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代码生成模式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70064" y="1243584"/>
            <a:ext cx="2029968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363F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70064" y="1335024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424928" y="199339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测试方法约数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74352" y="1243584"/>
            <a:ext cx="2029968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363F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74352" y="1335024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729216" y="199339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单体控制器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816352"/>
            <a:ext cx="548640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" y="29992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3099816"/>
            <a:ext cx="182880" cy="1828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70432" y="30175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测试覆盖观察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58368" y="3547872"/>
            <a:ext cx="5074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CodeParserTest 为纯单测，可无密钥运行。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其余多为工作流与工具集成测试，依赖模型或外部服务。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前端具备 lint、类型检查和构建，但没有自动化单测。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微服务模块未见测试目录，回归主要压在单体。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本日未跑完整套件：缺少模型密钥与浏览器驱动。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263640" y="2816352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01363F"/>
          </a:solidFill>
          <a:ln/>
        </p:spPr>
      </p:sp>
      <p:sp>
        <p:nvSpPr>
          <p:cNvPr id="26" name="Shape 23"/>
          <p:cNvSpPr/>
          <p:nvPr/>
        </p:nvSpPr>
        <p:spPr>
          <a:xfrm>
            <a:off x="6473952" y="299923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3099816"/>
            <a:ext cx="182880" cy="18288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986016" y="30175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与流水线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6473952" y="354787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仓库没有自建的编译、测试或前端检查流水线，缺少 .github 工作流配置。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6473952" y="42976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仅见 Copilot 动态工作流，最近成功运行在 2026-03-09，与业务回归无关。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6473952" y="504748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生成次数、成功率、延迟和 Token 本日无运行时数据，待监控接入后补齐。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457200" y="629107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2026-08-28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10424160" y="6291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4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7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以下为仓库静态分析结论，按影响排序，均不阻塞当日文档产出。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56235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363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46304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9B2C2C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463040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142646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长期无提交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1792224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相对本报告日，距最近代码提交已超过一年。文档、依赖和模型接口可能漂移，新同学检出后容易踩到过期配置。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261872"/>
            <a:ext cx="56235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363F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56248" y="146304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9B2C2C"/>
          </a:solidFill>
          <a:ln/>
        </p:spPr>
      </p:sp>
      <p:sp>
        <p:nvSpPr>
          <p:cNvPr id="12" name="Text 10"/>
          <p:cNvSpPr/>
          <p:nvPr/>
        </p:nvSpPr>
        <p:spPr>
          <a:xfrm>
            <a:off x="6556248" y="1463040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96328" y="142646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双架构同步成本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56248" y="1792224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单体与微服务各维护一份实现。第 14 期中间提交曾破坏单体，只改一侧会立刻分叉。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907792"/>
            <a:ext cx="56235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363F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" y="310896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C05621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108960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98448" y="307238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缺少项目级 CI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" y="3438144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没有编译与测试门禁，合并依赖人工。工作流、截图和流式接口很难被自动兜住。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2907792"/>
            <a:ext cx="56235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363F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56248" y="310896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C05621"/>
          </a:solidFill>
          <a:ln/>
        </p:spPr>
      </p:sp>
      <p:sp>
        <p:nvSpPr>
          <p:cNvPr id="22" name="Text 20"/>
          <p:cNvSpPr/>
          <p:nvPr/>
        </p:nvSpPr>
        <p:spPr>
          <a:xfrm>
            <a:off x="6556248" y="3108960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96328" y="307238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测试不可持续跑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56248" y="3438144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多数用例绑定真实模型或浏览器，无密钥就无法作为门禁。微服务侧几乎没有测试。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553712"/>
            <a:ext cx="56235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363F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8368" y="475488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C05621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4754880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98448" y="471830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内嵌上游调试残留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8368" y="5084064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 AI 模块内含 LangChain4j 源码副本，夹杂未完成注释和调试打印，升级成本高。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55080" y="4553712"/>
            <a:ext cx="56235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363F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56248" y="475488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8A5A12"/>
          </a:solidFill>
          <a:ln/>
        </p:spPr>
      </p:sp>
      <p:sp>
        <p:nvSpPr>
          <p:cNvPr id="32" name="Text 30"/>
          <p:cNvSpPr/>
          <p:nvPr/>
        </p:nvSpPr>
        <p:spPr>
          <a:xfrm>
            <a:off x="6556248" y="4754880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96328" y="471830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环境复杂度上升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56248" y="5084064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微服务路径依赖 Nacos 与 Dubbo；监控告警规则仍为空。教学演示与生产化之间仍有缺口。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29107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424160" y="6291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4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7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下一步计划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建议先补工程化，而不是继续堆新业务能力。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43584"/>
            <a:ext cx="1124712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363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408176"/>
            <a:ext cx="640080" cy="54864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0817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426464" y="14904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1591056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65960" y="1316736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补齐最小 CI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965960" y="1609344"/>
            <a:ext cx="9509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 Actions：单体编译加 CodeParser 单测，前端做 lint 与类型检查。依赖密钥的集成测试不要放进必跑门禁。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231136"/>
            <a:ext cx="1124712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363F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792" y="2395728"/>
            <a:ext cx="640080" cy="548640"/>
          </a:xfrm>
          <a:prstGeom prst="roundRect">
            <a:avLst>
              <a:gd name="adj" fmla="val 13333"/>
            </a:avLst>
          </a:prstGeom>
          <a:solidFill>
            <a:srgbClr val="01363F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" y="239572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426464" y="247802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2578608"/>
            <a:ext cx="182880" cy="1828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965960" y="230428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明确主线架构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965960" y="2596896"/>
            <a:ext cx="9509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文档写清默认教学走单体，微服务作为进阶目录。改接口必须两侧同步，或冻结一侧只读。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57200" y="3218688"/>
            <a:ext cx="1124712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363F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1792" y="3383280"/>
            <a:ext cx="640080" cy="548640"/>
          </a:xfrm>
          <a:prstGeom prst="roundRect">
            <a:avLst>
              <a:gd name="adj" fmla="val 13333"/>
            </a:avLst>
          </a:prstGeom>
          <a:solidFill>
            <a:srgbClr val="01363F"/>
          </a:solidFill>
          <a:ln/>
        </p:spPr>
      </p:sp>
      <p:sp>
        <p:nvSpPr>
          <p:cNvPr id="21" name="Text 17"/>
          <p:cNvSpPr/>
          <p:nvPr/>
        </p:nvSpPr>
        <p:spPr>
          <a:xfrm>
            <a:off x="621792" y="33832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1426464" y="346557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" y="3566160"/>
            <a:ext cx="182880" cy="1828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965960" y="329184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隔离上游补丁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1965960" y="3584448"/>
            <a:ext cx="9509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LangChain4j 副本和调试输出从业务包剥离，避免与正式依赖静默分叉。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457200" y="4206240"/>
            <a:ext cx="1124712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363F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21792" y="4370832"/>
            <a:ext cx="640080" cy="548640"/>
          </a:xfrm>
          <a:prstGeom prst="roundRect">
            <a:avLst>
              <a:gd name="adj" fmla="val 13333"/>
            </a:avLst>
          </a:prstGeom>
          <a:solidFill>
            <a:srgbClr val="01363F"/>
          </a:solidFill>
          <a:ln/>
        </p:spPr>
      </p:sp>
      <p:sp>
        <p:nvSpPr>
          <p:cNvPr id="28" name="Text 23"/>
          <p:cNvSpPr/>
          <p:nvPr/>
        </p:nvSpPr>
        <p:spPr>
          <a:xfrm>
            <a:off x="621792" y="43708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1426464" y="445312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" y="4553712"/>
            <a:ext cx="182880" cy="1828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965960" y="42793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分层测试资产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1965960" y="4572000"/>
            <a:ext cx="9509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扩充无外部依赖单测。集成测试用开关隔离，而不是默认连接真实接口。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457200" y="5193792"/>
            <a:ext cx="1124712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363F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621792" y="5358384"/>
            <a:ext cx="640080" cy="548640"/>
          </a:xfrm>
          <a:prstGeom prst="roundRect">
            <a:avLst>
              <a:gd name="adj" fmla="val 13333"/>
            </a:avLst>
          </a:prstGeom>
          <a:solidFill>
            <a:srgbClr val="01363F"/>
          </a:solidFill>
          <a:ln/>
        </p:spPr>
      </p:sp>
      <p:sp>
        <p:nvSpPr>
          <p:cNvPr id="35" name="Text 29"/>
          <p:cNvSpPr/>
          <p:nvPr/>
        </p:nvSpPr>
        <p:spPr>
          <a:xfrm>
            <a:off x="621792" y="535838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1426464" y="544068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7048" y="5541264"/>
            <a:ext cx="182880" cy="18288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965960" y="526694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接通日报数据源</a:t>
            </a:r>
            <a:endParaRPr lang="en-US" sz="1600" dirty="0"/>
          </a:p>
        </p:txBody>
      </p:sp>
      <p:sp>
        <p:nvSpPr>
          <p:cNvPr id="39" name="Text 32"/>
          <p:cNvSpPr/>
          <p:nvPr/>
        </p:nvSpPr>
        <p:spPr>
          <a:xfrm>
            <a:off x="1965960" y="5559552"/>
            <a:ext cx="9509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Grafana 落地生成次数、成功率、延迟和 Token。后续日报用真实数字替换待接入说明。</a:t>
            </a:r>
            <a:endParaRPr lang="en-US" sz="1400" dirty="0"/>
          </a:p>
        </p:txBody>
      </p:sp>
      <p:sp>
        <p:nvSpPr>
          <p:cNvPr id="40" name="Text 33"/>
          <p:cNvSpPr/>
          <p:nvPr/>
        </p:nvSpPr>
        <p:spPr>
          <a:xfrm>
            <a:off x="457200" y="629107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2026-08-28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10424160" y="6291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4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3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097280"/>
            <a:ext cx="2926080" cy="2926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8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能力已齐，节奏已停，下一步做工程化。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881360" cy="932688"/>
          </a:xfrm>
          <a:prstGeom prst="roundRect">
            <a:avLst>
              <a:gd name="adj" fmla="val 9804"/>
            </a:avLst>
          </a:prstGeom>
          <a:solidFill>
            <a:srgbClr val="014F58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719072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554480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产品闭环完整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190195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生成、可视化改稿、部署分享、后台治理与观测均已在教程第 1–14 期落地。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10881360" cy="932688"/>
          </a:xfrm>
          <a:prstGeom prst="roundRect">
            <a:avLst>
              <a:gd name="adj" fmla="val 9804"/>
            </a:avLst>
          </a:prstGeom>
          <a:solidFill>
            <a:srgbClr val="014F58"/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" y="2816352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2651760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 7 日无代码变更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299923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仓库处于第 14 期完成后的稳定窗口，不是活跃迭代态。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10881360" cy="932688"/>
          </a:xfrm>
          <a:prstGeom prst="roundRect">
            <a:avLst>
              <a:gd name="adj" fmla="val 9804"/>
            </a:avLst>
          </a:prstGeom>
          <a:solidFill>
            <a:srgbClr val="014F58"/>
          </a:solidFill>
          <a:ln/>
        </p:spPr>
      </p:sp>
      <p:sp>
        <p:nvSpPr>
          <p:cNvPr id="17" name="Shape 15"/>
          <p:cNvSpPr/>
          <p:nvPr/>
        </p:nvSpPr>
        <p:spPr>
          <a:xfrm>
            <a:off x="841248" y="3913632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913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749040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最大风险是双轨维护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0965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单体与微服务并行、缺少 CI 与可重复单测，比缺功能更影响后续演进。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754880"/>
            <a:ext cx="10881360" cy="932688"/>
          </a:xfrm>
          <a:prstGeom prst="roundRect">
            <a:avLst>
              <a:gd name="adj" fmla="val 9804"/>
            </a:avLst>
          </a:prstGeom>
          <a:solidFill>
            <a:srgbClr val="014F58"/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" y="5010912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5010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3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4846320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建议本周只做三件事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63040" y="519379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 CI、主线架构约定、把无密钥单测纳入门禁。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598932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下一份日报：2026-08-29  ·  文件 docs/reports/project-status-2026-08-28.pptx  ·  10 / 10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2026-08-28</dc:title>
  <dc:subject>AI 零代码应用生成平台项目状态</dc:subject>
  <dc:creator>yu-ai-code-mother 日报自动化</dc:creator>
  <cp:lastModifiedBy>yu-ai-code-mother 日报自动化</cp:lastModifiedBy>
  <cp:revision>1</cp:revision>
  <dcterms:created xsi:type="dcterms:W3CDTF">2026-08-28T09:25:42Z</dcterms:created>
  <dcterms:modified xsi:type="dcterms:W3CDTF">2026-08-28T09:25:42Z</dcterms:modified>
</cp:coreProperties>
</file>