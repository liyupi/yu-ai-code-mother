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138160" y="-1051560"/>
            <a:ext cx="4937760" cy="4937760"/>
          </a:xfrm>
          <a:prstGeom prst="arc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566160"/>
            <a:ext cx="4480560" cy="448056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394960"/>
            <a:ext cx="2743200" cy="2743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80467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18488"/>
            <a:ext cx="76809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BEECEB"/>
                </a:solidFill>
                <a:latin typeface="Microsoft YaHei"/>
              </a:rPr>
              <a:t>AI 零代码应用生成平台 yu-ai-code-mother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运行日：2026-07-01（北京时间）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315968"/>
            <a:ext cx="1856231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53128"/>
            <a:ext cx="694944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4526280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核心产品能力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4315968"/>
            <a:ext cx="1856231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4453128"/>
            <a:ext cx="694944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Georgia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4526280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微服务模块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315968"/>
            <a:ext cx="1856231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453128"/>
            <a:ext cx="694944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Georgia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4526280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后端测试类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9752" y="4315968"/>
            <a:ext cx="1856231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453128"/>
            <a:ext cx="694944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4526280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YaHei"/>
              </a:rPr>
              <a:t>最近 7 天提交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06440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BEECEB"/>
                </a:solidFill>
                <a:latin typeface="Microsoft YaHei"/>
              </a:rPr>
              <a:t>面向项目维护者 / 团队：用于快速同步当前能力、近期变化、风险与下一步。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定位与边界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430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13258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307592"/>
            <a:ext cx="255117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项目定位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01368"/>
            <a:ext cx="3127248" cy="9509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40">
                <a:solidFill>
                  <a:srgbClr val="5B7480"/>
                </a:solidFill>
                <a:latin typeface="Microsoft YaHei"/>
              </a:rPr>
              <a:t>企业级 AI 代码生成平台教学项目，串联需求输入、AI 生成、实时预览、部署分享与后台管理闭环。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143000"/>
            <a:ext cx="82296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11430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5424" y="13258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307592"/>
            <a:ext cx="2551175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用户价值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1801368"/>
            <a:ext cx="2944368" cy="1024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20" b="0">
                <a:solidFill>
                  <a:srgbClr val="5B7480"/>
                </a:solidFill>
                <a:latin typeface="Microsoft YaHei"/>
              </a:rPr>
              <a:t>用户通过自然语言创建应用、实时预览、继续对话修改，并可部署、分享、下载源码。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1143000"/>
            <a:ext cx="82296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3296" y="114300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1325880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307592"/>
            <a:ext cx="2551175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维护视角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1801368"/>
            <a:ext cx="2944368" cy="1024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20" b="0">
                <a:solidFill>
                  <a:srgbClr val="5B7480"/>
                </a:solidFill>
                <a:latin typeface="Microsoft YaHei"/>
              </a:rPr>
              <a:t>仓库同时包含单体应用、微服务改造版本、前端项目、SQL 与监控配置，适合分阶段演进。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1143000"/>
            <a:ext cx="82296" cy="18288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160520"/>
            <a:ext cx="1554480" cy="65836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361688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需求输入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23160" y="4480560"/>
            <a:ext cx="4572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17520" y="4160520"/>
            <a:ext cx="1554480" cy="65836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361688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AI 路由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0" y="4480560"/>
            <a:ext cx="4572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66360" y="4160520"/>
            <a:ext cx="1554480" cy="65836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4361688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代码生成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20840" y="4480560"/>
            <a:ext cx="4572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200" y="4160520"/>
            <a:ext cx="1554480" cy="65836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361688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预览部署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69680" y="4480560"/>
            <a:ext cx="4572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64040" y="4160520"/>
            <a:ext cx="1554480" cy="65836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4361688"/>
            <a:ext cx="1371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运营管理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30368"/>
            <a:ext cx="10241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23F"/>
                </a:solidFill>
                <a:latin typeface="Microsoft YaHei"/>
              </a:rPr>
              <a:t>当前判断：产品主链路清晰，近期代码演进重点已从单体能力补齐转向微服务拆分、监控和稳定性。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模块与架构地图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代码结构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43000"/>
            <a:ext cx="48920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3258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1307592"/>
            <a:ext cx="39867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前端 Vue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801368"/>
            <a:ext cx="4379975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30" b="0">
                <a:solidFill>
                  <a:srgbClr val="5B7480"/>
                </a:solidFill>
                <a:latin typeface="Microsoft YaHei"/>
              </a:rPr>
              <a:t>Ant Design Vue / Pinia / Router / 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143000"/>
            <a:ext cx="82296" cy="8046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221991"/>
            <a:ext cx="48920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40487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5" y="2386584"/>
            <a:ext cx="39867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单体后端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880359"/>
            <a:ext cx="4379975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30" b="0">
                <a:solidFill>
                  <a:srgbClr val="5B7480"/>
                </a:solidFill>
                <a:latin typeface="Microsoft YaHei"/>
              </a:rPr>
              <a:t>App、User、ChatHistory、静态资源、工作流接口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221991"/>
            <a:ext cx="82296" cy="8046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300984"/>
            <a:ext cx="48920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483864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3465576"/>
            <a:ext cx="39867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微服务版本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959352"/>
            <a:ext cx="4379975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30" b="0">
                <a:solidFill>
                  <a:srgbClr val="5B7480"/>
                </a:solidFill>
                <a:latin typeface="Microsoft YaHei"/>
              </a:rPr>
              <a:t>common、model、client、user、app、ai、screenshot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00984"/>
            <a:ext cx="82296" cy="80467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379976"/>
            <a:ext cx="48920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4562856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5" y="4544568"/>
            <a:ext cx="39867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运维监控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5038344"/>
            <a:ext cx="4379975" cy="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30" b="0">
                <a:solidFill>
                  <a:srgbClr val="5B7480"/>
                </a:solidFill>
                <a:latin typeface="Microsoft YaHei"/>
              </a:rPr>
              <a:t>Prometheus 配置 + Grafana 仪表盘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379976"/>
            <a:ext cx="82296" cy="8046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8076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344168"/>
            <a:ext cx="2194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2323F"/>
                </a:solidFill>
                <a:latin typeface="Microsoft YaHei"/>
              </a:rPr>
              <a:t>运行链路视图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1874519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084831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624327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前端页面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1874519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1" y="2084831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2624327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控制器</a:t>
            </a:r>
          </a:p>
        </p:txBody>
      </p:sp>
      <p:sp>
        <p:nvSpPr>
          <p:cNvPr id="38" name="Oval 37"/>
          <p:cNvSpPr/>
          <p:nvPr/>
        </p:nvSpPr>
        <p:spPr>
          <a:xfrm>
            <a:off x="10058400" y="1874519"/>
            <a:ext cx="658368" cy="6583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5832" y="2084831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2624327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生成服务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315468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364992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3904488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MySQL/Redis</a:t>
            </a:r>
          </a:p>
        </p:txBody>
      </p:sp>
      <p:sp>
        <p:nvSpPr>
          <p:cNvPr id="44" name="Oval 43"/>
          <p:cNvSpPr/>
          <p:nvPr/>
        </p:nvSpPr>
        <p:spPr>
          <a:xfrm>
            <a:off x="8321040" y="315468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3364992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1" y="3904488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代码文件</a:t>
            </a:r>
          </a:p>
        </p:txBody>
      </p:sp>
      <p:sp>
        <p:nvSpPr>
          <p:cNvPr id="47" name="Oval 46"/>
          <p:cNvSpPr/>
          <p:nvPr/>
        </p:nvSpPr>
        <p:spPr>
          <a:xfrm>
            <a:off x="10058400" y="315468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5832" y="3364992"/>
            <a:ext cx="603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57232" y="3904488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B7480"/>
                </a:solidFill>
                <a:latin typeface="Microsoft YaHei"/>
              </a:rPr>
              <a:t>监控指标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9168" y="2203704"/>
            <a:ext cx="1261872" cy="0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979408" y="2203704"/>
            <a:ext cx="1078992" cy="0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50224" y="2532888"/>
            <a:ext cx="0" cy="621792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387584" y="2532888"/>
            <a:ext cx="0" cy="621792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29984" y="2532888"/>
            <a:ext cx="0" cy="621792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55080" y="5010912"/>
            <a:ext cx="48006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拆分建议：保持单体可运行基线，同时验证微服务模块间的 Dubbo/Nacos 契约与配置一致性。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当前核心能力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能力矩阵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704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35331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1335024"/>
            <a:ext cx="41696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828800"/>
            <a:ext cx="456285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10" b="0">
                <a:solidFill>
                  <a:srgbClr val="5B7480"/>
                </a:solidFill>
                <a:latin typeface="Microsoft YaHei"/>
              </a:rPr>
              <a:t>根据提示词智能选择 HTML、多文件或 Vue 项目生成策略；SSE 流式反馈执行过程。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170432"/>
            <a:ext cx="82296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79" y="11704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1" y="1353312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1335024"/>
            <a:ext cx="41696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可视化编辑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828800"/>
            <a:ext cx="456285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10" b="0">
                <a:solidFill>
                  <a:srgbClr val="5B7480"/>
                </a:solidFill>
                <a:latin typeface="Microsoft YaHei"/>
              </a:rPr>
              <a:t>生成结果可实时预览，支持进入编辑场景围绕页面元素继续对话迭代。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1170432"/>
            <a:ext cx="82296" cy="15727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2278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410712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3392424"/>
            <a:ext cx="41696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一键部署分享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886200"/>
            <a:ext cx="456285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10" b="0">
                <a:solidFill>
                  <a:srgbClr val="5B7480"/>
                </a:solidFill>
                <a:latin typeface="Microsoft YaHei"/>
              </a:rPr>
              <a:t>部署到静态资源访问目录，生成可访问地址，异步截图更新应用封面。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27832"/>
            <a:ext cx="82296" cy="1572768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79" y="32278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1" y="341071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3392424"/>
            <a:ext cx="41696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企业级管理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886200"/>
            <a:ext cx="456285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10" b="0">
                <a:solidFill>
                  <a:srgbClr val="5B7480"/>
                </a:solidFill>
                <a:latin typeface="Microsoft YaHei"/>
              </a:rPr>
              <a:t>用户、应用、对话历史和精选应用后台管理，管理员可维护封面、优先级等信息。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3227832"/>
            <a:ext cx="82296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59552"/>
            <a:ext cx="10058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1">
                <a:solidFill>
                  <a:srgbClr val="12323F"/>
                </a:solidFill>
                <a:latin typeface="Microsoft YaHei"/>
              </a:rPr>
              <a:t>能力状态：主链路已覆盖从生成到部署的产品闭环，后续重点是稳定性验证、真实指标采集与部署体验打磨。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AI 生成与工作流能力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LangChain4j / LangGraph4j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05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713232" cy="71323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673352"/>
            <a:ext cx="38404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90472" y="1837943"/>
            <a:ext cx="137160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7512" y="2487168"/>
            <a:ext cx="187451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651760"/>
            <a:ext cx="1389887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提示词增强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145536"/>
            <a:ext cx="1362455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补充应用目标、视觉风格与技术约束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2487168"/>
            <a:ext cx="82296" cy="15727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17520" y="1481328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1673352"/>
            <a:ext cx="38404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1837943"/>
            <a:ext cx="137160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07792" y="2487168"/>
            <a:ext cx="187451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2651760"/>
            <a:ext cx="138988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类型路由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3824" y="3145536"/>
            <a:ext cx="1362455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AI 判断 HTML / 多文件 / Vue 项目生成类型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7792" y="2487168"/>
            <a:ext cx="82296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57800" y="1481328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2392" y="1673352"/>
            <a:ext cx="38404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71032" y="1837943"/>
            <a:ext cx="1371599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48072" y="2487168"/>
            <a:ext cx="187451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4104" y="2651760"/>
            <a:ext cx="1389887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工具调用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4104" y="3145536"/>
            <a:ext cx="1362455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文件读写、修改、删除、退出等工具协作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72" y="2487168"/>
            <a:ext cx="82296" cy="15727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0" y="1481328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1673352"/>
            <a:ext cx="38404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11312" y="1837943"/>
            <a:ext cx="137160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88352" y="2487168"/>
            <a:ext cx="187451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4" y="2651760"/>
            <a:ext cx="138988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质量检查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3145536"/>
            <a:ext cx="1362455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代码质量节点判断是否回到生成阶段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2487168"/>
            <a:ext cx="82296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38360" y="1481328"/>
            <a:ext cx="713232" cy="71323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02952" y="1673352"/>
            <a:ext cx="38404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28632" y="2487168"/>
            <a:ext cx="187451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4664" y="2651760"/>
            <a:ext cx="138988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项目构建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3145536"/>
            <a:ext cx="1362455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Vue 项目构建并准备预览 / 部署产物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28632" y="2487168"/>
            <a:ext cx="82296" cy="15727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" y="4828032"/>
            <a:ext cx="10287000" cy="713232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029200"/>
            <a:ext cx="9784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关键观察：工作流已具备“采集素材 -&gt; 增强提示词 -&gt; 生成 -&gt; 质检 -&gt; 构建”的闭环，但生产质量仍依赖外部模型、密钥、Redis、文件系统和构建环境。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昨日 / 近期变更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Git 近况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4300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59152" y="130759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307592"/>
            <a:ext cx="180136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C7293"/>
                </a:solidFill>
                <a:latin typeface="Georg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1965960"/>
            <a:ext cx="1856232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最近 7 天提交数</a:t>
            </a:r>
            <a:br/>
            <a:r>
              <a:t>（截至本次 cron 运行）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14300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28032" y="13075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307592"/>
            <a:ext cx="2084831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02C39A"/>
                </a:solidFill>
                <a:latin typeface="Georgia"/>
              </a:rPr>
              <a:t>2025-08-26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1965960"/>
            <a:ext cx="1856232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最近历史提交日期</a:t>
            </a:r>
            <a:br/>
            <a:r>
              <a:t>微服务改造完成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2999232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15568" y="3255264"/>
            <a:ext cx="0" cy="457200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44752" y="2944368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C7293"/>
                </a:solidFill>
                <a:latin typeface="Microsoft YaHei"/>
              </a:rPr>
              <a:t>第 14 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2944368"/>
            <a:ext cx="8138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微服务改造完成：common/model/client/user/app/ai/screenshot 模块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3712464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15568" y="3968496"/>
            <a:ext cx="0" cy="457200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4752" y="3657600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C7293"/>
                </a:solidFill>
                <a:latin typeface="Microsoft YaHei"/>
              </a:rPr>
              <a:t>第 13 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3657600"/>
            <a:ext cx="8138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可观测性：Actuator、Prometheus、Grafana、AI 指标监听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4425696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15568" y="4681728"/>
            <a:ext cx="0" cy="457200"/>
          </a:xfrm>
          <a:prstGeom prst="line">
            <a:avLst/>
          </a:prstGeom>
          <a:ln w="25400">
            <a:solidFill>
              <a:srgbClr val="C9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4752" y="4370832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C7293"/>
                </a:solidFill>
                <a:latin typeface="Microsoft YaHei"/>
              </a:rPr>
              <a:t>第 12 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9152" y="4370832"/>
            <a:ext cx="8138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部署上线：静态资源服务、部署目录、访问地址和截图封面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" y="5138928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4752" y="5084064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C7293"/>
                </a:solidFill>
                <a:latin typeface="Microsoft YaHei"/>
              </a:rPr>
              <a:t>第 11 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5084064"/>
            <a:ext cx="8138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系统优化：Redis/Caffeine、限流、Prompt 安全、并发与成本优化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1143000"/>
            <a:ext cx="4754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79" y="1325880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1307592"/>
            <a:ext cx="38496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801368"/>
            <a:ext cx="4242816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40" b="0">
                <a:solidFill>
                  <a:srgbClr val="5B7480"/>
                </a:solidFill>
                <a:latin typeface="Microsoft YaHei"/>
              </a:rPr>
              <a:t>近期没有新的代码提交；报告中的“近期进展”以仓库最近历史提交与当前代码状态为准。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9088" y="1143000"/>
            <a:ext cx="82296" cy="14173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数据 / 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可观测与待接入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15568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8104" y="128016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280160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C7293"/>
                </a:solidFill>
                <a:latin typeface="Georgia"/>
              </a:rPr>
              <a:t>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1938528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Git 跟踪文件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115568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21424" y="128016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7" y="1280160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2C39A"/>
                </a:solidFill>
                <a:latin typeface="Georgia"/>
              </a:rPr>
              <a:t>287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938528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Java 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15568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24743" y="1280160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280160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Georgia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1938528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Vue 组件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560320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8104" y="272491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724912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C7293"/>
                </a:solidFill>
                <a:latin typeface="Georgia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" y="3383279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后端测试类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2560320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21424" y="272491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7" y="2724912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2C39A"/>
                </a:solidFill>
                <a:latin typeface="Georgia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3383279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微服务模块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560320"/>
            <a:ext cx="2999232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24743" y="2724912"/>
            <a:ext cx="384048" cy="384048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2724912"/>
            <a:ext cx="25603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D95D5D"/>
                </a:solidFill>
                <a:latin typeface="Georgi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3383279"/>
            <a:ext cx="2615184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5B7480"/>
                </a:solidFill>
                <a:latin typeface="Microsoft YaHei"/>
              </a:rPr>
              <a:t>CI 工作流配置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315968"/>
            <a:ext cx="4023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23F"/>
                </a:solidFill>
                <a:latin typeface="Microsoft YaHei"/>
              </a:rPr>
              <a:t>建议纳入日常看板的运行指标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18304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B7480"/>
                </a:solidFill>
                <a:latin typeface="Microsoft YaHei"/>
              </a:rPr>
              <a:t>AI 调用量 / 成本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07792" y="4736592"/>
            <a:ext cx="7223760" cy="146304"/>
          </a:xfrm>
          <a:prstGeom prst="roundRect">
            <a:avLst/>
          </a:prstGeom>
          <a:solidFill>
            <a:srgbClr val="C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07792" y="4736592"/>
            <a:ext cx="5201107" cy="146304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065776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B7480"/>
                </a:solidFill>
                <a:latin typeface="Microsoft YaHei"/>
              </a:rPr>
              <a:t>生成成功率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07792" y="5084064"/>
            <a:ext cx="7223760" cy="146304"/>
          </a:xfrm>
          <a:prstGeom prst="roundRect">
            <a:avLst/>
          </a:prstGeom>
          <a:solidFill>
            <a:srgbClr val="C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07792" y="5084064"/>
            <a:ext cx="4623206" cy="146304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13248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B7480"/>
                </a:solidFill>
                <a:latin typeface="Microsoft YaHei"/>
              </a:rPr>
              <a:t>部署成功率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07792" y="5431536"/>
            <a:ext cx="7223760" cy="146304"/>
          </a:xfrm>
          <a:prstGeom prst="roundRect">
            <a:avLst/>
          </a:prstGeom>
          <a:solidFill>
            <a:srgbClr val="C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07792" y="5431536"/>
            <a:ext cx="4189780" cy="146304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760720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5B7480"/>
                </a:solidFill>
                <a:latin typeface="Microsoft YaHei"/>
              </a:rPr>
              <a:t>P95 响应耗时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07792" y="5779008"/>
            <a:ext cx="7223760" cy="146304"/>
          </a:xfrm>
          <a:prstGeom prst="roundRect">
            <a:avLst/>
          </a:prstGeom>
          <a:solidFill>
            <a:srgbClr val="C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907792" y="5779008"/>
            <a:ext cx="3395167" cy="146304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6016752"/>
            <a:ext cx="9966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5B7480"/>
                </a:solidFill>
                <a:latin typeface="Microsoft YaHei"/>
              </a:rPr>
              <a:t>当前线上业务指标未在仓库内留存；上方为建议采集维度，需接入真实环境后替换为自动化数据。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测试与 CI 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质量保障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15568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298448"/>
            <a:ext cx="411480" cy="411480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1280160"/>
            <a:ext cx="2478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CI 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773936"/>
            <a:ext cx="2871216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40" b="0">
                <a:solidFill>
                  <a:srgbClr val="5B7480"/>
                </a:solidFill>
                <a:latin typeface="Microsoft YaHei"/>
              </a:rPr>
              <a:t>未发现 GitHub Actions、GitLab CI 或 docker-compose 配置；当前无法从仓库判断最近 CI 运行结果。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115568"/>
            <a:ext cx="82296" cy="1600200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8" y="1115568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1298448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280160"/>
            <a:ext cx="2478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后端测试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773936"/>
            <a:ext cx="2871216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40" b="0">
                <a:solidFill>
                  <a:srgbClr val="5B7480"/>
                </a:solidFill>
                <a:latin typeface="Microsoft YaHei"/>
              </a:rPr>
              <a:t>src/test/java 下约 15 个测试类，覆盖解析器、AI 生成服务、LangGraph4j 工作流、素材工具和截图工具。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115568"/>
            <a:ext cx="82296" cy="1600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1115568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2167" y="1298448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1280160"/>
            <a:ext cx="24780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前端脚本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773936"/>
            <a:ext cx="2871216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40" b="0">
                <a:solidFill>
                  <a:srgbClr val="5B7480"/>
                </a:solidFill>
                <a:latin typeface="Microsoft YaHei"/>
              </a:rPr>
              <a:t>package.json 提供 build、type-check、lint、format 等脚本；适合纳入后续流水线。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7575" y="1115568"/>
            <a:ext cx="82296" cy="1600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401568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23F"/>
                </a:solidFill>
                <a:latin typeface="Microsoft YaHei"/>
              </a:rPr>
              <a:t>建议验证阶梯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4160520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Georg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069080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1">
                <a:solidFill>
                  <a:srgbClr val="12323F"/>
                </a:solidFill>
                <a:latin typeface="Microsoft YaHei"/>
              </a:rPr>
              <a:t>单元/上下文测试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343400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5B7480"/>
                </a:solidFill>
                <a:latin typeface="Calibri"/>
              </a:rPr>
              <a:t>mvn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4142231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3904" y="4325112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Georgia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233672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1">
                <a:solidFill>
                  <a:srgbClr val="12323F"/>
                </a:solidFill>
                <a:latin typeface="Microsoft YaHei"/>
              </a:rPr>
              <a:t>前端类型与构建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507992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5B7480"/>
                </a:solidFill>
                <a:latin typeface="Calibri"/>
              </a:rPr>
              <a:t>npm run build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06824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4489704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Georgia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398264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1">
                <a:solidFill>
                  <a:srgbClr val="12323F"/>
                </a:solidFill>
                <a:latin typeface="Microsoft YaHei"/>
              </a:rPr>
              <a:t>端到端主链路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672584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5B7480"/>
                </a:solidFill>
                <a:latin typeface="Microsoft YaHei"/>
              </a:rPr>
              <a:t>创建 -&gt; 生成 -&gt; 预览 -&gt; 部署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471416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4654296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Georg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562856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1">
                <a:solidFill>
                  <a:srgbClr val="12323F"/>
                </a:solidFill>
                <a:latin typeface="Microsoft YaHei"/>
              </a:rPr>
              <a:t>监控回归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837176"/>
            <a:ext cx="1572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5B7480"/>
                </a:solidFill>
                <a:latin typeface="Microsoft YaHei"/>
              </a:rPr>
              <a:t>Actuator / Prometheus 指标采集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需重点跟踪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078992"/>
            <a:ext cx="4983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261872"/>
            <a:ext cx="411480" cy="411480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1243584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环境依赖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691640"/>
            <a:ext cx="4471416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>
                <a:solidFill>
                  <a:srgbClr val="12323F"/>
                </a:solidFill>
                <a:latin typeface="Microsoft YaHei"/>
              </a:rPr>
              <a:t>AI 密钥、Redis/MySQL、Nacos/Dubbo、截图浏览器与构建工具需完整配置。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1078992"/>
            <a:ext cx="82296" cy="1097280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078992"/>
            <a:ext cx="4983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1261872"/>
            <a:ext cx="411480" cy="41148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243584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测试可见性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691640"/>
            <a:ext cx="4471416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>
                <a:solidFill>
                  <a:srgbClr val="12323F"/>
                </a:solidFill>
                <a:latin typeface="Microsoft YaHei"/>
              </a:rPr>
              <a:t>缺少 CI 与最近运行记录，微服务改造后的回归质量不可自动证明。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078992"/>
            <a:ext cx="82296" cy="109728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2432304"/>
            <a:ext cx="4983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2615184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2596896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双形态维护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044952"/>
            <a:ext cx="4471416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>
                <a:solidFill>
                  <a:srgbClr val="12323F"/>
                </a:solidFill>
                <a:latin typeface="Microsoft YaHei"/>
              </a:rPr>
              <a:t>单体与微服务并存，接口、模型和配置需要防止漂移。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432304"/>
            <a:ext cx="82296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59" y="2432304"/>
            <a:ext cx="4983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1" y="2615184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96896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运行成本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044952"/>
            <a:ext cx="4471416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>
                <a:solidFill>
                  <a:srgbClr val="12323F"/>
                </a:solidFill>
                <a:latin typeface="Microsoft YaHei"/>
              </a:rPr>
              <a:t>流式生成、工作流重试、素材采集与截图会放大模型和设施成本。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2432304"/>
            <a:ext cx="82296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3785615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832" y="3968496"/>
            <a:ext cx="411480" cy="411480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3950207"/>
            <a:ext cx="961034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安全治理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4398263"/>
            <a:ext cx="10003536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>
                <a:solidFill>
                  <a:srgbClr val="12323F"/>
                </a:solidFill>
                <a:latin typeface="Microsoft YaHei"/>
              </a:rPr>
              <a:t>Prompt 安全、限流和权限具备基础能力，仍需验证绕过与越权场景。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785615"/>
            <a:ext cx="82296" cy="1097280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687568"/>
            <a:ext cx="10149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20" b="1">
                <a:solidFill>
                  <a:srgbClr val="12323F"/>
                </a:solidFill>
                <a:latin typeface="Microsoft YaHei"/>
              </a:rPr>
              <a:t>优先级提示：先补齐自动化验证与环境清单，再推进微服务链路灰度。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594360"/>
            <a:ext cx="2194560" cy="2194560"/>
          </a:xfrm>
          <a:prstGeom prst="ellipse">
            <a:avLst/>
          </a:prstGeom>
          <a:solidFill>
            <a:srgbClr val="BE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987552" cy="420624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92608"/>
            <a:ext cx="80467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2323F"/>
                </a:solidFill>
                <a:latin typeface="Georgia"/>
              </a:rPr>
              <a:t>建议的下一步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931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C7293"/>
                </a:solidFill>
                <a:latin typeface="Calibri"/>
              </a:rPr>
              <a:t>行动清单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6217920"/>
            <a:ext cx="1581912" cy="164592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B7480"/>
                </a:solidFill>
                <a:latin typeface="Calibri"/>
              </a:rPr>
              <a:t>yu-ai-code-mother 每日项目状态 | 2026-07-01 |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170432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1417320"/>
            <a:ext cx="1280160" cy="3840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17904"/>
            <a:ext cx="104241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YaHei"/>
              </a:rPr>
              <a:t>工程质量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11226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205740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补充 GitHub Actions：后端 mvn test、前端 build/type-check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288950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283464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固定环境变量模板与本地启动检查清单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66674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361188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为微服务模块增加契约/集成测试入口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阶段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170432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7447" y="1417320"/>
            <a:ext cx="1280160" cy="38404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19" y="1517904"/>
            <a:ext cx="104241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YaHei"/>
              </a:rPr>
              <a:t>产品主链路</a:t>
            </a:r>
          </a:p>
        </p:txBody>
      </p:sp>
      <p:sp>
        <p:nvSpPr>
          <p:cNvPr id="23" name="Oval 22"/>
          <p:cNvSpPr/>
          <p:nvPr/>
        </p:nvSpPr>
        <p:spPr>
          <a:xfrm>
            <a:off x="4846319" y="2112264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3" y="205740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验证创建、SSE 生成、预览、部署、截图和下载闭环</a:t>
            </a:r>
          </a:p>
        </p:txBody>
      </p:sp>
      <p:sp>
        <p:nvSpPr>
          <p:cNvPr id="25" name="Oval 24"/>
          <p:cNvSpPr/>
          <p:nvPr/>
        </p:nvSpPr>
        <p:spPr>
          <a:xfrm>
            <a:off x="4846319" y="2889504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3" y="283464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梳理 Vue 项目生成失败时的用户提示与恢复路径</a:t>
            </a:r>
          </a:p>
        </p:txBody>
      </p:sp>
      <p:sp>
        <p:nvSpPr>
          <p:cNvPr id="27" name="Oval 26"/>
          <p:cNvSpPr/>
          <p:nvPr/>
        </p:nvSpPr>
        <p:spPr>
          <a:xfrm>
            <a:off x="4846319" y="3666744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3" y="361188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完善应用编辑与精选应用运营流程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19" y="498348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阶段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19" y="1170432"/>
            <a:ext cx="32461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76488" y="1417320"/>
            <a:ext cx="1280160" cy="384048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1517904"/>
            <a:ext cx="104241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YaHei"/>
              </a:rPr>
              <a:t>可观测运营</a:t>
            </a:r>
          </a:p>
        </p:txBody>
      </p:sp>
      <p:sp>
        <p:nvSpPr>
          <p:cNvPr id="33" name="Oval 32"/>
          <p:cNvSpPr/>
          <p:nvPr/>
        </p:nvSpPr>
        <p:spPr>
          <a:xfrm>
            <a:off x="8595359" y="2112264"/>
            <a:ext cx="118872" cy="118872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3" y="205740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把 AI 调用成本、成功率、耗时、异常接入 Grafana</a:t>
            </a:r>
          </a:p>
        </p:txBody>
      </p:sp>
      <p:sp>
        <p:nvSpPr>
          <p:cNvPr id="35" name="Oval 34"/>
          <p:cNvSpPr/>
          <p:nvPr/>
        </p:nvSpPr>
        <p:spPr>
          <a:xfrm>
            <a:off x="8595359" y="2889504"/>
            <a:ext cx="118872" cy="118872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3103" y="283464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记录部署成功率与截图耗时，定位慢点</a:t>
            </a:r>
          </a:p>
        </p:txBody>
      </p:sp>
      <p:sp>
        <p:nvSpPr>
          <p:cNvPr id="37" name="Oval 36"/>
          <p:cNvSpPr/>
          <p:nvPr/>
        </p:nvSpPr>
        <p:spPr>
          <a:xfrm>
            <a:off x="8595359" y="3666744"/>
            <a:ext cx="118872" cy="118872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3103" y="3611880"/>
            <a:ext cx="2459736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2323F"/>
                </a:solidFill>
                <a:latin typeface="Microsoft YaHei"/>
              </a:rPr>
              <a:t>建立日报自动指标来源，减少人工判断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59" y="498348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5B7480"/>
                </a:solidFill>
                <a:latin typeface="Microsoft YaHei"/>
              </a:rPr>
              <a:t>阶段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138160" y="-1051560"/>
            <a:ext cx="4937760" cy="4937760"/>
          </a:xfrm>
          <a:prstGeom prst="arc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566160"/>
            <a:ext cx="4480560" cy="448056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394960"/>
            <a:ext cx="2743200" cy="2743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30175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98755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BEECEB"/>
                </a:solidFill>
                <a:latin typeface="Microsoft YaHei"/>
              </a:rPr>
              <a:t>当前项目具备 AI 代码生成平台的完整雏形，最近历史演进已推进到微服务拆分、可观测性和稳定性优化阶段。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1635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999232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980944"/>
            <a:ext cx="22494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能力可用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74720"/>
            <a:ext cx="264261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80" b="0">
                <a:solidFill>
                  <a:srgbClr val="5B7480"/>
                </a:solidFill>
                <a:latin typeface="Microsoft YaHei"/>
              </a:rPr>
              <a:t>生成、编辑、部署、管理四条主链路已具备代码基础。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16352"/>
            <a:ext cx="82296" cy="15727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81635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36592" y="299923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980944"/>
            <a:ext cx="22494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质量待证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474720"/>
            <a:ext cx="264261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80" b="0">
                <a:solidFill>
                  <a:srgbClr val="5B7480"/>
                </a:solidFill>
                <a:latin typeface="Microsoft YaHei"/>
              </a:rPr>
              <a:t>缺少 CI 与最近运行记录，是当前最需要补齐的透明度问题。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816352"/>
            <a:ext cx="82296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2816352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85632" y="2999232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80944"/>
            <a:ext cx="22494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2323F"/>
                </a:solidFill>
                <a:latin typeface="Microsoft YaHei"/>
              </a:rPr>
              <a:t>下一焦点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474720"/>
            <a:ext cx="2642616" cy="768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80" b="0">
                <a:solidFill>
                  <a:srgbClr val="5B7480"/>
                </a:solidFill>
                <a:latin typeface="Microsoft YaHei"/>
              </a:rPr>
              <a:t>围绕主链路回归、微服务契约、真实指标和成本治理推进。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816352"/>
            <a:ext cx="82296" cy="1572768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70448"/>
            <a:ext cx="8412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报告文件：docs/reports/project-status-2026-07-01.pptx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2026-07-01</dc:title>
  <dc:subject>yu-ai-code-mother 项目状态</dc:subject>
  <dc:creator>Cursor Automation</dc:creator>
  <cp:keywords>yu-ai-code-mother, status, report, pptx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