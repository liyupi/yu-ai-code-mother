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333A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6333A"/>
                </a:solidFill>
                <a:latin typeface="Calibri"/>
              </a:rPr>
              <a:t>提交节奏（仓库）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月度提交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33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2025-07</c:v>
                  </c:pt>
                  <c:pt idx="1">
                    <c:v>2025-08</c:v>
                  </c:pt>
                  <c:pt idx="2">
                    <c:v>近 7 日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33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B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4ED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065A82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2926080" cy="2926080"/>
          </a:xfrm>
          <a:prstGeom prst="ellipse">
            <a:avLst/>
          </a:prstGeom>
          <a:solidFill>
            <a:srgbClr val="01707E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097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  ·  内部维护简报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691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640080" y="2606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功能基线已落地，近一年业务提交静默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" y="3246120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14586A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2026年9月7日  北京时间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43400" y="3246120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14586A"/>
          </a:solidFill>
          <a:ln/>
        </p:spPr>
      </p:sp>
      <p:sp>
        <p:nvSpPr>
          <p:cNvPr id="13" name="Text 10"/>
          <p:cNvSpPr/>
          <p:nvPr/>
        </p:nvSpPr>
        <p:spPr>
          <a:xfrm>
            <a:off x="434340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教程第 14 期完成态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046720" y="3246120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14586A"/>
          </a:solidFill>
          <a:ln/>
        </p:spPr>
      </p:sp>
      <p:sp>
        <p:nvSpPr>
          <p:cNvPr id="15" name="Text 12"/>
          <p:cNvSpPr/>
          <p:nvPr/>
        </p:nvSpPr>
        <p:spPr>
          <a:xfrm>
            <a:off x="804672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受众：项目维护者 / 团队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0080" y="4023360"/>
            <a:ext cx="2606040" cy="1965960"/>
          </a:xfrm>
          <a:prstGeom prst="rect">
            <a:avLst/>
          </a:prstGeom>
          <a:solidFill>
            <a:srgbClr val="0E4554"/>
          </a:solidFill>
          <a:ln/>
        </p:spPr>
      </p:sp>
      <p:sp>
        <p:nvSpPr>
          <p:cNvPr id="17" name="Shape 14"/>
          <p:cNvSpPr/>
          <p:nvPr/>
        </p:nvSpPr>
        <p:spPr>
          <a:xfrm>
            <a:off x="640080" y="4023360"/>
            <a:ext cx="26060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29768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731520" y="5212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日业务提交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474720" y="4023360"/>
            <a:ext cx="2606040" cy="1965960"/>
          </a:xfrm>
          <a:prstGeom prst="rect">
            <a:avLst/>
          </a:prstGeom>
          <a:solidFill>
            <a:srgbClr val="0E4554"/>
          </a:solidFill>
          <a:ln/>
        </p:spPr>
      </p:sp>
      <p:sp>
        <p:nvSpPr>
          <p:cNvPr id="21" name="Shape 18"/>
          <p:cNvSpPr/>
          <p:nvPr/>
        </p:nvSpPr>
        <p:spPr>
          <a:xfrm>
            <a:off x="3474720" y="4023360"/>
            <a:ext cx="26060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19"/>
          <p:cNvSpPr/>
          <p:nvPr/>
        </p:nvSpPr>
        <p:spPr>
          <a:xfrm>
            <a:off x="3474720" y="429768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23" name="Text 20"/>
          <p:cNvSpPr/>
          <p:nvPr/>
        </p:nvSpPr>
        <p:spPr>
          <a:xfrm>
            <a:off x="3566160" y="5212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309360" y="4023360"/>
            <a:ext cx="2606040" cy="1965960"/>
          </a:xfrm>
          <a:prstGeom prst="rect">
            <a:avLst/>
          </a:prstGeom>
          <a:solidFill>
            <a:srgbClr val="0E4554"/>
          </a:solidFill>
          <a:ln/>
        </p:spPr>
      </p:sp>
      <p:sp>
        <p:nvSpPr>
          <p:cNvPr id="25" name="Shape 22"/>
          <p:cNvSpPr/>
          <p:nvPr/>
        </p:nvSpPr>
        <p:spPr>
          <a:xfrm>
            <a:off x="6309360" y="4023360"/>
            <a:ext cx="26060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3"/>
          <p:cNvSpPr/>
          <p:nvPr/>
        </p:nvSpPr>
        <p:spPr>
          <a:xfrm>
            <a:off x="6309360" y="429768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000" dirty="0"/>
          </a:p>
        </p:txBody>
      </p:sp>
      <p:sp>
        <p:nvSpPr>
          <p:cNvPr id="27" name="Text 24"/>
          <p:cNvSpPr/>
          <p:nvPr/>
        </p:nvSpPr>
        <p:spPr>
          <a:xfrm>
            <a:off x="6400800" y="5212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9144000" y="4023360"/>
            <a:ext cx="2606040" cy="1965960"/>
          </a:xfrm>
          <a:prstGeom prst="rect">
            <a:avLst/>
          </a:prstGeom>
          <a:solidFill>
            <a:srgbClr val="0E4554"/>
          </a:solidFill>
          <a:ln/>
        </p:spPr>
      </p:sp>
      <p:sp>
        <p:nvSpPr>
          <p:cNvPr id="29" name="Shape 26"/>
          <p:cNvSpPr/>
          <p:nvPr/>
        </p:nvSpPr>
        <p:spPr>
          <a:xfrm>
            <a:off x="9144000" y="4023360"/>
            <a:ext cx="26060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0" name="Text 27"/>
          <p:cNvSpPr/>
          <p:nvPr/>
        </p:nvSpPr>
        <p:spPr>
          <a:xfrm>
            <a:off x="9144000" y="429768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4000" dirty="0"/>
          </a:p>
        </p:txBody>
      </p:sp>
      <p:sp>
        <p:nvSpPr>
          <p:cNvPr id="31" name="Text 28"/>
          <p:cNvSpPr/>
          <p:nvPr/>
        </p:nvSpPr>
        <p:spPr>
          <a:xfrm>
            <a:off x="9235440" y="5212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自动化测试类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1707E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" y="0"/>
            <a:ext cx="12033504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9377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今日速览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2026-09-07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207008"/>
            <a:ext cx="258318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207008"/>
            <a:ext cx="258318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44475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517904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61288" y="14630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距上次业务提交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" y="198424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377  天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85800" y="2715768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末次提交 2025-08-26，教程第 14 期微服务改造完成。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360420" y="1207008"/>
            <a:ext cx="258318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60420" y="1207008"/>
            <a:ext cx="2583180" cy="73152"/>
          </a:xfrm>
          <a:prstGeom prst="rect">
            <a:avLst/>
          </a:prstGeom>
          <a:solidFill>
            <a:srgbClr val="01707E"/>
          </a:solidFill>
          <a:ln/>
        </p:spPr>
      </p:sp>
      <p:sp>
        <p:nvSpPr>
          <p:cNvPr id="17" name="Shape 14"/>
          <p:cNvSpPr/>
          <p:nvPr/>
        </p:nvSpPr>
        <p:spPr>
          <a:xfrm>
            <a:off x="3543300" y="1444752"/>
            <a:ext cx="384048" cy="384048"/>
          </a:xfrm>
          <a:prstGeom prst="ellipse">
            <a:avLst/>
          </a:prstGeom>
          <a:solidFill>
            <a:srgbClr val="01707E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452" y="1517904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018788" y="14630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日代码变更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543300" y="198424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 次</a:t>
            </a:r>
            <a:endParaRPr lang="en-US" sz="3200" dirty="0"/>
          </a:p>
        </p:txBody>
      </p:sp>
      <p:sp>
        <p:nvSpPr>
          <p:cNvPr id="21" name="Text 17"/>
          <p:cNvSpPr/>
          <p:nvPr/>
        </p:nvSpPr>
        <p:spPr>
          <a:xfrm>
            <a:off x="3543300" y="2715768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业务仓库无新 commit；仅有自动化日报草稿 PR 持续产出。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217920" y="1207008"/>
            <a:ext cx="258318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217920" y="1207008"/>
            <a:ext cx="2583180" cy="73152"/>
          </a:xfrm>
          <a:prstGeom prst="rect">
            <a:avLst/>
          </a:prstGeom>
          <a:solidFill>
            <a:srgbClr val="8A3D12"/>
          </a:solidFill>
          <a:ln/>
        </p:spPr>
      </p:sp>
      <p:sp>
        <p:nvSpPr>
          <p:cNvPr id="24" name="Shape 20"/>
          <p:cNvSpPr/>
          <p:nvPr/>
        </p:nvSpPr>
        <p:spPr>
          <a:xfrm>
            <a:off x="6400800" y="1444752"/>
            <a:ext cx="384048" cy="384048"/>
          </a:xfrm>
          <a:prstGeom prst="ellipse">
            <a:avLst/>
          </a:prstGeom>
          <a:solidFill>
            <a:srgbClr val="8A3D12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517904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876288" y="14630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开放社区 Issue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400800" y="198424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个</a:t>
            </a:r>
            <a:endParaRPr lang="en-US" sz="3200" dirty="0"/>
          </a:p>
        </p:txBody>
      </p:sp>
      <p:sp>
        <p:nvSpPr>
          <p:cNvPr id="28" name="Text 23"/>
          <p:cNvSpPr/>
          <p:nvPr/>
        </p:nvSpPr>
        <p:spPr>
          <a:xfrm>
            <a:off x="6400800" y="2715768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含前端安装失败、Vue 生成字段缺失、联网搜索需求。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9075420" y="1207008"/>
            <a:ext cx="258318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075420" y="1207008"/>
            <a:ext cx="258318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1" name="Shape 26"/>
          <p:cNvSpPr/>
          <p:nvPr/>
        </p:nvSpPr>
        <p:spPr>
          <a:xfrm>
            <a:off x="9258300" y="1444752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452" y="1517904"/>
            <a:ext cx="237744" cy="23774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733788" y="14630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能力状态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9258300" y="198424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基线</a:t>
            </a:r>
            <a:endParaRPr lang="en-US" sz="3200" dirty="0"/>
          </a:p>
        </p:txBody>
      </p:sp>
      <p:sp>
        <p:nvSpPr>
          <p:cNvPr id="35" name="Text 29"/>
          <p:cNvSpPr/>
          <p:nvPr/>
        </p:nvSpPr>
        <p:spPr>
          <a:xfrm>
            <a:off x="9258300" y="2715768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/ 编辑 / 部署 / 管理四条主链路已在代码中闭环。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502920" y="4370832"/>
            <a:ext cx="11155680" cy="1847088"/>
          </a:xfrm>
          <a:prstGeom prst="rect">
            <a:avLst/>
          </a:prstGeom>
          <a:solidFill>
            <a:srgbClr val="012A36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553712"/>
            <a:ext cx="274320" cy="27432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097280" y="4553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一句话判断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731520" y="493776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平台能力已按教程第 14 期交付，当前处于「可教学、可运行、待运维」状态：代码基线稳定，社区问题未闭环，生产指标与 CI 尚未接入日常节奏。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1707E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" y="0"/>
            <a:ext cx="12033504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9377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2026-09-07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207008"/>
            <a:ext cx="5532120" cy="5029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207008"/>
            <a:ext cx="91440" cy="5029200"/>
          </a:xfrm>
          <a:prstGeom prst="rect">
            <a:avLst/>
          </a:prstGeom>
          <a:solidFill>
            <a:srgbClr val="01707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417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产品定位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18288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对标大厂的企业级 AI 代码生成平台，教学项目同时覆盖单体与微服务两套实现。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2633472"/>
            <a:ext cx="256032" cy="256032"/>
          </a:xfrm>
          <a:prstGeom prst="ellipse">
            <a:avLst/>
          </a:prstGeom>
          <a:solidFill>
            <a:srgbClr val="C5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633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5603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智能生成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83464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需求描述 → 策略路由 → 工具调用 → SSE 流式输出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3456432"/>
            <a:ext cx="256032" cy="256032"/>
          </a:xfrm>
          <a:prstGeom prst="ellipse">
            <a:avLst/>
          </a:prstGeom>
          <a:solidFill>
            <a:srgbClr val="C5E6D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456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33832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可视化改稿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65760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选中页面元素后与 AI 对话，支持原生全量与工程增量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68680" y="4279392"/>
            <a:ext cx="256032" cy="256032"/>
          </a:xfrm>
          <a:prstGeom prst="ellipse">
            <a:avLst/>
          </a:prstGeom>
          <a:solidFill>
            <a:srgbClr val="C5E6DF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279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42062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部署分享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44805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一键部署、自动截封面、可访问地址与源码下载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68680" y="5102352"/>
            <a:ext cx="256032" cy="256032"/>
          </a:xfrm>
          <a:prstGeom prst="ellipse">
            <a:avLst/>
          </a:prstGeom>
          <a:solidFill>
            <a:srgbClr val="C5E6DF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102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80160" y="5029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后台治理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0160" y="53035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 / 应用 / 对话管理，精选案例与监控指标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1207008"/>
            <a:ext cx="5303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37960" y="1444752"/>
            <a:ext cx="438912" cy="438912"/>
          </a:xfrm>
          <a:prstGeom prst="ellipse">
            <a:avLst/>
          </a:prstGeom>
          <a:solidFill>
            <a:srgbClr val="01707E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8544" y="1545336"/>
            <a:ext cx="237744" cy="23774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7132320" y="131673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132320" y="162763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 / Java 21 / LangChain4j 1.1 / LangGraph4j 1.6-rc2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355080" y="2212848"/>
            <a:ext cx="5303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537960" y="2450592"/>
            <a:ext cx="438912" cy="438912"/>
          </a:xfrm>
          <a:prstGeom prst="ellipse">
            <a:avLst/>
          </a:prstGeom>
          <a:solidFill>
            <a:srgbClr val="01707E"/>
          </a:solidFill>
          <a:ln/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2551176"/>
            <a:ext cx="237744" cy="237744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7132320" y="232257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7132320" y="263347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3.5 + TypeScript + Ant Design Vue + Vite 7 + Pinia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6355080" y="3218688"/>
            <a:ext cx="5303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6537960" y="3456432"/>
            <a:ext cx="438912" cy="438912"/>
          </a:xfrm>
          <a:prstGeom prst="ellipse">
            <a:avLst/>
          </a:prstGeom>
          <a:solidFill>
            <a:srgbClr val="01707E"/>
          </a:solidFill>
          <a:ln/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3557016"/>
            <a:ext cx="237744" cy="237744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7132320" y="332841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</a:t>
            </a:r>
            <a:endParaRPr lang="en-US" sz="1600" dirty="0"/>
          </a:p>
        </p:txBody>
      </p:sp>
      <p:sp>
        <p:nvSpPr>
          <p:cNvPr id="42" name="Text 37"/>
          <p:cNvSpPr/>
          <p:nvPr/>
        </p:nvSpPr>
        <p:spPr>
          <a:xfrm>
            <a:off x="7132320" y="363931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Alibaba + Dubbo 3.3 + Nacos，7 个模块拆分</a:t>
            </a:r>
            <a:endParaRPr lang="en-US" sz="1300" dirty="0"/>
          </a:p>
        </p:txBody>
      </p:sp>
      <p:sp>
        <p:nvSpPr>
          <p:cNvPr id="43" name="Shape 38"/>
          <p:cNvSpPr/>
          <p:nvPr/>
        </p:nvSpPr>
        <p:spPr>
          <a:xfrm>
            <a:off x="6355080" y="4224528"/>
            <a:ext cx="5303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6537960" y="4462272"/>
            <a:ext cx="438912" cy="438912"/>
          </a:xfrm>
          <a:prstGeom prst="ellipse">
            <a:avLst/>
          </a:prstGeom>
          <a:solidFill>
            <a:srgbClr val="01707E"/>
          </a:solidFill>
          <a:ln/>
        </p:spPr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4562856"/>
            <a:ext cx="237744" cy="237744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7132320" y="433425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数据与缓存</a:t>
            </a:r>
            <a:endParaRPr lang="en-US" sz="1600" dirty="0"/>
          </a:p>
        </p:txBody>
      </p:sp>
      <p:sp>
        <p:nvSpPr>
          <p:cNvPr id="47" name="Text 41"/>
          <p:cNvSpPr/>
          <p:nvPr/>
        </p:nvSpPr>
        <p:spPr>
          <a:xfrm>
            <a:off x="7132320" y="464515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MyBatis-Flex；Redis Session / 对话记忆 / 多级缓存</a:t>
            </a:r>
            <a:endParaRPr lang="en-US" sz="1300" dirty="0"/>
          </a:p>
        </p:txBody>
      </p:sp>
      <p:sp>
        <p:nvSpPr>
          <p:cNvPr id="48" name="Shape 42"/>
          <p:cNvSpPr/>
          <p:nvPr/>
        </p:nvSpPr>
        <p:spPr>
          <a:xfrm>
            <a:off x="6355080" y="5230368"/>
            <a:ext cx="5303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49" name="Shape 43"/>
          <p:cNvSpPr/>
          <p:nvPr/>
        </p:nvSpPr>
        <p:spPr>
          <a:xfrm>
            <a:off x="6537960" y="5468112"/>
            <a:ext cx="438912" cy="438912"/>
          </a:xfrm>
          <a:prstGeom prst="ellipse">
            <a:avLst/>
          </a:prstGeom>
          <a:solidFill>
            <a:srgbClr val="01707E"/>
          </a:solidFill>
          <a:ln/>
        </p:spPr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5568696"/>
            <a:ext cx="237744" cy="237744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7132320" y="534009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</a:t>
            </a:r>
            <a:endParaRPr lang="en-US" sz="1600" dirty="0"/>
          </a:p>
        </p:txBody>
      </p:sp>
      <p:sp>
        <p:nvSpPr>
          <p:cNvPr id="52" name="Text 45"/>
          <p:cNvSpPr/>
          <p:nvPr/>
        </p:nvSpPr>
        <p:spPr>
          <a:xfrm>
            <a:off x="7132320" y="565099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Micrometer + Prometheus + Grafana AI 模型看板已配置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1707E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" y="0"/>
            <a:ext cx="12033504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9377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四大核心能力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2026-09-07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207008"/>
            <a:ext cx="5440680" cy="22128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207008"/>
            <a:ext cx="109728" cy="2212848"/>
          </a:xfrm>
          <a:prstGeom prst="rect">
            <a:avLst/>
          </a:prstGeom>
          <a:solidFill>
            <a:srgbClr val="01707E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1499616"/>
            <a:ext cx="512064" cy="512064"/>
          </a:xfrm>
          <a:prstGeom prst="ellipse">
            <a:avLst/>
          </a:prstGeom>
          <a:solidFill>
            <a:srgbClr val="01707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609344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54480" y="14630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1554480" y="1865376"/>
            <a:ext cx="2331720" cy="274320"/>
          </a:xfrm>
          <a:prstGeom prst="roundRect">
            <a:avLst>
              <a:gd name="adj" fmla="val 20000"/>
            </a:avLst>
          </a:prstGeom>
          <a:solidFill>
            <a:srgbClr val="C5E6DF"/>
          </a:solidFill>
          <a:ln/>
        </p:spPr>
      </p:sp>
      <p:sp>
        <p:nvSpPr>
          <p:cNvPr id="14" name="Text 11"/>
          <p:cNvSpPr/>
          <p:nvPr/>
        </p:nvSpPr>
        <p:spPr>
          <a:xfrm>
            <a:off x="1554480" y="18653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+ Tool Calling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" y="228600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按需求自动路由 HTML / 多文件 / Vue 工程三种策略；工具集覆盖读写改删与目录扫描，流式回传执行过程。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240780" y="1207008"/>
            <a:ext cx="5440680" cy="22128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40780" y="1207008"/>
            <a:ext cx="109728" cy="2212848"/>
          </a:xfrm>
          <a:prstGeom prst="rect">
            <a:avLst/>
          </a:prstGeom>
          <a:solidFill>
            <a:srgbClr val="01707E"/>
          </a:solidFill>
          <a:ln/>
        </p:spPr>
      </p:sp>
      <p:sp>
        <p:nvSpPr>
          <p:cNvPr id="18" name="Shape 15"/>
          <p:cNvSpPr/>
          <p:nvPr/>
        </p:nvSpPr>
        <p:spPr>
          <a:xfrm>
            <a:off x="6606540" y="1499616"/>
            <a:ext cx="512064" cy="512064"/>
          </a:xfrm>
          <a:prstGeom prst="ellipse">
            <a:avLst/>
          </a:prstGeom>
          <a:solidFill>
            <a:srgbClr val="01707E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268" y="1609344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292340" y="14630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7292340" y="1865376"/>
            <a:ext cx="2331720" cy="274320"/>
          </a:xfrm>
          <a:prstGeom prst="roundRect">
            <a:avLst>
              <a:gd name="adj" fmla="val 20000"/>
            </a:avLst>
          </a:prstGeom>
          <a:solidFill>
            <a:srgbClr val="C5E6DF"/>
          </a:solidFill>
          <a:ln/>
        </p:spPr>
      </p:sp>
      <p:sp>
        <p:nvSpPr>
          <p:cNvPr id="22" name="Text 18"/>
          <p:cNvSpPr/>
          <p:nvPr/>
        </p:nvSpPr>
        <p:spPr>
          <a:xfrm>
            <a:off x="7292340" y="18653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对话驱动改稿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606540" y="228600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生成页实时预览，进入编辑模式后点选元素并对话改稿；第 9 期已覆盖原生全量修改与工程增量修改。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502920" y="3694176"/>
            <a:ext cx="5440680" cy="22128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502920" y="3694176"/>
            <a:ext cx="109728" cy="2212848"/>
          </a:xfrm>
          <a:prstGeom prst="rect">
            <a:avLst/>
          </a:prstGeom>
          <a:solidFill>
            <a:srgbClr val="01707E"/>
          </a:solidFill>
          <a:ln/>
        </p:spPr>
      </p:sp>
      <p:sp>
        <p:nvSpPr>
          <p:cNvPr id="26" name="Shape 22"/>
          <p:cNvSpPr/>
          <p:nvPr/>
        </p:nvSpPr>
        <p:spPr>
          <a:xfrm>
            <a:off x="868680" y="3986784"/>
            <a:ext cx="512064" cy="512064"/>
          </a:xfrm>
          <a:prstGeom prst="ellipse">
            <a:avLst/>
          </a:prstGeom>
          <a:solidFill>
            <a:srgbClr val="01707E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096512"/>
            <a:ext cx="292608" cy="29260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554480" y="39502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2200" dirty="0"/>
          </a:p>
        </p:txBody>
      </p:sp>
      <p:sp>
        <p:nvSpPr>
          <p:cNvPr id="29" name="Shape 24"/>
          <p:cNvSpPr/>
          <p:nvPr/>
        </p:nvSpPr>
        <p:spPr>
          <a:xfrm>
            <a:off x="1554480" y="4352544"/>
            <a:ext cx="2331720" cy="274320"/>
          </a:xfrm>
          <a:prstGeom prst="roundRect">
            <a:avLst>
              <a:gd name="adj" fmla="val 20000"/>
            </a:avLst>
          </a:prstGeom>
          <a:solidFill>
            <a:srgbClr val="C5E6DF"/>
          </a:solidFill>
          <a:ln/>
        </p:spPr>
      </p:sp>
      <p:sp>
        <p:nvSpPr>
          <p:cNvPr id="30" name="Text 25"/>
          <p:cNvSpPr/>
          <p:nvPr/>
        </p:nvSpPr>
        <p:spPr>
          <a:xfrm>
            <a:off x="1554480" y="43525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 + 截图服务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868680" y="4773168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部署到云端并自动截取封面，产出可访问地址；支持完整源码下载与精选案例展示。</a:t>
            </a:r>
            <a:endParaRPr lang="en-US" sz="1500" dirty="0"/>
          </a:p>
        </p:txBody>
      </p:sp>
      <p:sp>
        <p:nvSpPr>
          <p:cNvPr id="32" name="Shape 27"/>
          <p:cNvSpPr/>
          <p:nvPr/>
        </p:nvSpPr>
        <p:spPr>
          <a:xfrm>
            <a:off x="6240780" y="3694176"/>
            <a:ext cx="5440680" cy="22128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240780" y="3694176"/>
            <a:ext cx="109728" cy="2212848"/>
          </a:xfrm>
          <a:prstGeom prst="rect">
            <a:avLst/>
          </a:prstGeom>
          <a:solidFill>
            <a:srgbClr val="01707E"/>
          </a:solidFill>
          <a:ln/>
        </p:spPr>
      </p:sp>
      <p:sp>
        <p:nvSpPr>
          <p:cNvPr id="34" name="Shape 29"/>
          <p:cNvSpPr/>
          <p:nvPr/>
        </p:nvSpPr>
        <p:spPr>
          <a:xfrm>
            <a:off x="6606540" y="3986784"/>
            <a:ext cx="512064" cy="512064"/>
          </a:xfrm>
          <a:prstGeom prst="ellipse">
            <a:avLst/>
          </a:prstGeom>
          <a:solidFill>
            <a:srgbClr val="01707E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268" y="4096512"/>
            <a:ext cx="292608" cy="29260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292340" y="39502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2200" dirty="0"/>
          </a:p>
        </p:txBody>
      </p:sp>
      <p:sp>
        <p:nvSpPr>
          <p:cNvPr id="37" name="Shape 31"/>
          <p:cNvSpPr/>
          <p:nvPr/>
        </p:nvSpPr>
        <p:spPr>
          <a:xfrm>
            <a:off x="7292340" y="4352544"/>
            <a:ext cx="2331720" cy="274320"/>
          </a:xfrm>
          <a:prstGeom prst="roundRect">
            <a:avLst>
              <a:gd name="adj" fmla="val 20000"/>
            </a:avLst>
          </a:prstGeom>
          <a:solidFill>
            <a:srgbClr val="C5E6DF"/>
          </a:solidFill>
          <a:ln/>
        </p:spPr>
      </p:sp>
      <p:sp>
        <p:nvSpPr>
          <p:cNvPr id="38" name="Text 32"/>
          <p:cNvSpPr/>
          <p:nvPr/>
        </p:nvSpPr>
        <p:spPr>
          <a:xfrm>
            <a:off x="7292340" y="43525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 + 监控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6606540" y="4773168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用户与应用后台、精选优先级、对话历史、限流与 Prompt 护轨，以及 AI 调用与系统性能监控。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1707E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" y="0"/>
            <a:ext cx="12033504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9377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架构与模块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2026-09-07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170432"/>
            <a:ext cx="553212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32588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双形态共存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1719072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根目录 src/ 保留完整单体；yu-ai-code-mother-microservice/ 为第 14 期拆分结果。中间态提交曾短暂污染单体，最终提交已恢复完整单体代码。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0392" y="2852928"/>
            <a:ext cx="1115568" cy="402336"/>
          </a:xfrm>
          <a:prstGeom prst="roundRect">
            <a:avLst>
              <a:gd name="adj" fmla="val 13636"/>
            </a:avLst>
          </a:prstGeom>
          <a:solidFill>
            <a:srgbClr val="C5E6DF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" y="2852928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75688" y="2852928"/>
            <a:ext cx="1115568" cy="402336"/>
          </a:xfrm>
          <a:prstGeom prst="roundRect">
            <a:avLst>
              <a:gd name="adj" fmla="val 13636"/>
            </a:avLst>
          </a:prstGeom>
          <a:solidFill>
            <a:srgbClr val="C5E6DF"/>
          </a:solidFill>
          <a:ln/>
        </p:spPr>
      </p:sp>
      <p:sp>
        <p:nvSpPr>
          <p:cNvPr id="14" name="Text 12"/>
          <p:cNvSpPr/>
          <p:nvPr/>
        </p:nvSpPr>
        <p:spPr>
          <a:xfrm>
            <a:off x="2075688" y="2852928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00984" y="2852928"/>
            <a:ext cx="1115568" cy="402336"/>
          </a:xfrm>
          <a:prstGeom prst="roundRect">
            <a:avLst>
              <a:gd name="adj" fmla="val 13636"/>
            </a:avLst>
          </a:prstGeom>
          <a:solidFill>
            <a:srgbClr val="C5E6DF"/>
          </a:solidFill>
          <a:ln/>
        </p:spPr>
      </p:sp>
      <p:sp>
        <p:nvSpPr>
          <p:cNvPr id="16" name="Text 14"/>
          <p:cNvSpPr/>
          <p:nvPr/>
        </p:nvSpPr>
        <p:spPr>
          <a:xfrm>
            <a:off x="3300984" y="2852928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26280" y="2852928"/>
            <a:ext cx="1115568" cy="402336"/>
          </a:xfrm>
          <a:prstGeom prst="roundRect">
            <a:avLst>
              <a:gd name="adj" fmla="val 13636"/>
            </a:avLst>
          </a:prstGeom>
          <a:solidFill>
            <a:srgbClr val="C5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2852928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463040" y="3328416"/>
            <a:ext cx="1115568" cy="402336"/>
          </a:xfrm>
          <a:prstGeom prst="roundRect">
            <a:avLst>
              <a:gd name="adj" fmla="val 13636"/>
            </a:avLst>
          </a:prstGeom>
          <a:solidFill>
            <a:srgbClr val="C5E6DF"/>
          </a:solidFill>
          <a:ln/>
        </p:spPr>
      </p:sp>
      <p:sp>
        <p:nvSpPr>
          <p:cNvPr id="20" name="Text 18"/>
          <p:cNvSpPr/>
          <p:nvPr/>
        </p:nvSpPr>
        <p:spPr>
          <a:xfrm>
            <a:off x="1463040" y="3328416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688336" y="3328416"/>
            <a:ext cx="1115568" cy="402336"/>
          </a:xfrm>
          <a:prstGeom prst="roundRect">
            <a:avLst>
              <a:gd name="adj" fmla="val 13636"/>
            </a:avLst>
          </a:prstGeom>
          <a:solidFill>
            <a:srgbClr val="C5E6DF"/>
          </a:solidFill>
          <a:ln/>
        </p:spPr>
      </p:sp>
      <p:sp>
        <p:nvSpPr>
          <p:cNvPr id="22" name="Text 20"/>
          <p:cNvSpPr/>
          <p:nvPr/>
        </p:nvSpPr>
        <p:spPr>
          <a:xfrm>
            <a:off x="2688336" y="3328416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13632" y="3328416"/>
            <a:ext cx="1115568" cy="402336"/>
          </a:xfrm>
          <a:prstGeom prst="roundRect">
            <a:avLst>
              <a:gd name="adj" fmla="val 13636"/>
            </a:avLst>
          </a:prstGeom>
          <a:solidFill>
            <a:srgbClr val="C5E6DF"/>
          </a:solidFill>
          <a:ln/>
        </p:spPr>
      </p:sp>
      <p:sp>
        <p:nvSpPr>
          <p:cNvPr id="24" name="Text 22"/>
          <p:cNvSpPr/>
          <p:nvPr/>
        </p:nvSpPr>
        <p:spPr>
          <a:xfrm>
            <a:off x="3913632" y="3328416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1170432"/>
            <a:ext cx="5303520" cy="2606040"/>
          </a:xfrm>
          <a:prstGeom prst="rect">
            <a:avLst/>
          </a:prstGeom>
          <a:solidFill>
            <a:srgbClr val="012A36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135331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前端页面闭环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583680" y="171907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首页 /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83680" y="192024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提示词创建 + 我的/精选应用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83680" y="217627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对话页 /app/chat/:id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83680" y="237744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对话 + 实时预览 + 部署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83680" y="263347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管理后台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83680" y="283464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 / 用户 / 对话管理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0" y="309067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账号页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83680" y="329184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登录注册与权限分流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404164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代码生成工作流（LangGraph4j）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02920" y="4462272"/>
            <a:ext cx="1719072" cy="1719072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143000" y="4645152"/>
            <a:ext cx="438912" cy="438912"/>
          </a:xfrm>
          <a:prstGeom prst="ellipse">
            <a:avLst/>
          </a:prstGeom>
          <a:solidFill>
            <a:srgbClr val="01707E"/>
          </a:solidFill>
          <a:ln/>
        </p:spPr>
      </p:sp>
      <p:sp>
        <p:nvSpPr>
          <p:cNvPr id="38" name="Text 36"/>
          <p:cNvSpPr/>
          <p:nvPr/>
        </p:nvSpPr>
        <p:spPr>
          <a:xfrm>
            <a:off x="1143000" y="4645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76072" y="5193792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采集图片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2441448" y="4462272"/>
            <a:ext cx="1719072" cy="1719072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081528" y="4645152"/>
            <a:ext cx="438912" cy="438912"/>
          </a:xfrm>
          <a:prstGeom prst="ellipse">
            <a:avLst/>
          </a:prstGeom>
          <a:solidFill>
            <a:srgbClr val="01707E"/>
          </a:solidFill>
          <a:ln/>
        </p:spPr>
      </p:sp>
      <p:sp>
        <p:nvSpPr>
          <p:cNvPr id="42" name="Text 40"/>
          <p:cNvSpPr/>
          <p:nvPr/>
        </p:nvSpPr>
        <p:spPr>
          <a:xfrm>
            <a:off x="3081528" y="4645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2514600" y="5193792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增强提示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4379976" y="4462272"/>
            <a:ext cx="1719072" cy="1719072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020056" y="4645152"/>
            <a:ext cx="438912" cy="438912"/>
          </a:xfrm>
          <a:prstGeom prst="ellipse">
            <a:avLst/>
          </a:prstGeom>
          <a:solidFill>
            <a:srgbClr val="01707E"/>
          </a:solidFill>
          <a:ln/>
        </p:spPr>
      </p:sp>
      <p:sp>
        <p:nvSpPr>
          <p:cNvPr id="46" name="Text 44"/>
          <p:cNvSpPr/>
          <p:nvPr/>
        </p:nvSpPr>
        <p:spPr>
          <a:xfrm>
            <a:off x="5020056" y="4645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453128" y="5193792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策略路由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318504" y="4462272"/>
            <a:ext cx="1719072" cy="1719072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958584" y="4645152"/>
            <a:ext cx="438912" cy="438912"/>
          </a:xfrm>
          <a:prstGeom prst="ellipse">
            <a:avLst/>
          </a:prstGeom>
          <a:solidFill>
            <a:srgbClr val="01707E"/>
          </a:solidFill>
          <a:ln/>
        </p:spPr>
      </p:sp>
      <p:sp>
        <p:nvSpPr>
          <p:cNvPr id="50" name="Text 48"/>
          <p:cNvSpPr/>
          <p:nvPr/>
        </p:nvSpPr>
        <p:spPr>
          <a:xfrm>
            <a:off x="6958584" y="4645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91656" y="5193792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生成代码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8257032" y="4462272"/>
            <a:ext cx="1719072" cy="1719072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897112" y="4645152"/>
            <a:ext cx="438912" cy="438912"/>
          </a:xfrm>
          <a:prstGeom prst="ellipse">
            <a:avLst/>
          </a:prstGeom>
          <a:solidFill>
            <a:srgbClr val="01707E"/>
          </a:solidFill>
          <a:ln/>
        </p:spPr>
      </p:sp>
      <p:sp>
        <p:nvSpPr>
          <p:cNvPr id="54" name="Text 52"/>
          <p:cNvSpPr/>
          <p:nvPr/>
        </p:nvSpPr>
        <p:spPr>
          <a:xfrm>
            <a:off x="8897112" y="4645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330184" y="5193792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质量检查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10195560" y="4462272"/>
            <a:ext cx="1719072" cy="1719072"/>
          </a:xfrm>
          <a:prstGeom prst="round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10835640" y="4645152"/>
            <a:ext cx="438912" cy="438912"/>
          </a:xfrm>
          <a:prstGeom prst="ellipse">
            <a:avLst/>
          </a:prstGeom>
          <a:solidFill>
            <a:srgbClr val="01707E"/>
          </a:solidFill>
          <a:ln/>
        </p:spPr>
      </p:sp>
      <p:sp>
        <p:nvSpPr>
          <p:cNvPr id="58" name="Text 56"/>
          <p:cNvSpPr/>
          <p:nvPr/>
        </p:nvSpPr>
        <p:spPr>
          <a:xfrm>
            <a:off x="10835640" y="4645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268712" y="5193792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构建项目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1707E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" y="0"/>
            <a:ext cx="12033504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9377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2026-09-07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207008"/>
            <a:ext cx="6903720" cy="5029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353312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教程交付时间线（仓库真实提交）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1901952"/>
            <a:ext cx="164592" cy="164592"/>
          </a:xfrm>
          <a:prstGeom prst="ellipse">
            <a:avLst/>
          </a:prstGeom>
          <a:solidFill>
            <a:srgbClr val="01707E"/>
          </a:solidFill>
          <a:ln/>
        </p:spPr>
      </p:sp>
      <p:sp>
        <p:nvSpPr>
          <p:cNvPr id="11" name="Shape 9"/>
          <p:cNvSpPr/>
          <p:nvPr/>
        </p:nvSpPr>
        <p:spPr>
          <a:xfrm>
            <a:off x="877824" y="2066544"/>
            <a:ext cx="54864" cy="512064"/>
          </a:xfrm>
          <a:prstGeom prst="rect">
            <a:avLst/>
          </a:prstGeom>
          <a:solidFill>
            <a:srgbClr val="01707E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18105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2025-08-07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18105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9 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23360" y="18105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可视化修改：前端 + 全量 + 增量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2587752"/>
            <a:ext cx="164592" cy="164592"/>
          </a:xfrm>
          <a:prstGeom prst="ellipse">
            <a:avLst/>
          </a:prstGeom>
          <a:solidFill>
            <a:srgbClr val="01707E"/>
          </a:solidFill>
          <a:ln/>
        </p:spPr>
      </p:sp>
      <p:sp>
        <p:nvSpPr>
          <p:cNvPr id="16" name="Shape 14"/>
          <p:cNvSpPr/>
          <p:nvPr/>
        </p:nvSpPr>
        <p:spPr>
          <a:xfrm>
            <a:off x="877824" y="2752344"/>
            <a:ext cx="54864" cy="512064"/>
          </a:xfrm>
          <a:prstGeom prst="rect">
            <a:avLst/>
          </a:prstGeom>
          <a:solidFill>
            <a:srgbClr val="01707E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2496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97480" y="24963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10 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23360" y="24963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工作流与图片并发收集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3273552"/>
            <a:ext cx="164592" cy="164592"/>
          </a:xfrm>
          <a:prstGeom prst="ellipse">
            <a:avLst/>
          </a:prstGeom>
          <a:solidFill>
            <a:srgbClr val="01707E"/>
          </a:solidFill>
          <a:ln/>
        </p:spPr>
      </p:sp>
      <p:sp>
        <p:nvSpPr>
          <p:cNvPr id="21" name="Shape 19"/>
          <p:cNvSpPr/>
          <p:nvPr/>
        </p:nvSpPr>
        <p:spPr>
          <a:xfrm>
            <a:off x="877824" y="3438144"/>
            <a:ext cx="54864" cy="512064"/>
          </a:xfrm>
          <a:prstGeom prst="rect">
            <a:avLst/>
          </a:prstGeom>
          <a:solidFill>
            <a:srgbClr val="01707E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31821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97480" y="31821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11 期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023360" y="31821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并发、限流、Prompt 审查与成本优化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" y="3959352"/>
            <a:ext cx="164592" cy="164592"/>
          </a:xfrm>
          <a:prstGeom prst="ellipse">
            <a:avLst/>
          </a:prstGeom>
          <a:solidFill>
            <a:srgbClr val="01707E"/>
          </a:solidFill>
          <a:ln/>
        </p:spPr>
      </p:sp>
      <p:sp>
        <p:nvSpPr>
          <p:cNvPr id="26" name="Shape 24"/>
          <p:cNvSpPr/>
          <p:nvPr/>
        </p:nvSpPr>
        <p:spPr>
          <a:xfrm>
            <a:off x="877824" y="4123944"/>
            <a:ext cx="54864" cy="512064"/>
          </a:xfrm>
          <a:prstGeom prst="rect">
            <a:avLst/>
          </a:prstGeom>
          <a:solidFill>
            <a:srgbClr val="01707E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38679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2025-08-14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97480" y="38679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12–13 期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023360" y="38679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部署上线与可观测性接入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22960" y="4645152"/>
            <a:ext cx="164592" cy="164592"/>
          </a:xfrm>
          <a:prstGeom prst="ellipse">
            <a:avLst/>
          </a:prstGeom>
          <a:solidFill>
            <a:srgbClr val="01707E"/>
          </a:solidFill>
          <a:ln/>
        </p:spPr>
      </p:sp>
      <p:sp>
        <p:nvSpPr>
          <p:cNvPr id="31" name="Shape 29"/>
          <p:cNvSpPr/>
          <p:nvPr/>
        </p:nvSpPr>
        <p:spPr>
          <a:xfrm>
            <a:off x="877824" y="4809744"/>
            <a:ext cx="54864" cy="512064"/>
          </a:xfrm>
          <a:prstGeom prst="rect">
            <a:avLst/>
          </a:prstGeom>
          <a:solidFill>
            <a:srgbClr val="01707E"/>
          </a:solidFill>
          <a:ln/>
        </p:spPr>
      </p:sp>
      <p:sp>
        <p:nvSpPr>
          <p:cNvPr id="32" name="Text 30"/>
          <p:cNvSpPr/>
          <p:nvPr/>
        </p:nvSpPr>
        <p:spPr>
          <a:xfrm>
            <a:off x="1143000" y="45537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697480" y="45537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期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023360" y="45537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微服务改造完成，单体代码同步保留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22960" y="5330952"/>
            <a:ext cx="164592" cy="164592"/>
          </a:xfrm>
          <a:prstGeom prst="ellipse">
            <a:avLst/>
          </a:prstGeom>
          <a:solidFill>
            <a:srgbClr val="8A3D12"/>
          </a:solidFill>
          <a:ln/>
        </p:spPr>
      </p:sp>
      <p:sp>
        <p:nvSpPr>
          <p:cNvPr id="36" name="Text 34"/>
          <p:cNvSpPr/>
          <p:nvPr/>
        </p:nvSpPr>
        <p:spPr>
          <a:xfrm>
            <a:off x="1143000" y="52395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697480" y="52395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静默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023360" y="52395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无业务提交，日报自动化持续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589520" y="1207008"/>
            <a:ext cx="4069080" cy="2331720"/>
          </a:xfrm>
          <a:prstGeom prst="rect">
            <a:avLst/>
          </a:prstGeom>
          <a:solidFill>
            <a:srgbClr val="012A36"/>
          </a:solidFill>
          <a:ln/>
        </p:spPr>
      </p:sp>
      <p:sp>
        <p:nvSpPr>
          <p:cNvPr id="40" name="Text 38"/>
          <p:cNvSpPr/>
          <p:nvPr/>
        </p:nvSpPr>
        <p:spPr>
          <a:xfrm>
            <a:off x="781812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 / 近 7 日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818120" y="17190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业务仓库零变更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818120" y="219456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最近一次业务提交距今约 377 天。自动化侧昨日已产出 2026-09-06 状态汇报草稿 PR #104，与本系列日报同一流水线。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589520" y="3721608"/>
            <a:ext cx="406908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818120" y="38587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社区动态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818120" y="42793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#81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503920" y="42793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镜像安装失败（8/28）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818120" y="4846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#65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503920" y="4846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You.com 联网搜索提案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818120" y="54132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503920" y="5413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生成缺 reasoning 字段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1707E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" y="0"/>
            <a:ext cx="12033504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9377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数据与指标要点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2026-09-07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115568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下列数字来自仓库静态盘点；生产调用量、成功率、延迟需从 Prometheus / Grafana 读取，本环境未接入运行实例。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25831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664208"/>
            <a:ext cx="25831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17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76072" y="228600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历史提交总数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6072" y="259689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2025-07 至 08 密集交付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60420" y="1554480"/>
            <a:ext cx="25831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60420" y="1664208"/>
            <a:ext cx="25831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17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146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433572" y="228600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Java 文件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33572" y="259689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com.yupi 业务包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25831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1664208"/>
            <a:ext cx="25831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17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118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291072" y="228600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 Java 文件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91072" y="259689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模块合计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75420" y="1554480"/>
            <a:ext cx="25831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075420" y="1664208"/>
            <a:ext cx="25831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17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148572" y="228600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Vue / 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8572" y="2596896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 页面与组件</a:t>
            </a:r>
            <a:endParaRPr lang="en-US" sz="12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502920" y="3291840"/>
          <a:ext cx="57607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3"/>
          <p:cNvSpPr/>
          <p:nvPr/>
        </p:nvSpPr>
        <p:spPr>
          <a:xfrm>
            <a:off x="6492240" y="3291840"/>
            <a:ext cx="51663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720840" y="34564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可观测与质量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720840" y="38404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183880" y="384048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抓取 /api/actuator/prometheus，间隔 10s；告警规则文件尚未配置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720840" y="427939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8183880" y="427939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grafana/ai_model_grafana_config.json 已提供 AI 模型看板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720840" y="471830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Micrometer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8183880" y="471830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请求次数 / 错误 / Token / 耗时四类指标已埋点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720840" y="515721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183880" y="515721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个 Java 测试类，多为工作流与工具集成，依赖外部模型密钥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720840" y="55961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8183880" y="559612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仓库无 GitHub Actions 工作流；近期仅有 Copilot 仓库访问检查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1707E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" y="0"/>
            <a:ext cx="12033504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9377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风险与阻塞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2026-09-07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170432"/>
            <a:ext cx="544068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4088" y="1371600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F0C9C9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13716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5880" y="133502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工程生成失败 #5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" y="1764792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thinking 模式下缺 reasoning_content，工具调用链路会直接报错，影响核心生成路径。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40780" y="1170432"/>
            <a:ext cx="544068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1948" y="1371600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F3D4B8"/>
          </a:solidFill>
          <a:ln/>
        </p:spPr>
      </p:sp>
      <p:sp>
        <p:nvSpPr>
          <p:cNvPr id="15" name="Text 13"/>
          <p:cNvSpPr/>
          <p:nvPr/>
        </p:nvSpPr>
        <p:spPr>
          <a:xfrm>
            <a:off x="6441948" y="13716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3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63740" y="133502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npm 安装受阻 #81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1948" y="1764792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清华镜像缺少 @vitejs/plugin-vue@^6，学习者无法按教程启动前端，体验入口被堵住。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2926080"/>
            <a:ext cx="544068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4088" y="3127248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F3D4B8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31272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3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309067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无项目级 CI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" y="3520440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缺少 lint / 单测门禁，后续任何合并都依赖人工验证，回归成本高。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40780" y="2926080"/>
            <a:ext cx="544068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41948" y="3127248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F3D4B8"/>
          </a:solidFill>
          <a:ln/>
        </p:spPr>
      </p:sp>
      <p:sp>
        <p:nvSpPr>
          <p:cNvPr id="25" name="Text 23"/>
          <p:cNvSpPr/>
          <p:nvPr/>
        </p:nvSpPr>
        <p:spPr>
          <a:xfrm>
            <a:off x="6441948" y="31272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3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63740" y="309067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双代码树维护负担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41948" y="3520440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单体与微服务并行，中间态提交曾污染单体；文档未明确默认运行哪一套。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" y="4681728"/>
            <a:ext cx="544068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04088" y="4882896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C5E6DF"/>
          </a:solidFill>
          <a:ln/>
        </p:spPr>
      </p:sp>
      <p:sp>
        <p:nvSpPr>
          <p:cNvPr id="30" name="Text 28"/>
          <p:cNvSpPr/>
          <p:nvPr/>
        </p:nvSpPr>
        <p:spPr>
          <a:xfrm>
            <a:off x="704088" y="488289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25880" y="48463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厂商代码残留调试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4088" y="5276088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vendored LangChain4j 含 TODO 与调试输出，存在误导维护者与日志噪音风险。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40780" y="4681728"/>
            <a:ext cx="544068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41948" y="4882896"/>
            <a:ext cx="502920" cy="292608"/>
          </a:xfrm>
          <a:prstGeom prst="roundRect">
            <a:avLst>
              <a:gd name="adj" fmla="val 15625"/>
            </a:avLst>
          </a:prstGeom>
          <a:solidFill>
            <a:srgbClr val="C5E6DF"/>
          </a:solidFill>
          <a:ln/>
        </p:spPr>
      </p:sp>
      <p:sp>
        <p:nvSpPr>
          <p:cNvPr id="35" name="Text 33"/>
          <p:cNvSpPr/>
          <p:nvPr/>
        </p:nvSpPr>
        <p:spPr>
          <a:xfrm>
            <a:off x="6441948" y="488289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63740" y="48463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监控告警未落地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41948" y="5276088"/>
            <a:ext cx="5212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告警规则为空，Grafana 看板未与日常值班挂钩。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1707E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" y="0"/>
            <a:ext cx="12033504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1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49377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建议的下一步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2026-09-07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24160" y="64465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207008"/>
            <a:ext cx="1115568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207008"/>
            <a:ext cx="109728" cy="841248"/>
          </a:xfrm>
          <a:prstGeom prst="rect">
            <a:avLst/>
          </a:prstGeom>
          <a:solidFill>
            <a:srgbClr val="01707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207008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7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91640" y="1298448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 Vue 生成链路 #5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91640" y="16459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对齐 DeepSeek thinking + tool-call 消息格式，补齐 reasoning_content，恢复工程模式主路径。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2212848"/>
            <a:ext cx="1115568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212848"/>
            <a:ext cx="109728" cy="841248"/>
          </a:xfrm>
          <a:prstGeom prst="rect">
            <a:avLst/>
          </a:prstGeom>
          <a:solidFill>
            <a:srgbClr val="01707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212848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7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91640" y="2304288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降低前端启动摩擦 #81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265176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README 写明官方 registry 或可用镜像，锁定 Vite 7 插件版本，避免学习者卡在 npm i。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218688"/>
            <a:ext cx="1115568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218688"/>
            <a:ext cx="109728" cy="841248"/>
          </a:xfrm>
          <a:prstGeom prst="rect">
            <a:avLst/>
          </a:prstGeom>
          <a:solidFill>
            <a:srgbClr val="01707E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218688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7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91640" y="3310128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补最小 CI 门禁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91640" y="36576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对不依赖模型密钥的单测与前端 lint / type-check 建 GitHub Actions，避免静默回归。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4224528"/>
            <a:ext cx="1115568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4224528"/>
            <a:ext cx="109728" cy="841248"/>
          </a:xfrm>
          <a:prstGeom prst="rect">
            <a:avLst/>
          </a:prstGeom>
          <a:solidFill>
            <a:srgbClr val="01707E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224528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7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691640" y="4315968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明确默认运行形态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91640" y="46634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文档标明「先跑单体 / 再切微服务」；列出 Nacos、Dubbo 依赖，减少双树困惑。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" y="5230368"/>
            <a:ext cx="1115568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2A36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" y="5230368"/>
            <a:ext cx="109728" cy="841248"/>
          </a:xfrm>
          <a:prstGeom prst="rect">
            <a:avLst/>
          </a:prstGeom>
          <a:solidFill>
            <a:srgbClr val="01707E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5230368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70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691640" y="5321808"/>
            <a:ext cx="9692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评估联网搜索 #65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91640" y="56692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You.com 工具与现有 ToolManager 兼容，适合作为 Vue 工程模式的可选增强，需评估密钥与配额。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463040"/>
            <a:ext cx="3108960" cy="310896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371600"/>
            <a:ext cx="3108960" cy="3108960"/>
          </a:xfrm>
          <a:prstGeom prst="ellipse">
            <a:avLst/>
          </a:prstGeom>
          <a:solidFill>
            <a:srgbClr val="01707E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能力已齐，节奏已停；优先修主路径，再补工程卫生。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3566160" cy="3520440"/>
          </a:xfrm>
          <a:prstGeom prst="rect">
            <a:avLst/>
          </a:prstGeom>
          <a:solidFill>
            <a:srgbClr val="0A3D4A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691640"/>
            <a:ext cx="356616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0848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2560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交付基线完整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32918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生成、改稿、部署、管理与微服务拆分均已在第 9–14 期落地，教学与演示可用。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89120" y="1874520"/>
            <a:ext cx="3566160" cy="3520440"/>
          </a:xfrm>
          <a:prstGeom prst="rect">
            <a:avLst/>
          </a:prstGeom>
          <a:solidFill>
            <a:srgbClr val="0A3D4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9120" y="1691640"/>
            <a:ext cx="356616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0848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17720" y="2560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研发处于静默期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17720" y="32918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日与过去一年均无业务合并。日报自动化在跑，但社区缺陷仍开放。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138160" y="1874520"/>
            <a:ext cx="3566160" cy="3520440"/>
          </a:xfrm>
          <a:prstGeom prst="rect">
            <a:avLst/>
          </a:prstGeom>
          <a:solidFill>
            <a:srgbClr val="0A3D4A"/>
          </a:solidFill>
          <a:ln/>
        </p:spPr>
      </p:sp>
      <p:sp>
        <p:nvSpPr>
          <p:cNvPr id="18" name="Shape 16"/>
          <p:cNvSpPr/>
          <p:nvPr/>
        </p:nvSpPr>
        <p:spPr>
          <a:xfrm>
            <a:off x="8138160" y="1691640"/>
            <a:ext cx="356616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20848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66760" y="25603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下一周聚焦三件事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66760" y="32918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 #5 生成主路径、疏通 #81 前端安装、补最小 CI。其余增强可排队。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56692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2026-09-07  ·  仅新增报告文件，未改业务代码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424160" y="56692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7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yu-ai-code-mother 每日项目状态 2026-09-07</dc:title>
  <dc:subject>面向项目维护者的内部日报</dc:subject>
  <dc:creator>项目状态自动化</dc:creator>
  <cp:lastModifiedBy>项目状态自动化</cp:lastModifiedBy>
  <cp:revision>1</cp:revision>
  <dcterms:created xsi:type="dcterms:W3CDTF">2026-09-07T09:19:13Z</dcterms:created>
  <dcterms:modified xsi:type="dcterms:W3CDTF">2026-09-07T09:19:13Z</dcterms:modified>
</cp:coreProperties>
</file>