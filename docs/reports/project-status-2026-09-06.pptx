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4937760"/>
            <a:ext cx="2560320" cy="25603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02920"/>
            <a:ext cx="2331720" cy="347472"/>
          </a:xfrm>
          <a:prstGeom prst="roundRect">
            <a:avLst>
              <a:gd name="adj" fmla="val 21053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5029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STATUS  ·  2026-09-06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117043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169164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每日项目状态汇报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640080" y="260604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7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零代码应用生成平台  ·  面向维护者与研发团队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40080" y="3200400"/>
            <a:ext cx="2697480" cy="384048"/>
          </a:xfrm>
          <a:prstGeom prst="roundRect">
            <a:avLst>
              <a:gd name="adj" fmla="val 19048"/>
            </a:avLst>
          </a:prstGeom>
          <a:solidFill>
            <a:srgbClr val="01343A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32004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 + Vue 3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520440" y="3200400"/>
            <a:ext cx="2697480" cy="384048"/>
          </a:xfrm>
          <a:prstGeom prst="roundRect">
            <a:avLst>
              <a:gd name="adj" fmla="val 19048"/>
            </a:avLst>
          </a:prstGeom>
          <a:solidFill>
            <a:srgbClr val="01343A"/>
          </a:solidFill>
          <a:ln/>
        </p:spPr>
      </p:sp>
      <p:sp>
        <p:nvSpPr>
          <p:cNvPr id="14" name="Text 11"/>
          <p:cNvSpPr/>
          <p:nvPr/>
        </p:nvSpPr>
        <p:spPr>
          <a:xfrm>
            <a:off x="3520440" y="32004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LangChain4j / LangGraph4j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720840" y="3200400"/>
            <a:ext cx="2697480" cy="384048"/>
          </a:xfrm>
          <a:prstGeom prst="roundRect">
            <a:avLst>
              <a:gd name="adj" fmla="val 19048"/>
            </a:avLst>
          </a:prstGeom>
          <a:solidFill>
            <a:srgbClr val="01343A"/>
          </a:solidFill>
          <a:ln/>
        </p:spPr>
      </p:sp>
      <p:sp>
        <p:nvSpPr>
          <p:cNvPr id="16" name="Text 13"/>
          <p:cNvSpPr/>
          <p:nvPr/>
        </p:nvSpPr>
        <p:spPr>
          <a:xfrm>
            <a:off x="6720840" y="32004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 + 微服务双形态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" y="397764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01343A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9651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3600" dirty="0"/>
          </a:p>
        </p:txBody>
      </p:sp>
      <p:sp>
        <p:nvSpPr>
          <p:cNvPr id="19" name="Text 16"/>
          <p:cNvSpPr/>
          <p:nvPr/>
        </p:nvSpPr>
        <p:spPr>
          <a:xfrm>
            <a:off x="640080" y="47731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D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教程期次已落地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429000" y="397764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01343A"/>
          </a:solidFill>
          <a:ln/>
        </p:spPr>
      </p:sp>
      <p:sp>
        <p:nvSpPr>
          <p:cNvPr id="21" name="Text 18"/>
          <p:cNvSpPr/>
          <p:nvPr/>
        </p:nvSpPr>
        <p:spPr>
          <a:xfrm>
            <a:off x="3429000" y="409651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600" dirty="0"/>
          </a:p>
        </p:txBody>
      </p:sp>
      <p:sp>
        <p:nvSpPr>
          <p:cNvPr id="22" name="Text 19"/>
          <p:cNvSpPr/>
          <p:nvPr/>
        </p:nvSpPr>
        <p:spPr>
          <a:xfrm>
            <a:off x="3429000" y="47731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D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217920" y="397764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01343A"/>
          </a:solidFill>
          <a:ln/>
        </p:spPr>
      </p:sp>
      <p:sp>
        <p:nvSpPr>
          <p:cNvPr id="24" name="Text 21"/>
          <p:cNvSpPr/>
          <p:nvPr/>
        </p:nvSpPr>
        <p:spPr>
          <a:xfrm>
            <a:off x="6217920" y="409651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25" name="Text 22"/>
          <p:cNvSpPr/>
          <p:nvPr/>
        </p:nvSpPr>
        <p:spPr>
          <a:xfrm>
            <a:off x="6217920" y="47731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D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代码生成模式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9006840" y="397764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01343A"/>
          </a:solidFill>
          <a:ln/>
        </p:spPr>
      </p:sp>
      <p:sp>
        <p:nvSpPr>
          <p:cNvPr id="27" name="Text 24"/>
          <p:cNvSpPr/>
          <p:nvPr/>
        </p:nvSpPr>
        <p:spPr>
          <a:xfrm>
            <a:off x="9006840" y="409651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28" name="Text 25"/>
          <p:cNvSpPr/>
          <p:nvPr/>
        </p:nvSpPr>
        <p:spPr>
          <a:xfrm>
            <a:off x="9006840" y="47731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D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日提交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40080" y="6263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数据截止 2026-09-06 17:02（北京时间）  ·  基于仓库 README、模块目录与 git 历史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374904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4128" y="256032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SNAPSHOT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24128" y="42062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457200" y="1097280"/>
            <a:ext cx="6903720" cy="521208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2809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" y="1261872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这是什么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85800" y="1627632"/>
            <a:ext cx="6492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AI 智能体与后端架构为核心的企业级代码生成平台。用户用自然语言描述需求，系统自动路由生成策略、流式产出代码，并支持可视化改稿、一键部署与后台治理。仓库同时保留完整单体与微服务两套实现，便于教学对照与演进。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85800" y="2944368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E7F6F3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294436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691640" y="2944368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教学向企业级全栈项目，对标大厂 AI 应用生成器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85800" y="356616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E7F6F3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356616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形态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691640" y="356616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根目录单体 + yu-ai-code-mother-microservice 七模块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85800" y="4187952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E7F6F3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" y="418795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691640" y="4187952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+ TypeScript + Ant Design Vue + Vite 7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85800" y="4809744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E7F6F3"/>
          </a:solidFill>
          <a:ln/>
        </p:spPr>
      </p:sp>
      <p:sp>
        <p:nvSpPr>
          <p:cNvPr id="20" name="Text 17"/>
          <p:cNvSpPr/>
          <p:nvPr/>
        </p:nvSpPr>
        <p:spPr>
          <a:xfrm>
            <a:off x="685800" y="480974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691640" y="480974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3.5 / Java 21 / Redis / MyBatis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85800" y="5431536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E7F6F3"/>
          </a:solidFill>
          <a:ln/>
        </p:spPr>
      </p:sp>
      <p:sp>
        <p:nvSpPr>
          <p:cNvPr id="23" name="Text 20"/>
          <p:cNvSpPr/>
          <p:nvPr/>
        </p:nvSpPr>
        <p:spPr>
          <a:xfrm>
            <a:off x="685800" y="5431536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基线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691640" y="5431536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893918c · 教程第 14 期微服务改造完成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543800" y="1097280"/>
            <a:ext cx="416052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090">
                <a:alpha val="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7726680" y="120700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7726680" y="16459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历史提交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7726680" y="190195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自教程起步累计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7543800" y="2395728"/>
            <a:ext cx="416052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090">
                <a:alpha val="8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7726680" y="250545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7726680" y="294436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测试类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7726680" y="320040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集中在工作流与生成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7543800" y="3694176"/>
            <a:ext cx="416052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090">
                <a:alpha val="8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7726680" y="3803904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2600" dirty="0"/>
          </a:p>
        </p:txBody>
      </p:sp>
      <p:sp>
        <p:nvSpPr>
          <p:cNvPr id="35" name="Text 32"/>
          <p:cNvSpPr/>
          <p:nvPr/>
        </p:nvSpPr>
        <p:spPr>
          <a:xfrm>
            <a:off x="7726680" y="424281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 Vue 页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7726680" y="449884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 / 管理 / 对话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7543800" y="4992624"/>
            <a:ext cx="4160520" cy="1170432"/>
          </a:xfrm>
          <a:prstGeom prst="roundRect">
            <a:avLst>
              <a:gd name="adj" fmla="val 7813"/>
            </a:avLst>
          </a:prstGeom>
          <a:solidFill>
            <a:srgbClr val="01343A"/>
          </a:solidFill>
          <a:ln/>
          <a:effectLst>
            <a:outerShdw sx="100000" sy="100000" kx="0" ky="0" algn="bl" rotWithShape="0" blurRad="101600" dist="25400" dir="8100000">
              <a:srgbClr val="028090">
                <a:alpha val="8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7726680" y="510235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2025-08-26</a:t>
            </a:r>
            <a:endParaRPr lang="en-US" sz="2200" dirty="0"/>
          </a:p>
        </p:txBody>
      </p:sp>
      <p:sp>
        <p:nvSpPr>
          <p:cNvPr id="39" name="Text 36"/>
          <p:cNvSpPr/>
          <p:nvPr/>
        </p:nvSpPr>
        <p:spPr>
          <a:xfrm>
            <a:off x="7726680" y="554126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最近一次提交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7726680" y="5797296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距今已超过一年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374904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4128" y="256032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24128" y="42062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四大核心能力已落地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502920" y="1143000"/>
            <a:ext cx="5532120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2809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02920" y="1143000"/>
            <a:ext cx="128016" cy="2423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Shape 6"/>
          <p:cNvSpPr/>
          <p:nvPr/>
        </p:nvSpPr>
        <p:spPr>
          <a:xfrm>
            <a:off x="886968" y="143560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154533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1490472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智能代码生成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886968" y="21488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需求描述经 AI 路由，选择 HTML / 多文件 / Vue 工程策略；工具调用写文件，SSE 流式回传执行过程。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217920" y="1143000"/>
            <a:ext cx="5532120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2809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17920" y="1143000"/>
            <a:ext cx="128016" cy="2423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Shape 11"/>
          <p:cNvSpPr/>
          <p:nvPr/>
        </p:nvSpPr>
        <p:spPr>
          <a:xfrm>
            <a:off x="6601968" y="143560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696" y="1545336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269480" y="1490472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可视化编辑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6601968" y="21488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生成页实时预览，可选中 DOM 元素并继续与 AI 对话；原生模式全量改、工程模式增量改。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502920" y="3749040"/>
            <a:ext cx="5532120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2809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02920" y="3749040"/>
            <a:ext cx="128016" cy="2423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Shape 16"/>
          <p:cNvSpPr/>
          <p:nvPr/>
        </p:nvSpPr>
        <p:spPr>
          <a:xfrm>
            <a:off x="886968" y="40416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4151376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54480" y="4096512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一键部署分享</a:t>
            </a:r>
            <a:endParaRPr lang="en-US" sz="2200" dirty="0"/>
          </a:p>
        </p:txBody>
      </p:sp>
      <p:sp>
        <p:nvSpPr>
          <p:cNvPr id="24" name="Text 18"/>
          <p:cNvSpPr/>
          <p:nvPr/>
        </p:nvSpPr>
        <p:spPr>
          <a:xfrm>
            <a:off x="886968" y="475488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部署到可访问地址、自动截封面、源码打包下载；管理员可标记精选案例。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6217920" y="3749040"/>
            <a:ext cx="5532120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28090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217920" y="3749040"/>
            <a:ext cx="128016" cy="2423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7" name="Shape 21"/>
          <p:cNvSpPr/>
          <p:nvPr/>
        </p:nvSpPr>
        <p:spPr>
          <a:xfrm>
            <a:off x="6601968" y="40416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1696" y="4151376"/>
            <a:ext cx="310896" cy="31089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269480" y="4096512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企业级治理</a:t>
            </a:r>
            <a:endParaRPr lang="en-US" sz="2200" dirty="0"/>
          </a:p>
        </p:txBody>
      </p:sp>
      <p:sp>
        <p:nvSpPr>
          <p:cNvPr id="30" name="Text 23"/>
          <p:cNvSpPr/>
          <p:nvPr/>
        </p:nvSpPr>
        <p:spPr>
          <a:xfrm>
            <a:off x="6601968" y="475488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用户与应用管理、鉴权切面、限流、Prompt 审查、Prometheus / Grafana 监控与成本观察。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374904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4128" y="256032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24128" y="42062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架构与模块地图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457200" y="1078992"/>
            <a:ext cx="5669280" cy="52578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09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" y="12344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单体主链路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85800" y="1664208"/>
            <a:ext cx="5212080" cy="640080"/>
          </a:xfrm>
          <a:prstGeom prst="roundRect">
            <a:avLst>
              <a:gd name="adj" fmla="val 8571"/>
            </a:avLst>
          </a:prstGeom>
          <a:solidFill>
            <a:srgbClr val="E7F6F3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166420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tools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19568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路由、生成、Guardrail、文件工具集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85800" y="2395728"/>
            <a:ext cx="5212080" cy="640080"/>
          </a:xfrm>
          <a:prstGeom prst="roundRect">
            <a:avLst>
              <a:gd name="adj" fmla="val 8571"/>
            </a:avLst>
          </a:prstGeom>
          <a:solidFill>
            <a:srgbClr val="E7F6F3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239572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" y="268833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解析 / 保存 / Vue 构建 / 流式处理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85800" y="3127248"/>
            <a:ext cx="5212080" cy="640080"/>
          </a:xfrm>
          <a:prstGeom prst="roundRect">
            <a:avLst>
              <a:gd name="adj" fmla="val 8571"/>
            </a:avLst>
          </a:prstGeom>
          <a:solidFill>
            <a:srgbClr val="E7F6F3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312724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langgraph4j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22960" y="341985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六节点工作流 + 质检回环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85800" y="3858768"/>
            <a:ext cx="5212080" cy="640080"/>
          </a:xfrm>
          <a:prstGeom prst="roundRect">
            <a:avLst>
              <a:gd name="adj" fmla="val 8571"/>
            </a:avLst>
          </a:prstGeom>
          <a:solidFill>
            <a:srgbClr val="E7F6F3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385876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22960" y="415137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应用、用户、对话、静态资源、工作流 SSE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85800" y="4590288"/>
            <a:ext cx="5212080" cy="640080"/>
          </a:xfrm>
          <a:prstGeom prst="roundRect">
            <a:avLst>
              <a:gd name="adj" fmla="val 8571"/>
            </a:avLst>
          </a:prstGeom>
          <a:solidFill>
            <a:srgbClr val="E7F6F3"/>
          </a:solidFill>
          <a:ln/>
        </p:spPr>
      </p:sp>
      <p:sp>
        <p:nvSpPr>
          <p:cNvPr id="22" name="Text 19"/>
          <p:cNvSpPr/>
          <p:nvPr/>
        </p:nvSpPr>
        <p:spPr>
          <a:xfrm>
            <a:off x="822960" y="459028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+ ratelimiter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22960" y="488289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模型指标采集、Redisson 限流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85800" y="5321808"/>
            <a:ext cx="5212080" cy="640080"/>
          </a:xfrm>
          <a:prstGeom prst="roundRect">
            <a:avLst>
              <a:gd name="adj" fmla="val 8571"/>
            </a:avLst>
          </a:prstGeom>
          <a:solidFill>
            <a:srgbClr val="E7F6F3"/>
          </a:solidFill>
          <a:ln/>
        </p:spPr>
      </p:sp>
      <p:sp>
        <p:nvSpPr>
          <p:cNvPr id="25" name="Text 22"/>
          <p:cNvSpPr/>
          <p:nvPr/>
        </p:nvSpPr>
        <p:spPr>
          <a:xfrm>
            <a:off x="822960" y="532180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/ service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822960" y="56144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COS、应用部署、对话记忆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309360" y="1078992"/>
            <a:ext cx="539496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090">
                <a:alpha val="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537960" y="1207008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微服务拆分（第 14 期）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6537960" y="1645920"/>
            <a:ext cx="1143000" cy="640080"/>
          </a:xfrm>
          <a:prstGeom prst="roundRect">
            <a:avLst>
              <a:gd name="adj" fmla="val 11429"/>
            </a:avLst>
          </a:prstGeom>
          <a:solidFill>
            <a:srgbClr val="028090"/>
          </a:solidFill>
          <a:ln/>
        </p:spPr>
      </p:sp>
      <p:sp>
        <p:nvSpPr>
          <p:cNvPr id="30" name="Text 27"/>
          <p:cNvSpPr/>
          <p:nvPr/>
        </p:nvSpPr>
        <p:spPr>
          <a:xfrm>
            <a:off x="6537960" y="164592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7772400" y="1645920"/>
            <a:ext cx="1143000" cy="640080"/>
          </a:xfrm>
          <a:prstGeom prst="roundRect">
            <a:avLst>
              <a:gd name="adj" fmla="val 11429"/>
            </a:avLst>
          </a:prstGeom>
          <a:solidFill>
            <a:srgbClr val="028090"/>
          </a:solidFill>
          <a:ln/>
        </p:spPr>
      </p:sp>
      <p:sp>
        <p:nvSpPr>
          <p:cNvPr id="32" name="Text 29"/>
          <p:cNvSpPr/>
          <p:nvPr/>
        </p:nvSpPr>
        <p:spPr>
          <a:xfrm>
            <a:off x="7772400" y="164592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9006840" y="1645920"/>
            <a:ext cx="1143000" cy="640080"/>
          </a:xfrm>
          <a:prstGeom prst="roundRect">
            <a:avLst>
              <a:gd name="adj" fmla="val 11429"/>
            </a:avLst>
          </a:prstGeom>
          <a:solidFill>
            <a:srgbClr val="028090"/>
          </a:solidFill>
          <a:ln/>
        </p:spPr>
      </p:sp>
      <p:sp>
        <p:nvSpPr>
          <p:cNvPr id="34" name="Text 31"/>
          <p:cNvSpPr/>
          <p:nvPr/>
        </p:nvSpPr>
        <p:spPr>
          <a:xfrm>
            <a:off x="9006840" y="164592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10241280" y="1645920"/>
            <a:ext cx="1143000" cy="640080"/>
          </a:xfrm>
          <a:prstGeom prst="roundRect">
            <a:avLst>
              <a:gd name="adj" fmla="val 11429"/>
            </a:avLst>
          </a:prstGeom>
          <a:solidFill>
            <a:srgbClr val="028090"/>
          </a:solidFill>
          <a:ln/>
        </p:spPr>
      </p:sp>
      <p:sp>
        <p:nvSpPr>
          <p:cNvPr id="36" name="Text 33"/>
          <p:cNvSpPr/>
          <p:nvPr/>
        </p:nvSpPr>
        <p:spPr>
          <a:xfrm>
            <a:off x="10241280" y="164592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6537960" y="2423160"/>
            <a:ext cx="1143000" cy="640080"/>
          </a:xfrm>
          <a:prstGeom prst="roundRect">
            <a:avLst>
              <a:gd name="adj" fmla="val 11429"/>
            </a:avLst>
          </a:prstGeom>
          <a:solidFill>
            <a:srgbClr val="028090"/>
          </a:solidFill>
          <a:ln/>
        </p:spPr>
      </p:sp>
      <p:sp>
        <p:nvSpPr>
          <p:cNvPr id="38" name="Text 35"/>
          <p:cNvSpPr/>
          <p:nvPr/>
        </p:nvSpPr>
        <p:spPr>
          <a:xfrm>
            <a:off x="6537960" y="242316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7772400" y="2423160"/>
            <a:ext cx="1143000" cy="640080"/>
          </a:xfrm>
          <a:prstGeom prst="roundRect">
            <a:avLst>
              <a:gd name="adj" fmla="val 11429"/>
            </a:avLst>
          </a:prstGeom>
          <a:solidFill>
            <a:srgbClr val="028090"/>
          </a:solidFill>
          <a:ln/>
        </p:spPr>
      </p:sp>
      <p:sp>
        <p:nvSpPr>
          <p:cNvPr id="40" name="Text 37"/>
          <p:cNvSpPr/>
          <p:nvPr/>
        </p:nvSpPr>
        <p:spPr>
          <a:xfrm>
            <a:off x="7772400" y="242316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9006840" y="2423160"/>
            <a:ext cx="1143000" cy="640080"/>
          </a:xfrm>
          <a:prstGeom prst="roundRect">
            <a:avLst>
              <a:gd name="adj" fmla="val 11429"/>
            </a:avLst>
          </a:prstGeom>
          <a:solidFill>
            <a:srgbClr val="028090"/>
          </a:solidFill>
          <a:ln/>
        </p:spPr>
      </p:sp>
      <p:sp>
        <p:nvSpPr>
          <p:cNvPr id="42" name="Text 39"/>
          <p:cNvSpPr/>
          <p:nvPr/>
        </p:nvSpPr>
        <p:spPr>
          <a:xfrm>
            <a:off x="9006840" y="242316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6309360" y="3730752"/>
            <a:ext cx="5394960" cy="2606040"/>
          </a:xfrm>
          <a:prstGeom prst="roundRect">
            <a:avLst>
              <a:gd name="adj" fmla="val 3509"/>
            </a:avLst>
          </a:prstGeom>
          <a:solidFill>
            <a:srgbClr val="01343A"/>
          </a:solidFill>
          <a:ln/>
        </p:spPr>
      </p:sp>
      <p:sp>
        <p:nvSpPr>
          <p:cNvPr id="44" name="Text 41"/>
          <p:cNvSpPr/>
          <p:nvPr/>
        </p:nvSpPr>
        <p:spPr>
          <a:xfrm>
            <a:off x="6537960" y="3858768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LangGraph 生成流水线</a:t>
            </a:r>
            <a:endParaRPr lang="en-US" sz="1800" dirty="0"/>
          </a:p>
        </p:txBody>
      </p:sp>
      <p:sp>
        <p:nvSpPr>
          <p:cNvPr id="45" name="Text 42"/>
          <p:cNvSpPr/>
          <p:nvPr/>
        </p:nvSpPr>
        <p:spPr>
          <a:xfrm>
            <a:off x="6537960" y="4224528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图片收集 → Prompt 增强 → 路由 → 代码生成 → 质检（失败回生成）→ 工程构建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6537960" y="493776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通信与中间件：Dubbo + Nacos、Redis Session / 对话记忆、COS 对象存储、Prometheus 抓取 :8123。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374904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4128" y="256032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CHANGES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24128" y="42062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近期进展：近 7 日无新提交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457200" y="1097280"/>
            <a:ext cx="11247120" cy="1051560"/>
          </a:xfrm>
          <a:prstGeom prst="roundRect">
            <a:avLst>
              <a:gd name="adj" fmla="val 8696"/>
            </a:avLst>
          </a:prstGeom>
          <a:solidFill>
            <a:srgbClr val="01343A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261872"/>
            <a:ext cx="10835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日与近 30 日 git log 均为空。仓库 HEAD 停在 2025-08-26 的「教程第 14 期 - 微服务改造完成」。今日汇报以该基线为现状快照，不虚构业务增量。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02920" y="237744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09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85800" y="2560320"/>
            <a:ext cx="1051560" cy="329184"/>
          </a:xfrm>
          <a:prstGeom prst="roundRect">
            <a:avLst>
              <a:gd name="adj" fmla="val 16667"/>
            </a:avLst>
          </a:prstGeom>
          <a:solidFill>
            <a:srgbClr val="E7F6F3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256032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08-26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5800" y="3017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微服务改造收口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85800" y="38404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七模块齐备，最终提交回补完整单体，避免中间态不可用。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337560" y="237744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09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520440" y="2560320"/>
            <a:ext cx="1051560" cy="329184"/>
          </a:xfrm>
          <a:prstGeom prst="roundRect">
            <a:avLst>
              <a:gd name="adj" fmla="val 16667"/>
            </a:avLst>
          </a:prstGeom>
          <a:solidFill>
            <a:srgbClr val="E7F6F3"/>
          </a:solidFill>
          <a:ln/>
        </p:spPr>
      </p:sp>
      <p:sp>
        <p:nvSpPr>
          <p:cNvPr id="16" name="Text 13"/>
          <p:cNvSpPr/>
          <p:nvPr/>
        </p:nvSpPr>
        <p:spPr>
          <a:xfrm>
            <a:off x="3520440" y="256032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08-14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520440" y="3017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可观测性 + 上线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3520440" y="38404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12–13 期：部署方案、Prometheus / Grafana、模型指标采集。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172200" y="237744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09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355080" y="2560320"/>
            <a:ext cx="1051560" cy="329184"/>
          </a:xfrm>
          <a:prstGeom prst="roundRect">
            <a:avLst>
              <a:gd name="adj" fmla="val 16667"/>
            </a:avLst>
          </a:prstGeom>
          <a:solidFill>
            <a:srgbClr val="E7F6F3"/>
          </a:solidFill>
          <a:ln/>
        </p:spPr>
      </p:sp>
      <p:sp>
        <p:nvSpPr>
          <p:cNvPr id="21" name="Text 18"/>
          <p:cNvSpPr/>
          <p:nvPr/>
        </p:nvSpPr>
        <p:spPr>
          <a:xfrm>
            <a:off x="6355080" y="256032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08-13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355080" y="3017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系统与成本优化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355080" y="38404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并发缓存、限流、Prompt 审查、稳定性与 Token 成本控制。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9006840" y="237744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09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9189720" y="2560320"/>
            <a:ext cx="1051560" cy="329184"/>
          </a:xfrm>
          <a:prstGeom prst="roundRect">
            <a:avLst>
              <a:gd name="adj" fmla="val 16667"/>
            </a:avLst>
          </a:prstGeom>
          <a:solidFill>
            <a:srgbClr val="E7F6F3"/>
          </a:solidFill>
          <a:ln/>
        </p:spPr>
      </p:sp>
      <p:sp>
        <p:nvSpPr>
          <p:cNvPr id="26" name="Text 23"/>
          <p:cNvSpPr/>
          <p:nvPr/>
        </p:nvSpPr>
        <p:spPr>
          <a:xfrm>
            <a:off x="9189720" y="256032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08-12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9189720" y="3017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LangGraph 工作流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9189720" y="38404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图片并发收集、质检回环、子图与高级特性落地。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374904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4128" y="256032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24128" y="42062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数据与指标要点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502920" y="109728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09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02920" y="1207008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612648" y="1874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生成模式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多文件 / Vue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37560" y="109728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09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337560" y="1207008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3447288" y="1874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工作流节点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474720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含质检条件回环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172200" y="109728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090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172200" y="1207008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6281928" y="1874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文件工具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309360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读写改删目录退出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9006840" y="109728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09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9006840" y="1207008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/>
          </a:p>
        </p:txBody>
      </p:sp>
      <p:sp>
        <p:nvSpPr>
          <p:cNvPr id="21" name="Text 18"/>
          <p:cNvSpPr/>
          <p:nvPr/>
        </p:nvSpPr>
        <p:spPr>
          <a:xfrm>
            <a:off x="9116568" y="1874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核心数据表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144000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app / chat_history 等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57200" y="2971800"/>
            <a:ext cx="566928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090">
                <a:alpha val="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85800" y="3127248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仓库可核验指标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731520" y="361188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3"/>
          <p:cNvSpPr/>
          <p:nvPr/>
        </p:nvSpPr>
        <p:spPr>
          <a:xfrm>
            <a:off x="1005840" y="3520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 Java 21，Spring Boot 3.5.4（单体）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731520" y="408736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Text 25"/>
          <p:cNvSpPr/>
          <p:nvPr/>
        </p:nvSpPr>
        <p:spPr>
          <a:xfrm>
            <a:off x="1005840" y="39959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微服务父 POM：Cloud 2023.0.1 + Dubbo 3.3.0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731520" y="4562856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7"/>
          <p:cNvSpPr/>
          <p:nvPr/>
        </p:nvSpPr>
        <p:spPr>
          <a:xfrm>
            <a:off x="1005840" y="447141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LangChain4j 1.1.0 / LangGraph4j 1.6.0-rc2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731520" y="5038344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2" name="Text 29"/>
          <p:cNvSpPr/>
          <p:nvPr/>
        </p:nvSpPr>
        <p:spPr>
          <a:xfrm>
            <a:off x="1005840" y="49469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 17 个 Vue 页面，无独立测试脚本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731520" y="551383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4" name="Text 31"/>
          <p:cNvSpPr/>
          <p:nvPr/>
        </p:nvSpPr>
        <p:spPr>
          <a:xfrm>
            <a:off x="1005840" y="54223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抓取 /api/actuator/prometheus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6309360" y="2971800"/>
            <a:ext cx="5394960" cy="3337560"/>
          </a:xfrm>
          <a:prstGeom prst="roundRect">
            <a:avLst>
              <a:gd name="adj" fmla="val 2740"/>
            </a:avLst>
          </a:prstGeom>
          <a:solidFill>
            <a:srgbClr val="01343A"/>
          </a:solidFill>
          <a:ln/>
        </p:spPr>
      </p:sp>
      <p:sp>
        <p:nvSpPr>
          <p:cNvPr id="36" name="Text 33"/>
          <p:cNvSpPr/>
          <p:nvPr/>
        </p:nvSpPr>
        <p:spPr>
          <a:xfrm>
            <a:off x="6537960" y="312724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运行时指标（占位说明）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6537960" y="352044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本环境无法连接生产库与模型网关，以下指标待运维补齐，请勿当作实测值：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6537960" y="41605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日生成次数 / 成功率 / 平均耗时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6537960" y="457200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Token 消耗与模型费用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6537960" y="49834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部署成功率与截图失败率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6537960" y="53949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限流触发次数与 SSE 中断率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374904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4128" y="256032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24128" y="42062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测试与工程健康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457200" y="1097280"/>
            <a:ext cx="3657600" cy="5212080"/>
          </a:xfrm>
          <a:prstGeom prst="roundRect">
            <a:avLst>
              <a:gd name="adj" fmla="val 2500"/>
            </a:avLst>
          </a:prstGeom>
          <a:solidFill>
            <a:srgbClr val="01343A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 结论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85800" y="1783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未配置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685800" y="251460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仓库无 .github/workflows，也无 GitHub Actions 运行记录。无法报告「最近一次 CI 红/绿」。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85800" y="379476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7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本地测试以 Spring Boot Test 为主，多依赖真实模型与外部工具，不适合直接作为门禁。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85800" y="50749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7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前端仅有 lint / type-check，无单测脚本。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297680" y="1097280"/>
            <a:ext cx="7406640" cy="521208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09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526280" y="12801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已有测试覆盖面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4526280" y="1737360"/>
            <a:ext cx="6949440" cy="594360"/>
          </a:xfrm>
          <a:prstGeom prst="roundRect">
            <a:avLst>
              <a:gd name="adj" fmla="val 9231"/>
            </a:avLst>
          </a:prstGeom>
          <a:solidFill>
            <a:srgbClr val="E7F6F3"/>
          </a:solidFill>
          <a:ln/>
        </p:spPr>
      </p:sp>
      <p:sp>
        <p:nvSpPr>
          <p:cNvPr id="16" name="Text 13"/>
          <p:cNvSpPr/>
          <p:nvPr/>
        </p:nvSpPr>
        <p:spPr>
          <a:xfrm>
            <a:off x="4663440" y="17373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AiCodeGenerator / Facade / Parser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092440" y="17373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生成主路径单元与门面测试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526280" y="2423160"/>
            <a:ext cx="6949440" cy="594360"/>
          </a:xfrm>
          <a:prstGeom prst="roundRect">
            <a:avLst>
              <a:gd name="adj" fmla="val 9231"/>
            </a:avLst>
          </a:prstGeom>
          <a:solidFill>
            <a:srgbClr val="F7FCFB"/>
          </a:solidFill>
          <a:ln/>
        </p:spPr>
      </p:sp>
      <p:sp>
        <p:nvSpPr>
          <p:cNvPr id="19" name="Text 16"/>
          <p:cNvSpPr/>
          <p:nvPr/>
        </p:nvSpPr>
        <p:spPr>
          <a:xfrm>
            <a:off x="4663440" y="24231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AiCodeGenTypeRoutingService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092440" y="24231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策略路由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526280" y="3108960"/>
            <a:ext cx="6949440" cy="594360"/>
          </a:xfrm>
          <a:prstGeom prst="roundRect">
            <a:avLst>
              <a:gd name="adj" fmla="val 9231"/>
            </a:avLst>
          </a:prstGeom>
          <a:solidFill>
            <a:srgbClr val="E7F6F3"/>
          </a:solidFill>
          <a:ln/>
        </p:spPr>
      </p:sp>
      <p:sp>
        <p:nvSpPr>
          <p:cNvPr id="22" name="Text 19"/>
          <p:cNvSpPr/>
          <p:nvPr/>
        </p:nvSpPr>
        <p:spPr>
          <a:xfrm>
            <a:off x="4663440" y="31089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CodeGenWorkflow 及并发 / 子图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092440" y="31089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编排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526280" y="3794760"/>
            <a:ext cx="6949440" cy="594360"/>
          </a:xfrm>
          <a:prstGeom prst="roundRect">
            <a:avLst>
              <a:gd name="adj" fmla="val 9231"/>
            </a:avLst>
          </a:prstGeom>
          <a:solidFill>
            <a:srgbClr val="F7FCFB"/>
          </a:solidFill>
          <a:ln/>
        </p:spPr>
      </p:sp>
      <p:sp>
        <p:nvSpPr>
          <p:cNvPr id="25" name="Text 22"/>
          <p:cNvSpPr/>
          <p:nvPr/>
        </p:nvSpPr>
        <p:spPr>
          <a:xfrm>
            <a:off x="4663440" y="37947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Logo / Mermaid / Undraw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8092440" y="37947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素材工具，依赖外网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4526280" y="4480560"/>
            <a:ext cx="6949440" cy="594360"/>
          </a:xfrm>
          <a:prstGeom prst="roundRect">
            <a:avLst>
              <a:gd name="adj" fmla="val 9231"/>
            </a:avLst>
          </a:prstGeom>
          <a:solidFill>
            <a:srgbClr val="E7F6F3"/>
          </a:solidFill>
          <a:ln/>
        </p:spPr>
      </p:sp>
      <p:sp>
        <p:nvSpPr>
          <p:cNvPr id="28" name="Text 25"/>
          <p:cNvSpPr/>
          <p:nvPr/>
        </p:nvSpPr>
        <p:spPr>
          <a:xfrm>
            <a:off x="4663440" y="44805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WebScreenshotUtils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8092440" y="44805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截图工具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4526280" y="5166360"/>
            <a:ext cx="6949440" cy="594360"/>
          </a:xfrm>
          <a:prstGeom prst="roundRect">
            <a:avLst>
              <a:gd name="adj" fmla="val 9231"/>
            </a:avLst>
          </a:prstGeom>
          <a:solidFill>
            <a:srgbClr val="F7FCFB"/>
          </a:solidFill>
          <a:ln/>
        </p:spPr>
      </p:sp>
      <p:sp>
        <p:nvSpPr>
          <p:cNvPr id="31" name="Text 28"/>
          <p:cNvSpPr/>
          <p:nvPr/>
        </p:nvSpPr>
        <p:spPr>
          <a:xfrm>
            <a:off x="4663440" y="51663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contextLoads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8092440" y="51663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启动冒烟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374904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4128" y="256032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24128" y="42062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风险、阻塞与未完成项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502920" y="1115568"/>
            <a:ext cx="361188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09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04088" y="1316736"/>
            <a:ext cx="502920" cy="292608"/>
          </a:xfrm>
          <a:prstGeom prst="roundRect">
            <a:avLst>
              <a:gd name="adj" fmla="val 15625"/>
            </a:avLst>
          </a:prstGeom>
          <a:solidFill>
            <a:srgbClr val="B83B3B"/>
          </a:solidFill>
          <a:ln/>
        </p:spPr>
      </p:sp>
      <p:sp>
        <p:nvSpPr>
          <p:cNvPr id="9" name="Text 6"/>
          <p:cNvSpPr/>
          <p:nvPr/>
        </p:nvSpPr>
        <p:spPr>
          <a:xfrm>
            <a:off x="704088" y="131673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307592" y="1280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维护真空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04088" y="1801368"/>
            <a:ext cx="3246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超过一年无提交，依赖与模型 API 可能已漂移，复现环境成本上升。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297680" y="1115568"/>
            <a:ext cx="361188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09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98848" y="1316736"/>
            <a:ext cx="502920" cy="292608"/>
          </a:xfrm>
          <a:prstGeom prst="roundRect">
            <a:avLst>
              <a:gd name="adj" fmla="val 15625"/>
            </a:avLst>
          </a:prstGeom>
          <a:solidFill>
            <a:srgbClr val="B83B3B"/>
          </a:solidFill>
          <a:ln/>
        </p:spPr>
      </p:sp>
      <p:sp>
        <p:nvSpPr>
          <p:cNvPr id="14" name="Text 11"/>
          <p:cNvSpPr/>
          <p:nvPr/>
        </p:nvSpPr>
        <p:spPr>
          <a:xfrm>
            <a:off x="4498848" y="131673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102352" y="1280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无持续集成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498848" y="1801368"/>
            <a:ext cx="3246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合并与回归全靠人工。教学分支中间态曾明确警告会破坏单体。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092440" y="1115568"/>
            <a:ext cx="361188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09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93608" y="1316736"/>
            <a:ext cx="502920" cy="292608"/>
          </a:xfrm>
          <a:prstGeom prst="roundRect">
            <a:avLst>
              <a:gd name="adj" fmla="val 15625"/>
            </a:avLst>
          </a:prstGeom>
          <a:solidFill>
            <a:srgbClr val="C45C26"/>
          </a:solidFill>
          <a:ln/>
        </p:spPr>
      </p:sp>
      <p:sp>
        <p:nvSpPr>
          <p:cNvPr id="19" name="Text 16"/>
          <p:cNvSpPr/>
          <p:nvPr/>
        </p:nvSpPr>
        <p:spPr>
          <a:xfrm>
            <a:off x="8293608" y="131673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897112" y="1280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双形态漂移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8293608" y="1801368"/>
            <a:ext cx="3246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单体与微服务并行，后续补丁若不同步，行为会分叉。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02920" y="3721608"/>
            <a:ext cx="361188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09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04088" y="3922776"/>
            <a:ext cx="502920" cy="292608"/>
          </a:xfrm>
          <a:prstGeom prst="roundRect">
            <a:avLst>
              <a:gd name="adj" fmla="val 15625"/>
            </a:avLst>
          </a:prstGeom>
          <a:solidFill>
            <a:srgbClr val="C45C26"/>
          </a:solidFill>
          <a:ln/>
        </p:spPr>
      </p:sp>
      <p:sp>
        <p:nvSpPr>
          <p:cNvPr id="24" name="Text 21"/>
          <p:cNvSpPr/>
          <p:nvPr/>
        </p:nvSpPr>
        <p:spPr>
          <a:xfrm>
            <a:off x="704088" y="392277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307592" y="3886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厂商代码补丁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704088" y="4407408"/>
            <a:ext cx="3246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下拷贝的 LangChain4j 含多处 TODO 与调试输出，升级冲突风险高。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4297680" y="3721608"/>
            <a:ext cx="361188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090">
                <a:alpha val="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498848" y="3922776"/>
            <a:ext cx="502920" cy="292608"/>
          </a:xfrm>
          <a:prstGeom prst="roundRect">
            <a:avLst>
              <a:gd name="adj" fmla="val 15625"/>
            </a:avLst>
          </a:prstGeom>
          <a:solidFill>
            <a:srgbClr val="C45C26"/>
          </a:solidFill>
          <a:ln/>
        </p:spPr>
      </p:sp>
      <p:sp>
        <p:nvSpPr>
          <p:cNvPr id="29" name="Text 26"/>
          <p:cNvSpPr/>
          <p:nvPr/>
        </p:nvSpPr>
        <p:spPr>
          <a:xfrm>
            <a:off x="4498848" y="392277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102352" y="3886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测试不可门禁化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4498848" y="4407408"/>
            <a:ext cx="3246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工作流与工具测试绑定外网与密钥，日常无法自动跑绿。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8092440" y="3721608"/>
            <a:ext cx="361188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090">
                <a:alpha val="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8293608" y="3922776"/>
            <a:ext cx="502920" cy="292608"/>
          </a:xfrm>
          <a:prstGeom prst="roundRect">
            <a:avLst>
              <a:gd name="adj" fmla="val 15625"/>
            </a:avLst>
          </a:prstGeom>
          <a:solidFill>
            <a:srgbClr val="028090"/>
          </a:solidFill>
          <a:ln/>
        </p:spPr>
      </p:sp>
      <p:sp>
        <p:nvSpPr>
          <p:cNvPr id="34" name="Text 31"/>
          <p:cNvSpPr/>
          <p:nvPr/>
        </p:nvSpPr>
        <p:spPr>
          <a:xfrm>
            <a:off x="8293608" y="392277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8897112" y="3886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预发布依赖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8293608" y="4407408"/>
            <a:ext cx="3246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LangGraph4j 使用 1.6.0-rc2，接口稳定性需盯紧。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374904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4128" y="256032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24128" y="42062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建议的下一步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457200" y="1097280"/>
            <a:ext cx="1124712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28090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097280"/>
            <a:ext cx="1051560" cy="896112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097280"/>
            <a:ext cx="1051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691640" y="1188720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补齐最小 CI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691640" y="1536192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增加编译与不依赖外网的单测工作流；前端跑 type-check 与 lint。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57200" y="2103120"/>
            <a:ext cx="1124712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2809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2103120"/>
            <a:ext cx="1051560" cy="896112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2103120"/>
            <a:ext cx="1051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691640" y="2194560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冻结双形态策略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691640" y="2542032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明确「只维护微服务」或「同步补丁清单」，避免再出现中间态污染单体。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57200" y="3108960"/>
            <a:ext cx="1124712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28090">
                <a:alpha val="7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7200" y="3108960"/>
            <a:ext cx="1051560" cy="896112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3108960"/>
            <a:ext cx="1051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691640" y="3200400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隔离厂商补丁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691640" y="3547872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LangChain4j 拷贝收敛到独立模块，去掉调试打印与未完成 TODO。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457200" y="4114800"/>
            <a:ext cx="1124712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28090">
                <a:alpha val="7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57200" y="4114800"/>
            <a:ext cx="1051560" cy="896112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24" name="Text 21"/>
          <p:cNvSpPr/>
          <p:nvPr/>
        </p:nvSpPr>
        <p:spPr>
          <a:xfrm>
            <a:off x="457200" y="4114800"/>
            <a:ext cx="1051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1691640" y="4206240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测试分层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1691640" y="4553712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工具与工作流改为可 Mock；密钥类用例标为手动 / 夜间集成。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457200" y="5120640"/>
            <a:ext cx="1124712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28090">
                <a:alpha val="7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57200" y="5120640"/>
            <a:ext cx="1051560" cy="896112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29" name="Text 26"/>
          <p:cNvSpPr/>
          <p:nvPr/>
        </p:nvSpPr>
        <p:spPr>
          <a:xfrm>
            <a:off x="457200" y="5120640"/>
            <a:ext cx="1051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1691640" y="5212080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运行面指标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1691640" y="5559552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Grafana 导出生成成功率、耗时、Token，填补本汇报的运行时空白。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1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120640"/>
            <a:ext cx="2926080" cy="2926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-1005840"/>
            <a:ext cx="3108960" cy="3108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1148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今日结论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能力完整，节奏停摆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教学链路已走到微服务改造完成；近一年仓库静止。维护重点应从「加功能」转为「可构建、可回归、可观测」。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01343A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45059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能做什么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41248" y="2926080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生成、改稿、部署、治理四条主链路齐全，工作流与三种生成模式可用。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89120" y="228600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01343A"/>
          </a:solidFill>
          <a:ln/>
        </p:spPr>
      </p:sp>
      <p:sp>
        <p:nvSpPr>
          <p:cNvPr id="12" name="Text 10"/>
          <p:cNvSpPr/>
          <p:nvPr/>
        </p:nvSpPr>
        <p:spPr>
          <a:xfrm>
            <a:off x="4590288" y="245059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卡在哪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90288" y="2926080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 CI、双形态、厂商补丁与外网测试，阻碍持续演进。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38160" y="228600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01343A"/>
          </a:solidFill>
          <a:ln/>
        </p:spPr>
      </p:sp>
      <p:sp>
        <p:nvSpPr>
          <p:cNvPr id="15" name="Text 13"/>
          <p:cNvSpPr/>
          <p:nvPr/>
        </p:nvSpPr>
        <p:spPr>
          <a:xfrm>
            <a:off x="8339328" y="245059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先做什么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339328" y="2926080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最小门禁、明确维护面、收敛补丁、补运行时指标。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48463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7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下一份日报若仍无提交，请只更新运行时指标与依赖告警，避免重复叙述同一基线。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汇报文件  docs/reports/project-status-2026-09-06.pptx     仓库  github.com/liyupi/yu-ai-code-mother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2026-09-06</dc:title>
  <dc:subject>AI 零代码应用生成平台项目状态</dc:subject>
  <dc:creator>yu-ai-code-mother 状态自动化</dc:creator>
  <cp:lastModifiedBy>yu-ai-code-mother 状态自动化</cp:lastModifiedBy>
  <cp:revision>1</cp:revision>
  <dcterms:created xsi:type="dcterms:W3CDTF">2026-09-06T09:06:43Z</dcterms:created>
  <dcterms:modified xsi:type="dcterms:W3CDTF">2026-09-06T09:06:43Z</dcterms:modified>
</cp:coreProperties>
</file>