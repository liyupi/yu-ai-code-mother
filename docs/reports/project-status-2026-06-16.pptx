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1645920"/>
            <a:ext cx="4846320" cy="4846320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3657600"/>
            <a:ext cx="2651760" cy="2651760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02920"/>
            <a:ext cx="137160" cy="5669280"/>
          </a:xfrm>
          <a:prstGeom prst="rect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24128"/>
            <a:ext cx="67665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59436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D9EEF2"/>
                </a:solidFill>
                <a:latin typeface="Calibri"/>
              </a:rPr>
              <a:t>AI 零代码应用生成平台</a:t>
            </a:r>
          </a:p>
          <a:p>
            <a:pPr algn="l"/>
            <a:r>
              <a:rPr sz="1800" b="0" i="0">
                <a:solidFill>
                  <a:srgbClr val="D9EEF2"/>
                </a:solidFill>
                <a:latin typeface="Calibri"/>
              </a:rPr>
              <a:t>（yu-ai-code-mother）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4480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运行日：2026-06-16（北京时间）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受众：项目维护者 / 团队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273552"/>
            <a:ext cx="1417320" cy="329184"/>
          </a:xfrm>
          <a:prstGeom prst="roundRect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55848"/>
            <a:ext cx="1344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 i="0">
                <a:solidFill>
                  <a:srgbClr val="21295C"/>
                </a:solidFill>
                <a:latin typeface="Calibri"/>
              </a:rPr>
              <a:t>Ocean Gradient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273552"/>
            <a:ext cx="1417320" cy="329184"/>
          </a:xfrm>
          <a:prstGeom prst="roundRect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3355848"/>
            <a:ext cx="1344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日报自动生成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3273552"/>
            <a:ext cx="1600200" cy="329184"/>
          </a:xfrm>
          <a:prstGeom prst="round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78224" y="3355848"/>
            <a:ext cx="152704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只更新报告文件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914400"/>
            <a:ext cx="3520440" cy="4526280"/>
          </a:xfrm>
          <a:prstGeom prst="roundRect">
            <a:avLst/>
          </a:prstGeom>
          <a:solidFill>
            <a:srgbClr val="F4FBFC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216152"/>
            <a:ext cx="23774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Georgia"/>
              </a:rPr>
              <a:t>今日快照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755648"/>
            <a:ext cx="13258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1920240"/>
            <a:ext cx="96011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02C39A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542032"/>
            <a:ext cx="9235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核心能力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834639"/>
            <a:ext cx="8869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生成 / 编辑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部署 / 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755648"/>
            <a:ext cx="13258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920240"/>
            <a:ext cx="96011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1C7293"/>
                </a:solidFill>
                <a:latin typeface="Georgia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542032"/>
            <a:ext cx="9235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近 7 天提交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834639"/>
            <a:ext cx="8869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本地分支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无业务新增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200400"/>
            <a:ext cx="13258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3364992"/>
            <a:ext cx="96011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065A82"/>
                </a:solidFill>
                <a:latin typeface="Georgia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3986784"/>
            <a:ext cx="9235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测试类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4696" y="4279392"/>
            <a:ext cx="8869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单体后端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JUnit 测试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200400"/>
            <a:ext cx="132588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3364992"/>
            <a:ext cx="96011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21295C"/>
                </a:solidFill>
                <a:latin typeface="Georgia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3986784"/>
            <a:ext cx="92354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Maven POM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4279392"/>
            <a:ext cx="8869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单体 +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微服务模块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736592"/>
            <a:ext cx="2743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 i="0">
                <a:solidFill>
                  <a:srgbClr val="17324D"/>
                </a:solidFill>
                <a:latin typeface="Calibri"/>
              </a:rPr>
              <a:t>判断：能力面完整，工程化与配置治理</a:t>
            </a:r>
          </a:p>
          <a:p>
            <a:pPr algn="l"/>
            <a:r>
              <a:rPr sz="1120" b="1" i="0">
                <a:solidFill>
                  <a:srgbClr val="17324D"/>
                </a:solidFill>
                <a:latin typeface="Calibri"/>
              </a:rPr>
              <a:t>是下一阶段重点。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项目概览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面向“自然语言 → 可访问应用”的端到端生成平台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417320"/>
            <a:ext cx="3657600" cy="4480560"/>
          </a:xfrm>
          <a:prstGeom prst="round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719072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产品定位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267712"/>
            <a:ext cx="27432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用户输入需求描述，AI 自动选择生成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策略。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输出 HTML、多文件或 Vue 工程。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支持实时预览、对话编辑、部署分享与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源码下载。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60520"/>
            <a:ext cx="2788920" cy="777240"/>
          </a:xfrm>
          <a:prstGeom prst="roundRect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407408"/>
            <a:ext cx="237744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单体主线 + 微服务演进版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41732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1417320"/>
            <a:ext cx="109728" cy="132588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10328" y="1618488"/>
            <a:ext cx="438912" cy="438912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172821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1581912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后端核心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1929384"/>
            <a:ext cx="2103120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Spring Boot 3.5.4 / Java 21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REST、SSE、AI 编排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应用管理与部署。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41732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1417320"/>
            <a:ext cx="109728" cy="1325880"/>
          </a:xfrm>
          <a:prstGeom prst="rect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93608" y="1618488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172821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1581912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前端体验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1929384"/>
            <a:ext cx="2103120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Vue 3 + TypeScript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Ant Design Vue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可视化编辑与后台页面。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306324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3063240"/>
            <a:ext cx="109728" cy="1325880"/>
          </a:xfrm>
          <a:prstGeom prst="rect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10328" y="3264408"/>
            <a:ext cx="438912" cy="438912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0328" y="337413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3227832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AI 工作流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8968" y="3575304"/>
            <a:ext cx="2103120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LangChain4j + LangGraph4j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生成路由、工具调用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图片采集与质量检查。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063240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3063240"/>
            <a:ext cx="109728" cy="132588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93608" y="3264408"/>
            <a:ext cx="438912" cy="438912"/>
          </a:xfrm>
          <a:prstGeom prst="ellipse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37413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3227832"/>
            <a:ext cx="2103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工程设施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2248" y="3575304"/>
            <a:ext cx="2103120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MySQL / Redis / COS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Selenium 截图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Actuator + Prometheus。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09160" y="4956048"/>
            <a:ext cx="6446520" cy="530352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56048" y="5148072"/>
            <a:ext cx="59436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7324D"/>
                </a:solidFill>
                <a:latin typeface="Calibri"/>
              </a:rPr>
              <a:t>结论：已覆盖生成—编辑—部署—管理闭环，下一步补齐可运行性与 CI。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架构与模块视图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单体可运行路径清晰，微服务拆分已形成服务边界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41732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655064"/>
            <a:ext cx="420624" cy="420624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55648"/>
            <a:ext cx="420624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563624"/>
            <a:ext cx="114299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Calibri"/>
              </a:rPr>
              <a:t>用户需求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1874519"/>
            <a:ext cx="1124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自然语言</a:t>
            </a:r>
          </a:p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编辑指令</a:t>
            </a:r>
          </a:p>
        </p:txBody>
      </p:sp>
      <p:sp>
        <p:nvSpPr>
          <p:cNvPr id="18" name="Chevron 17"/>
          <p:cNvSpPr/>
          <p:nvPr/>
        </p:nvSpPr>
        <p:spPr>
          <a:xfrm>
            <a:off x="2587752" y="1700784"/>
            <a:ext cx="292608" cy="329184"/>
          </a:xfrm>
          <a:prstGeom prst="chevron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141732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63240" y="1655064"/>
            <a:ext cx="420624" cy="420624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1755648"/>
            <a:ext cx="420624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1563624"/>
            <a:ext cx="114299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Calibri"/>
              </a:rPr>
              <a:t>前端工作台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874519"/>
            <a:ext cx="1124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Vue 页面</a:t>
            </a:r>
          </a:p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预览 iframe</a:t>
            </a:r>
          </a:p>
        </p:txBody>
      </p:sp>
      <p:sp>
        <p:nvSpPr>
          <p:cNvPr id="24" name="Chevron 23"/>
          <p:cNvSpPr/>
          <p:nvPr/>
        </p:nvSpPr>
        <p:spPr>
          <a:xfrm>
            <a:off x="4828032" y="1700784"/>
            <a:ext cx="292608" cy="329184"/>
          </a:xfrm>
          <a:prstGeom prst="chevron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66360" y="141732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03520" y="1655064"/>
            <a:ext cx="420624" cy="420624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1755648"/>
            <a:ext cx="420624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1563624"/>
            <a:ext cx="114299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Calibri"/>
              </a:rPr>
              <a:t>后端应用层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1874519"/>
            <a:ext cx="1124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REST / SSE</a:t>
            </a:r>
          </a:p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管理接口</a:t>
            </a:r>
          </a:p>
        </p:txBody>
      </p:sp>
      <p:sp>
        <p:nvSpPr>
          <p:cNvPr id="30" name="Chevron 29"/>
          <p:cNvSpPr/>
          <p:nvPr/>
        </p:nvSpPr>
        <p:spPr>
          <a:xfrm>
            <a:off x="7068312" y="1700784"/>
            <a:ext cx="292608" cy="329184"/>
          </a:xfrm>
          <a:prstGeom prst="chevron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0" y="141732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43800" y="1655064"/>
            <a:ext cx="420624" cy="420624"/>
          </a:xfrm>
          <a:prstGeom prst="ellipse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1755648"/>
            <a:ext cx="420624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1563624"/>
            <a:ext cx="114299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Calibri"/>
              </a:rPr>
              <a:t>AI 编排层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874519"/>
            <a:ext cx="1124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路由/工具</a:t>
            </a:r>
          </a:p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工作流输出</a:t>
            </a:r>
          </a:p>
        </p:txBody>
      </p:sp>
      <p:sp>
        <p:nvSpPr>
          <p:cNvPr id="36" name="Chevron 35"/>
          <p:cNvSpPr/>
          <p:nvPr/>
        </p:nvSpPr>
        <p:spPr>
          <a:xfrm>
            <a:off x="9308592" y="1700784"/>
            <a:ext cx="292608" cy="329184"/>
          </a:xfrm>
          <a:prstGeom prst="chevron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46920" y="141732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84080" y="1655064"/>
            <a:ext cx="420624" cy="420624"/>
          </a:xfrm>
          <a:prstGeom prst="ellipse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755648"/>
            <a:ext cx="420624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563624"/>
            <a:ext cx="114299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17324D"/>
                </a:solidFill>
                <a:latin typeface="Calibri"/>
              </a:rPr>
              <a:t>生成部署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1874519"/>
            <a:ext cx="1124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文件保存</a:t>
            </a:r>
          </a:p>
          <a:p>
            <a:pPr algn="l"/>
            <a:r>
              <a:rPr sz="950" b="0" i="0">
                <a:solidFill>
                  <a:srgbClr val="4B6478"/>
                </a:solidFill>
                <a:latin typeface="Calibri"/>
              </a:rPr>
              <a:t>COS / 截图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907792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Georgia"/>
              </a:rPr>
              <a:t>模块分布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3337560"/>
            <a:ext cx="34747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3337560"/>
            <a:ext cx="109728" cy="1261872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6968" y="3538728"/>
            <a:ext cx="438912" cy="438912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" y="364845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35607" y="3502152"/>
            <a:ext cx="2514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单体后端 /src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35607" y="3849624"/>
            <a:ext cx="2514600" cy="6766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controller、ai、langgraph4j</a:t>
            </a:r>
          </a:p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core、monitor、ratelimiter</a:t>
            </a:r>
          </a:p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manager 等模块。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60" y="3337560"/>
            <a:ext cx="34747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0" y="3337560"/>
            <a:ext cx="109728" cy="1261872"/>
          </a:xfrm>
          <a:prstGeom prst="rect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681728" y="3538728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364845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0368" y="3502152"/>
            <a:ext cx="2514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前端目录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0368" y="3849624"/>
            <a:ext cx="2514600" cy="6766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yu-ai-code-mother-frontend</a:t>
            </a:r>
          </a:p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页面、组件、请求层</a:t>
            </a:r>
          </a:p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VisualEditor 与登录态。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20" y="3337560"/>
            <a:ext cx="34747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20" y="3337560"/>
            <a:ext cx="109728" cy="1261872"/>
          </a:xfrm>
          <a:prstGeom prst="rect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76488" y="3538728"/>
            <a:ext cx="438912" cy="438912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6488" y="364845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5128" y="3502152"/>
            <a:ext cx="2514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微服务目录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25128" y="3849624"/>
            <a:ext cx="2514600" cy="6766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common / model / client</a:t>
            </a:r>
          </a:p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ai / app / user / screenshot</a:t>
            </a:r>
          </a:p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Dubbo + Nacos 调用链。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4919472"/>
            <a:ext cx="11064240" cy="621792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" y="5138928"/>
            <a:ext cx="10424160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 i="0">
                <a:solidFill>
                  <a:srgbClr val="17324D"/>
                </a:solidFill>
                <a:latin typeface="Calibri"/>
              </a:rPr>
              <a:t>维护关注：代码呈现“单体稳定入口 + 微服务演进入口”的双轨结构，文档需明确推荐启动路径。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核心能力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README 与代码结构共同体现的 4 大产品能力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417320"/>
            <a:ext cx="109728" cy="13716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1618488"/>
            <a:ext cx="438912" cy="438912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172821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1581912"/>
            <a:ext cx="4251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智能代码生成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1929384"/>
            <a:ext cx="4251960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支持 HTML、多文件、Vue 项目。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智能路由选择生成策略。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SSE / Flux 展示执行过程。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109728" cy="1371600"/>
          </a:xfrm>
          <a:prstGeom prst="rect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4807" y="1618488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172821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1581912"/>
            <a:ext cx="4251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可视化编辑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1929384"/>
            <a:ext cx="4251960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在预览页选择元素。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把选中上下文传给 AI。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通过对话迭代修改页面。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089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108960"/>
            <a:ext cx="109728" cy="1371600"/>
          </a:xfrm>
          <a:prstGeom prst="rect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3310128"/>
            <a:ext cx="438912" cy="438912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41985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273552"/>
            <a:ext cx="4251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一键部署分享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3621024"/>
            <a:ext cx="4251960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保存与构建生成应用。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上传并生成访问地址。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截图封面与源码下载。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1089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108960"/>
            <a:ext cx="109728" cy="137160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64807" y="3310128"/>
            <a:ext cx="438912" cy="438912"/>
          </a:xfrm>
          <a:prstGeom prst="ellipse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3419856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ADM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3273552"/>
            <a:ext cx="4251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企业级管理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3448" y="3621024"/>
            <a:ext cx="4251960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用户、应用、对话历史。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精选应用、权限与限流。</a:t>
            </a:r>
          </a:p>
          <a:p>
            <a:pPr algn="l"/>
            <a:r>
              <a:rPr sz="1120" b="0" i="0">
                <a:solidFill>
                  <a:srgbClr val="4B6478"/>
                </a:solidFill>
                <a:latin typeface="Calibri"/>
              </a:rPr>
              <a:t>缓存、监控与后台页面。</a:t>
            </a:r>
          </a:p>
        </p:txBody>
      </p:sp>
      <p:sp>
        <p:nvSpPr>
          <p:cNvPr id="37" name="Oval 36"/>
          <p:cNvSpPr/>
          <p:nvPr/>
        </p:nvSpPr>
        <p:spPr>
          <a:xfrm>
            <a:off x="5468112" y="4892040"/>
            <a:ext cx="822960" cy="822960"/>
          </a:xfrm>
          <a:prstGeom prst="ellipse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8112" y="5157216"/>
            <a:ext cx="822960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21295C"/>
                </a:solidFill>
                <a:latin typeface="Calibri"/>
              </a:rPr>
              <a:t>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53212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  <a:latin typeface="Georgia"/>
              </a:rPr>
              <a:t>需求 → 生成 → 编辑 → 部署 → 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近期进展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最近 7 天无业务提交；最新可见代码进展集中在微服务改造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2834640" cy="4526280"/>
          </a:xfrm>
          <a:prstGeom prst="round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719072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近 7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67712"/>
            <a:ext cx="214884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  <a:latin typeface="Calibri"/>
              </a:rPr>
              <a:t>0 个本地可见</a:t>
            </a:r>
          </a:p>
          <a:p>
            <a:pPr algn="l"/>
            <a:r>
              <a:rPr sz="1800" b="1" i="0">
                <a:solidFill>
                  <a:srgbClr val="02C39A"/>
                </a:solidFill>
                <a:latin typeface="Calibri"/>
              </a:rPr>
              <a:t>业务提交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44368"/>
            <a:ext cx="20574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20" b="0" i="0">
                <a:solidFill>
                  <a:srgbClr val="FFFFFF"/>
                </a:solidFill>
                <a:latin typeface="Calibri"/>
              </a:rPr>
              <a:t>当前分支基于既有代码快照生</a:t>
            </a:r>
          </a:p>
          <a:p>
            <a:pPr algn="l"/>
            <a:r>
              <a:rPr sz="1220" b="0" i="0">
                <a:solidFill>
                  <a:srgbClr val="FFFFFF"/>
                </a:solidFill>
                <a:latin typeface="Calibri"/>
              </a:rPr>
              <a:t>成报告。</a:t>
            </a:r>
          </a:p>
          <a:p>
            <a:pPr algn="l"/>
            <a:r>
              <a:rPr sz="1220" b="0" i="0">
                <a:solidFill>
                  <a:srgbClr val="FFFFFF"/>
                </a:solidFill>
                <a:latin typeface="Calibri"/>
              </a:rPr>
              <a:t>本次变更仅新增/更新 PPT 汇</a:t>
            </a:r>
          </a:p>
          <a:p>
            <a:pPr algn="l"/>
            <a:r>
              <a:rPr sz="1220" b="0" i="0">
                <a:solidFill>
                  <a:srgbClr val="FFFFFF"/>
                </a:solidFill>
                <a:latin typeface="Calibri"/>
              </a:rPr>
              <a:t>报文件。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15968"/>
            <a:ext cx="20574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 i="0">
                <a:solidFill>
                  <a:srgbClr val="D9EEF2"/>
                </a:solidFill>
                <a:latin typeface="Calibri"/>
              </a:rPr>
              <a:t>最新 HEAD：893918c</a:t>
            </a:r>
          </a:p>
          <a:p>
            <a:pPr algn="l"/>
            <a:r>
              <a:rPr sz="1080" b="0" i="0">
                <a:solidFill>
                  <a:srgbClr val="D9EEF2"/>
                </a:solidFill>
                <a:latin typeface="Calibri"/>
              </a:rPr>
              <a:t>日期：2025-08-26</a:t>
            </a:r>
          </a:p>
          <a:p>
            <a:pPr algn="l"/>
            <a:r>
              <a:rPr sz="1080" b="0" i="0">
                <a:solidFill>
                  <a:srgbClr val="D9EEF2"/>
                </a:solidFill>
                <a:latin typeface="Calibri"/>
              </a:rPr>
              <a:t>主题：第 14 期</a:t>
            </a:r>
          </a:p>
          <a:p>
            <a:pPr algn="l"/>
            <a:r>
              <a:rPr sz="1080" b="0" i="0">
                <a:solidFill>
                  <a:srgbClr val="D9EEF2"/>
                </a:solidFill>
                <a:latin typeface="Calibri"/>
              </a:rPr>
              <a:t>微服务改造完成</a:t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1554480"/>
            <a:ext cx="292608" cy="292608"/>
          </a:xfrm>
          <a:prstGeom prst="ellipse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53712" y="1481328"/>
            <a:ext cx="6583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591056"/>
            <a:ext cx="10515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2025-08-26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591056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1" i="0">
                <a:solidFill>
                  <a:srgbClr val="1C7293"/>
                </a:solidFill>
                <a:latin typeface="Calibri"/>
              </a:rPr>
              <a:t>893918c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572768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微服务改造完成</a:t>
            </a:r>
          </a:p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包含完整单体代码</a:t>
            </a:r>
          </a:p>
        </p:txBody>
      </p:sp>
      <p:sp>
        <p:nvSpPr>
          <p:cNvPr id="23" name="Oval 22"/>
          <p:cNvSpPr/>
          <p:nvPr/>
        </p:nvSpPr>
        <p:spPr>
          <a:xfrm>
            <a:off x="4160520" y="2606040"/>
            <a:ext cx="292608" cy="292608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53712" y="2532888"/>
            <a:ext cx="6583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642616"/>
            <a:ext cx="10515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2025-08-26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642616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1" i="0">
                <a:solidFill>
                  <a:srgbClr val="1C7293"/>
                </a:solidFill>
                <a:latin typeface="Calibri"/>
              </a:rPr>
              <a:t>9211e98~966b2e5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624328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common/model/client</a:t>
            </a:r>
          </a:p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user/app/ai/screenshot 拆分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3657600"/>
            <a:ext cx="292608" cy="292608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53712" y="3584448"/>
            <a:ext cx="6583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94176"/>
            <a:ext cx="10515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2025-08-14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0448" y="3694176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1" i="0">
                <a:solidFill>
                  <a:srgbClr val="1C7293"/>
                </a:solidFill>
                <a:latin typeface="Calibri"/>
              </a:rPr>
              <a:t>18c86bc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675887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可观测性能力</a:t>
            </a:r>
          </a:p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Prometheus 配置</a:t>
            </a:r>
          </a:p>
        </p:txBody>
      </p:sp>
      <p:sp>
        <p:nvSpPr>
          <p:cNvPr id="33" name="Oval 32"/>
          <p:cNvSpPr/>
          <p:nvPr/>
        </p:nvSpPr>
        <p:spPr>
          <a:xfrm>
            <a:off x="4160520" y="4709160"/>
            <a:ext cx="292608" cy="292608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53712" y="4636008"/>
            <a:ext cx="65836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745736"/>
            <a:ext cx="10515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2025-08-13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0448" y="4745736"/>
            <a:ext cx="14173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60" b="1" i="0">
                <a:solidFill>
                  <a:srgbClr val="1C7293"/>
                </a:solidFill>
                <a:latin typeface="Calibri"/>
              </a:rPr>
              <a:t>566d530~b99d502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727448"/>
            <a:ext cx="3246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限流、缓存、并发</a:t>
            </a:r>
          </a:p>
          <a:p>
            <a:pPr algn="l"/>
            <a:r>
              <a:rPr sz="1019" b="0" i="0">
                <a:solidFill>
                  <a:srgbClr val="17324D"/>
                </a:solidFill>
                <a:latin typeface="Calibri"/>
              </a:rPr>
              <a:t>稳定性与成本优化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5504688"/>
            <a:ext cx="6949440" cy="475488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07408" y="5669280"/>
            <a:ext cx="6446520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说明：因运行日近 7 天无新提交，本页展示最新可见提交与当前分支状态。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数据 / 指标要点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仓库静态指标与运行监控入口，运行时业务指标需部署后沉淀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581912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065A82"/>
                </a:solidFill>
                <a:latin typeface="Georgia"/>
              </a:rPr>
              <a:t>272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203704"/>
            <a:ext cx="19293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Java 源文件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5" y="2496312"/>
            <a:ext cx="1892807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单体与微服务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后端覆盖较广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581912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1C7293"/>
                </a:solidFill>
                <a:latin typeface="Georgia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203704"/>
            <a:ext cx="19293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后端测试类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015" y="2496312"/>
            <a:ext cx="1892807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代码生成/工作流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工具与截图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581912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00A896"/>
                </a:solidFill>
                <a:latin typeface="Georgia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203704"/>
            <a:ext cx="19293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前端 Vue/TS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7336" y="2496312"/>
            <a:ext cx="1892807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页面、组件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路由与请求层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1417320"/>
            <a:ext cx="2331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581912"/>
            <a:ext cx="19659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21295C"/>
                </a:solidFill>
                <a:latin typeface="Georgia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2203704"/>
            <a:ext cx="192938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Maven POM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7656" y="2496312"/>
            <a:ext cx="1892807" cy="4114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单体 + 微服务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聚合与子模块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419856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Georgia"/>
              </a:rPr>
              <a:t>运行指标状态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84048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1" y="4096512"/>
            <a:ext cx="420624" cy="420624"/>
          </a:xfrm>
          <a:prstGeom prst="ellipse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1" y="4197096"/>
            <a:ext cx="420624" cy="91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 i="0">
                <a:solidFill>
                  <a:srgbClr val="21295C"/>
                </a:solidFill>
                <a:latin typeface="Calibri"/>
              </a:rPr>
              <a:t>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3986784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Calibri"/>
              </a:rPr>
              <a:t>Prometheus 已配置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81912" y="4297680"/>
            <a:ext cx="2148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B6478"/>
                </a:solidFill>
                <a:latin typeface="Calibri"/>
              </a:rPr>
              <a:t>抓取 /api/actuator/prometheus</a:t>
            </a:r>
          </a:p>
          <a:p>
            <a:pPr algn="l"/>
            <a:r>
              <a:rPr sz="1000" b="0" i="0">
                <a:solidFill>
                  <a:srgbClr val="4B6478"/>
                </a:solidFill>
                <a:latin typeface="Calibri"/>
              </a:rPr>
              <a:t>目标 localhost:8123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84048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9432" y="4096512"/>
            <a:ext cx="420624" cy="420624"/>
          </a:xfrm>
          <a:prstGeom prst="ellipse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4197096"/>
            <a:ext cx="420624" cy="91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3986784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Calibri"/>
              </a:rPr>
              <a:t>暂无运行时样本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8072" y="4297680"/>
            <a:ext cx="2148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B6478"/>
                </a:solidFill>
                <a:latin typeface="Calibri"/>
              </a:rPr>
              <a:t>调用量、成功率、成本、延迟</a:t>
            </a:r>
          </a:p>
          <a:p>
            <a:pPr algn="l"/>
            <a:r>
              <a:rPr sz="1000" b="0" i="0">
                <a:solidFill>
                  <a:srgbClr val="4B6478"/>
                </a:solidFill>
                <a:latin typeface="Calibri"/>
              </a:rPr>
              <a:t>需服务接入后采集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3840480"/>
            <a:ext cx="3246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165592" y="4096512"/>
            <a:ext cx="420624" cy="420624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5592" y="4197096"/>
            <a:ext cx="420624" cy="91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3986784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Calibri"/>
              </a:rPr>
              <a:t>AI 质量指标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4232" y="4297680"/>
            <a:ext cx="21488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B6478"/>
                </a:solidFill>
                <a:latin typeface="Calibri"/>
              </a:rPr>
              <a:t>建议跟踪 token、模型错误</a:t>
            </a:r>
          </a:p>
          <a:p>
            <a:pPr algn="l"/>
            <a:r>
              <a:rPr sz="1000" b="0" i="0">
                <a:solidFill>
                  <a:srgbClr val="4B6478"/>
                </a:solidFill>
                <a:latin typeface="Calibri"/>
              </a:rPr>
              <a:t>工具调用失败率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285232"/>
            <a:ext cx="10378440" cy="457200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458968"/>
            <a:ext cx="9875520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 i="0">
                <a:solidFill>
                  <a:srgbClr val="17324D"/>
                </a:solidFill>
                <a:latin typeface="Calibri"/>
              </a:rPr>
              <a:t>建议：日报先呈现代码/配置快照，后续接入真实服务数据形成趋势。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测试与 CI 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仓库内未发现自动化 CI；已有本地构建、测试与监控配置基础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417320"/>
            <a:ext cx="3017520" cy="4389120"/>
          </a:xfrm>
          <a:prstGeom prst="round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719072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CI 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67712"/>
            <a:ext cx="2331720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未发现：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.github/workflows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Jenkinsfile</a:t>
            </a:r>
          </a:p>
          <a:p>
            <a:pPr algn="l"/>
            <a:r>
              <a:rPr sz="1320" b="0" i="0">
                <a:solidFill>
                  <a:srgbClr val="FFFFFF"/>
                </a:solidFill>
                <a:latin typeface="Calibri"/>
              </a:rPr>
              <a:t>GitLab CI 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401568"/>
            <a:ext cx="1325880" cy="329184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483864"/>
            <a:ext cx="125272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需补齐流水线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96512"/>
            <a:ext cx="2331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 i="0">
                <a:solidFill>
                  <a:srgbClr val="D9EEF2"/>
                </a:solidFill>
                <a:latin typeface="Calibri"/>
              </a:rPr>
              <a:t>风险：PR 质量依赖人工执行命</a:t>
            </a:r>
          </a:p>
          <a:p>
            <a:pPr algn="l"/>
            <a:r>
              <a:rPr sz="1150" b="0" i="0">
                <a:solidFill>
                  <a:srgbClr val="D9EEF2"/>
                </a:solidFill>
                <a:latin typeface="Calibri"/>
              </a:rPr>
              <a:t>令；外部服务会影响测试稳定性</a:t>
            </a:r>
          </a:p>
          <a:p>
            <a:pPr algn="l"/>
            <a:r>
              <a:rPr sz="1150" b="0" i="0">
                <a:solidFill>
                  <a:srgbClr val="D9EEF2"/>
                </a:solidFill>
                <a:latin typeface="Calibri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1481328"/>
            <a:ext cx="6903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481328"/>
            <a:ext cx="109728" cy="1078992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61688" y="1682496"/>
            <a:ext cx="438912" cy="438912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792224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1645920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后端单体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1993392"/>
            <a:ext cx="5943600" cy="493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./mvnw test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JUnit 5 / Spring Boot Test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部分测试依赖 API Key、DB、Redis、浏览器。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898648"/>
            <a:ext cx="6903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0520" y="2898648"/>
            <a:ext cx="109728" cy="1078992"/>
          </a:xfrm>
          <a:prstGeom prst="rect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61688" y="309981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209544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063240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前端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410712"/>
            <a:ext cx="5943600" cy="493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npm run build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npm run lint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Vue TS 类型检查、Vite 构建、ESLint。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4315968"/>
            <a:ext cx="69037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4315968"/>
            <a:ext cx="109728" cy="1078992"/>
          </a:xfrm>
          <a:prstGeom prst="rect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61688" y="4517136"/>
            <a:ext cx="438912" cy="438912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626864"/>
            <a:ext cx="438912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0328" y="4480560"/>
            <a:ext cx="5943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监控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0328" y="4828032"/>
            <a:ext cx="5943600" cy="493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prometheus.yml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抓取 /api/actuator/prometheus</a:t>
            </a:r>
          </a:p>
          <a:p>
            <a:pPr algn="l"/>
            <a:r>
              <a:rPr sz="1060" b="0" i="0">
                <a:solidFill>
                  <a:srgbClr val="4B6478"/>
                </a:solidFill>
                <a:latin typeface="Calibri"/>
              </a:rPr>
              <a:t>可扩展 AI 与业务指标面板。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5742432"/>
            <a:ext cx="6903720" cy="384048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5879592"/>
            <a:ext cx="64465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19" b="0" i="0">
                <a:solidFill>
                  <a:srgbClr val="4B6478"/>
                </a:solidFill>
                <a:latin typeface="Calibri"/>
              </a:rPr>
              <a:t>本次仅生成文档报告，未运行全量业务测试；外部凭证未配置。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风险与阻塞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影响可运行性、质量保障和团队协作的主要问题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417320"/>
            <a:ext cx="51663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417320"/>
            <a:ext cx="502920" cy="1115568"/>
          </a:xfrm>
          <a:prstGeom prst="rect">
            <a:avLst/>
          </a:prstGeom>
          <a:solidFill>
            <a:srgbClr val="D645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1874519"/>
            <a:ext cx="36576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1563624"/>
            <a:ext cx="4114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Calibri"/>
              </a:rPr>
              <a:t>配置占位项较多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1874519"/>
            <a:ext cx="4069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AI、图片、COS 等密钥仍为示例值。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不配置无法完整跑通生成、图片与部署。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1417320"/>
            <a:ext cx="51663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417320"/>
            <a:ext cx="502920" cy="1115568"/>
          </a:xfrm>
          <a:prstGeom prst="rect">
            <a:avLst/>
          </a:prstGeom>
          <a:solidFill>
            <a:srgbClr val="D645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874519"/>
            <a:ext cx="36576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1563624"/>
            <a:ext cx="4114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Calibri"/>
              </a:rPr>
              <a:t>缺少 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1874519"/>
            <a:ext cx="4069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无自动化流水线。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编译、测试、构建状态无法在 PR 层反馈。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834640"/>
            <a:ext cx="51663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834640"/>
            <a:ext cx="502920" cy="1115568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291840"/>
            <a:ext cx="36576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2980944"/>
            <a:ext cx="4114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Calibri"/>
              </a:rPr>
              <a:t>环境依赖复杂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3291840"/>
            <a:ext cx="4069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单体需 MySQL + Redis。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截图依赖 Selenium/Chrome；微服务需 Nacos。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79" y="2834640"/>
            <a:ext cx="51663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79" y="2834640"/>
            <a:ext cx="502920" cy="1115568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291840"/>
            <a:ext cx="36576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2980944"/>
            <a:ext cx="4114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Calibri"/>
              </a:rPr>
              <a:t>微服务测试不足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3291840"/>
            <a:ext cx="4069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微服务目录未见测试结构。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跨服务契约和联调风险较高。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251960"/>
            <a:ext cx="51663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251960"/>
            <a:ext cx="502920" cy="1115568"/>
          </a:xfrm>
          <a:prstGeom prst="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4709160"/>
            <a:ext cx="36576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0472" y="4398264"/>
            <a:ext cx="4114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20" b="1" i="0">
                <a:solidFill>
                  <a:srgbClr val="17324D"/>
                </a:solidFill>
                <a:latin typeface="Calibri"/>
              </a:rPr>
              <a:t>定制 SDK 代码风险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0472" y="4709160"/>
            <a:ext cx="4069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dev/langchain4j 中存在 TODO / Not implemented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。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需确认教学保留还是生产风险。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251960"/>
            <a:ext cx="5166360" cy="1115568"/>
          </a:xfrm>
          <a:prstGeom prst="roundRect">
            <a:avLst/>
          </a:prstGeom>
          <a:solidFill>
            <a:srgbClr val="E8F7F8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443984"/>
            <a:ext cx="1371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065A82"/>
                </a:solidFill>
                <a:latin typeface="Georgia"/>
              </a:rPr>
              <a:t>阻塞判断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425696"/>
            <a:ext cx="3154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60" b="0" i="0">
                <a:solidFill>
                  <a:srgbClr val="17324D"/>
                </a:solidFill>
                <a:latin typeface="Calibri"/>
              </a:rPr>
              <a:t>无新增代码阻塞。</a:t>
            </a:r>
          </a:p>
          <a:p>
            <a:pPr algn="l"/>
            <a:r>
              <a:rPr sz="1060" b="0" i="0">
                <a:solidFill>
                  <a:srgbClr val="17324D"/>
                </a:solidFill>
                <a:latin typeface="Calibri"/>
              </a:rPr>
              <a:t>真实运行验证受凭证与中间件环境限制。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87000" y="-960120"/>
            <a:ext cx="2468880" cy="246888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5303520"/>
            <a:ext cx="1051560" cy="1051560"/>
          </a:xfrm>
          <a:prstGeom prst="ellipse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199632"/>
            <a:ext cx="11155680" cy="45720"/>
          </a:xfrm>
          <a:prstGeom prst="rect">
            <a:avLst/>
          </a:prstGeom>
          <a:solidFill>
            <a:srgbClr val="D9EE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747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  <a:latin typeface="Georgia"/>
              </a:rPr>
              <a:t>建议下一步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905256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B6478"/>
                </a:solidFill>
                <a:latin typeface="Calibri"/>
              </a:rPr>
              <a:t>优先补工程闭环，再推进微服务与指标治理</a:t>
            </a:r>
          </a:p>
        </p:txBody>
      </p:sp>
      <p:sp>
        <p:nvSpPr>
          <p:cNvPr id="9" name="Oval 8"/>
          <p:cNvSpPr/>
          <p:nvPr/>
        </p:nvSpPr>
        <p:spPr>
          <a:xfrm>
            <a:off x="10716768" y="402336"/>
            <a:ext cx="438912" cy="438912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16768" y="475488"/>
            <a:ext cx="43891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1417320"/>
            <a:ext cx="32461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1645920"/>
            <a:ext cx="502920" cy="502920"/>
          </a:xfrm>
          <a:prstGeom prst="ellipse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1773936"/>
            <a:ext cx="5029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160020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补齐 CI 基线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1947672"/>
            <a:ext cx="208483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Maven 编译/测试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前端 build/lint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外部依赖测试加标签隔离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1417320"/>
            <a:ext cx="32461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27448" y="1645920"/>
            <a:ext cx="502920" cy="502920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1773936"/>
            <a:ext cx="5029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60020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配置模板化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1947672"/>
            <a:ext cx="208483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提供 application-local 示例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集中说明 API Key、COS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以及本地中间件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417320"/>
            <a:ext cx="32461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1645920"/>
            <a:ext cx="502920" cy="502920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773936"/>
            <a:ext cx="5029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60020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明确启动路径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47672"/>
            <a:ext cx="208483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区分单体与微服务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列出端口、依赖、启动顺序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以及健康检查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83280"/>
            <a:ext cx="32461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3611880"/>
            <a:ext cx="502920" cy="502920"/>
          </a:xfrm>
          <a:prstGeom prst="ellipse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3739896"/>
            <a:ext cx="5029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56616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微服务联调测试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3913632"/>
            <a:ext cx="208483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覆盖 user/app/ai/screenshot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补契约与关键集成测试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3383280"/>
            <a:ext cx="324612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27448" y="3611880"/>
            <a:ext cx="502920" cy="502920"/>
          </a:xfrm>
          <a:prstGeom prst="ellipse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27448" y="3739896"/>
            <a:ext cx="5029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566160"/>
            <a:ext cx="21031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Calibri"/>
              </a:rPr>
              <a:t>监控指标落地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913632"/>
            <a:ext cx="2084831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加入 AI 调用量、成功率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延迟、token 成本</a:t>
            </a:r>
          </a:p>
          <a:p>
            <a:pPr algn="l"/>
            <a:r>
              <a:rPr sz="1040" b="0" i="0">
                <a:solidFill>
                  <a:srgbClr val="4B6478"/>
                </a:solidFill>
                <a:latin typeface="Calibri"/>
              </a:rPr>
              <a:t>以及部署失败率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047488"/>
            <a:ext cx="3749039" cy="777240"/>
          </a:xfrm>
          <a:prstGeom prst="round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5248656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20" b="1" i="0">
                <a:solidFill>
                  <a:srgbClr val="FFFFFF"/>
                </a:solidFill>
                <a:latin typeface="Calibri"/>
              </a:rPr>
              <a:t>优先级建议：CI + 配置模板</a:t>
            </a:r>
          </a:p>
          <a:p>
            <a:pPr algn="ctr"/>
            <a:r>
              <a:rPr sz="1220" b="1" i="0">
                <a:solidFill>
                  <a:srgbClr val="FFFFFF"/>
                </a:solidFill>
                <a:latin typeface="Calibri"/>
              </a:rPr>
              <a:t>是近期最高杠杆项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5A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1645920"/>
            <a:ext cx="4846320" cy="4846320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3657600"/>
            <a:ext cx="2651760" cy="2651760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02920"/>
            <a:ext cx="137160" cy="5669280"/>
          </a:xfrm>
          <a:prstGeom prst="rect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41248"/>
            <a:ext cx="2743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61722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50" b="0" i="0">
                <a:solidFill>
                  <a:srgbClr val="D9EEF2"/>
                </a:solidFill>
                <a:latin typeface="Calibri"/>
              </a:rPr>
              <a:t>项目已具备 AI 代码生成平台的核心产品闭环。</a:t>
            </a:r>
          </a:p>
          <a:p>
            <a:pPr algn="l"/>
            <a:r>
              <a:rPr sz="1650" b="0" i="0">
                <a:solidFill>
                  <a:srgbClr val="D9EEF2"/>
                </a:solidFill>
                <a:latin typeface="Calibri"/>
              </a:rPr>
              <a:t>维护重点应转向可运行性、自动化质量门禁与配置治理。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6400800" cy="676656"/>
          </a:xfrm>
          <a:prstGeom prst="roundRect">
            <a:avLst/>
          </a:prstGeom>
          <a:solidFill>
            <a:srgbClr val="F4FBFC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2898648"/>
            <a:ext cx="365760" cy="365760"/>
          </a:xfrm>
          <a:prstGeom prst="ellipse">
            <a:avLst/>
          </a:prstGeom>
          <a:solidFill>
            <a:srgbClr val="02C39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99232"/>
            <a:ext cx="365760" cy="91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 i="0">
                <a:solidFill>
                  <a:srgbClr val="21295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880360"/>
            <a:ext cx="1005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065A82"/>
                </a:solidFill>
                <a:latin typeface="Calibri"/>
              </a:rPr>
              <a:t>能力面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5292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 i="0">
                <a:solidFill>
                  <a:srgbClr val="17324D"/>
                </a:solidFill>
                <a:latin typeface="Calibri"/>
              </a:rPr>
              <a:t>生成、编辑、部署、管理四类能力完整。</a:t>
            </a:r>
          </a:p>
          <a:p>
            <a:pPr algn="l"/>
            <a:r>
              <a:rPr sz="1080" b="0" i="0">
                <a:solidFill>
                  <a:srgbClr val="17324D"/>
                </a:solidFill>
                <a:latin typeface="Calibri"/>
              </a:rPr>
              <a:t>单体主线可作为主要体验路径。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6400800" cy="676656"/>
          </a:xfrm>
          <a:prstGeom prst="roundRect">
            <a:avLst/>
          </a:prstGeom>
          <a:solidFill>
            <a:srgbClr val="F4FBFC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000" y="3813048"/>
            <a:ext cx="365760" cy="365760"/>
          </a:xfrm>
          <a:prstGeom prst="ellipse">
            <a:avLst/>
          </a:prstGeom>
          <a:solidFill>
            <a:srgbClr val="1C729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13632"/>
            <a:ext cx="365760" cy="91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794760"/>
            <a:ext cx="1005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065A82"/>
                </a:solidFill>
                <a:latin typeface="Calibri"/>
              </a:rPr>
              <a:t>变化面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76732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 i="0">
                <a:solidFill>
                  <a:srgbClr val="17324D"/>
                </a:solidFill>
                <a:latin typeface="Calibri"/>
              </a:rPr>
              <a:t>最近 7 天无本地可见业务提交。</a:t>
            </a:r>
          </a:p>
          <a:p>
            <a:pPr algn="l"/>
            <a:r>
              <a:rPr sz="1080" b="0" i="0">
                <a:solidFill>
                  <a:srgbClr val="17324D"/>
                </a:solidFill>
                <a:latin typeface="Calibri"/>
              </a:rPr>
              <a:t>最新代码进展为微服务改造完成。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6400800" cy="676656"/>
          </a:xfrm>
          <a:prstGeom prst="roundRect">
            <a:avLst/>
          </a:prstGeom>
          <a:solidFill>
            <a:srgbClr val="F4FBFC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727448"/>
            <a:ext cx="365760" cy="365760"/>
          </a:xfrm>
          <a:prstGeom prst="ellipse">
            <a:avLst/>
          </a:prstGeom>
          <a:solidFill>
            <a:srgbClr val="00A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828032"/>
            <a:ext cx="365760" cy="91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709160"/>
            <a:ext cx="1005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80" b="1" i="0">
                <a:solidFill>
                  <a:srgbClr val="065A82"/>
                </a:solidFill>
                <a:latin typeface="Calibri"/>
              </a:rPr>
              <a:t>行动面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681728"/>
            <a:ext cx="4343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80" b="0" i="0">
                <a:solidFill>
                  <a:srgbClr val="17324D"/>
                </a:solidFill>
                <a:latin typeface="Calibri"/>
              </a:rPr>
              <a:t>先补 CI 与配置模板。</a:t>
            </a:r>
          </a:p>
          <a:p>
            <a:pPr algn="l"/>
            <a:r>
              <a:rPr sz="1080" b="0" i="0">
                <a:solidFill>
                  <a:srgbClr val="17324D"/>
                </a:solidFill>
                <a:latin typeface="Calibri"/>
              </a:rPr>
              <a:t>再推进联调、测试覆盖和监控指标。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234440"/>
            <a:ext cx="2834640" cy="4251960"/>
          </a:xfrm>
          <a:prstGeom prst="roundRect">
            <a:avLst/>
          </a:prstGeom>
          <a:solidFill>
            <a:srgbClr val="F4FBFC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554480"/>
            <a:ext cx="2148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Georgia"/>
              </a:rPr>
              <a:t>本次交付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2103120"/>
            <a:ext cx="2057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2267712"/>
            <a:ext cx="16916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 i="0">
                <a:solidFill>
                  <a:srgbClr val="1C7293"/>
                </a:solidFill>
                <a:latin typeface="Georgia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2889503"/>
            <a:ext cx="165506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50" b="1" i="0">
                <a:solidFill>
                  <a:srgbClr val="17324D"/>
                </a:solidFill>
                <a:latin typeface="Calibri"/>
              </a:rPr>
              <a:t>页状态汇报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3182111"/>
            <a:ext cx="1618488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概览 / 能力</a:t>
            </a:r>
          </a:p>
          <a:p>
            <a:pPr algn="ctr"/>
            <a:r>
              <a:rPr sz="960" b="0" i="0">
                <a:solidFill>
                  <a:srgbClr val="4B6478"/>
                </a:solidFill>
                <a:latin typeface="Calibri"/>
              </a:rPr>
              <a:t>进展 / 风险 / 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703320"/>
            <a:ext cx="21488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20" b="1" i="0">
                <a:solidFill>
                  <a:srgbClr val="17324D"/>
                </a:solidFill>
                <a:latin typeface="Calibri"/>
              </a:rPr>
              <a:t>文件路径</a:t>
            </a:r>
          </a:p>
          <a:p>
            <a:pPr algn="ctr"/>
            <a:r>
              <a:rPr sz="1120" b="1" i="0">
                <a:solidFill>
                  <a:srgbClr val="17324D"/>
                </a:solidFill>
                <a:latin typeface="Calibri"/>
              </a:rPr>
              <a:t>docs/reports/</a:t>
            </a:r>
          </a:p>
          <a:p>
            <a:pPr algn="ctr"/>
            <a:r>
              <a:rPr sz="1120" b="1" i="0">
                <a:solidFill>
                  <a:srgbClr val="17324D"/>
                </a:solidFill>
                <a:latin typeface="Calibri"/>
              </a:rPr>
              <a:t>project-status-2026-06-16.pptx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681728"/>
            <a:ext cx="21488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80" b="0" i="0">
                <a:solidFill>
                  <a:srgbClr val="4B6478"/>
                </a:solidFill>
                <a:latin typeface="Calibri"/>
              </a:rPr>
              <a:t>仅更新报告文件；</a:t>
            </a:r>
          </a:p>
          <a:p>
            <a:pPr algn="ctr"/>
            <a:r>
              <a:rPr sz="1080" b="0" i="0">
                <a:solidFill>
                  <a:srgbClr val="4B6478"/>
                </a:solidFill>
                <a:latin typeface="Calibri"/>
              </a:rPr>
              <a:t>未触碰业务代码。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72784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4B6478"/>
                </a:solidFill>
                <a:latin typeface="Calibri"/>
              </a:rPr>
              <a:t>yu-ai-code-mother · 每日项目状态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254496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i="0">
                <a:solidFill>
                  <a:srgbClr val="4B64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- yu-ai-code-mother</dc:title>
  <dc:subject>AI 零代码应用生成平台每日项目状态</dc:subject>
  <dc:creator>Cursor Automation</dc:creator>
  <cp:keywords/>
  <dc:description>Generated report for 2026-06-16 Beijing time.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