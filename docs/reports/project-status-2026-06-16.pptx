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065A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03920" y="-1645920"/>
            <a:ext cx="4754880" cy="4754880"/>
          </a:xfrm>
          <a:prstGeom prst="ellipse">
            <a:avLst/>
          </a:prstGeom>
          <a:solidFill>
            <a:srgbClr val="1C729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784080" y="3566160"/>
            <a:ext cx="2743200" cy="2743200"/>
          </a:xfrm>
          <a:prstGeom prst="ellipse">
            <a:avLst/>
          </a:prstGeom>
          <a:solidFill>
            <a:srgbClr val="00A89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457200"/>
            <a:ext cx="146304" cy="5897880"/>
          </a:xfrm>
          <a:prstGeom prst="rect">
            <a:avLst/>
          </a:prstGeom>
          <a:solidFill>
            <a:srgbClr val="02C39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051560"/>
            <a:ext cx="6766560" cy="65836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Georgia"/>
              </a:rPr>
              <a:t>每日项目状态汇报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1737360"/>
            <a:ext cx="6766560" cy="36576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800" b="0" i="0">
                <a:solidFill>
                  <a:srgbClr val="D9EEF2"/>
                </a:solidFill>
                <a:latin typeface="Calibri"/>
              </a:rPr>
              <a:t>AI 零代码应用生成平台（yu-ai-code-mother）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" y="2331720"/>
            <a:ext cx="4480560" cy="64008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运行日：2026-06-16（北京时间）</a:t>
            </a:r>
          </a:p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受众：项目维护者 / 团队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" y="3246120"/>
            <a:ext cx="1417320" cy="329184"/>
          </a:xfrm>
          <a:prstGeom prst="roundRect">
            <a:avLst/>
          </a:prstGeom>
          <a:solidFill>
            <a:srgbClr val="02C39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3328415"/>
            <a:ext cx="1325880" cy="10972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950" b="1" i="0">
                <a:solidFill>
                  <a:srgbClr val="21295C"/>
                </a:solidFill>
                <a:latin typeface="Calibri"/>
              </a:rPr>
              <a:t>Ocean Gradient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68880" y="3246120"/>
            <a:ext cx="1417320" cy="329184"/>
          </a:xfrm>
          <a:prstGeom prst="roundRect">
            <a:avLst/>
          </a:prstGeom>
          <a:solidFill>
            <a:srgbClr val="1C729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14600" y="3328415"/>
            <a:ext cx="1325880" cy="10972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日报自动生成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041648" y="3246120"/>
            <a:ext cx="1600200" cy="329184"/>
          </a:xfrm>
          <a:prstGeom prst="roundRect">
            <a:avLst/>
          </a:prstGeom>
          <a:solidFill>
            <a:srgbClr val="065A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87368" y="3328415"/>
            <a:ext cx="1508760" cy="10972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只更新报告文件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960120"/>
            <a:ext cx="3474720" cy="4434840"/>
          </a:xfrm>
          <a:prstGeom prst="roundRect">
            <a:avLst/>
          </a:prstGeom>
          <a:solidFill>
            <a:srgbClr val="F4FBFC"/>
          </a:solidFill>
          <a:ln w="12700"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35240" y="1261872"/>
            <a:ext cx="2560320" cy="32004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2000" b="1" i="0">
                <a:solidFill>
                  <a:srgbClr val="065A82"/>
                </a:solidFill>
                <a:latin typeface="Georgia"/>
              </a:rPr>
              <a:t>今日快照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35240" y="1783080"/>
            <a:ext cx="132588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18119" y="1984248"/>
            <a:ext cx="960119" cy="65836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3400" b="1" i="0">
                <a:solidFill>
                  <a:srgbClr val="02C39A"/>
                </a:solidFill>
                <a:latin typeface="Georgia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0" y="2679191"/>
            <a:ext cx="868680" cy="29260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300" b="1" i="0">
                <a:solidFill>
                  <a:srgbClr val="17324D"/>
                </a:solidFill>
                <a:latin typeface="Calibri"/>
              </a:rPr>
              <a:t>核心能力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9560" y="3026664"/>
            <a:ext cx="777240" cy="-182879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050" b="0" i="0">
                <a:solidFill>
                  <a:srgbClr val="5F7285"/>
                </a:solidFill>
                <a:latin typeface="Calibri"/>
              </a:rPr>
              <a:t>生成 / 编辑 / 部署 / 管理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89720" y="1783080"/>
            <a:ext cx="132588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72600" y="1984248"/>
            <a:ext cx="960119" cy="65836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3400" b="1" i="0">
                <a:solidFill>
                  <a:srgbClr val="1C7293"/>
                </a:solidFill>
                <a:latin typeface="Georgia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18320" y="2679191"/>
            <a:ext cx="868680" cy="29260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300" b="1" i="0">
                <a:solidFill>
                  <a:srgbClr val="17324D"/>
                </a:solidFill>
                <a:latin typeface="Calibri"/>
              </a:rPr>
              <a:t>近 7 天提交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64040" y="3026664"/>
            <a:ext cx="777240" cy="-182879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050" b="0" i="0">
                <a:solidFill>
                  <a:srgbClr val="5F7285"/>
                </a:solidFill>
                <a:latin typeface="Calibri"/>
              </a:rPr>
              <a:t>本地分支无新增业务提交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35240" y="3154680"/>
            <a:ext cx="132588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18119" y="3355848"/>
            <a:ext cx="960119" cy="65836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3400" b="1" i="0">
                <a:solidFill>
                  <a:srgbClr val="065A82"/>
                </a:solidFill>
                <a:latin typeface="Georgia"/>
              </a:rPr>
              <a:t>15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4050791"/>
            <a:ext cx="868680" cy="29260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300" b="1" i="0">
                <a:solidFill>
                  <a:srgbClr val="17324D"/>
                </a:solidFill>
                <a:latin typeface="Calibri"/>
              </a:rPr>
              <a:t>测试类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09560" y="4398264"/>
            <a:ext cx="777240" cy="-182879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050" b="0" i="0">
                <a:solidFill>
                  <a:srgbClr val="5F7285"/>
                </a:solidFill>
                <a:latin typeface="Calibri"/>
              </a:rPr>
              <a:t>单体后端 JUnit 测试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89720" y="3154680"/>
            <a:ext cx="132588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72600" y="3355848"/>
            <a:ext cx="960119" cy="65836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3400" b="1" i="0">
                <a:solidFill>
                  <a:srgbClr val="21295C"/>
                </a:solidFill>
                <a:latin typeface="Georgia"/>
              </a:rPr>
              <a:t>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20" y="4050791"/>
            <a:ext cx="868680" cy="29260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300" b="1" i="0">
                <a:solidFill>
                  <a:srgbClr val="17324D"/>
                </a:solidFill>
                <a:latin typeface="Calibri"/>
              </a:rPr>
              <a:t>Maven POM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64040" y="4398264"/>
            <a:ext cx="777240" cy="-182879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050" b="0" i="0">
                <a:solidFill>
                  <a:srgbClr val="5F7285"/>
                </a:solidFill>
                <a:latin typeface="Calibri"/>
              </a:rPr>
              <a:t>单体 + 微服务模块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35240" y="4709160"/>
            <a:ext cx="2743200" cy="329184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150" b="1" i="0">
                <a:solidFill>
                  <a:srgbClr val="17324D"/>
                </a:solidFill>
                <a:latin typeface="Calibri"/>
              </a:rPr>
              <a:t>状态判断：能力面完整，工程化与配置治理仍是下一阶段重点。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94360" y="6446520"/>
            <a:ext cx="5029200" cy="22860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00" b="0" i="0">
                <a:solidFill>
                  <a:srgbClr val="5F7285"/>
                </a:solidFill>
                <a:latin typeface="Calibri"/>
              </a:rPr>
              <a:t>yu-ai-code-mother · 每日项目状态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09960" y="6419088"/>
            <a:ext cx="502920" cy="237744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r"/>
            <a:r>
              <a:rPr sz="1000" b="1" i="0">
                <a:solidFill>
                  <a:srgbClr val="5F7285"/>
                </a:solidFill>
                <a:latin typeface="Calibri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F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F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065A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287000" y="-960120"/>
            <a:ext cx="2468880" cy="2468880"/>
          </a:xfrm>
          <a:prstGeom prst="ellipse">
            <a:avLst/>
          </a:prstGeom>
          <a:solidFill>
            <a:srgbClr val="D9EE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155680" y="5257800"/>
            <a:ext cx="1097280" cy="1097280"/>
          </a:xfrm>
          <a:prstGeom prst="ellipse">
            <a:avLst/>
          </a:prstGeom>
          <a:solidFill>
            <a:srgbClr val="D9EE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355080"/>
            <a:ext cx="11155680" cy="45720"/>
          </a:xfrm>
          <a:prstGeom prst="rect">
            <a:avLst/>
          </a:prstGeom>
          <a:solidFill>
            <a:srgbClr val="D9EE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384048"/>
            <a:ext cx="8138160" cy="50292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3600" b="1" i="0">
                <a:solidFill>
                  <a:srgbClr val="065A82"/>
                </a:solidFill>
                <a:latin typeface="Georgia"/>
              </a:rPr>
              <a:t>项目概览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941832"/>
            <a:ext cx="6949440" cy="29260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200" b="0" i="0">
                <a:solidFill>
                  <a:srgbClr val="5F7285"/>
                </a:solidFill>
                <a:latin typeface="Calibri"/>
              </a:rPr>
              <a:t>面向“自然语言 → 可访问应用”的端到端生成平台</a:t>
            </a:r>
          </a:p>
        </p:txBody>
      </p:sp>
      <p:sp>
        <p:nvSpPr>
          <p:cNvPr id="10" name="Oval 9"/>
          <p:cNvSpPr/>
          <p:nvPr/>
        </p:nvSpPr>
        <p:spPr>
          <a:xfrm>
            <a:off x="10716768" y="402336"/>
            <a:ext cx="438912" cy="438912"/>
          </a:xfrm>
          <a:prstGeom prst="ellipse">
            <a:avLst/>
          </a:prstGeom>
          <a:solidFill>
            <a:srgbClr val="1C729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16768" y="470916"/>
            <a:ext cx="438912" cy="201168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46520"/>
            <a:ext cx="5029200" cy="22860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00" b="0" i="0">
                <a:solidFill>
                  <a:srgbClr val="5F7285"/>
                </a:solidFill>
                <a:latin typeface="Calibri"/>
              </a:rPr>
              <a:t>yu-ai-code-mother · 每日项目状态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9960" y="6419088"/>
            <a:ext cx="502920" cy="237744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r"/>
            <a:r>
              <a:rPr sz="1000" b="1" i="0">
                <a:solidFill>
                  <a:srgbClr val="5F7285"/>
                </a:solidFill>
                <a:latin typeface="Calibri"/>
              </a:rPr>
              <a:t>02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1417320"/>
            <a:ext cx="3657600" cy="4480560"/>
          </a:xfrm>
          <a:prstGeom prst="roundRect">
            <a:avLst/>
          </a:prstGeom>
          <a:solidFill>
            <a:srgbClr val="065A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1737360"/>
            <a:ext cx="2926080" cy="34747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Georgia"/>
              </a:rPr>
              <a:t>产品定位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2331720"/>
            <a:ext cx="2971800" cy="123444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用户输入需求描述，AI 自动选择生成策略，产出 HTML、多文件或 Vue 工程，并支持实时预览、对话编辑、部署分享与源码下载。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120" y="3977639"/>
            <a:ext cx="2834640" cy="1005840"/>
          </a:xfrm>
          <a:prstGeom prst="roundRect">
            <a:avLst/>
          </a:prstGeom>
          <a:solidFill>
            <a:srgbClr val="1C729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187952"/>
            <a:ext cx="2468880" cy="43891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当前形态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626864"/>
            <a:ext cx="2468880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100" b="0" i="0">
                <a:solidFill>
                  <a:srgbClr val="D9EEF2"/>
                </a:solidFill>
                <a:latin typeface="Calibri"/>
              </a:rPr>
              <a:t>单体主线 + 微服务演进版并存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09160" y="1417320"/>
            <a:ext cx="30632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09160" y="1417320"/>
            <a:ext cx="109728" cy="1325880"/>
          </a:xfrm>
          <a:prstGeom prst="rect">
            <a:avLst/>
          </a:prstGeom>
          <a:solidFill>
            <a:srgbClr val="065A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937760" y="1645920"/>
            <a:ext cx="475488" cy="475488"/>
          </a:xfrm>
          <a:prstGeom prst="ellipse">
            <a:avLst/>
          </a:prstGeom>
          <a:solidFill>
            <a:srgbClr val="065A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37760" y="1773936"/>
            <a:ext cx="475488" cy="164592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BE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50408" y="1618488"/>
            <a:ext cx="2057400" cy="31089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500" b="1" i="0">
                <a:solidFill>
                  <a:srgbClr val="17324D"/>
                </a:solidFill>
                <a:latin typeface="Calibri"/>
              </a:rPr>
              <a:t>后端核心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0408" y="2029968"/>
            <a:ext cx="2011680" cy="57607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350" b="0" i="0">
                <a:solidFill>
                  <a:srgbClr val="5F7285"/>
                </a:solidFill>
                <a:latin typeface="Calibri"/>
              </a:rPr>
              <a:t>Spring Boot 3.5.4 / Java 21，REST + SSE，AI 编排、应用管理与部署能力集中在单体后端。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092440" y="1417320"/>
            <a:ext cx="30632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92440" y="1417320"/>
            <a:ext cx="109728" cy="1325880"/>
          </a:xfrm>
          <a:prstGeom prst="rect">
            <a:avLst/>
          </a:prstGeom>
          <a:solidFill>
            <a:srgbClr val="1C729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321040" y="1645920"/>
            <a:ext cx="475488" cy="475488"/>
          </a:xfrm>
          <a:prstGeom prst="ellipse">
            <a:avLst/>
          </a:prstGeom>
          <a:solidFill>
            <a:srgbClr val="1C729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1773936"/>
            <a:ext cx="475488" cy="164592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FE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33688" y="1618488"/>
            <a:ext cx="2057400" cy="31089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500" b="1" i="0">
                <a:solidFill>
                  <a:srgbClr val="17324D"/>
                </a:solidFill>
                <a:latin typeface="Calibri"/>
              </a:rPr>
              <a:t>前端体验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33688" y="2029968"/>
            <a:ext cx="2011680" cy="57607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350" b="0" i="0">
                <a:solidFill>
                  <a:srgbClr val="5F7285"/>
                </a:solidFill>
                <a:latin typeface="Calibri"/>
              </a:rPr>
              <a:t>Vue 3 + TypeScript + Ant Design Vue，包含应用对话页、管理后台与可视化编辑工具。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09160" y="3063240"/>
            <a:ext cx="30632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709160" y="3063240"/>
            <a:ext cx="109728" cy="1325880"/>
          </a:xfrm>
          <a:prstGeom prst="rect">
            <a:avLst/>
          </a:prstGeom>
          <a:solidFill>
            <a:srgbClr val="00A89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937760" y="3291840"/>
            <a:ext cx="475488" cy="475488"/>
          </a:xfrm>
          <a:prstGeom prst="ellipse">
            <a:avLst/>
          </a:prstGeom>
          <a:solidFill>
            <a:srgbClr val="00A89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37760" y="3419856"/>
            <a:ext cx="475488" cy="164592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AI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50408" y="3264408"/>
            <a:ext cx="2057400" cy="31089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500" b="1" i="0">
                <a:solidFill>
                  <a:srgbClr val="17324D"/>
                </a:solidFill>
                <a:latin typeface="Calibri"/>
              </a:rPr>
              <a:t>AI 工作流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50408" y="3675888"/>
            <a:ext cx="2011680" cy="57607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350" b="0" i="0">
                <a:solidFill>
                  <a:srgbClr val="5F7285"/>
                </a:solidFill>
                <a:latin typeface="Calibri"/>
              </a:rPr>
              <a:t>LangChain4j 与 LangGraph4j 支撑代码生成、路由、并发、图片采集与质量检查。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92440" y="3063240"/>
            <a:ext cx="306324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92440" y="3063240"/>
            <a:ext cx="109728" cy="1325880"/>
          </a:xfrm>
          <a:prstGeom prst="rect">
            <a:avLst/>
          </a:prstGeom>
          <a:solidFill>
            <a:srgbClr val="2129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321040" y="3291840"/>
            <a:ext cx="475488" cy="475488"/>
          </a:xfrm>
          <a:prstGeom prst="ellipse">
            <a:avLst/>
          </a:prstGeom>
          <a:solidFill>
            <a:srgbClr val="2129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21040" y="3419856"/>
            <a:ext cx="475488" cy="164592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OPS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33688" y="3264408"/>
            <a:ext cx="2057400" cy="31089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500" b="1" i="0">
                <a:solidFill>
                  <a:srgbClr val="17324D"/>
                </a:solidFill>
                <a:latin typeface="Calibri"/>
              </a:rPr>
              <a:t>工程设施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33688" y="3675888"/>
            <a:ext cx="2011680" cy="57607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350" b="0" i="0">
                <a:solidFill>
                  <a:srgbClr val="5F7285"/>
                </a:solidFill>
                <a:latin typeface="Calibri"/>
              </a:rPr>
              <a:t>MySQL、Redis、COS、Selenium 截图、Actuator + Prometheus；微服务版引入 Dubbo + Nacos。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09160" y="5074920"/>
            <a:ext cx="6446520" cy="41148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500" b="1" i="0">
                <a:solidFill>
                  <a:srgbClr val="17324D"/>
                </a:solidFill>
                <a:latin typeface="Calibri"/>
              </a:rPr>
              <a:t>结论：能力覆盖“生成—编辑—部署—管理”，下一步要把可运行性、CI 与配置模板补齐。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F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F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065A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287000" y="-960120"/>
            <a:ext cx="2468880" cy="2468880"/>
          </a:xfrm>
          <a:prstGeom prst="ellipse">
            <a:avLst/>
          </a:prstGeom>
          <a:solidFill>
            <a:srgbClr val="D9EE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155680" y="5257800"/>
            <a:ext cx="1097280" cy="1097280"/>
          </a:xfrm>
          <a:prstGeom prst="ellipse">
            <a:avLst/>
          </a:prstGeom>
          <a:solidFill>
            <a:srgbClr val="D9EE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355080"/>
            <a:ext cx="11155680" cy="45720"/>
          </a:xfrm>
          <a:prstGeom prst="rect">
            <a:avLst/>
          </a:prstGeom>
          <a:solidFill>
            <a:srgbClr val="D9EE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384048"/>
            <a:ext cx="8138160" cy="50292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3600" b="1" i="0">
                <a:solidFill>
                  <a:srgbClr val="065A82"/>
                </a:solidFill>
                <a:latin typeface="Georgia"/>
              </a:rPr>
              <a:t>架构与模块视图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941832"/>
            <a:ext cx="6949440" cy="29260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200" b="0" i="0">
                <a:solidFill>
                  <a:srgbClr val="5F7285"/>
                </a:solidFill>
                <a:latin typeface="Calibri"/>
              </a:rPr>
              <a:t>单体可运行路径清晰，微服务拆分已形成服务边界</a:t>
            </a:r>
          </a:p>
        </p:txBody>
      </p:sp>
      <p:sp>
        <p:nvSpPr>
          <p:cNvPr id="10" name="Oval 9"/>
          <p:cNvSpPr/>
          <p:nvPr/>
        </p:nvSpPr>
        <p:spPr>
          <a:xfrm>
            <a:off x="10716768" y="402336"/>
            <a:ext cx="438912" cy="438912"/>
          </a:xfrm>
          <a:prstGeom prst="ellipse">
            <a:avLst/>
          </a:prstGeom>
          <a:solidFill>
            <a:srgbClr val="1C729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16768" y="470916"/>
            <a:ext cx="438912" cy="201168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46520"/>
            <a:ext cx="5029200" cy="22860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00" b="0" i="0">
                <a:solidFill>
                  <a:srgbClr val="5F7285"/>
                </a:solidFill>
                <a:latin typeface="Calibri"/>
              </a:rPr>
              <a:t>yu-ai-code-mother · 每日项目状态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9960" y="6419088"/>
            <a:ext cx="502920" cy="237744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r"/>
            <a:r>
              <a:rPr sz="1000" b="1" i="0">
                <a:solidFill>
                  <a:srgbClr val="5F7285"/>
                </a:solidFill>
                <a:latin typeface="Calibri"/>
              </a:rPr>
              <a:t>03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1417320"/>
            <a:ext cx="1874519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0392" y="1645920"/>
            <a:ext cx="438912" cy="438912"/>
          </a:xfrm>
          <a:prstGeom prst="ellipse">
            <a:avLst/>
          </a:prstGeom>
          <a:solidFill>
            <a:srgbClr val="065A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1746504"/>
            <a:ext cx="438912" cy="146304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99032" y="1581912"/>
            <a:ext cx="1051560" cy="237744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350" b="1" i="0">
                <a:solidFill>
                  <a:srgbClr val="17324D"/>
                </a:solidFill>
                <a:latin typeface="Calibri"/>
              </a:rPr>
              <a:t>用户需求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9032" y="1883664"/>
            <a:ext cx="1051560" cy="29260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0" i="0">
                <a:solidFill>
                  <a:srgbClr val="5F7285"/>
                </a:solidFill>
                <a:latin typeface="Calibri"/>
              </a:rPr>
              <a:t>自然语言描述 / 编辑指令</a:t>
            </a:r>
          </a:p>
        </p:txBody>
      </p:sp>
      <p:sp>
        <p:nvSpPr>
          <p:cNvPr id="19" name="Chevron 18"/>
          <p:cNvSpPr/>
          <p:nvPr/>
        </p:nvSpPr>
        <p:spPr>
          <a:xfrm>
            <a:off x="2587752" y="1664208"/>
            <a:ext cx="320040" cy="384048"/>
          </a:xfrm>
          <a:prstGeom prst="chevron">
            <a:avLst/>
          </a:prstGeom>
          <a:solidFill>
            <a:srgbClr val="D9EE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926080" y="1417320"/>
            <a:ext cx="1874519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90672" y="1645920"/>
            <a:ext cx="438912" cy="438912"/>
          </a:xfrm>
          <a:prstGeom prst="ellipse">
            <a:avLst/>
          </a:prstGeom>
          <a:solidFill>
            <a:srgbClr val="1C729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090672" y="1746504"/>
            <a:ext cx="438912" cy="146304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39312" y="1581912"/>
            <a:ext cx="1051560" cy="237744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350" b="1" i="0">
                <a:solidFill>
                  <a:srgbClr val="17324D"/>
                </a:solidFill>
                <a:latin typeface="Calibri"/>
              </a:rPr>
              <a:t>前端工作台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39312" y="1883664"/>
            <a:ext cx="1051560" cy="29260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0" i="0">
                <a:solidFill>
                  <a:srgbClr val="5F7285"/>
                </a:solidFill>
                <a:latin typeface="Calibri"/>
              </a:rPr>
              <a:t>Vue 页面、预览 iframe、可视化编辑</a:t>
            </a:r>
          </a:p>
        </p:txBody>
      </p:sp>
      <p:sp>
        <p:nvSpPr>
          <p:cNvPr id="25" name="Chevron 24"/>
          <p:cNvSpPr/>
          <p:nvPr/>
        </p:nvSpPr>
        <p:spPr>
          <a:xfrm>
            <a:off x="4828032" y="1664208"/>
            <a:ext cx="320040" cy="384048"/>
          </a:xfrm>
          <a:prstGeom prst="chevron">
            <a:avLst/>
          </a:prstGeom>
          <a:solidFill>
            <a:srgbClr val="D9EE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166360" y="1417320"/>
            <a:ext cx="1874519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330952" y="1645920"/>
            <a:ext cx="438912" cy="438912"/>
          </a:xfrm>
          <a:prstGeom prst="ellipse">
            <a:avLst/>
          </a:prstGeom>
          <a:solidFill>
            <a:srgbClr val="00A89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30952" y="1746504"/>
            <a:ext cx="438912" cy="146304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79592" y="1581912"/>
            <a:ext cx="1051560" cy="237744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350" b="1" i="0">
                <a:solidFill>
                  <a:srgbClr val="17324D"/>
                </a:solidFill>
                <a:latin typeface="Calibri"/>
              </a:rPr>
              <a:t>后端应用层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79592" y="1883664"/>
            <a:ext cx="1051560" cy="29260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0" i="0">
                <a:solidFill>
                  <a:srgbClr val="5F7285"/>
                </a:solidFill>
                <a:latin typeface="Calibri"/>
              </a:rPr>
              <a:t>REST / SSE / 管理接口</a:t>
            </a:r>
          </a:p>
        </p:txBody>
      </p:sp>
      <p:sp>
        <p:nvSpPr>
          <p:cNvPr id="31" name="Chevron 30"/>
          <p:cNvSpPr/>
          <p:nvPr/>
        </p:nvSpPr>
        <p:spPr>
          <a:xfrm>
            <a:off x="7068312" y="1664208"/>
            <a:ext cx="320040" cy="384048"/>
          </a:xfrm>
          <a:prstGeom prst="chevron">
            <a:avLst/>
          </a:prstGeom>
          <a:solidFill>
            <a:srgbClr val="D9EE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406640" y="1417320"/>
            <a:ext cx="1874519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571232" y="1645920"/>
            <a:ext cx="438912" cy="438912"/>
          </a:xfrm>
          <a:prstGeom prst="ellipse">
            <a:avLst/>
          </a:prstGeom>
          <a:solidFill>
            <a:srgbClr val="02C39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571232" y="1746504"/>
            <a:ext cx="438912" cy="146304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19872" y="1581912"/>
            <a:ext cx="1051560" cy="237744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350" b="1" i="0">
                <a:solidFill>
                  <a:srgbClr val="17324D"/>
                </a:solidFill>
                <a:latin typeface="Calibri"/>
              </a:rPr>
              <a:t>AI 编排层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19872" y="1883664"/>
            <a:ext cx="1051560" cy="29260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0" i="0">
                <a:solidFill>
                  <a:srgbClr val="5F7285"/>
                </a:solidFill>
                <a:latin typeface="Calibri"/>
              </a:rPr>
              <a:t>路由、工具调用、工作流、流式输出</a:t>
            </a:r>
          </a:p>
        </p:txBody>
      </p:sp>
      <p:sp>
        <p:nvSpPr>
          <p:cNvPr id="37" name="Chevron 36"/>
          <p:cNvSpPr/>
          <p:nvPr/>
        </p:nvSpPr>
        <p:spPr>
          <a:xfrm>
            <a:off x="9308592" y="1664208"/>
            <a:ext cx="320040" cy="384048"/>
          </a:xfrm>
          <a:prstGeom prst="chevron">
            <a:avLst/>
          </a:prstGeom>
          <a:solidFill>
            <a:srgbClr val="D9EE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9646920" y="1417320"/>
            <a:ext cx="1874519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811512" y="1645920"/>
            <a:ext cx="438912" cy="438912"/>
          </a:xfrm>
          <a:prstGeom prst="ellipse">
            <a:avLst/>
          </a:prstGeom>
          <a:solidFill>
            <a:srgbClr val="2129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11512" y="1746504"/>
            <a:ext cx="438912" cy="146304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360152" y="1581912"/>
            <a:ext cx="1051560" cy="237744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350" b="1" i="0">
                <a:solidFill>
                  <a:srgbClr val="17324D"/>
                </a:solidFill>
                <a:latin typeface="Calibri"/>
              </a:rPr>
              <a:t>生成与部署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60152" y="1883664"/>
            <a:ext cx="1051560" cy="29260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0" i="0">
                <a:solidFill>
                  <a:srgbClr val="5F7285"/>
                </a:solidFill>
                <a:latin typeface="Calibri"/>
              </a:rPr>
              <a:t>文件保存、项目构建、COS、截图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2880360"/>
            <a:ext cx="2560320" cy="29260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2000" b="1" i="0">
                <a:solidFill>
                  <a:srgbClr val="065A82"/>
                </a:solidFill>
                <a:latin typeface="Georgia"/>
              </a:rPr>
              <a:t>模块分布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85800" y="3337560"/>
            <a:ext cx="34747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85800" y="3337560"/>
            <a:ext cx="109728" cy="1188720"/>
          </a:xfrm>
          <a:prstGeom prst="rect">
            <a:avLst/>
          </a:prstGeom>
          <a:solidFill>
            <a:srgbClr val="065A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14400" y="3566160"/>
            <a:ext cx="475488" cy="475488"/>
          </a:xfrm>
          <a:prstGeom prst="ellipse">
            <a:avLst/>
          </a:prstGeom>
          <a:solidFill>
            <a:srgbClr val="065A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4400" y="3694176"/>
            <a:ext cx="475488" cy="164592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27048" y="3538728"/>
            <a:ext cx="2468879" cy="31089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500" b="1" i="0">
                <a:solidFill>
                  <a:srgbClr val="17324D"/>
                </a:solidFill>
                <a:latin typeface="Calibri"/>
              </a:rPr>
              <a:t>单体后端 /src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27048" y="3950208"/>
            <a:ext cx="2423160" cy="43891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350" b="0" i="0">
                <a:solidFill>
                  <a:srgbClr val="5F7285"/>
                </a:solidFill>
                <a:latin typeface="Calibri"/>
              </a:rPr>
              <a:t>controller、ai、langgraph4j、core、monitor、ratelimiter、manager 等业务与基础设施模块。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480560" y="3337560"/>
            <a:ext cx="34747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480560" y="3337560"/>
            <a:ext cx="109728" cy="1188720"/>
          </a:xfrm>
          <a:prstGeom prst="rect">
            <a:avLst/>
          </a:prstGeom>
          <a:solidFill>
            <a:srgbClr val="1C729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4709160" y="3566160"/>
            <a:ext cx="475488" cy="475488"/>
          </a:xfrm>
          <a:prstGeom prst="ellipse">
            <a:avLst/>
          </a:prstGeom>
          <a:solidFill>
            <a:srgbClr val="1C729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09160" y="3694176"/>
            <a:ext cx="475488" cy="164592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21808" y="3538728"/>
            <a:ext cx="2468879" cy="31089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500" b="1" i="0">
                <a:solidFill>
                  <a:srgbClr val="17324D"/>
                </a:solidFill>
                <a:latin typeface="Calibri"/>
              </a:rPr>
              <a:t>前端 /yu-ai-code-mother-frontend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321808" y="3950208"/>
            <a:ext cx="2423160" cy="43891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350" b="0" i="0">
                <a:solidFill>
                  <a:srgbClr val="5F7285"/>
                </a:solidFill>
                <a:latin typeface="Calibri"/>
              </a:rPr>
              <a:t>页面、组件、OpenAPI 生成的请求层、VisualEditor 与登录态管理。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275320" y="3337560"/>
            <a:ext cx="347472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275320" y="3337560"/>
            <a:ext cx="109728" cy="1188720"/>
          </a:xfrm>
          <a:prstGeom prst="rect">
            <a:avLst/>
          </a:prstGeom>
          <a:solidFill>
            <a:srgbClr val="00A89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8503920" y="3566160"/>
            <a:ext cx="475488" cy="475488"/>
          </a:xfrm>
          <a:prstGeom prst="ellipse">
            <a:avLst/>
          </a:prstGeom>
          <a:solidFill>
            <a:srgbClr val="00A89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503920" y="3694176"/>
            <a:ext cx="475488" cy="164592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116568" y="3538728"/>
            <a:ext cx="2468879" cy="31089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500" b="1" i="0">
                <a:solidFill>
                  <a:srgbClr val="17324D"/>
                </a:solidFill>
                <a:latin typeface="Calibri"/>
              </a:rPr>
              <a:t>微服务 /yu-ai-code-mother-microservice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16568" y="3950208"/>
            <a:ext cx="2423160" cy="43891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350" b="0" i="0">
                <a:solidFill>
                  <a:srgbClr val="5F7285"/>
                </a:solidFill>
                <a:latin typeface="Calibri"/>
              </a:rPr>
              <a:t>common、model、client、ai、app、user、screenshot，Dubbo + Nacos 调用链。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85800" y="4892040"/>
            <a:ext cx="11064240" cy="777240"/>
          </a:xfrm>
          <a:prstGeom prst="roundRect">
            <a:avLst/>
          </a:prstGeom>
          <a:solidFill>
            <a:srgbClr val="E8F7F8"/>
          </a:solidFill>
          <a:ln w="12700">
            <a:solidFill>
              <a:srgbClr val="D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60120" y="5120640"/>
            <a:ext cx="10424160" cy="25603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350" b="1" i="0">
                <a:solidFill>
                  <a:srgbClr val="17324D"/>
                </a:solidFill>
                <a:latin typeface="Calibri"/>
              </a:rPr>
              <a:t>维护者关注：README 已介绍能力与教程背景；代码目录呈现“单体稳定入口 + 微服务演进入口”的双轨结构，文档需继续明确推荐启动路径。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F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F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065A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287000" y="-960120"/>
            <a:ext cx="2468880" cy="2468880"/>
          </a:xfrm>
          <a:prstGeom prst="ellipse">
            <a:avLst/>
          </a:prstGeom>
          <a:solidFill>
            <a:srgbClr val="D9EE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155680" y="5257800"/>
            <a:ext cx="1097280" cy="1097280"/>
          </a:xfrm>
          <a:prstGeom prst="ellipse">
            <a:avLst/>
          </a:prstGeom>
          <a:solidFill>
            <a:srgbClr val="D9EE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355080"/>
            <a:ext cx="11155680" cy="45720"/>
          </a:xfrm>
          <a:prstGeom prst="rect">
            <a:avLst/>
          </a:prstGeom>
          <a:solidFill>
            <a:srgbClr val="D9EE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384048"/>
            <a:ext cx="8138160" cy="50292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3600" b="1" i="0">
                <a:solidFill>
                  <a:srgbClr val="065A82"/>
                </a:solidFill>
                <a:latin typeface="Georgia"/>
              </a:rPr>
              <a:t>核心能力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941832"/>
            <a:ext cx="6949440" cy="29260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200" b="0" i="0">
                <a:solidFill>
                  <a:srgbClr val="5F7285"/>
                </a:solidFill>
                <a:latin typeface="Calibri"/>
              </a:rPr>
              <a:t>README 与代码结构共同体现的 4 大产品能力</a:t>
            </a:r>
          </a:p>
        </p:txBody>
      </p:sp>
      <p:sp>
        <p:nvSpPr>
          <p:cNvPr id="10" name="Oval 9"/>
          <p:cNvSpPr/>
          <p:nvPr/>
        </p:nvSpPr>
        <p:spPr>
          <a:xfrm>
            <a:off x="10716768" y="402336"/>
            <a:ext cx="438912" cy="438912"/>
          </a:xfrm>
          <a:prstGeom prst="ellipse">
            <a:avLst/>
          </a:prstGeom>
          <a:solidFill>
            <a:srgbClr val="1C729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16768" y="470916"/>
            <a:ext cx="438912" cy="201168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46520"/>
            <a:ext cx="5029200" cy="22860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00" b="0" i="0">
                <a:solidFill>
                  <a:srgbClr val="5F7285"/>
                </a:solidFill>
                <a:latin typeface="Calibri"/>
              </a:rPr>
              <a:t>yu-ai-code-mother · 每日项目状态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9960" y="6419088"/>
            <a:ext cx="502920" cy="237744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r"/>
            <a:r>
              <a:rPr sz="1000" b="1" i="0">
                <a:solidFill>
                  <a:srgbClr val="5F7285"/>
                </a:solidFill>
                <a:latin typeface="Calibri"/>
              </a:rPr>
              <a:t>04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417320"/>
            <a:ext cx="52120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1417320"/>
            <a:ext cx="109728" cy="1325880"/>
          </a:xfrm>
          <a:prstGeom prst="rect">
            <a:avLst/>
          </a:prstGeom>
          <a:solidFill>
            <a:srgbClr val="065A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60120" y="1645920"/>
            <a:ext cx="475488" cy="475488"/>
          </a:xfrm>
          <a:prstGeom prst="ellipse">
            <a:avLst/>
          </a:prstGeom>
          <a:solidFill>
            <a:srgbClr val="065A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1773936"/>
            <a:ext cx="475488" cy="164592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GEN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72768" y="1618488"/>
            <a:ext cx="4206240" cy="31089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500" b="1" i="0">
                <a:solidFill>
                  <a:srgbClr val="17324D"/>
                </a:solidFill>
                <a:latin typeface="Calibri"/>
              </a:rPr>
              <a:t>智能代码生成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72768" y="2029968"/>
            <a:ext cx="4160520" cy="57607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300" b="0" i="0">
                <a:solidFill>
                  <a:srgbClr val="5F7285"/>
                </a:solidFill>
                <a:latin typeface="Calibri"/>
              </a:rPr>
              <a:t>基于 LangChain4j/LangGraph4j 的代码生成服务，支持 HTML、多文件、Vue 项目与智能类型路由；SSE/Flux 提升生成过程可见性。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1417320"/>
            <a:ext cx="52120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1417320"/>
            <a:ext cx="109728" cy="1325880"/>
          </a:xfrm>
          <a:prstGeom prst="rect">
            <a:avLst/>
          </a:prstGeom>
          <a:solidFill>
            <a:srgbClr val="1C729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92240" y="1645920"/>
            <a:ext cx="475488" cy="475488"/>
          </a:xfrm>
          <a:prstGeom prst="ellipse">
            <a:avLst/>
          </a:prstGeom>
          <a:solidFill>
            <a:srgbClr val="1C729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1773936"/>
            <a:ext cx="475488" cy="164592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EDIT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04888" y="1618488"/>
            <a:ext cx="4206240" cy="31089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500" b="1" i="0">
                <a:solidFill>
                  <a:srgbClr val="17324D"/>
                </a:solidFill>
                <a:latin typeface="Calibri"/>
              </a:rPr>
              <a:t>可视化编辑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04888" y="2029968"/>
            <a:ext cx="4160520" cy="57607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300" b="0" i="0">
                <a:solidFill>
                  <a:srgbClr val="5F7285"/>
                </a:solidFill>
                <a:latin typeface="Calibri"/>
              </a:rPr>
              <a:t>前端 VisualEditor 支持在预览页选择元素，并把选中上下文传给 AI 对话，实现按页面元素迭代修改。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3063240"/>
            <a:ext cx="52120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" y="3063240"/>
            <a:ext cx="109728" cy="1325880"/>
          </a:xfrm>
          <a:prstGeom prst="rect">
            <a:avLst/>
          </a:prstGeom>
          <a:solidFill>
            <a:srgbClr val="00A89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60120" y="3291840"/>
            <a:ext cx="475488" cy="475488"/>
          </a:xfrm>
          <a:prstGeom prst="ellipse">
            <a:avLst/>
          </a:prstGeom>
          <a:solidFill>
            <a:srgbClr val="00A89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3419856"/>
            <a:ext cx="475488" cy="164592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DEP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72768" y="3264408"/>
            <a:ext cx="4206240" cy="31089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500" b="1" i="0">
                <a:solidFill>
                  <a:srgbClr val="17324D"/>
                </a:solidFill>
                <a:latin typeface="Calibri"/>
              </a:rPr>
              <a:t>一键部署分享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72768" y="3675888"/>
            <a:ext cx="4160520" cy="57607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300" b="0" i="0">
                <a:solidFill>
                  <a:srgbClr val="5F7285"/>
                </a:solidFill>
                <a:latin typeface="Calibri"/>
              </a:rPr>
              <a:t>应用生成后可构建、保存、上传并生成可访问地址；结合 Selenium 截图作为封面，支持源码下载与分享。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63640" y="3063240"/>
            <a:ext cx="521208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63640" y="3063240"/>
            <a:ext cx="109728" cy="1325880"/>
          </a:xfrm>
          <a:prstGeom prst="rect">
            <a:avLst/>
          </a:prstGeom>
          <a:solidFill>
            <a:srgbClr val="2129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92240" y="3291840"/>
            <a:ext cx="475488" cy="475488"/>
          </a:xfrm>
          <a:prstGeom prst="ellipse">
            <a:avLst/>
          </a:prstGeom>
          <a:solidFill>
            <a:srgbClr val="2129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92240" y="3419856"/>
            <a:ext cx="475488" cy="164592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ADM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04888" y="3264408"/>
            <a:ext cx="4206240" cy="31089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500" b="1" i="0">
                <a:solidFill>
                  <a:srgbClr val="17324D"/>
                </a:solidFill>
                <a:latin typeface="Calibri"/>
              </a:rPr>
              <a:t>企业级管理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04888" y="3675888"/>
            <a:ext cx="4160520" cy="57607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300" b="0" i="0">
                <a:solidFill>
                  <a:srgbClr val="5F7285"/>
                </a:solidFill>
                <a:latin typeface="Calibri"/>
              </a:rPr>
              <a:t>用户、应用、对话历史、精选应用、权限控制、限流、缓存、监控指标与后台管理页面支撑运维治理。</a:t>
            </a:r>
          </a:p>
        </p:txBody>
      </p:sp>
      <p:sp>
        <p:nvSpPr>
          <p:cNvPr id="38" name="Oval 37"/>
          <p:cNvSpPr/>
          <p:nvPr/>
        </p:nvSpPr>
        <p:spPr>
          <a:xfrm>
            <a:off x="5468112" y="4800600"/>
            <a:ext cx="914400" cy="914400"/>
          </a:xfrm>
          <a:prstGeom prst="ellipse">
            <a:avLst/>
          </a:prstGeom>
          <a:solidFill>
            <a:srgbClr val="02C39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68112" y="5102352"/>
            <a:ext cx="914400" cy="18288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600" b="1" i="0">
                <a:solidFill>
                  <a:srgbClr val="21295C"/>
                </a:solidFill>
                <a:latin typeface="Calibri"/>
              </a:rPr>
              <a:t>闭环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29000" y="5504688"/>
            <a:ext cx="5074920" cy="29260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800" b="1" i="0">
                <a:solidFill>
                  <a:srgbClr val="065A82"/>
                </a:solidFill>
                <a:latin typeface="Georgia"/>
              </a:rPr>
              <a:t>需求 → 生成 → 编辑 → 部署 → 管理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F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F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065A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287000" y="-960120"/>
            <a:ext cx="2468880" cy="2468880"/>
          </a:xfrm>
          <a:prstGeom prst="ellipse">
            <a:avLst/>
          </a:prstGeom>
          <a:solidFill>
            <a:srgbClr val="D9EE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155680" y="5257800"/>
            <a:ext cx="1097280" cy="1097280"/>
          </a:xfrm>
          <a:prstGeom prst="ellipse">
            <a:avLst/>
          </a:prstGeom>
          <a:solidFill>
            <a:srgbClr val="D9EE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355080"/>
            <a:ext cx="11155680" cy="45720"/>
          </a:xfrm>
          <a:prstGeom prst="rect">
            <a:avLst/>
          </a:prstGeom>
          <a:solidFill>
            <a:srgbClr val="D9EE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384048"/>
            <a:ext cx="8138160" cy="50292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3600" b="1" i="0">
                <a:solidFill>
                  <a:srgbClr val="065A82"/>
                </a:solidFill>
                <a:latin typeface="Georgia"/>
              </a:rPr>
              <a:t>近期进展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941832"/>
            <a:ext cx="6949440" cy="29260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200" b="0" i="0">
                <a:solidFill>
                  <a:srgbClr val="5F7285"/>
                </a:solidFill>
                <a:latin typeface="Calibri"/>
              </a:rPr>
              <a:t>最近 7 天无业务提交；最新可见代码进展集中在微服务改造</a:t>
            </a:r>
          </a:p>
        </p:txBody>
      </p:sp>
      <p:sp>
        <p:nvSpPr>
          <p:cNvPr id="10" name="Oval 9"/>
          <p:cNvSpPr/>
          <p:nvPr/>
        </p:nvSpPr>
        <p:spPr>
          <a:xfrm>
            <a:off x="10716768" y="402336"/>
            <a:ext cx="438912" cy="438912"/>
          </a:xfrm>
          <a:prstGeom prst="ellipse">
            <a:avLst/>
          </a:prstGeom>
          <a:solidFill>
            <a:srgbClr val="1C729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16768" y="470916"/>
            <a:ext cx="438912" cy="201168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46520"/>
            <a:ext cx="5029200" cy="22860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00" b="0" i="0">
                <a:solidFill>
                  <a:srgbClr val="5F7285"/>
                </a:solidFill>
                <a:latin typeface="Calibri"/>
              </a:rPr>
              <a:t>yu-ai-code-mother · 每日项目状态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9960" y="6419088"/>
            <a:ext cx="502920" cy="237744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r"/>
            <a:r>
              <a:rPr sz="1000" b="1" i="0">
                <a:solidFill>
                  <a:srgbClr val="5F7285"/>
                </a:solidFill>
                <a:latin typeface="Calibri"/>
              </a:rPr>
              <a:t>05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1417320"/>
            <a:ext cx="2834640" cy="4526280"/>
          </a:xfrm>
          <a:prstGeom prst="roundRect">
            <a:avLst/>
          </a:prstGeom>
          <a:solidFill>
            <a:srgbClr val="065A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1737360"/>
            <a:ext cx="2194560" cy="36576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Georgia"/>
              </a:rPr>
              <a:t>近 7 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331720"/>
            <a:ext cx="2148840" cy="38404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900" b="1" i="0">
                <a:solidFill>
                  <a:srgbClr val="02C39A"/>
                </a:solidFill>
                <a:latin typeface="Calibri"/>
              </a:rPr>
              <a:t>0 个本地可见业务提交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2926080"/>
            <a:ext cx="2057400" cy="77724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  <a:latin typeface="Calibri"/>
              </a:rPr>
              <a:t>当前分支基于既有代码快照生成报告；本次变更仅新增/更新 PPT 汇报文件。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160520"/>
            <a:ext cx="2148840" cy="74980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150" b="0" i="0">
                <a:solidFill>
                  <a:srgbClr val="D9EEF2"/>
                </a:solidFill>
                <a:latin typeface="Calibri"/>
              </a:rPr>
              <a:t>最新 HEAD：893918c</a:t>
            </a:r>
          </a:p>
          <a:p>
            <a:pPr algn="l"/>
            <a:r>
              <a:rPr sz="1150" b="0" i="0">
                <a:solidFill>
                  <a:srgbClr val="D9EEF2"/>
                </a:solidFill>
                <a:latin typeface="Calibri"/>
              </a:rPr>
              <a:t>日期：2025-08-26</a:t>
            </a:r>
          </a:p>
          <a:p>
            <a:pPr algn="l"/>
            <a:r>
              <a:rPr sz="1150" b="0" i="0">
                <a:solidFill>
                  <a:srgbClr val="D9EEF2"/>
                </a:solidFill>
                <a:latin typeface="Calibri"/>
              </a:rPr>
              <a:t>主题：教程第 14 期 - 微服务改造完成</a:t>
            </a:r>
          </a:p>
        </p:txBody>
      </p:sp>
      <p:sp>
        <p:nvSpPr>
          <p:cNvPr id="19" name="Oval 18"/>
          <p:cNvSpPr/>
          <p:nvPr/>
        </p:nvSpPr>
        <p:spPr>
          <a:xfrm>
            <a:off x="4160520" y="1554480"/>
            <a:ext cx="310896" cy="310896"/>
          </a:xfrm>
          <a:prstGeom prst="ellipse">
            <a:avLst/>
          </a:prstGeom>
          <a:solidFill>
            <a:srgbClr val="02C39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53712" y="1508760"/>
            <a:ext cx="65836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80" y="1645919"/>
            <a:ext cx="1051560" cy="18288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100" b="1" i="0">
                <a:solidFill>
                  <a:srgbClr val="065A82"/>
                </a:solidFill>
                <a:latin typeface="Calibri"/>
              </a:rPr>
              <a:t>2025-08-26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97880" y="1645919"/>
            <a:ext cx="1234440" cy="18288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 i="0">
                <a:solidFill>
                  <a:srgbClr val="1C7293"/>
                </a:solidFill>
                <a:latin typeface="Calibri"/>
              </a:rPr>
              <a:t>893918c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1627631"/>
            <a:ext cx="3566160" cy="25603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150" b="0" i="0">
                <a:solidFill>
                  <a:srgbClr val="17324D"/>
                </a:solidFill>
                <a:latin typeface="Calibri"/>
              </a:rPr>
              <a:t>微服务改造完成，包含完整单体代码</a:t>
            </a:r>
          </a:p>
        </p:txBody>
      </p:sp>
      <p:sp>
        <p:nvSpPr>
          <p:cNvPr id="24" name="Oval 23"/>
          <p:cNvSpPr/>
          <p:nvPr/>
        </p:nvSpPr>
        <p:spPr>
          <a:xfrm>
            <a:off x="4160520" y="2606039"/>
            <a:ext cx="310896" cy="310896"/>
          </a:xfrm>
          <a:prstGeom prst="ellipse">
            <a:avLst/>
          </a:prstGeom>
          <a:solidFill>
            <a:srgbClr val="1C729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553712" y="2560320"/>
            <a:ext cx="65836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0" y="2697479"/>
            <a:ext cx="1051560" cy="18288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100" b="1" i="0">
                <a:solidFill>
                  <a:srgbClr val="065A82"/>
                </a:solidFill>
                <a:latin typeface="Calibri"/>
              </a:rPr>
              <a:t>2025-08-26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97880" y="2697479"/>
            <a:ext cx="1234440" cy="18288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 i="0">
                <a:solidFill>
                  <a:srgbClr val="1C7293"/>
                </a:solidFill>
                <a:latin typeface="Calibri"/>
              </a:rPr>
              <a:t>9211e98~966b2e5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50608" y="2679191"/>
            <a:ext cx="3566160" cy="25603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150" b="0" i="0">
                <a:solidFill>
                  <a:srgbClr val="17324D"/>
                </a:solidFill>
                <a:latin typeface="Calibri"/>
              </a:rPr>
              <a:t>common/model/client/user/app/ai/screenshot 等模块拆分</a:t>
            </a:r>
          </a:p>
        </p:txBody>
      </p:sp>
      <p:sp>
        <p:nvSpPr>
          <p:cNvPr id="29" name="Oval 28"/>
          <p:cNvSpPr/>
          <p:nvPr/>
        </p:nvSpPr>
        <p:spPr>
          <a:xfrm>
            <a:off x="4160520" y="3657599"/>
            <a:ext cx="310896" cy="310896"/>
          </a:xfrm>
          <a:prstGeom prst="ellipse">
            <a:avLst/>
          </a:prstGeom>
          <a:solidFill>
            <a:srgbClr val="00A89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553712" y="3611879"/>
            <a:ext cx="65836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0" y="3749039"/>
            <a:ext cx="1051560" cy="18288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100" b="1" i="0">
                <a:solidFill>
                  <a:srgbClr val="065A82"/>
                </a:solidFill>
                <a:latin typeface="Calibri"/>
              </a:rPr>
              <a:t>2025-08-14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97880" y="3749039"/>
            <a:ext cx="1234440" cy="18288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 i="0">
                <a:solidFill>
                  <a:srgbClr val="1C7293"/>
                </a:solidFill>
                <a:latin typeface="Calibri"/>
              </a:rPr>
              <a:t>18c86bc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50608" y="3730752"/>
            <a:ext cx="3566160" cy="25603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150" b="0" i="0">
                <a:solidFill>
                  <a:srgbClr val="17324D"/>
                </a:solidFill>
                <a:latin typeface="Calibri"/>
              </a:rPr>
              <a:t>可观测性能力与 Prometheus 配置</a:t>
            </a:r>
          </a:p>
        </p:txBody>
      </p:sp>
      <p:sp>
        <p:nvSpPr>
          <p:cNvPr id="34" name="Oval 33"/>
          <p:cNvSpPr/>
          <p:nvPr/>
        </p:nvSpPr>
        <p:spPr>
          <a:xfrm>
            <a:off x="4160520" y="4709159"/>
            <a:ext cx="310896" cy="310896"/>
          </a:xfrm>
          <a:prstGeom prst="ellipse">
            <a:avLst/>
          </a:prstGeom>
          <a:solidFill>
            <a:srgbClr val="065A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553712" y="4663440"/>
            <a:ext cx="65836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54880" y="4800600"/>
            <a:ext cx="1051560" cy="18288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100" b="1" i="0">
                <a:solidFill>
                  <a:srgbClr val="065A82"/>
                </a:solidFill>
                <a:latin typeface="Calibri"/>
              </a:rPr>
              <a:t>2025-08-13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97880" y="4800600"/>
            <a:ext cx="1234440" cy="18288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1" i="0">
                <a:solidFill>
                  <a:srgbClr val="1C7293"/>
                </a:solidFill>
                <a:latin typeface="Calibri"/>
              </a:rPr>
              <a:t>566d530~b99d502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50608" y="4782312"/>
            <a:ext cx="3566160" cy="25603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150" b="0" i="0">
                <a:solidFill>
                  <a:srgbClr val="17324D"/>
                </a:solidFill>
                <a:latin typeface="Calibri"/>
              </a:rPr>
              <a:t>限流、缓存、并发、稳定性与成本优化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60520" y="5532120"/>
            <a:ext cx="6949440" cy="475488"/>
          </a:xfrm>
          <a:prstGeom prst="roundRect">
            <a:avLst/>
          </a:prstGeom>
          <a:solidFill>
            <a:srgbClr val="E8F7F8"/>
          </a:solidFill>
          <a:ln w="12700">
            <a:solidFill>
              <a:srgbClr val="D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407408" y="5678424"/>
            <a:ext cx="6446520" cy="16459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0" i="0">
                <a:solidFill>
                  <a:srgbClr val="5F7285"/>
                </a:solidFill>
                <a:latin typeface="Calibri"/>
              </a:rPr>
              <a:t>说明：因本地最近 7 天无新提交，本页采用“最新可见提交 + 当前分支状态”呈现。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F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F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065A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287000" y="-960120"/>
            <a:ext cx="2468880" cy="2468880"/>
          </a:xfrm>
          <a:prstGeom prst="ellipse">
            <a:avLst/>
          </a:prstGeom>
          <a:solidFill>
            <a:srgbClr val="D9EE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155680" y="5257800"/>
            <a:ext cx="1097280" cy="1097280"/>
          </a:xfrm>
          <a:prstGeom prst="ellipse">
            <a:avLst/>
          </a:prstGeom>
          <a:solidFill>
            <a:srgbClr val="D9EE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355080"/>
            <a:ext cx="11155680" cy="45720"/>
          </a:xfrm>
          <a:prstGeom prst="rect">
            <a:avLst/>
          </a:prstGeom>
          <a:solidFill>
            <a:srgbClr val="D9EE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384048"/>
            <a:ext cx="8138160" cy="50292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3600" b="1" i="0">
                <a:solidFill>
                  <a:srgbClr val="065A82"/>
                </a:solidFill>
                <a:latin typeface="Georgia"/>
              </a:rPr>
              <a:t>数据 / 指标要点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941832"/>
            <a:ext cx="6949440" cy="29260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200" b="0" i="0">
                <a:solidFill>
                  <a:srgbClr val="5F7285"/>
                </a:solidFill>
                <a:latin typeface="Calibri"/>
              </a:rPr>
              <a:t>仓库静态指标与运行监控入口，运行时业务指标尚需接入后沉淀</a:t>
            </a:r>
          </a:p>
        </p:txBody>
      </p:sp>
      <p:sp>
        <p:nvSpPr>
          <p:cNvPr id="10" name="Oval 9"/>
          <p:cNvSpPr/>
          <p:nvPr/>
        </p:nvSpPr>
        <p:spPr>
          <a:xfrm>
            <a:off x="10716768" y="402336"/>
            <a:ext cx="438912" cy="438912"/>
          </a:xfrm>
          <a:prstGeom prst="ellipse">
            <a:avLst/>
          </a:prstGeom>
          <a:solidFill>
            <a:srgbClr val="1C729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16768" y="470916"/>
            <a:ext cx="438912" cy="201168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46520"/>
            <a:ext cx="5029200" cy="22860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00" b="0" i="0">
                <a:solidFill>
                  <a:srgbClr val="5F7285"/>
                </a:solidFill>
                <a:latin typeface="Calibri"/>
              </a:rPr>
              <a:t>yu-ai-code-mother · 每日项目状态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9960" y="6419088"/>
            <a:ext cx="502920" cy="237744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r"/>
            <a:r>
              <a:rPr sz="1000" b="1" i="0">
                <a:solidFill>
                  <a:srgbClr val="5F7285"/>
                </a:solidFill>
                <a:latin typeface="Calibri"/>
              </a:rPr>
              <a:t>06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1417320"/>
            <a:ext cx="233172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1618488"/>
            <a:ext cx="1965960" cy="65836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3400" b="1" i="0">
                <a:solidFill>
                  <a:srgbClr val="065A82"/>
                </a:solidFill>
                <a:latin typeface="Georgia"/>
              </a:rPr>
              <a:t>272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313432"/>
            <a:ext cx="1874519" cy="29260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300" b="1" i="0">
                <a:solidFill>
                  <a:srgbClr val="17324D"/>
                </a:solidFill>
                <a:latin typeface="Calibri"/>
              </a:rPr>
              <a:t>Java 源文件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660904"/>
            <a:ext cx="1783079" cy="182879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050" b="0" i="0">
                <a:solidFill>
                  <a:srgbClr val="5F7285"/>
                </a:solidFill>
                <a:latin typeface="Calibri"/>
              </a:rPr>
              <a:t>含单体与微服务版本，体现后端能力覆盖较广。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37560" y="1417320"/>
            <a:ext cx="233172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0440" y="1618488"/>
            <a:ext cx="1965960" cy="65836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3400" b="1" i="0">
                <a:solidFill>
                  <a:srgbClr val="1C7293"/>
                </a:solidFill>
                <a:latin typeface="Georgia"/>
              </a:rPr>
              <a:t>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313432"/>
            <a:ext cx="1874519" cy="29260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300" b="1" i="0">
                <a:solidFill>
                  <a:srgbClr val="17324D"/>
                </a:solidFill>
                <a:latin typeface="Calibri"/>
              </a:rPr>
              <a:t>后端测试类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1879" y="2660904"/>
            <a:ext cx="1783079" cy="182879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050" b="0" i="0">
                <a:solidFill>
                  <a:srgbClr val="5F7285"/>
                </a:solidFill>
                <a:latin typeface="Calibri"/>
              </a:rPr>
              <a:t>集中在单体代码生成、工作流、工具与截图能力。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97880" y="1417320"/>
            <a:ext cx="233172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80760" y="1618488"/>
            <a:ext cx="1965960" cy="65836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3400" b="1" i="0">
                <a:solidFill>
                  <a:srgbClr val="00A896"/>
                </a:solidFill>
                <a:latin typeface="Georgia"/>
              </a:rPr>
              <a:t>34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2313432"/>
            <a:ext cx="1874519" cy="29260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300" b="1" i="0">
                <a:solidFill>
                  <a:srgbClr val="17324D"/>
                </a:solidFill>
                <a:latin typeface="Calibri"/>
              </a:rPr>
              <a:t>前端 Vue/TS 文件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2660904"/>
            <a:ext cx="1783079" cy="182879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050" b="0" i="0">
                <a:solidFill>
                  <a:srgbClr val="5F7285"/>
                </a:solidFill>
                <a:latin typeface="Calibri"/>
              </a:rPr>
              <a:t>覆盖页面、组件、路由、请求层与可视化编辑。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58200" y="1417320"/>
            <a:ext cx="233172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41080" y="1618488"/>
            <a:ext cx="1965960" cy="65836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3400" b="1" i="0">
                <a:solidFill>
                  <a:srgbClr val="21295C"/>
                </a:solidFill>
                <a:latin typeface="Georgia"/>
              </a:rPr>
              <a:t>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2313432"/>
            <a:ext cx="1874519" cy="29260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300" b="1" i="0">
                <a:solidFill>
                  <a:srgbClr val="17324D"/>
                </a:solidFill>
                <a:latin typeface="Calibri"/>
              </a:rPr>
              <a:t>Maven POM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2660904"/>
            <a:ext cx="1783079" cy="182879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050" b="0" i="0">
                <a:solidFill>
                  <a:srgbClr val="5F7285"/>
                </a:solidFill>
                <a:latin typeface="Calibri"/>
              </a:rPr>
              <a:t>单体 + 微服务聚合与子模块配置。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3429000"/>
            <a:ext cx="2377440" cy="27432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2000" b="1" i="0">
                <a:solidFill>
                  <a:srgbClr val="065A82"/>
                </a:solidFill>
                <a:latin typeface="Georgia"/>
              </a:rPr>
              <a:t>运行指标状态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" y="3840480"/>
            <a:ext cx="32461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51560" y="4087368"/>
            <a:ext cx="438912" cy="438912"/>
          </a:xfrm>
          <a:prstGeom prst="ellipse">
            <a:avLst/>
          </a:prstGeom>
          <a:solidFill>
            <a:srgbClr val="02C39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51560" y="4197096"/>
            <a:ext cx="438912" cy="11887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850" b="1" i="0">
                <a:solidFill>
                  <a:srgbClr val="21295C"/>
                </a:solidFill>
                <a:latin typeface="Calibri"/>
              </a:rPr>
              <a:t>PM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45920" y="4005072"/>
            <a:ext cx="2011680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300" b="1" i="0">
                <a:solidFill>
                  <a:srgbClr val="17324D"/>
                </a:solidFill>
                <a:latin typeface="Calibri"/>
              </a:rPr>
              <a:t>Prometheus 配置已存在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45920" y="4334256"/>
            <a:ext cx="2057400" cy="20116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0" i="0">
                <a:solidFill>
                  <a:srgbClr val="5F7285"/>
                </a:solidFill>
                <a:latin typeface="Calibri"/>
              </a:rPr>
              <a:t>/api/actuator/prometheus 抓取 localhost:8123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43400" y="3840480"/>
            <a:ext cx="32461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617720" y="4087368"/>
            <a:ext cx="438912" cy="438912"/>
          </a:xfrm>
          <a:prstGeom prst="ellipse">
            <a:avLst/>
          </a:prstGeom>
          <a:solidFill>
            <a:srgbClr val="F59E0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17720" y="4197096"/>
            <a:ext cx="438912" cy="11887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80" y="4005072"/>
            <a:ext cx="2011680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300" b="1" i="0">
                <a:solidFill>
                  <a:srgbClr val="17324D"/>
                </a:solidFill>
                <a:latin typeface="Calibri"/>
              </a:rPr>
              <a:t>暂无运行时样本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0" y="4334256"/>
            <a:ext cx="2057400" cy="20116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0" i="0">
                <a:solidFill>
                  <a:srgbClr val="5F7285"/>
                </a:solidFill>
                <a:latin typeface="Calibri"/>
              </a:rPr>
              <a:t>调用量、生成成功率、成本、延迟需部署后采集。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909560" y="3840480"/>
            <a:ext cx="32461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183879" y="4087368"/>
            <a:ext cx="438912" cy="438912"/>
          </a:xfrm>
          <a:prstGeom prst="ellipse">
            <a:avLst/>
          </a:prstGeom>
          <a:solidFill>
            <a:srgbClr val="1C729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83879" y="4197096"/>
            <a:ext cx="438912" cy="11887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AI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78240" y="4005072"/>
            <a:ext cx="2011680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300" b="1" i="0">
                <a:solidFill>
                  <a:srgbClr val="17324D"/>
                </a:solidFill>
                <a:latin typeface="Calibri"/>
              </a:rPr>
              <a:t>可定义 AI 质量指标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78240" y="4334256"/>
            <a:ext cx="2057400" cy="20116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0" i="0">
                <a:solidFill>
                  <a:srgbClr val="5F7285"/>
                </a:solidFill>
                <a:latin typeface="Calibri"/>
              </a:rPr>
              <a:t>建议跟踪 token、模型错误、工具调用失败率。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77240" y="5303520"/>
            <a:ext cx="10378440" cy="411480"/>
          </a:xfrm>
          <a:prstGeom prst="roundRect">
            <a:avLst/>
          </a:prstGeom>
          <a:solidFill>
            <a:srgbClr val="E8F7F8"/>
          </a:solidFill>
          <a:ln w="12700">
            <a:solidFill>
              <a:srgbClr val="D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5840" y="5431536"/>
            <a:ext cx="9875520" cy="146304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150" b="1" i="0">
                <a:solidFill>
                  <a:srgbClr val="17324D"/>
                </a:solidFill>
                <a:latin typeface="Calibri"/>
              </a:rPr>
              <a:t>建议：把静态规模指标与运行指标分开看，日报先呈现代码/配置快照，后续接入真实服务数据。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F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F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065A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287000" y="-960120"/>
            <a:ext cx="2468880" cy="2468880"/>
          </a:xfrm>
          <a:prstGeom prst="ellipse">
            <a:avLst/>
          </a:prstGeom>
          <a:solidFill>
            <a:srgbClr val="D9EE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155680" y="5257800"/>
            <a:ext cx="1097280" cy="1097280"/>
          </a:xfrm>
          <a:prstGeom prst="ellipse">
            <a:avLst/>
          </a:prstGeom>
          <a:solidFill>
            <a:srgbClr val="D9EE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355080"/>
            <a:ext cx="11155680" cy="45720"/>
          </a:xfrm>
          <a:prstGeom prst="rect">
            <a:avLst/>
          </a:prstGeom>
          <a:solidFill>
            <a:srgbClr val="D9EE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384048"/>
            <a:ext cx="8138160" cy="50292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3600" b="1" i="0">
                <a:solidFill>
                  <a:srgbClr val="065A82"/>
                </a:solidFill>
                <a:latin typeface="Georgia"/>
              </a:rPr>
              <a:t>测试与 CI 状态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941832"/>
            <a:ext cx="6949440" cy="29260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200" b="0" i="0">
                <a:solidFill>
                  <a:srgbClr val="5F7285"/>
                </a:solidFill>
                <a:latin typeface="Calibri"/>
              </a:rPr>
              <a:t>仓库内未发现自动化 CI；已有本地构建、测试与监控配置基础</a:t>
            </a:r>
          </a:p>
        </p:txBody>
      </p:sp>
      <p:sp>
        <p:nvSpPr>
          <p:cNvPr id="10" name="Oval 9"/>
          <p:cNvSpPr/>
          <p:nvPr/>
        </p:nvSpPr>
        <p:spPr>
          <a:xfrm>
            <a:off x="10716768" y="402336"/>
            <a:ext cx="438912" cy="438912"/>
          </a:xfrm>
          <a:prstGeom prst="ellipse">
            <a:avLst/>
          </a:prstGeom>
          <a:solidFill>
            <a:srgbClr val="1C729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16768" y="470916"/>
            <a:ext cx="438912" cy="201168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46520"/>
            <a:ext cx="5029200" cy="22860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00" b="0" i="0">
                <a:solidFill>
                  <a:srgbClr val="5F7285"/>
                </a:solidFill>
                <a:latin typeface="Calibri"/>
              </a:rPr>
              <a:t>yu-ai-code-mother · 每日项目状态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9960" y="6419088"/>
            <a:ext cx="502920" cy="237744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r"/>
            <a:r>
              <a:rPr sz="1000" b="1" i="0">
                <a:solidFill>
                  <a:srgbClr val="5F7285"/>
                </a:solidFill>
                <a:latin typeface="Calibri"/>
              </a:rPr>
              <a:t>07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1417320"/>
            <a:ext cx="3017520" cy="4389120"/>
          </a:xfrm>
          <a:prstGeom prst="roundRect">
            <a:avLst/>
          </a:prstGeom>
          <a:solidFill>
            <a:srgbClr val="2129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1719072"/>
            <a:ext cx="2377440" cy="36576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Georgia"/>
              </a:rPr>
              <a:t>CI 结论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2331720"/>
            <a:ext cx="2331720" cy="64008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未发现 .github/workflows、Jenkinsfile 或 GitLab CI 配置。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1560" y="3246120"/>
            <a:ext cx="1325880" cy="329184"/>
          </a:xfrm>
          <a:prstGeom prst="roundRect">
            <a:avLst/>
          </a:prstGeom>
          <a:solidFill>
            <a:srgbClr val="F59E0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3328415"/>
            <a:ext cx="1234439" cy="10972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Calibri"/>
              </a:rPr>
              <a:t>需补齐流水线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3886200"/>
            <a:ext cx="2331720" cy="82296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250" b="0" i="0">
                <a:solidFill>
                  <a:srgbClr val="D9EEF2"/>
                </a:solidFill>
                <a:latin typeface="Calibri"/>
              </a:rPr>
              <a:t>风险：PR 质量依赖人工执行命令，AI API / DB / Redis 等外部依赖会影响测试稳定性。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60520" y="1481328"/>
            <a:ext cx="69037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60520" y="1481328"/>
            <a:ext cx="109728" cy="1051560"/>
          </a:xfrm>
          <a:prstGeom prst="rect">
            <a:avLst/>
          </a:prstGeom>
          <a:solidFill>
            <a:srgbClr val="065A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389120" y="1709928"/>
            <a:ext cx="475488" cy="475488"/>
          </a:xfrm>
          <a:prstGeom prst="ellipse">
            <a:avLst/>
          </a:prstGeom>
          <a:solidFill>
            <a:srgbClr val="065A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0" y="1837944"/>
            <a:ext cx="475488" cy="164592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BE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01768" y="1682496"/>
            <a:ext cx="5897879" cy="31089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500" b="1" i="0">
                <a:solidFill>
                  <a:srgbClr val="17324D"/>
                </a:solidFill>
                <a:latin typeface="Calibri"/>
              </a:rPr>
              <a:t>后端单体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01768" y="2093976"/>
            <a:ext cx="5852160" cy="301751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150" b="0" i="0">
                <a:solidFill>
                  <a:srgbClr val="5F7285"/>
                </a:solidFill>
                <a:latin typeface="Calibri"/>
              </a:rPr>
              <a:t>./mvnw test</a:t>
            </a:r>
          </a:p>
          <a:p>
            <a:pPr algn="l"/>
            <a:r>
              <a:rPr sz="1150" b="0" i="0">
                <a:solidFill>
                  <a:srgbClr val="5F7285"/>
                </a:solidFill>
                <a:latin typeface="Calibri"/>
              </a:rPr>
              <a:t>JUnit 5 / Spring Boot Test；部分测试依赖 API Key、DB、Redis、浏览器。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60520" y="2898648"/>
            <a:ext cx="69037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60520" y="2898648"/>
            <a:ext cx="109728" cy="1051560"/>
          </a:xfrm>
          <a:prstGeom prst="rect">
            <a:avLst/>
          </a:prstGeom>
          <a:solidFill>
            <a:srgbClr val="1C729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389120" y="3127248"/>
            <a:ext cx="475488" cy="475488"/>
          </a:xfrm>
          <a:prstGeom prst="ellipse">
            <a:avLst/>
          </a:prstGeom>
          <a:solidFill>
            <a:srgbClr val="1C729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89120" y="3255264"/>
            <a:ext cx="475488" cy="164592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FE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01768" y="3099816"/>
            <a:ext cx="5897879" cy="31089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500" b="1" i="0">
                <a:solidFill>
                  <a:srgbClr val="17324D"/>
                </a:solidFill>
                <a:latin typeface="Calibri"/>
              </a:rPr>
              <a:t>前端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01768" y="3511296"/>
            <a:ext cx="5852160" cy="301751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150" b="0" i="0">
                <a:solidFill>
                  <a:srgbClr val="5F7285"/>
                </a:solidFill>
                <a:latin typeface="Calibri"/>
              </a:rPr>
              <a:t>npm run build / npm run lint</a:t>
            </a:r>
          </a:p>
          <a:p>
            <a:pPr algn="l"/>
            <a:r>
              <a:rPr sz="1150" b="0" i="0">
                <a:solidFill>
                  <a:srgbClr val="5F7285"/>
                </a:solidFill>
                <a:latin typeface="Calibri"/>
              </a:rPr>
              <a:t>Vue TS 类型检查、Vite 构建、ESLint；命令位于前端 package.json。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60520" y="4315968"/>
            <a:ext cx="69037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60520" y="4315968"/>
            <a:ext cx="109728" cy="1051560"/>
          </a:xfrm>
          <a:prstGeom prst="rect">
            <a:avLst/>
          </a:prstGeom>
          <a:solidFill>
            <a:srgbClr val="00A89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389120" y="4544568"/>
            <a:ext cx="475488" cy="475488"/>
          </a:xfrm>
          <a:prstGeom prst="ellipse">
            <a:avLst/>
          </a:prstGeom>
          <a:solidFill>
            <a:srgbClr val="00A89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0" y="4672584"/>
            <a:ext cx="475488" cy="164592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PM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01768" y="4517136"/>
            <a:ext cx="5897879" cy="31089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500" b="1" i="0">
                <a:solidFill>
                  <a:srgbClr val="17324D"/>
                </a:solidFill>
                <a:latin typeface="Calibri"/>
              </a:rPr>
              <a:t>监控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01768" y="4928616"/>
            <a:ext cx="5852160" cy="301751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150" b="0" i="0">
                <a:solidFill>
                  <a:srgbClr val="5F7285"/>
                </a:solidFill>
                <a:latin typeface="Calibri"/>
              </a:rPr>
              <a:t>prometheus.yml</a:t>
            </a:r>
          </a:p>
          <a:p>
            <a:pPr algn="l"/>
            <a:r>
              <a:rPr sz="1150" b="0" i="0">
                <a:solidFill>
                  <a:srgbClr val="5F7285"/>
                </a:solidFill>
                <a:latin typeface="Calibri"/>
              </a:rPr>
              <a:t>抓取 /api/actuator/prometheus；可扩展到 AI 调用与业务指标面板。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60520" y="5779008"/>
            <a:ext cx="6903720" cy="384048"/>
          </a:xfrm>
          <a:prstGeom prst="roundRect">
            <a:avLst/>
          </a:prstGeom>
          <a:solidFill>
            <a:srgbClr val="E8F7F8"/>
          </a:solidFill>
          <a:ln w="12700">
            <a:solidFill>
              <a:srgbClr val="D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89120" y="5897880"/>
            <a:ext cx="6446520" cy="12801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50" b="0" i="0">
                <a:solidFill>
                  <a:srgbClr val="5F7285"/>
                </a:solidFill>
                <a:latin typeface="Calibri"/>
              </a:rPr>
              <a:t>日报未运行全量业务测试：本次仅生成文档报告，且外部服务凭证未配置。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F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F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065A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287000" y="-960120"/>
            <a:ext cx="2468880" cy="2468880"/>
          </a:xfrm>
          <a:prstGeom prst="ellipse">
            <a:avLst/>
          </a:prstGeom>
          <a:solidFill>
            <a:srgbClr val="D9EE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155680" y="5257800"/>
            <a:ext cx="1097280" cy="1097280"/>
          </a:xfrm>
          <a:prstGeom prst="ellipse">
            <a:avLst/>
          </a:prstGeom>
          <a:solidFill>
            <a:srgbClr val="D9EE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355080"/>
            <a:ext cx="11155680" cy="45720"/>
          </a:xfrm>
          <a:prstGeom prst="rect">
            <a:avLst/>
          </a:prstGeom>
          <a:solidFill>
            <a:srgbClr val="D9EE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384048"/>
            <a:ext cx="8138160" cy="50292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3600" b="1" i="0">
                <a:solidFill>
                  <a:srgbClr val="065A82"/>
                </a:solidFill>
                <a:latin typeface="Georgia"/>
              </a:rPr>
              <a:t>风险与阻塞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941832"/>
            <a:ext cx="6949440" cy="29260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200" b="0" i="0">
                <a:solidFill>
                  <a:srgbClr val="5F7285"/>
                </a:solidFill>
                <a:latin typeface="Calibri"/>
              </a:rPr>
              <a:t>影响可运行性、质量保障和团队协作的主要问题</a:t>
            </a:r>
          </a:p>
        </p:txBody>
      </p:sp>
      <p:sp>
        <p:nvSpPr>
          <p:cNvPr id="10" name="Oval 9"/>
          <p:cNvSpPr/>
          <p:nvPr/>
        </p:nvSpPr>
        <p:spPr>
          <a:xfrm>
            <a:off x="10716768" y="402336"/>
            <a:ext cx="438912" cy="438912"/>
          </a:xfrm>
          <a:prstGeom prst="ellipse">
            <a:avLst/>
          </a:prstGeom>
          <a:solidFill>
            <a:srgbClr val="1C729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16768" y="470916"/>
            <a:ext cx="438912" cy="201168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46520"/>
            <a:ext cx="5029200" cy="22860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00" b="0" i="0">
                <a:solidFill>
                  <a:srgbClr val="5F7285"/>
                </a:solidFill>
                <a:latin typeface="Calibri"/>
              </a:rPr>
              <a:t>yu-ai-code-mother · 每日项目状态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9960" y="6419088"/>
            <a:ext cx="502920" cy="237744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r"/>
            <a:r>
              <a:rPr sz="1000" b="1" i="0">
                <a:solidFill>
                  <a:srgbClr val="5F7285"/>
                </a:solidFill>
                <a:latin typeface="Calibri"/>
              </a:rPr>
              <a:t>08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1417320"/>
            <a:ext cx="51663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1417320"/>
            <a:ext cx="502920" cy="1097280"/>
          </a:xfrm>
          <a:prstGeom prst="rect">
            <a:avLst/>
          </a:prstGeom>
          <a:solidFill>
            <a:srgbClr val="D645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1856232"/>
            <a:ext cx="365760" cy="13716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90472" y="1581912"/>
            <a:ext cx="4114800" cy="20116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450" b="1" i="0">
                <a:solidFill>
                  <a:srgbClr val="17324D"/>
                </a:solidFill>
                <a:latin typeface="Calibri"/>
              </a:rPr>
              <a:t>配置占位项较多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90472" y="1901952"/>
            <a:ext cx="4069080" cy="38404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80" b="0" i="0">
                <a:solidFill>
                  <a:srgbClr val="5F7285"/>
                </a:solidFill>
                <a:latin typeface="Calibri"/>
              </a:rPr>
              <a:t>DeepSeek、DashScope、Pexels、COS 等密钥/域名仍为示例值，不配置无法完整跑通 AI、图片与部署链路。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55079" y="1417320"/>
            <a:ext cx="51663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55079" y="1417320"/>
            <a:ext cx="502920" cy="1097280"/>
          </a:xfrm>
          <a:prstGeom prst="rect">
            <a:avLst/>
          </a:prstGeom>
          <a:solidFill>
            <a:srgbClr val="D6455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9088" y="1856232"/>
            <a:ext cx="365760" cy="13716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68312" y="1581912"/>
            <a:ext cx="4114800" cy="20116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450" b="1" i="0">
                <a:solidFill>
                  <a:srgbClr val="17324D"/>
                </a:solidFill>
                <a:latin typeface="Calibri"/>
              </a:rPr>
              <a:t>缺少 CI/CD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68312" y="1901952"/>
            <a:ext cx="4069080" cy="38404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80" b="0" i="0">
                <a:solidFill>
                  <a:srgbClr val="5F7285"/>
                </a:solidFill>
                <a:latin typeface="Calibri"/>
              </a:rPr>
              <a:t>当前没有自动化流水线，编译、测试、构建状态无法在 PR 层持续反馈。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" y="2834640"/>
            <a:ext cx="51663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7240" y="2834640"/>
            <a:ext cx="502920" cy="1097280"/>
          </a:xfrm>
          <a:prstGeom prst="rect">
            <a:avLst/>
          </a:prstGeom>
          <a:solidFill>
            <a:srgbClr val="F59E0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7" y="3273552"/>
            <a:ext cx="365760" cy="13716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中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90472" y="2999232"/>
            <a:ext cx="4114800" cy="20116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450" b="1" i="0">
                <a:solidFill>
                  <a:srgbClr val="17324D"/>
                </a:solidFill>
                <a:latin typeface="Calibri"/>
              </a:rPr>
              <a:t>环境依赖复杂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90472" y="3319272"/>
            <a:ext cx="4069080" cy="38404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80" b="0" i="0">
                <a:solidFill>
                  <a:srgbClr val="5F7285"/>
                </a:solidFill>
                <a:latin typeface="Calibri"/>
              </a:rPr>
              <a:t>单体需要 MySQL + Redis；截图依赖 Selenium/Chrome；微服务还需 Nacos 与 Dubbo 端口规划。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55079" y="2834640"/>
            <a:ext cx="51663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55079" y="2834640"/>
            <a:ext cx="502920" cy="1097280"/>
          </a:xfrm>
          <a:prstGeom prst="rect">
            <a:avLst/>
          </a:prstGeom>
          <a:solidFill>
            <a:srgbClr val="F59E0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9088" y="3273552"/>
            <a:ext cx="365760" cy="13716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68312" y="2999232"/>
            <a:ext cx="4114800" cy="20116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450" b="1" i="0">
                <a:solidFill>
                  <a:srgbClr val="17324D"/>
                </a:solidFill>
                <a:latin typeface="Calibri"/>
              </a:rPr>
              <a:t>微服务测试不足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68312" y="3319272"/>
            <a:ext cx="4069080" cy="38404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80" b="0" i="0">
                <a:solidFill>
                  <a:srgbClr val="5F7285"/>
                </a:solidFill>
                <a:latin typeface="Calibri"/>
              </a:rPr>
              <a:t>微服务目录未见测试结构，拆分后跨服务契约与联调风险较高。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7240" y="4251960"/>
            <a:ext cx="5166360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77240" y="4251960"/>
            <a:ext cx="502920" cy="1097280"/>
          </a:xfrm>
          <a:prstGeom prst="rect">
            <a:avLst/>
          </a:prstGeom>
          <a:solidFill>
            <a:srgbClr val="F59E0B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1247" y="4690872"/>
            <a:ext cx="365760" cy="13716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90472" y="4416552"/>
            <a:ext cx="4114800" cy="20116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450" b="1" i="0">
                <a:solidFill>
                  <a:srgbClr val="17324D"/>
                </a:solidFill>
                <a:latin typeface="Calibri"/>
              </a:rPr>
              <a:t>定制 SDK 代码风险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90472" y="4736592"/>
            <a:ext cx="4069080" cy="38404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080" b="0" i="0">
                <a:solidFill>
                  <a:srgbClr val="5F7285"/>
                </a:solidFill>
                <a:latin typeface="Calibri"/>
              </a:rPr>
              <a:t>dev/langchain4j 定制包中存在 TODO/Not implemented/调试痕迹，需要确认是否为教学保留或生产风险。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355080" y="4251960"/>
            <a:ext cx="5166360" cy="1097280"/>
          </a:xfrm>
          <a:prstGeom prst="roundRect">
            <a:avLst/>
          </a:prstGeom>
          <a:solidFill>
            <a:srgbClr val="E8F7F8"/>
          </a:solidFill>
          <a:ln w="12700">
            <a:solidFill>
              <a:srgbClr val="D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629400" y="4480560"/>
            <a:ext cx="1554480" cy="22860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500" b="1" i="0">
                <a:solidFill>
                  <a:srgbClr val="065A82"/>
                </a:solidFill>
                <a:latin typeface="Georgia"/>
              </a:rPr>
              <a:t>阻塞判断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09560" y="4462272"/>
            <a:ext cx="3154680" cy="29260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150" b="0" i="0">
                <a:solidFill>
                  <a:srgbClr val="17324D"/>
                </a:solidFill>
                <a:latin typeface="Calibri"/>
              </a:rPr>
              <a:t>当前没有代码层面的新增阻塞；真实运行验证受外部凭证与中间件环境限制。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F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BF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065A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287000" y="-960120"/>
            <a:ext cx="2468880" cy="2468880"/>
          </a:xfrm>
          <a:prstGeom prst="ellipse">
            <a:avLst/>
          </a:prstGeom>
          <a:solidFill>
            <a:srgbClr val="D9EE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155680" y="5257800"/>
            <a:ext cx="1097280" cy="1097280"/>
          </a:xfrm>
          <a:prstGeom prst="ellipse">
            <a:avLst/>
          </a:prstGeom>
          <a:solidFill>
            <a:srgbClr val="D9EE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6355080"/>
            <a:ext cx="11155680" cy="45720"/>
          </a:xfrm>
          <a:prstGeom prst="rect">
            <a:avLst/>
          </a:prstGeom>
          <a:solidFill>
            <a:srgbClr val="D9EEF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384048"/>
            <a:ext cx="8138160" cy="50292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3600" b="1" i="0">
                <a:solidFill>
                  <a:srgbClr val="065A82"/>
                </a:solidFill>
                <a:latin typeface="Georgia"/>
              </a:rPr>
              <a:t>建议下一步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" y="941832"/>
            <a:ext cx="6949440" cy="29260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200" b="0" i="0">
                <a:solidFill>
                  <a:srgbClr val="5F7285"/>
                </a:solidFill>
                <a:latin typeface="Calibri"/>
              </a:rPr>
              <a:t>优先补工程闭环，再推进微服务与指标治理</a:t>
            </a:r>
          </a:p>
        </p:txBody>
      </p:sp>
      <p:sp>
        <p:nvSpPr>
          <p:cNvPr id="10" name="Oval 9"/>
          <p:cNvSpPr/>
          <p:nvPr/>
        </p:nvSpPr>
        <p:spPr>
          <a:xfrm>
            <a:off x="10716768" y="402336"/>
            <a:ext cx="438912" cy="438912"/>
          </a:xfrm>
          <a:prstGeom prst="ellipse">
            <a:avLst/>
          </a:prstGeom>
          <a:solidFill>
            <a:srgbClr val="1C729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16768" y="470916"/>
            <a:ext cx="438912" cy="201168"/>
          </a:xfrm>
          <a:prstGeom prst="rect">
            <a:avLst/>
          </a:prstGeom>
          <a:noFill/>
        </p:spPr>
        <p:txBody>
          <a:bodyPr wrap="none" lIns="54864" rIns="54864" tIns="54864" bIns="54864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46520"/>
            <a:ext cx="5029200" cy="22860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00" b="0" i="0">
                <a:solidFill>
                  <a:srgbClr val="5F7285"/>
                </a:solidFill>
                <a:latin typeface="Calibri"/>
              </a:rPr>
              <a:t>yu-ai-code-mother · 每日项目状态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9960" y="6419088"/>
            <a:ext cx="502920" cy="237744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r"/>
            <a:r>
              <a:rPr sz="1000" b="1" i="0">
                <a:solidFill>
                  <a:srgbClr val="5F7285"/>
                </a:solidFill>
                <a:latin typeface="Calibri"/>
              </a:rPr>
              <a:t>09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1417320"/>
            <a:ext cx="324612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24128" y="1645920"/>
            <a:ext cx="502920" cy="502920"/>
          </a:xfrm>
          <a:prstGeom prst="ellipse">
            <a:avLst/>
          </a:prstGeom>
          <a:solidFill>
            <a:srgbClr val="065A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1773936"/>
            <a:ext cx="502920" cy="12801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1618488"/>
            <a:ext cx="2103120" cy="22860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500" b="1" i="0">
                <a:solidFill>
                  <a:srgbClr val="17324D"/>
                </a:solidFill>
                <a:latin typeface="Calibri"/>
              </a:rPr>
              <a:t>补齐 CI 基线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1984248"/>
            <a:ext cx="2057400" cy="56692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120" b="0" i="0">
                <a:solidFill>
                  <a:srgbClr val="5F7285"/>
                </a:solidFill>
                <a:latin typeface="Calibri"/>
              </a:rPr>
              <a:t>后端 Maven 编译/测试、前端 build/lint；对依赖外部服务的测试做 profile 或标签隔离。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26280" y="1417320"/>
            <a:ext cx="324612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727448" y="1645920"/>
            <a:ext cx="502920" cy="502920"/>
          </a:xfrm>
          <a:prstGeom prst="ellipse">
            <a:avLst/>
          </a:prstGeom>
          <a:solidFill>
            <a:srgbClr val="1C729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27448" y="1773936"/>
            <a:ext cx="502920" cy="12801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94960" y="1618488"/>
            <a:ext cx="2103120" cy="22860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500" b="1" i="0">
                <a:solidFill>
                  <a:srgbClr val="17324D"/>
                </a:solidFill>
                <a:latin typeface="Calibri"/>
              </a:rPr>
              <a:t>配置模板化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94960" y="1984248"/>
            <a:ext cx="2057400" cy="56692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120" b="0" i="0">
                <a:solidFill>
                  <a:srgbClr val="5F7285"/>
                </a:solidFill>
                <a:latin typeface="Calibri"/>
              </a:rPr>
              <a:t>提供 application-local.yml.example，集中说明 API Key、COS、Pexels、DashScope 与本地中间件。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0" y="1417320"/>
            <a:ext cx="324612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30768" y="1645920"/>
            <a:ext cx="502920" cy="502920"/>
          </a:xfrm>
          <a:prstGeom prst="ellipse">
            <a:avLst/>
          </a:prstGeom>
          <a:solidFill>
            <a:srgbClr val="00A89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30768" y="1773936"/>
            <a:ext cx="502920" cy="12801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98280" y="1618488"/>
            <a:ext cx="2103120" cy="22860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500" b="1" i="0">
                <a:solidFill>
                  <a:srgbClr val="17324D"/>
                </a:solidFill>
                <a:latin typeface="Calibri"/>
              </a:rPr>
              <a:t>明确启动路径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98280" y="1984248"/>
            <a:ext cx="2057400" cy="56692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120" b="0" i="0">
                <a:solidFill>
                  <a:srgbClr val="5F7285"/>
                </a:solidFill>
                <a:latin typeface="Calibri"/>
              </a:rPr>
              <a:t>文档区分单体推荐路径与微服务联调路径，列出端口、依赖、启动顺序与健康检查。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3383280"/>
            <a:ext cx="324612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24128" y="3611880"/>
            <a:ext cx="502920" cy="502920"/>
          </a:xfrm>
          <a:prstGeom prst="ellipse">
            <a:avLst/>
          </a:prstGeom>
          <a:solidFill>
            <a:srgbClr val="02C39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4128" y="3739896"/>
            <a:ext cx="502920" cy="12801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91640" y="3584448"/>
            <a:ext cx="2103120" cy="22860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500" b="1" i="0">
                <a:solidFill>
                  <a:srgbClr val="17324D"/>
                </a:solidFill>
                <a:latin typeface="Calibri"/>
              </a:rPr>
              <a:t>微服务联调测试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91640" y="3950208"/>
            <a:ext cx="2057400" cy="56692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120" b="0" i="0">
                <a:solidFill>
                  <a:srgbClr val="5F7285"/>
                </a:solidFill>
                <a:latin typeface="Calibri"/>
              </a:rPr>
              <a:t>覆盖 user/app/ai/screenshot 的 Dubbo 调用链，补契约和关键集成测试。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26280" y="3383280"/>
            <a:ext cx="3246120" cy="1508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4727448" y="3611880"/>
            <a:ext cx="502920" cy="502920"/>
          </a:xfrm>
          <a:prstGeom prst="ellipse">
            <a:avLst/>
          </a:prstGeom>
          <a:solidFill>
            <a:srgbClr val="2129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27448" y="3739896"/>
            <a:ext cx="502920" cy="12801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94960" y="3584448"/>
            <a:ext cx="2103120" cy="22860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500" b="1" i="0">
                <a:solidFill>
                  <a:srgbClr val="17324D"/>
                </a:solidFill>
                <a:latin typeface="Calibri"/>
              </a:rPr>
              <a:t>监控指标落地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94960" y="3950208"/>
            <a:ext cx="2057400" cy="56692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120" b="0" i="0">
                <a:solidFill>
                  <a:srgbClr val="5F7285"/>
                </a:solidFill>
                <a:latin typeface="Calibri"/>
              </a:rPr>
              <a:t>在 Prometheus/Grafana 中加入 AI 调用量、成功率、延迟、token 成本与部署失败率。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0" y="5047488"/>
            <a:ext cx="3749039" cy="777240"/>
          </a:xfrm>
          <a:prstGeom prst="roundRect">
            <a:avLst/>
          </a:prstGeom>
          <a:solidFill>
            <a:srgbClr val="065A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00600" y="5321808"/>
            <a:ext cx="3291840" cy="13716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Calibri"/>
              </a:rPr>
              <a:t>优先级建议：CI + 配置模板 是近期最高杠杆项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295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065A8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03920" y="-1645920"/>
            <a:ext cx="4754880" cy="4754880"/>
          </a:xfrm>
          <a:prstGeom prst="ellipse">
            <a:avLst/>
          </a:prstGeom>
          <a:solidFill>
            <a:srgbClr val="1C729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784080" y="3566160"/>
            <a:ext cx="2743200" cy="2743200"/>
          </a:xfrm>
          <a:prstGeom prst="ellipse">
            <a:avLst/>
          </a:prstGeom>
          <a:solidFill>
            <a:srgbClr val="00A89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457200"/>
            <a:ext cx="146304" cy="5897880"/>
          </a:xfrm>
          <a:prstGeom prst="rect">
            <a:avLst/>
          </a:prstGeom>
          <a:solidFill>
            <a:srgbClr val="02C39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868680"/>
            <a:ext cx="2743200" cy="64008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Georgia"/>
              </a:rPr>
              <a:t>总结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1691640"/>
            <a:ext cx="6172200" cy="59436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700" b="0" i="0">
                <a:solidFill>
                  <a:srgbClr val="D9EEF2"/>
                </a:solidFill>
                <a:latin typeface="Calibri"/>
              </a:rPr>
              <a:t>当前项目已经具备 AI 代码生成平台的核心产品闭环；维护重点应从功能扩展转向工程可运行性、自动化质量门禁与配置治理。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743200"/>
            <a:ext cx="6400800" cy="658368"/>
          </a:xfrm>
          <a:prstGeom prst="roundRect">
            <a:avLst/>
          </a:prstGeom>
          <a:solidFill>
            <a:srgbClr val="F4FBFC"/>
          </a:solidFill>
          <a:ln w="12700">
            <a:solidFill>
              <a:srgbClr val="02C3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43000" y="2889504"/>
            <a:ext cx="365760" cy="365760"/>
          </a:xfrm>
          <a:prstGeom prst="ellipse">
            <a:avLst/>
          </a:prstGeom>
          <a:solidFill>
            <a:srgbClr val="02C39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2990088"/>
            <a:ext cx="365760" cy="9144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850" b="1" i="0">
                <a:solidFill>
                  <a:srgbClr val="21295C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889504"/>
            <a:ext cx="1005840" cy="18288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能力面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2880360"/>
            <a:ext cx="4343400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150" b="0" i="0">
                <a:solidFill>
                  <a:srgbClr val="17324D"/>
                </a:solidFill>
                <a:latin typeface="Calibri"/>
              </a:rPr>
              <a:t>生成、编辑、部署、管理四类能力完整，单体主线可作为主要体验路径。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3657600"/>
            <a:ext cx="6400800" cy="658368"/>
          </a:xfrm>
          <a:prstGeom prst="roundRect">
            <a:avLst/>
          </a:prstGeom>
          <a:solidFill>
            <a:srgbClr val="F4FBFC"/>
          </a:solidFill>
          <a:ln w="12700"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143000" y="3803904"/>
            <a:ext cx="365760" cy="365760"/>
          </a:xfrm>
          <a:prstGeom prst="ellipse">
            <a:avLst/>
          </a:prstGeom>
          <a:solidFill>
            <a:srgbClr val="1C7293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904487"/>
            <a:ext cx="365760" cy="9144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64208" y="3803904"/>
            <a:ext cx="1005840" cy="18288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变化面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3794760"/>
            <a:ext cx="4343400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150" b="0" i="0">
                <a:solidFill>
                  <a:srgbClr val="17324D"/>
                </a:solidFill>
                <a:latin typeface="Calibri"/>
              </a:rPr>
              <a:t>最近 7 天无本地可见业务提交；最新代码进展为微服务改造完成。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4572000"/>
            <a:ext cx="6400800" cy="658368"/>
          </a:xfrm>
          <a:prstGeom prst="roundRect">
            <a:avLst/>
          </a:prstGeom>
          <a:solidFill>
            <a:srgbClr val="F4FBFC"/>
          </a:solidFill>
          <a:ln w="12700">
            <a:solidFill>
              <a:srgbClr val="00A8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43000" y="4718304"/>
            <a:ext cx="365760" cy="365760"/>
          </a:xfrm>
          <a:prstGeom prst="ellipse">
            <a:avLst/>
          </a:prstGeom>
          <a:solidFill>
            <a:srgbClr val="00A89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4818888"/>
            <a:ext cx="365760" cy="9144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64208" y="4718304"/>
            <a:ext cx="1005840" cy="18288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300" b="1" i="0">
                <a:solidFill>
                  <a:srgbClr val="065A82"/>
                </a:solidFill>
                <a:latin typeface="Calibri"/>
              </a:rPr>
              <a:t>行动面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40" y="4709160"/>
            <a:ext cx="4343400" cy="219456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1150" b="0" i="0">
                <a:solidFill>
                  <a:srgbClr val="17324D"/>
                </a:solidFill>
                <a:latin typeface="Calibri"/>
              </a:rPr>
              <a:t>建议先补 CI 与配置模板，再推进微服务联调、测试覆盖和监控指标。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8160" y="1234440"/>
            <a:ext cx="2834640" cy="4251960"/>
          </a:xfrm>
          <a:prstGeom prst="roundRect">
            <a:avLst/>
          </a:prstGeom>
          <a:solidFill>
            <a:srgbClr val="F4FBFC"/>
          </a:solidFill>
          <a:ln w="12700">
            <a:solidFill>
              <a:srgbClr val="1C72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58200" y="1554480"/>
            <a:ext cx="2148840" cy="27432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2000" b="1" i="0">
                <a:solidFill>
                  <a:srgbClr val="065A82"/>
                </a:solidFill>
                <a:latin typeface="Georgia"/>
              </a:rPr>
              <a:t>本次交付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458200" y="2103120"/>
            <a:ext cx="205740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41080" y="2304288"/>
            <a:ext cx="1691640" cy="65836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3400" b="1" i="0">
                <a:solidFill>
                  <a:srgbClr val="1C7293"/>
                </a:solidFill>
                <a:latin typeface="Georgia"/>
              </a:rPr>
              <a:t>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2999232"/>
            <a:ext cx="1600200" cy="292608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300" b="1" i="0">
                <a:solidFill>
                  <a:srgbClr val="17324D"/>
                </a:solidFill>
                <a:latin typeface="Calibri"/>
              </a:rPr>
              <a:t>页状态汇报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32520" y="3346704"/>
            <a:ext cx="1508760" cy="-91439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050" b="0" i="0">
                <a:solidFill>
                  <a:srgbClr val="5F7285"/>
                </a:solidFill>
                <a:latin typeface="Calibri"/>
              </a:rPr>
              <a:t>含项目概览、能力、进展、指标、风险与计划。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3794760"/>
            <a:ext cx="2148840" cy="50292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200" b="1" i="0">
                <a:solidFill>
                  <a:srgbClr val="17324D"/>
                </a:solidFill>
                <a:latin typeface="Calibri"/>
              </a:rPr>
              <a:t>文件路径</a:t>
            </a:r>
          </a:p>
          <a:p>
            <a:pPr algn="ctr"/>
            <a:r>
              <a:rPr sz="1200" b="1" i="0">
                <a:solidFill>
                  <a:srgbClr val="17324D"/>
                </a:solidFill>
                <a:latin typeface="Calibri"/>
              </a:rPr>
              <a:t>docs/reports/project-status-2026-06-16.pptx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58200" y="4663440"/>
            <a:ext cx="2148840" cy="256032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ctr"/>
            <a:r>
              <a:rPr sz="1150" b="0" i="0">
                <a:solidFill>
                  <a:srgbClr val="5F7285"/>
                </a:solidFill>
                <a:latin typeface="Calibri"/>
              </a:rPr>
              <a:t>仅新增/更新报告文件；未触碰业务代码。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6446520"/>
            <a:ext cx="5029200" cy="228600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l"/>
            <a:r>
              <a:rPr sz="900" b="0" i="0">
                <a:solidFill>
                  <a:srgbClr val="5F7285"/>
                </a:solidFill>
                <a:latin typeface="Calibri"/>
              </a:rPr>
              <a:t>yu-ai-code-mother · 每日项目状态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09960" y="6419088"/>
            <a:ext cx="502920" cy="237744"/>
          </a:xfrm>
          <a:prstGeom prst="rect">
            <a:avLst/>
          </a:prstGeom>
          <a:noFill/>
        </p:spPr>
        <p:txBody>
          <a:bodyPr wrap="none" lIns="54864" rIns="54864" tIns="54864" bIns="54864" anchor="t">
            <a:spAutoFit/>
          </a:bodyPr>
          <a:lstStyle/>
          <a:p>
            <a:pPr algn="r"/>
            <a:r>
              <a:rPr sz="1000" b="1" i="0">
                <a:solidFill>
                  <a:srgbClr val="5F7285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每日项目状态汇报 - yu-ai-code-mother</dc:title>
  <dc:subject>AI 零代码应用生成平台每日项目状态</dc:subject>
  <dc:creator>Cursor Automation</dc:creator>
  <cp:keywords/>
  <dc:description>Generated report for 2026-06-16 Beijing time.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