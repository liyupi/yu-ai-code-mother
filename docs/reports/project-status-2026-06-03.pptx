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4389120"/>
            <a:ext cx="7772400" cy="256032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99232"/>
            <a:ext cx="5303520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运行日：2026-06-03（北京时间）
受众：项目维护者 / 团队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4F7F1"/>
                </a:solidFill>
                <a:latin typeface="Calibri"/>
              </a:rPr>
              <a:t>yu-ai-code-mother · 每日项目状态 · 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D4F7F1"/>
                </a:solidFill>
                <a:latin typeface="Calibri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960120"/>
            <a:ext cx="3337560" cy="324612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845552" y="1115568"/>
            <a:ext cx="2788920" cy="676656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1583" y="1252728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D6F4EF"/>
                </a:solidFill>
                <a:latin typeface="Calibri"/>
              </a:rPr>
              <a:t>代码生成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1234440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AI 工具链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45552" y="2075688"/>
            <a:ext cx="2788920" cy="676656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01583" y="2212848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D6F4EF"/>
                </a:solidFill>
                <a:latin typeface="Calibri"/>
              </a:rPr>
              <a:t>架构阶段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194560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微服务完成态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45552" y="3035808"/>
            <a:ext cx="2788920" cy="67665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01583" y="3172968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D6F4EF"/>
                </a:solidFill>
                <a:latin typeface="Calibri"/>
              </a:rPr>
              <a:t>验证重点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154680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质量与可运行性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1508760"/>
            <a:ext cx="66294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Georgia"/>
              </a:rPr>
              <a:t>每日项目状态汇报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2340864"/>
            <a:ext cx="6400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D6F4EF"/>
                </a:solidFill>
                <a:latin typeface="Calibri"/>
              </a:rPr>
              <a:t>AI 零代码应用生成平台 · yu-ai-code-mother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项目概览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从仓库可观察事实看：产品能力完整，工程形态正在从单体过渡到微服务。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" y="1444752"/>
            <a:ext cx="1325880" cy="292608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508760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仓库信号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10512"/>
            <a:ext cx="248716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810512"/>
            <a:ext cx="109728" cy="132588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011680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28090"/>
                </a:solidFill>
                <a:latin typeface="Georgia"/>
              </a:rPr>
              <a:t>287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49631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Java 源文件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834640"/>
            <a:ext cx="2011680" cy="192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单体与微服务后端合计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810512"/>
            <a:ext cx="248716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02152" y="1810512"/>
            <a:ext cx="109728" cy="13258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58184" y="2011680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C7293"/>
                </a:solidFill>
                <a:latin typeface="Georgia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58184" y="249631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Vue 文件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58184" y="2834640"/>
            <a:ext cx="2011680" cy="192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前端页面与组件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79991" y="1810512"/>
            <a:ext cx="248716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79991" y="1810512"/>
            <a:ext cx="109728" cy="1325880"/>
          </a:xfrm>
          <a:prstGeom prst="roundRect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36023" y="2011680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6A94A"/>
                </a:solidFill>
                <a:latin typeface="Georgia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6023" y="249631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后端测试类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6023" y="2834640"/>
            <a:ext cx="2011680" cy="192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覆盖 AI、解析、工作流、截图等重点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44768" y="1691640"/>
            <a:ext cx="2788920" cy="1600200"/>
          </a:xfrm>
          <a:prstGeom prst="rect">
            <a:avLst/>
          </a:prstGeom>
          <a:solidFill>
            <a:srgbClr val="F6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291072" y="1810512"/>
            <a:ext cx="248716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291072" y="1810512"/>
            <a:ext cx="109728" cy="132588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65392" y="1993392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0A896"/>
                </a:solidFill>
                <a:latin typeface="Georgia"/>
              </a:rPr>
              <a:t>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65392" y="248716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5B6B7A"/>
                </a:solidFill>
                <a:latin typeface="Calibri"/>
              </a:rPr>
              <a:t>微服务模块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65392" y="2807208"/>
            <a:ext cx="187451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17324D"/>
                </a:solidFill>
                <a:latin typeface="Calibri"/>
              </a:rPr>
              <a:t>common / model / client / user
app / ai / screenshot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13232" y="3493008"/>
            <a:ext cx="5349240" cy="2176272"/>
          </a:xfrm>
          <a:prstGeom prst="rect">
            <a:avLst/>
          </a:prstGeom>
          <a:solidFill>
            <a:srgbClr val="E7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13232" y="3493008"/>
            <a:ext cx="5349240" cy="2176272"/>
          </a:xfrm>
          <a:prstGeom prst="roundRect">
            <a:avLst/>
          </a:prstGeom>
          <a:solidFill>
            <a:srgbClr val="E7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4128" y="373075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Georgia"/>
              </a:rPr>
              <a:t>定位</a:t>
            </a:r>
          </a:p>
        </p:txBody>
      </p:sp>
      <p:sp>
        <p:nvSpPr>
          <p:cNvPr id="68" name="Oval 67"/>
          <p:cNvSpPr/>
          <p:nvPr/>
        </p:nvSpPr>
        <p:spPr>
          <a:xfrm>
            <a:off x="1042416" y="4178807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43584" y="4142232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>
                <a:solidFill>
                  <a:srgbClr val="17324D"/>
                </a:solidFill>
                <a:latin typeface="Calibri"/>
              </a:rPr>
              <a:t>面向用户提示词的 AI 应用/网站生成平台。</a:t>
            </a:r>
          </a:p>
        </p:txBody>
      </p:sp>
      <p:sp>
        <p:nvSpPr>
          <p:cNvPr id="70" name="Oval 69"/>
          <p:cNvSpPr/>
          <p:nvPr/>
        </p:nvSpPr>
        <p:spPr>
          <a:xfrm>
            <a:off x="1042416" y="4526279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43584" y="4489704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>
                <a:solidFill>
                  <a:srgbClr val="17324D"/>
                </a:solidFill>
                <a:latin typeface="Calibri"/>
              </a:rPr>
              <a:t>支持生成、预览、部署分享、源码下载与管理后台。</a:t>
            </a:r>
          </a:p>
        </p:txBody>
      </p:sp>
      <p:sp>
        <p:nvSpPr>
          <p:cNvPr id="72" name="Oval 71"/>
          <p:cNvSpPr/>
          <p:nvPr/>
        </p:nvSpPr>
        <p:spPr>
          <a:xfrm>
            <a:off x="1042416" y="4873751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243584" y="4837176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>
                <a:solidFill>
                  <a:srgbClr val="17324D"/>
                </a:solidFill>
                <a:latin typeface="Calibri"/>
              </a:rPr>
              <a:t>覆盖 AI 智能体、工作流、流式输出与企业级后端。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09360" y="3493008"/>
            <a:ext cx="5166360" cy="2176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309360" y="3493008"/>
            <a:ext cx="5166360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20256" y="373075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Georgia"/>
              </a:rPr>
              <a:t>当前工程形态</a:t>
            </a:r>
          </a:p>
        </p:txBody>
      </p:sp>
      <p:sp>
        <p:nvSpPr>
          <p:cNvPr id="77" name="Oval 76"/>
          <p:cNvSpPr/>
          <p:nvPr/>
        </p:nvSpPr>
        <p:spPr>
          <a:xfrm>
            <a:off x="6638544" y="4178807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39712" y="4142232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>
                <a:solidFill>
                  <a:srgbClr val="17324D"/>
                </a:solidFill>
                <a:latin typeface="Calibri"/>
              </a:rPr>
              <a:t>根目录保留单体 Spring Boot 项目。</a:t>
            </a:r>
          </a:p>
        </p:txBody>
      </p:sp>
      <p:sp>
        <p:nvSpPr>
          <p:cNvPr id="79" name="Oval 78"/>
          <p:cNvSpPr/>
          <p:nvPr/>
        </p:nvSpPr>
        <p:spPr>
          <a:xfrm>
            <a:off x="6638544" y="4526279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39712" y="4489704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>
                <a:solidFill>
                  <a:srgbClr val="17324D"/>
                </a:solidFill>
                <a:latin typeface="Calibri"/>
              </a:rPr>
              <a:t>微服务目录已完成模块拆分。</a:t>
            </a:r>
          </a:p>
        </p:txBody>
      </p:sp>
      <p:sp>
        <p:nvSpPr>
          <p:cNvPr id="81" name="Oval 80"/>
          <p:cNvSpPr/>
          <p:nvPr/>
        </p:nvSpPr>
        <p:spPr>
          <a:xfrm>
            <a:off x="6638544" y="4873751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839712" y="4837176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>
                <a:solidFill>
                  <a:srgbClr val="17324D"/>
                </a:solidFill>
                <a:latin typeface="Calibri"/>
              </a:rPr>
              <a:t>前端采用 Vue 3 + TypeScript + Ant Design Vue + Vite。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核心能力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README 与前端说明体现的 4 大产品能力。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8" y="1508760"/>
            <a:ext cx="5074920" cy="1664208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4127" y="1801368"/>
            <a:ext cx="658368" cy="65836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02536"/>
            <a:ext cx="4206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819656"/>
            <a:ext cx="3474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324D"/>
                </a:solidFill>
                <a:latin typeface="Georgia"/>
              </a:rPr>
              <a:t>智能代码生成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221991"/>
            <a:ext cx="3566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30" b="0" i="0">
                <a:solidFill>
                  <a:srgbClr val="5B6B7A"/>
                </a:solidFill>
                <a:latin typeface="Calibri"/>
              </a:rPr>
              <a:t>用户输入需求后，AI 自动分析生成策略，调用工具生成 HTML、多文件或 Vue 项目代码，并以 SSE/流式方式回传执行过程。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5936" y="1508760"/>
            <a:ext cx="5074920" cy="1664208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20256" y="1801368"/>
            <a:ext cx="658368" cy="658368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39128" y="2002536"/>
            <a:ext cx="4206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819656"/>
            <a:ext cx="3474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324D"/>
                </a:solidFill>
                <a:latin typeface="Georgia"/>
              </a:rPr>
              <a:t>可视化编辑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16368" y="2221991"/>
            <a:ext cx="3566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30" b="0" i="0">
                <a:solidFill>
                  <a:srgbClr val="5B6B7A"/>
                </a:solidFill>
                <a:latin typeface="Calibri"/>
              </a:rPr>
              <a:t>生成应用可实时预览，进入编辑模式后选择页面元素并继续与 AI 对话，驱动页面迭代修改。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3721608"/>
            <a:ext cx="5074920" cy="1664208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4127" y="4014216"/>
            <a:ext cx="658368" cy="658368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215384"/>
            <a:ext cx="4206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032504"/>
            <a:ext cx="3474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324D"/>
                </a:solidFill>
                <a:latin typeface="Georgia"/>
              </a:rPr>
              <a:t>一键部署分享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4434840"/>
            <a:ext cx="3566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30" b="0" i="0">
                <a:solidFill>
                  <a:srgbClr val="5B6B7A"/>
                </a:solidFill>
                <a:latin typeface="Calibri"/>
              </a:rPr>
              <a:t>后端提供部署、静态资源访问、截图封面与源码下载能力，用户可获得可访问地址并分享。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5936" y="3721608"/>
            <a:ext cx="5074920" cy="1664208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20256" y="4014216"/>
            <a:ext cx="658368" cy="658368"/>
          </a:xfrm>
          <a:prstGeom prst="ellipse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9128" y="4215384"/>
            <a:ext cx="4206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8" y="4032504"/>
            <a:ext cx="3474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324D"/>
                </a:solidFill>
                <a:latin typeface="Georgia"/>
              </a:rPr>
              <a:t>企业级管理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16368" y="4434840"/>
            <a:ext cx="3566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30" b="0" i="0">
                <a:solidFill>
                  <a:srgbClr val="5B6B7A"/>
                </a:solidFill>
                <a:latin typeface="Calibri"/>
              </a:rPr>
              <a:t>用户、应用、聊天历史、精选应用、监控与业务指标等后台能力面向管理员维护。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989320"/>
            <a:ext cx="12191695" cy="384048"/>
          </a:xfrm>
          <a:prstGeom prst="rect">
            <a:avLst/>
          </a:prstGeom>
          <a:solidFill>
            <a:srgbClr val="DF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6053328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65A82"/>
                </a:solidFill>
                <a:latin typeface="Calibri"/>
              </a:rPr>
              <a:t>维护者视角：核心产品闭环已形成，后续重点是工程稳定性、部署可复制性与自动化验证。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技术架构与模块边界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前端、应用服务、AI 服务、截图服务与基础设施之间的责任更清晰。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1417320"/>
            <a:ext cx="11384280" cy="4251960"/>
          </a:xfrm>
          <a:prstGeom prst="rect">
            <a:avLst/>
          </a:prstGeom>
          <a:solidFill>
            <a:srgbClr val="F6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58368" y="1682496"/>
            <a:ext cx="1874519" cy="1170432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" y="1911095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0" b="1">
                <a:solidFill>
                  <a:srgbClr val="FFFFFF"/>
                </a:solidFill>
                <a:latin typeface="Calibri"/>
              </a:rPr>
              <a:t>Vue 前端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" y="2249424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Calibri"/>
              </a:rPr>
              <a:t>页面/对话/预览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2560320" y="2267712"/>
            <a:ext cx="292608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944368" y="1682496"/>
            <a:ext cx="1874519" cy="117043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054096" y="1911095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0" b="1">
                <a:solidFill>
                  <a:srgbClr val="FFFFFF"/>
                </a:solidFill>
                <a:latin typeface="Calibri"/>
              </a:rPr>
              <a:t>App 服务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81527" y="2249424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Calibri"/>
              </a:rPr>
              <a:t>应用/聊天/API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846320" y="2267712"/>
            <a:ext cx="292607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5230368" y="1682496"/>
            <a:ext cx="1874519" cy="1170432"/>
          </a:xfrm>
          <a:prstGeom prst="round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40096" y="1911095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0" b="1">
                <a:solidFill>
                  <a:srgbClr val="FFFFFF"/>
                </a:solidFill>
                <a:latin typeface="Calibri"/>
              </a:rPr>
              <a:t>AI 模块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67528" y="2249424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Calibri"/>
              </a:rPr>
              <a:t>LangChain4j
LangGraph4j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132320" y="2267712"/>
            <a:ext cx="292607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7516368" y="1682496"/>
            <a:ext cx="1874519" cy="1170432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26096" y="1911095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0" b="1">
                <a:solidFill>
                  <a:srgbClr val="FFFFFF"/>
                </a:solidFill>
                <a:latin typeface="Calibri"/>
              </a:rPr>
              <a:t>Screenshot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53528" y="2249424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Calibri"/>
              </a:rPr>
              <a:t>Selenium 截图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9418320" y="2267712"/>
            <a:ext cx="292608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9802368" y="1682496"/>
            <a:ext cx="1874519" cy="1170432"/>
          </a:xfrm>
          <a:prstGeom prst="roundRect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912096" y="1911095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0" b="1">
                <a:solidFill>
                  <a:srgbClr val="FFFFFF"/>
                </a:solidFill>
                <a:latin typeface="Calibri"/>
              </a:rPr>
              <a:t>基础设施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39528" y="2249424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Calibri"/>
              </a:rPr>
              <a:t>MySQL/Redis/COS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13232" y="3520440"/>
            <a:ext cx="1325880" cy="292608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2960" y="358444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微服务模块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13232" y="3968496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50392" y="407822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common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56232" y="4087368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通用响应/异常/工具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493008" y="3968496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30168" y="407822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model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36008" y="4087368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实体/DTO/VO/枚举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72784" y="3968496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9944" y="407822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client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15783" y="4087368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跨服务接口契约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52560" y="3968496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189720" y="407822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user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95560" y="4087368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用户与权限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13232" y="4773168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50392" y="4882896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app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56232" y="4892040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应用与部署主流程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493008" y="4773168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30168" y="4882896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ai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36008" y="4892040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模型/提示词/工具链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272784" y="4773168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09944" y="4882896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screenshot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15783" y="4892040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截图服务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昨日 / 近期变更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以最近 7 天优先；若无新增提交，则回看最近可见提交脉络。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3232" y="1417320"/>
            <a:ext cx="10972800" cy="768096"/>
          </a:xfrm>
          <a:prstGeom prst="roundRect">
            <a:avLst/>
          </a:prstGeom>
          <a:solidFill>
            <a:srgbClr val="DF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9344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65A82"/>
                </a:solidFill>
                <a:latin typeface="Georgia"/>
              </a:rPr>
              <a:t>近 7 天：无新增提交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636776"/>
            <a:ext cx="7132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70" b="0" i="0">
                <a:solidFill>
                  <a:srgbClr val="17324D"/>
                </a:solidFill>
                <a:latin typeface="Calibri"/>
              </a:rPr>
              <a:t>仓库最近可见提交集中在 2025-08，当前日报反映的是代码基线与历史进展，不代表昨日发生业务变更。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43584" y="2487168"/>
            <a:ext cx="45720" cy="29718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8992" y="2505456"/>
            <a:ext cx="384048" cy="38404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578608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487168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7A"/>
                </a:solidFill>
                <a:latin typeface="Calibri"/>
              </a:rPr>
              <a:t>2025-08-26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459736"/>
            <a:ext cx="2103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Georgia"/>
              </a:rPr>
              <a:t>微服务改造完成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246888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5B6B7A"/>
                </a:solidFill>
                <a:latin typeface="Calibri"/>
              </a:rPr>
              <a:t>完成 common/model/client/user/app/ai/screenshot 模块化，Dubbo + Nacos 跨服务调用落地。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384048" cy="384048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346704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255264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7A"/>
                </a:solidFill>
                <a:latin typeface="Calibri"/>
              </a:rPr>
              <a:t>2025-08-26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3227832"/>
            <a:ext cx="2103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Georgia"/>
              </a:rPr>
              <a:t>截图与部署链路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236976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5B6B7A"/>
                </a:solidFill>
                <a:latin typeface="Calibri"/>
              </a:rPr>
              <a:t>独立截图服务、中间态应用服务、静态资源访问与下载能力持续完善。</a:t>
            </a:r>
          </a:p>
        </p:txBody>
      </p:sp>
      <p:sp>
        <p:nvSpPr>
          <p:cNvPr id="18" name="Oval 17"/>
          <p:cNvSpPr/>
          <p:nvPr/>
        </p:nvSpPr>
        <p:spPr>
          <a:xfrm>
            <a:off x="1078992" y="4041648"/>
            <a:ext cx="384048" cy="384048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114800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023359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7A"/>
                </a:solidFill>
                <a:latin typeface="Calibri"/>
              </a:rPr>
              <a:t>2025-08-14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995928"/>
            <a:ext cx="2103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Georgia"/>
              </a:rPr>
              <a:t>可观测性与部署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4005072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5B6B7A"/>
                </a:solidFill>
                <a:latin typeface="Calibri"/>
              </a:rPr>
              <a:t>加入 Actuator、Prometheus、Grafana 配置，并补齐部署上线相关能力。</a:t>
            </a:r>
          </a:p>
        </p:txBody>
      </p:sp>
      <p:sp>
        <p:nvSpPr>
          <p:cNvPr id="23" name="Oval 22"/>
          <p:cNvSpPr/>
          <p:nvPr/>
        </p:nvSpPr>
        <p:spPr>
          <a:xfrm>
            <a:off x="1078992" y="4809744"/>
            <a:ext cx="384048" cy="384048"/>
          </a:xfrm>
          <a:prstGeom prst="ellipse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882896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791456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7A"/>
                </a:solidFill>
                <a:latin typeface="Calibri"/>
              </a:rPr>
              <a:t>2025-08-13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4764024"/>
            <a:ext cx="2103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Georgia"/>
              </a:rPr>
              <a:t>系统优化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80" y="4773168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5B6B7A"/>
                </a:solidFill>
                <a:latin typeface="Calibri"/>
              </a:rPr>
              <a:t>围绕安全审查、限流、缓存、AI 并发、实时性和成本优化推进。</a:t>
            </a:r>
          </a:p>
        </p:txBody>
      </p:sp>
      <p:sp>
        <p:nvSpPr>
          <p:cNvPr id="28" name="Oval 27"/>
          <p:cNvSpPr/>
          <p:nvPr/>
        </p:nvSpPr>
        <p:spPr>
          <a:xfrm>
            <a:off x="9829800" y="5212080"/>
            <a:ext cx="1097280" cy="1097280"/>
          </a:xfrm>
          <a:prstGeom prst="ellipse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49256" y="544068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700" b="1" i="0">
                <a:solidFill>
                  <a:srgbClr val="FFFFFF"/>
                </a:solidFill>
                <a:latin typeface="Georgia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94392" y="5806440"/>
            <a:ext cx="7498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D6F4EF"/>
                </a:solidFill>
                <a:latin typeface="Calibri"/>
              </a:rPr>
              <a:t>7天提交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数据 / 指标要点与测试状态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当前以仓库静态指标和配置为准；未发现 GitHub Actions 工作流配置。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" y="1408176"/>
            <a:ext cx="2487168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4944" y="1408176"/>
            <a:ext cx="109728" cy="1243584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609344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28090"/>
                </a:solidFill>
                <a:latin typeface="Georgia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09397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POM 文件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43230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单体 + 多模块 Maven 工程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3863" y="1408176"/>
            <a:ext cx="2487168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83863" y="1408176"/>
            <a:ext cx="109728" cy="1243584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39896" y="1609344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C7293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39896" y="209397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前端页面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9896" y="243230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主页、对话、编辑、管理、登录注册等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2783" y="1408176"/>
            <a:ext cx="2487168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72783" y="1408176"/>
            <a:ext cx="109728" cy="1243584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1609344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0A896"/>
                </a:solidFill>
                <a:latin typeface="Georgia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09397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监控资产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243230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prometheus.yml + Grafana JSON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1703" y="1408176"/>
            <a:ext cx="2487168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61703" y="1408176"/>
            <a:ext cx="109728" cy="1243584"/>
          </a:xfrm>
          <a:prstGeom prst="roundRect">
            <a:avLst/>
          </a:prstGeom>
          <a:solidFill>
            <a:srgbClr val="E86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17735" y="1609344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E86A59"/>
                </a:solidFill>
                <a:latin typeface="Georgia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5" y="209397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CI 工作流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7735" y="243230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.github/workflows 未发现配置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054096"/>
            <a:ext cx="53492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329184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Georgia"/>
              </a:rPr>
              <a:t>测试与构建配置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3703320"/>
            <a:ext cx="4572000" cy="10241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320">
                <a:solidFill>
                  <a:srgbClr val="17324D"/>
                </a:solidFill>
                <a:latin typeface="Calibri"/>
              </a:defRPr>
            </a:pPr>
            <a:r>
              <a:t>后端：Spring Boot Test 依赖存在，测试类覆盖 AI 服务、代码解析、工作流、截图工具等。</a:t>
            </a:r>
          </a:p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320">
                <a:solidFill>
                  <a:srgbClr val="17324D"/>
                </a:solidFill>
                <a:latin typeface="Calibri"/>
              </a:defRPr>
            </a:pPr>
            <a:r>
              <a:t>前端：package.json 提供 build、type-check、lint、format 脚本。</a:t>
            </a:r>
          </a:p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320">
                <a:solidFill>
                  <a:srgbClr val="17324D"/>
                </a:solidFill>
                <a:latin typeface="Calibri"/>
              </a:defRPr>
            </a:pPr>
            <a:r>
              <a:t>CI：未发现 .github/workflows，无法从仓库判断最近流水线状态。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27648" y="3054096"/>
            <a:ext cx="5138928" cy="2240280"/>
          </a:xfrm>
          <a:prstGeom prst="roundRect">
            <a:avLst/>
          </a:prstGeom>
          <a:solidFill>
            <a:srgbClr val="E7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1968" y="329184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Georgia"/>
              </a:rPr>
              <a:t>可观测性信号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3703320"/>
            <a:ext cx="4462272" cy="10241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320">
                <a:solidFill>
                  <a:srgbClr val="17324D"/>
                </a:solidFill>
                <a:latin typeface="Calibri"/>
              </a:defRPr>
            </a:pPr>
            <a:r>
              <a:t>Actuator 暴露 health / info / prometheus。</a:t>
            </a:r>
          </a:p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320">
                <a:solidFill>
                  <a:srgbClr val="17324D"/>
                </a:solidFill>
                <a:latin typeface="Calibri"/>
              </a:defRPr>
            </a:pPr>
            <a:r>
              <a:t>Prometheus 抓取 /api/actuator/prometheus，默认目标 localhost:8123。</a:t>
            </a:r>
          </a:p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320">
                <a:solidFill>
                  <a:srgbClr val="17324D"/>
                </a:solidFill>
                <a:latin typeface="Calibri"/>
              </a:defRPr>
            </a:pPr>
            <a:r>
              <a:t>Grafana 配置已纳入仓库，后续应补齐告警规则与运行手册。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未完成项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影响维护效率、交付稳定性和可复制部署的待补工作。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481328"/>
            <a:ext cx="384048" cy="38404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1408176"/>
            <a:ext cx="98755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1563624"/>
            <a:ext cx="1572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0" b="1" i="0">
                <a:solidFill>
                  <a:srgbClr val="17324D"/>
                </a:solidFill>
                <a:latin typeface="Georgia"/>
              </a:rPr>
              <a:t>配置治理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1568" y="1563624"/>
            <a:ext cx="7086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30" b="0" i="0">
                <a:solidFill>
                  <a:srgbClr val="5B6B7A"/>
                </a:solidFill>
                <a:latin typeface="Calibri"/>
              </a:rPr>
              <a:t>AI / COS / Pexels / DashScope 等密钥仍以示例形式呈现，需要环境变量与 profile 分层。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340864"/>
            <a:ext cx="384048" cy="384048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414016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2267712"/>
            <a:ext cx="98755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40" y="2423160"/>
            <a:ext cx="1572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0" b="1" i="0">
                <a:solidFill>
                  <a:srgbClr val="17324D"/>
                </a:solidFill>
                <a:latin typeface="Georgia"/>
              </a:rPr>
              <a:t>自动化验证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423160"/>
            <a:ext cx="7086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30" b="0" i="0">
                <a:solidFill>
                  <a:srgbClr val="5B6B7A"/>
                </a:solidFill>
                <a:latin typeface="Calibri"/>
              </a:rPr>
              <a:t>后端测试存在，但缺少仓库级 CI；前端未见专门测试框架配置。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200400"/>
            <a:ext cx="384048" cy="384048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273552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17320" y="3127248"/>
            <a:ext cx="98755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91640" y="3282696"/>
            <a:ext cx="1572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0" b="1" i="0">
                <a:solidFill>
                  <a:srgbClr val="17324D"/>
                </a:solidFill>
                <a:latin typeface="Georgia"/>
              </a:rPr>
              <a:t>微服务运行手册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3282696"/>
            <a:ext cx="7086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30" b="0" i="0">
                <a:solidFill>
                  <a:srgbClr val="5B6B7A"/>
                </a:solidFill>
                <a:latin typeface="Calibri"/>
              </a:rPr>
              <a:t>Dubbo + Nacos + MySQL + Redis 多依赖需要启动顺序、端口、健康检查文档。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059935"/>
            <a:ext cx="384048" cy="384048"/>
          </a:xfrm>
          <a:prstGeom prst="ellipse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133087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17320" y="3986783"/>
            <a:ext cx="98755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91640" y="4142231"/>
            <a:ext cx="1572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0" b="1" i="0">
                <a:solidFill>
                  <a:srgbClr val="17324D"/>
                </a:solidFill>
                <a:latin typeface="Georgia"/>
              </a:rPr>
              <a:t>监控闭环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1568" y="4142231"/>
            <a:ext cx="7086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30" b="0" i="0">
                <a:solidFill>
                  <a:srgbClr val="5B6B7A"/>
                </a:solidFill>
                <a:latin typeface="Calibri"/>
              </a:rPr>
              <a:t>已有 Prometheus/Grafana 资产，但告警规则、SLO 与仪表盘使用说明仍需沉淀。</a:t>
            </a:r>
          </a:p>
        </p:txBody>
      </p:sp>
      <p:sp>
        <p:nvSpPr>
          <p:cNvPr id="24" name="Oval 23"/>
          <p:cNvSpPr/>
          <p:nvPr/>
        </p:nvSpPr>
        <p:spPr>
          <a:xfrm>
            <a:off x="822960" y="4919472"/>
            <a:ext cx="384048" cy="384048"/>
          </a:xfrm>
          <a:prstGeom prst="ellipse">
            <a:avLst/>
          </a:prstGeom>
          <a:solidFill>
            <a:srgbClr val="E86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992624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17320" y="4846320"/>
            <a:ext cx="98755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91640" y="5001768"/>
            <a:ext cx="1572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0" b="1" i="0">
                <a:solidFill>
                  <a:srgbClr val="17324D"/>
                </a:solidFill>
                <a:latin typeface="Georgia"/>
              </a:rPr>
              <a:t>真实业务指标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01568" y="5001768"/>
            <a:ext cx="7086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30" b="0" i="0">
                <a:solidFill>
                  <a:srgbClr val="5B6B7A"/>
                </a:solidFill>
                <a:latin typeface="Calibri"/>
              </a:rPr>
              <a:t>暂无运行时数据来源，日报中只能展示仓库级指标，不能判断用户增长、生成成功率和成本。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风险与阻塞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重点关注外部依赖、运行环境和工程基线的一致性。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8" y="1444752"/>
            <a:ext cx="510235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974336" y="1664208"/>
            <a:ext cx="502920" cy="256032"/>
          </a:xfrm>
          <a:prstGeom prst="roundRect">
            <a:avLst/>
          </a:prstGeom>
          <a:solidFill>
            <a:srgbClr val="E86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93208" y="172821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5" y="171907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7324D"/>
                </a:solidFill>
                <a:latin typeface="Georgia"/>
              </a:rPr>
              <a:t>外部服务依赖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5" y="2103120"/>
            <a:ext cx="4343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40" b="0" i="0">
                <a:solidFill>
                  <a:srgbClr val="5B6B7A"/>
                </a:solidFill>
                <a:latin typeface="Calibri"/>
              </a:rPr>
              <a:t>AI 模型、COS、Pexels、DashScope 等均需有效密钥与额度；缺失会直接影响生成、图片与部署体验。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73368" y="1444752"/>
            <a:ext cx="510235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97896" y="1664208"/>
            <a:ext cx="502920" cy="256032"/>
          </a:xfrm>
          <a:prstGeom prst="roundRect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16768" y="172821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5976" y="171907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7324D"/>
                </a:solidFill>
                <a:latin typeface="Georgia"/>
              </a:rPr>
              <a:t>本地基础设施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5976" y="2103120"/>
            <a:ext cx="4343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40" b="0" i="0">
                <a:solidFill>
                  <a:srgbClr val="5B6B7A"/>
                </a:solidFill>
                <a:latin typeface="Calibri"/>
              </a:rPr>
              <a:t>MySQL、Redis、Nacos、Selenium/浏览器驱动等依赖较多，开发与联调环境容易出现不可复制问题。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3319272"/>
            <a:ext cx="510235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74336" y="3538728"/>
            <a:ext cx="502920" cy="25603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93208" y="360273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5" y="3593591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7324D"/>
                </a:solidFill>
                <a:latin typeface="Georgia"/>
              </a:rPr>
              <a:t>微服务中间态风险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5" y="3977639"/>
            <a:ext cx="4343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40" b="0" i="0">
                <a:solidFill>
                  <a:srgbClr val="5B6B7A"/>
                </a:solidFill>
                <a:latin typeface="Calibri"/>
              </a:rPr>
              <a:t>历史提交多次标注“中间态”，需要以最新完成态为准并避免误用早期拆分节点。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3368" y="3319272"/>
            <a:ext cx="510235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597896" y="3538728"/>
            <a:ext cx="502920" cy="256032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16768" y="360273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5976" y="3593591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7324D"/>
                </a:solidFill>
                <a:latin typeface="Georgia"/>
              </a:rPr>
              <a:t>框架版本与覆盖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5976" y="3977639"/>
            <a:ext cx="4343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40" b="0" i="0">
                <a:solidFill>
                  <a:srgbClr val="5B6B7A"/>
                </a:solidFill>
                <a:latin typeface="Calibri"/>
              </a:rPr>
              <a:t>LangChain4j beta、LangGraph4j rc 与部分自定义/复制类并存，升级和兼容性需要额外验证。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349240"/>
            <a:ext cx="10515600" cy="475488"/>
          </a:xfrm>
          <a:prstGeom prst="round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504688"/>
            <a:ext cx="9692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0" b="1" i="0">
                <a:solidFill>
                  <a:srgbClr val="FFFFFF"/>
                </a:solidFill>
                <a:latin typeface="Calibri"/>
              </a:rPr>
              <a:t>阻塞解除优先级：先配置可复制环境与密钥注入，再补 CI 与跨服务集成验证。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建议的下一步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围绕“可运行、可验证、可观测、可演进”推进。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1481328"/>
            <a:ext cx="1874519" cy="3602736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08176" y="1773936"/>
            <a:ext cx="694944" cy="69494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984248"/>
            <a:ext cx="228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688336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20" b="1" i="0">
                <a:solidFill>
                  <a:srgbClr val="17324D"/>
                </a:solidFill>
                <a:latin typeface="Georgia"/>
              </a:rPr>
              <a:t>补齐仓库级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47288"/>
            <a:ext cx="14447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20" b="0" i="0">
                <a:solidFill>
                  <a:srgbClr val="5B6B7A"/>
                </a:solidFill>
                <a:latin typeface="Calibri"/>
              </a:rPr>
              <a:t>增加后端 Maven test/build 与前端 type-check/build/lint 的最小流水线。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2139696"/>
            <a:ext cx="256032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63240" y="1481328"/>
            <a:ext cx="1874519" cy="3602736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30168" y="1773936"/>
            <a:ext cx="694944" cy="694944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67912" y="1984248"/>
            <a:ext cx="228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688336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20" b="1" i="0">
                <a:solidFill>
                  <a:srgbClr val="17324D"/>
                </a:solidFill>
                <a:latin typeface="Georgia"/>
              </a:rPr>
              <a:t>沉淀本地与微服务启动手册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73552" y="3447288"/>
            <a:ext cx="14447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20" b="0" i="0">
                <a:solidFill>
                  <a:srgbClr val="5B6B7A"/>
                </a:solidFill>
                <a:latin typeface="Calibri"/>
              </a:rPr>
              <a:t>明确 MySQL/Redis/Nacos/各服务端口、profile、健康检查和常见故障。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965192" y="2139696"/>
            <a:ext cx="256032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285232" y="1481328"/>
            <a:ext cx="1874519" cy="3602736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0" y="1773936"/>
            <a:ext cx="694944" cy="694944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89904" y="1984248"/>
            <a:ext cx="228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3832" y="2688336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20" b="1" i="0">
                <a:solidFill>
                  <a:srgbClr val="17324D"/>
                </a:solidFill>
                <a:latin typeface="Georgia"/>
              </a:rPr>
              <a:t>强化配置与密钥治理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95544" y="3447288"/>
            <a:ext cx="14447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20" b="0" i="0">
                <a:solidFill>
                  <a:srgbClr val="5B6B7A"/>
                </a:solidFill>
                <a:latin typeface="Calibri"/>
              </a:rPr>
              <a:t>将示例密钥迁移为环境变量模板，区分 local/dev/prod profile。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87184" y="2139696"/>
            <a:ext cx="256032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507224" y="1481328"/>
            <a:ext cx="1874519" cy="3602736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074152" y="1773936"/>
            <a:ext cx="694944" cy="694944"/>
          </a:xfrm>
          <a:prstGeom prst="ellipse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1896" y="1984248"/>
            <a:ext cx="228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35824" y="2688336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20" b="1" i="0">
                <a:solidFill>
                  <a:srgbClr val="17324D"/>
                </a:solidFill>
                <a:latin typeface="Georgia"/>
              </a:rPr>
              <a:t>增加端到端验证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17536" y="3447288"/>
            <a:ext cx="14447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20" b="0" i="0">
                <a:solidFill>
                  <a:srgbClr val="5B6B7A"/>
                </a:solidFill>
                <a:latin typeface="Calibri"/>
              </a:rPr>
              <a:t>覆盖创建应用 → AI 生成 → 预览 → 部署 → 下载的主路径。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409176" y="2139696"/>
            <a:ext cx="256032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729216" y="1481328"/>
            <a:ext cx="1874519" cy="3602736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296144" y="1773936"/>
            <a:ext cx="694944" cy="694944"/>
          </a:xfrm>
          <a:prstGeom prst="ellipse">
            <a:avLst/>
          </a:prstGeom>
          <a:solidFill>
            <a:srgbClr val="E86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33888" y="1984248"/>
            <a:ext cx="228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57816" y="2688336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20" b="1" i="0">
                <a:solidFill>
                  <a:srgbClr val="17324D"/>
                </a:solidFill>
                <a:latin typeface="Georgia"/>
              </a:rPr>
              <a:t>完善监控与成本面板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9528" y="3447288"/>
            <a:ext cx="14447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20" b="0" i="0">
                <a:solidFill>
                  <a:srgbClr val="5B6B7A"/>
                </a:solidFill>
                <a:latin typeface="Calibri"/>
              </a:rPr>
              <a:t>把 AI 调用量、失败率、延迟、缓存命中率、部署成功率接入指标体系。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Oval 2"/>
          <p:cNvSpPr/>
          <p:nvPr/>
        </p:nvSpPr>
        <p:spPr>
          <a:xfrm>
            <a:off x="7955279" y="-731520"/>
            <a:ext cx="4572000" cy="192024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Georgia"/>
              </a:rPr>
              <a:t>总结：今日判断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6F4EF"/>
                </a:solidFill>
                <a:latin typeface="Calibri"/>
              </a:rPr>
              <a:t>项目功能闭环明确，工程可靠性是下一阶段的主要杠杆。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4F7F1"/>
                </a:solidFill>
                <a:latin typeface="Calibri"/>
              </a:rPr>
              <a:t>yu-ai-code-mother · 每日项目状态 · 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D4F7F1"/>
                </a:solidFill>
                <a:latin typeface="Calibri"/>
              </a:rPr>
              <a:t>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600200"/>
            <a:ext cx="10424160" cy="4572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1874519"/>
            <a:ext cx="9966960" cy="6766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78992" y="2039112"/>
            <a:ext cx="640080" cy="292608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97864" y="2112263"/>
            <a:ext cx="40233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Georgia"/>
              </a:rPr>
              <a:t>能力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38528" y="2075688"/>
            <a:ext cx="8092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Calibri"/>
              </a:rPr>
              <a:t>AI 生成、编辑、部署、管理闭环已具备雏形，适合围绕用户主路径继续打磨体验。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2825496"/>
            <a:ext cx="9966960" cy="6766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78992" y="2990088"/>
            <a:ext cx="640080" cy="292608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97864" y="3063239"/>
            <a:ext cx="40233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Georgia"/>
              </a:rPr>
              <a:t>架构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38528" y="3026664"/>
            <a:ext cx="8092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Calibri"/>
              </a:rPr>
              <a:t>微服务拆分已经形成，需用文档、CI 与集成测试降低多依赖协作成本。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3776472"/>
            <a:ext cx="9966960" cy="6766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78992" y="3941063"/>
            <a:ext cx="640080" cy="292608"/>
          </a:xfrm>
          <a:prstGeom prst="roundRect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97864" y="4014215"/>
            <a:ext cx="40233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Georgia"/>
              </a:rPr>
              <a:t>重点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38528" y="3977639"/>
            <a:ext cx="8092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Calibri"/>
              </a:rPr>
              <a:t>优先补齐配置治理、自动化验证、监控告警与运行指标采集。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5623560"/>
            <a:ext cx="6675120" cy="402336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2" y="5751576"/>
            <a:ext cx="6217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Calibri"/>
              </a:rPr>
              <a:t>报告文件：docs/reports/project-status-2026-06-03.pptx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- yu-ai-code-mother</dc:title>
  <dc:subject>AI 零代码应用生成平台项目状态</dc:subject>
  <dc:creator>Cursor Automation</dc:creator>
  <cp:keywords/>
  <dc:description>Generated from repository README, modules, and git history.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