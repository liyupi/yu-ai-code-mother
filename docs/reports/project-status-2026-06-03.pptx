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389120"/>
            <a:ext cx="7772400" cy="2560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54880" y="-822960"/>
            <a:ext cx="8229600" cy="2743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206240"/>
            <a:ext cx="4389120" cy="2011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74066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40864"/>
            <a:ext cx="74980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D6F4EF"/>
                </a:solidFill>
                <a:latin typeface="Calibri"/>
              </a:rPr>
              <a:t>AI 零代码应用生成平台 · yu-ai-code-mother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53035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运行日：2026-06-03（北京时间）
受众：项目维护者 / 团队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207008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35331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FF6F0"/>
                </a:solidFill>
                <a:latin typeface="Calibri"/>
              </a:rPr>
              <a:t>代码生成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8008" y="13258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167128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134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FF6F0"/>
                </a:solidFill>
                <a:latin typeface="Calibri"/>
              </a:rPr>
              <a:t>架构阶段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8" y="22860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微服务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127248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27355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FF6F0"/>
                </a:solidFill>
                <a:latin typeface="Calibri"/>
              </a:rPr>
              <a:t>验证重点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324612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4F7F1"/>
                </a:solidFill>
                <a:latin typeface="Calibri"/>
              </a:rPr>
              <a:t>yu-ai-code-mother · 每日项目状态 ·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D4F7F1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从仓库可观察事实看：产品能力完整，工程形态正在从单体过渡到微服务。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444752"/>
            <a:ext cx="1325880" cy="29260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0876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仓库信号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10512"/>
            <a:ext cx="109728" cy="1325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011680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Georgia"/>
              </a:rPr>
              <a:t>287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4963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Java 源文件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34640"/>
            <a:ext cx="2011680" cy="19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单体与微服务后端合计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10512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2152" y="1810512"/>
            <a:ext cx="109728" cy="13258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2011680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C7293"/>
                </a:solidFill>
                <a:latin typeface="Georgia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4963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Vue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834640"/>
            <a:ext cx="2011680" cy="19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前端页面与组件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810512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1810512"/>
            <a:ext cx="109728" cy="13258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011680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Georg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4963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微服务模块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834640"/>
            <a:ext cx="2011680" cy="19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common / model / client / user / app / ai / screenshot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1810512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79991" y="1810512"/>
            <a:ext cx="109728" cy="1325880"/>
          </a:xfrm>
          <a:prstGeom prst="roundRect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3" y="2011680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6A94A"/>
                </a:solidFill>
                <a:latin typeface="Georgia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3" y="24963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后端测试类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3" y="2834640"/>
            <a:ext cx="2011680" cy="19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覆盖 AI、解析、工作流、截图等重点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493008"/>
            <a:ext cx="5303520" cy="2176272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7307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Georgia"/>
              </a:rPr>
              <a:t>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96512"/>
            <a:ext cx="4617720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面向用户提示词的 AI 应用/网站生成平台。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支持代码生成、实时预览、部署分享、源码下载与管理后台。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技术主线覆盖 AI 智能体、工作流、流式输出与企业级后端架构。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93008"/>
            <a:ext cx="5166360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CC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73075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Georgia"/>
              </a:rPr>
              <a:t>当前工程形态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096512"/>
            <a:ext cx="4572000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根目录保留单体 Spring Boot 项目，微服务目录已完成模块拆分。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前端单独维护，采用 Vue 3 + TypeScript + Ant Design Vue + Vite。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430">
                <a:solidFill>
                  <a:srgbClr val="17324D"/>
                </a:solidFill>
                <a:latin typeface="Calibri"/>
              </a:defRPr>
            </a:pPr>
            <a:r>
              <a:t>监控配置包含 Actuator / Prometheus / Grafana 相关资产。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README 与前端说明体现的 4 大产品能力。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507492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7" y="180136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02536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196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7324D"/>
                </a:solidFill>
                <a:latin typeface="Georgia"/>
              </a:rPr>
              <a:t>智能代码生成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21991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0" b="0" i="0">
                <a:solidFill>
                  <a:srgbClr val="5B6B7A"/>
                </a:solidFill>
                <a:latin typeface="Calibri"/>
              </a:rPr>
              <a:t>用户输入需求后，AI 自动分析生成策略，调用工具生成 HTML、多文件或 Vue 项目代码，并以 SSE/流式方式回传执行过程。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508760"/>
            <a:ext cx="507492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0256" y="1801368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2002536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8196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7324D"/>
                </a:solidFill>
                <a:latin typeface="Georgia"/>
              </a:rPr>
              <a:t>可视化编辑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221991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0" b="0" i="0">
                <a:solidFill>
                  <a:srgbClr val="5B6B7A"/>
                </a:solidFill>
                <a:latin typeface="Calibri"/>
              </a:rPr>
              <a:t>生成应用可实时预览，进入编辑模式后选择页面元素并继续与 AI 对话，驱动页面迭代修改。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21608"/>
            <a:ext cx="507492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7" y="4014216"/>
            <a:ext cx="658368" cy="65836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15384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3250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7324D"/>
                </a:solidFill>
                <a:latin typeface="Georgia"/>
              </a:rPr>
              <a:t>一键部署分享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3484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0" b="0" i="0">
                <a:solidFill>
                  <a:srgbClr val="5B6B7A"/>
                </a:solidFill>
                <a:latin typeface="Calibri"/>
              </a:rPr>
              <a:t>后端提供部署、静态资源访问、截图封面与源码下载能力，用户可获得可访问地址并分享。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3721608"/>
            <a:ext cx="507492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0256" y="4014216"/>
            <a:ext cx="658368" cy="658368"/>
          </a:xfrm>
          <a:prstGeom prst="ellipse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4215384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4032504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7324D"/>
                </a:solidFill>
                <a:latin typeface="Georgia"/>
              </a:rPr>
              <a:t>企业级管理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443484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30" b="0" i="0">
                <a:solidFill>
                  <a:srgbClr val="5B6B7A"/>
                </a:solidFill>
                <a:latin typeface="Calibri"/>
              </a:rPr>
              <a:t>用户、应用、聊天历史、精选应用、监控与业务指标等后台能力面向管理员维护。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91695" cy="384048"/>
          </a:xfrm>
          <a:prstGeom prst="rect">
            <a:avLst/>
          </a:prstGeom>
          <a:solidFill>
            <a:srgbClr val="DF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65A82"/>
                </a:solidFill>
                <a:latin typeface="Calibri"/>
              </a:rPr>
              <a:t>维护者视角：核心产品闭环已形成，后续重点是工程稳定性、部署可复制性与自动化验证。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技术架构与模块边界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前端、应用服务、AI 服务、截图服务与基础设施之间的责任更清晰。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64208"/>
            <a:ext cx="1874519" cy="1225296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92024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Vue 3 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677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0" i="0">
                <a:solidFill>
                  <a:srgbClr val="FFFFFF"/>
                </a:solidFill>
                <a:latin typeface="Calibri"/>
              </a:rPr>
              <a:t>页面、对话、预览、管理后台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5456" y="2276856"/>
            <a:ext cx="33832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07792" y="1664208"/>
            <a:ext cx="1874519" cy="1225296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92024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App 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2677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0" i="0">
                <a:solidFill>
                  <a:srgbClr val="FFFFFF"/>
                </a:solidFill>
                <a:latin typeface="Calibri"/>
              </a:rPr>
              <a:t>应用/聊天/部署/API 聚合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9744" y="2276856"/>
            <a:ext cx="33832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1664208"/>
            <a:ext cx="1874519" cy="1225296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92024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AI 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2677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0" i="0">
                <a:solidFill>
                  <a:srgbClr val="FFFFFF"/>
                </a:solidFill>
                <a:latin typeface="Calibri"/>
              </a:rPr>
              <a:t>LangChain4j、LangGraph4j、工具调用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14032" y="2276856"/>
            <a:ext cx="33832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16368" y="1664208"/>
            <a:ext cx="1874519" cy="1225296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192024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2677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0" i="0">
                <a:solidFill>
                  <a:srgbClr val="FFFFFF"/>
                </a:solidFill>
                <a:latin typeface="Calibri"/>
              </a:rPr>
              <a:t>Selenium 截图与封面生成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0" y="2276856"/>
            <a:ext cx="33832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0656" y="1664208"/>
            <a:ext cx="1874519" cy="1225296"/>
          </a:xfrm>
          <a:prstGeom prst="roundRect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57816" y="192024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基础设施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2267712"/>
            <a:ext cx="1536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0" i="0">
                <a:solidFill>
                  <a:srgbClr val="FFFFFF"/>
                </a:solidFill>
                <a:latin typeface="Calibri"/>
              </a:rPr>
              <a:t>MySQL / Redis / COS / Prometheus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520440"/>
            <a:ext cx="1325880" cy="292608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84448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微服务模块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0208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5993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common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0690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通用响应、异常、工具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3008" y="3950208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405993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0690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实体、DTO、VO、枚举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3950208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05993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40690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跨服务接口契约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3950208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405993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40690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用户与权限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754880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864608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87375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应用与部署主流程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93008" y="4754880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48456" y="4864608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487375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模型、提示词、工具链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72784" y="4754880"/>
            <a:ext cx="2377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4864608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Georgia"/>
              </a:rPr>
              <a:t>screenshot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487375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5B6B7A"/>
                </a:solidFill>
                <a:latin typeface="Calibri"/>
              </a:rPr>
              <a:t>截图服务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昨日 / 近期变更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以最近 7 天优先；若无新增提交，则回看最近可见提交脉络。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10972800" cy="768096"/>
          </a:xfrm>
          <a:prstGeom prst="roundRect">
            <a:avLst/>
          </a:prstGeom>
          <a:solidFill>
            <a:srgbClr val="DF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934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Georgia"/>
              </a:rPr>
              <a:t>近 7 天：无新增提交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36776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17324D"/>
                </a:solidFill>
                <a:latin typeface="Calibri"/>
              </a:rPr>
              <a:t>仓库最近可见提交集中在 2025-08，当前日报反映的是代码基线与历史进展，不代表昨日发生业务变更。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3584" y="2487168"/>
            <a:ext cx="45720" cy="2971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50545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8716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7A"/>
                </a:solidFill>
                <a:latin typeface="Calibri"/>
              </a:rPr>
              <a:t>2025-08-26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59736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Georgia"/>
              </a:rPr>
              <a:t>微服务改造完成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46888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5B6B7A"/>
                </a:solidFill>
                <a:latin typeface="Calibri"/>
              </a:rPr>
              <a:t>完成 common/model/client/user/app/ai/screenshot 模块化，Dubbo + Nacos 跨服务调用落地。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327355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46704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552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7A"/>
                </a:solidFill>
                <a:latin typeface="Calibri"/>
              </a:rPr>
              <a:t>2025-08-26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22783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Georgia"/>
              </a:rPr>
              <a:t>截图与部署链路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236976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5B6B7A"/>
                </a:solidFill>
                <a:latin typeface="Calibri"/>
              </a:rPr>
              <a:t>独立截图服务、中间态应用服务、静态资源访问与下载能力持续完善。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" y="404164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23359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7A"/>
                </a:solidFill>
                <a:latin typeface="Calibri"/>
              </a:rPr>
              <a:t>2025-08-14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95928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Georgia"/>
              </a:rPr>
              <a:t>可观测性与部署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005072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5B6B7A"/>
                </a:solidFill>
                <a:latin typeface="Calibri"/>
              </a:rPr>
              <a:t>加入 Actuator、Prometheus、Grafana 配置，并补齐部署上线相关能力。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" y="4809744"/>
            <a:ext cx="384048" cy="384048"/>
          </a:xfrm>
          <a:prstGeom prst="ellipse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8289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914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7A"/>
                </a:solidFill>
                <a:latin typeface="Calibri"/>
              </a:rPr>
              <a:t>2025-08-13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764024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Georgia"/>
              </a:rPr>
              <a:t>系统优化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773168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5B6B7A"/>
                </a:solidFill>
                <a:latin typeface="Calibri"/>
              </a:rPr>
              <a:t>围绕安全审查、限流、缓存、AI 并发、实时性和成本优化推进。</a:t>
            </a:r>
          </a:p>
        </p:txBody>
      </p:sp>
      <p:sp>
        <p:nvSpPr>
          <p:cNvPr id="28" name="Oval 27"/>
          <p:cNvSpPr/>
          <p:nvPr/>
        </p:nvSpPr>
        <p:spPr>
          <a:xfrm>
            <a:off x="9829800" y="5212080"/>
            <a:ext cx="1097280" cy="10972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6" y="544068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5806440"/>
            <a:ext cx="7498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D6F4EF"/>
                </a:solidFill>
                <a:latin typeface="Calibri"/>
              </a:rPr>
              <a:t>7天提交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数据 / 指标要点与测试状态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当前以仓库静态指标和配置为准；未发现 GitHub Actions 工作流配置。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408176"/>
            <a:ext cx="248716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408176"/>
            <a:ext cx="109728" cy="124358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9344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Georg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939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POM 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3230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单体 + 多模块 Maven 工程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3" y="1408176"/>
            <a:ext cx="248716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3863" y="1408176"/>
            <a:ext cx="109728" cy="1243584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609344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C7293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0939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前端页面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43230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主页、对话、编辑、管理、登录注册等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1408176"/>
            <a:ext cx="248716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3" y="1408176"/>
            <a:ext cx="109728" cy="12435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609344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0939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监控资产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43230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prometheus.yml + Grafana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3" y="1408176"/>
            <a:ext cx="2487168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B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61703" y="1408176"/>
            <a:ext cx="109728" cy="1243584"/>
          </a:xfrm>
          <a:prstGeom prst="round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5" y="1609344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6A59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5" y="209397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B6B7A"/>
                </a:solidFill>
                <a:latin typeface="Calibri"/>
              </a:rPr>
              <a:t>CI 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5" y="243230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324D"/>
                </a:solidFill>
                <a:latin typeface="Calibri"/>
              </a:rPr>
              <a:t>.github/workflows 未发现配置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054096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2918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Georgia"/>
              </a:rPr>
              <a:t>测试与构建配置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703320"/>
            <a:ext cx="4572000" cy="10241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后端：Spring Boot Test 依赖存在，测试类覆盖 AI 服务、代码解析、工作流、截图工具等。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前端：package.json 提供 build、type-check、lint、format 脚本。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CI：未发现 .github/workflows，无法从仓库判断最近流水线状态。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054096"/>
            <a:ext cx="5138928" cy="224028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2918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Georgia"/>
              </a:rPr>
              <a:t>可观测性信号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03320"/>
            <a:ext cx="4462272" cy="10241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Actuator 暴露 health / info / prometheus。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Prometheus 抓取 /api/actuator/prometheus，默认目标 localhost:8123。</a:t>
            </a:r>
          </a:p>
          <a:p>
            <a:pPr>
              <a:buChar char="•"/>
              <a:lnSpc>
                <a:spcPct val="103000"/>
              </a:lnSpc>
              <a:spcAft>
                <a:spcPts val="0"/>
              </a:spcAft>
              <a:defRPr sz="1320">
                <a:solidFill>
                  <a:srgbClr val="17324D"/>
                </a:solidFill>
                <a:latin typeface="Calibri"/>
              </a:defRPr>
            </a:pPr>
            <a:r>
              <a:t>Grafana 配置已纳入仓库，后续应补齐告警规则与运行手册。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未完成项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影响维护效率、交付稳定性和可复制部署的待补工作。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8132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408176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563624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Georgia"/>
              </a:rPr>
              <a:t>配置治理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563624"/>
            <a:ext cx="7086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B6B7A"/>
                </a:solidFill>
                <a:latin typeface="Calibri"/>
              </a:rPr>
              <a:t>AI / COS / Pexels / DashScope 等密钥仍以示例形式呈现，需要环境变量与 profile 分层。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1401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67712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42316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Georgia"/>
              </a:rPr>
              <a:t>自动化验证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423160"/>
            <a:ext cx="7086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B6B7A"/>
                </a:solidFill>
                <a:latin typeface="Calibri"/>
              </a:rPr>
              <a:t>后端测试存在，但缺少仓库级 CI；前端未见专门测试框架配置。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040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73552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127248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282696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Georgia"/>
              </a:rPr>
              <a:t>微服务运行手册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282696"/>
            <a:ext cx="7086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B6B7A"/>
                </a:solidFill>
                <a:latin typeface="Calibri"/>
              </a:rPr>
              <a:t>Dubbo + Nacos + MySQL + Redis 多依赖需要启动顺序、端口、健康检查文档。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59935"/>
            <a:ext cx="384048" cy="384048"/>
          </a:xfrm>
          <a:prstGeom prst="ellipse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133087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986783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142231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Georgia"/>
              </a:rPr>
              <a:t>监控闭环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4142231"/>
            <a:ext cx="7086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B6B7A"/>
                </a:solidFill>
                <a:latin typeface="Calibri"/>
              </a:rPr>
              <a:t>已有 Prometheus/Grafana 资产，但告警规则、SLO 与仪表盘使用说明仍需沉淀。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919472"/>
            <a:ext cx="384048" cy="384048"/>
          </a:xfrm>
          <a:prstGeom prst="ellipse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992624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846320"/>
            <a:ext cx="9875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5001768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Georgia"/>
              </a:rPr>
              <a:t>真实业务指标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5001768"/>
            <a:ext cx="7086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5B6B7A"/>
                </a:solidFill>
                <a:latin typeface="Calibri"/>
              </a:rPr>
              <a:t>暂无运行时数据来源，日报中只能展示仓库级指标，不能判断用户增长、生成成功率和成本。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风险与阻塞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重点关注外部依赖、运行环境和工程基线的一致性。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44752"/>
            <a:ext cx="51023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74336" y="1664208"/>
            <a:ext cx="502920" cy="256032"/>
          </a:xfrm>
          <a:prstGeom prst="round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3208" y="172821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171907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Georgia"/>
              </a:rPr>
              <a:t>外部服务依赖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103120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0" b="0" i="0">
                <a:solidFill>
                  <a:srgbClr val="5B6B7A"/>
                </a:solidFill>
                <a:latin typeface="Calibri"/>
              </a:rPr>
              <a:t>AI 模型、COS、Pexels、DashScope 等均需有效密钥与额度；缺失会直接影响生成、图片与部署体验。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444752"/>
            <a:ext cx="51023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97896" y="1664208"/>
            <a:ext cx="502920" cy="256032"/>
          </a:xfrm>
          <a:prstGeom prst="roundRect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16768" y="172821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171907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Georgia"/>
              </a:rPr>
              <a:t>本地基础设施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2103120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0" b="0" i="0">
                <a:solidFill>
                  <a:srgbClr val="5B6B7A"/>
                </a:solidFill>
                <a:latin typeface="Calibri"/>
              </a:rPr>
              <a:t>MySQL、Redis、Nacos、Selenium/浏览器驱动等依赖较多，开发与联调环境容易出现不可复制问题。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319272"/>
            <a:ext cx="51023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74336" y="3538728"/>
            <a:ext cx="502920" cy="25603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360273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59359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Georgia"/>
              </a:rPr>
              <a:t>微服务中间态风险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3977639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0" b="0" i="0">
                <a:solidFill>
                  <a:srgbClr val="5B6B7A"/>
                </a:solidFill>
                <a:latin typeface="Calibri"/>
              </a:rPr>
              <a:t>历史提交多次标注“中间态”，需要以最新完成态为准并避免误用早期拆分节点。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3319272"/>
            <a:ext cx="51023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97896" y="3538728"/>
            <a:ext cx="502920" cy="25603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16768" y="360273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59359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Georgia"/>
              </a:rPr>
              <a:t>框架版本与覆盖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3977639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40" b="0" i="0">
                <a:solidFill>
                  <a:srgbClr val="5B6B7A"/>
                </a:solidFill>
                <a:latin typeface="Calibri"/>
              </a:rPr>
              <a:t>LangChain4j beta、LangGraph4j rc 与部分自定义/复制类并存，升级和兼容性需要额外验证。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49240"/>
            <a:ext cx="10515600" cy="475488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04688"/>
            <a:ext cx="9692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80" b="1" i="0">
                <a:solidFill>
                  <a:srgbClr val="FFFFFF"/>
                </a:solidFill>
                <a:latin typeface="Calibri"/>
              </a:rPr>
              <a:t>阻塞解除优先级：先配置可复制环境与密钥注入，再补 CI 与跨服务集成验证。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7324D"/>
                </a:solidFill>
                <a:latin typeface="Georgia"/>
              </a:rPr>
              <a:t>建议的下一步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Calibri"/>
              </a:rPr>
              <a:t>围绕“可运行、可验证、可观测、可演进”推进。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81328"/>
            <a:ext cx="1874519" cy="3602736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08176" y="1773936"/>
            <a:ext cx="694944" cy="69494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842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68833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 i="0">
                <a:solidFill>
                  <a:srgbClr val="17324D"/>
                </a:solidFill>
                <a:latin typeface="Georgia"/>
              </a:rPr>
              <a:t>补齐仓库级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47288"/>
            <a:ext cx="14447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20" b="0" i="0">
                <a:solidFill>
                  <a:srgbClr val="5B6B7A"/>
                </a:solidFill>
                <a:latin typeface="Calibri"/>
              </a:rPr>
              <a:t>增加后端 Maven test/build 与前端 type-check/build/lint 的最小流水线。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139696"/>
            <a:ext cx="256032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481328"/>
            <a:ext cx="1874519" cy="3602736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0168" y="1773936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19842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8833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 i="0">
                <a:solidFill>
                  <a:srgbClr val="17324D"/>
                </a:solidFill>
                <a:latin typeface="Georgia"/>
              </a:rPr>
              <a:t>沉淀本地与微服务启动手册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447288"/>
            <a:ext cx="14447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20" b="0" i="0">
                <a:solidFill>
                  <a:srgbClr val="5B6B7A"/>
                </a:solidFill>
                <a:latin typeface="Calibri"/>
              </a:rPr>
              <a:t>明确 MySQL/Redis/Nacos/各服务端口、profile、健康检查和常见故障。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65192" y="2139696"/>
            <a:ext cx="256032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481328"/>
            <a:ext cx="1874519" cy="3602736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1773936"/>
            <a:ext cx="694944" cy="69494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9842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268833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 i="0">
                <a:solidFill>
                  <a:srgbClr val="17324D"/>
                </a:solidFill>
                <a:latin typeface="Georgia"/>
              </a:rPr>
              <a:t>强化配置与密钥治理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3447288"/>
            <a:ext cx="14447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20" b="0" i="0">
                <a:solidFill>
                  <a:srgbClr val="5B6B7A"/>
                </a:solidFill>
                <a:latin typeface="Calibri"/>
              </a:rPr>
              <a:t>将示例密钥迁移为环境变量模板，区分 local/dev/prod profile。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87184" y="2139696"/>
            <a:ext cx="256032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07224" y="1481328"/>
            <a:ext cx="1874519" cy="3602736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4152" y="1773936"/>
            <a:ext cx="694944" cy="694944"/>
          </a:xfrm>
          <a:prstGeom prst="ellipse">
            <a:avLst/>
          </a:prstGeom>
          <a:solidFill>
            <a:srgbClr val="F6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19842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68833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 i="0">
                <a:solidFill>
                  <a:srgbClr val="17324D"/>
                </a:solidFill>
                <a:latin typeface="Georgia"/>
              </a:rPr>
              <a:t>增加端到端验证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3447288"/>
            <a:ext cx="14447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20" b="0" i="0">
                <a:solidFill>
                  <a:srgbClr val="5B6B7A"/>
                </a:solidFill>
                <a:latin typeface="Calibri"/>
              </a:rPr>
              <a:t>覆盖创建应用 → AI 生成 → 预览 → 部署 → 下载的主路径。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09176" y="2139696"/>
            <a:ext cx="256032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29216" y="1481328"/>
            <a:ext cx="1874519" cy="3602736"/>
          </a:xfrm>
          <a:prstGeom prst="roundRect">
            <a:avLst/>
          </a:prstGeom>
          <a:solidFill>
            <a:srgbClr val="FFFFFF"/>
          </a:solidFill>
          <a:ln>
            <a:solidFill>
              <a:srgbClr val="D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96144" y="1773936"/>
            <a:ext cx="694944" cy="694944"/>
          </a:xfrm>
          <a:prstGeom prst="ellipse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33888" y="1984248"/>
            <a:ext cx="228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6" y="268833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20" b="1" i="0">
                <a:solidFill>
                  <a:srgbClr val="17324D"/>
                </a:solidFill>
                <a:latin typeface="Georgia"/>
              </a:rPr>
              <a:t>完善监控与成本面板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3447288"/>
            <a:ext cx="14447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20" b="0" i="0">
                <a:solidFill>
                  <a:srgbClr val="5B6B7A"/>
                </a:solidFill>
                <a:latin typeface="Calibri"/>
              </a:rPr>
              <a:t>把 AI 调用量、失败率、延迟、缓存命中率、部署成功率接入指标体系。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Calibri"/>
              </a:rPr>
              <a:t>yu-ai-code-mother · 每日项目状态 · 09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5074920"/>
            <a:ext cx="6583680" cy="20116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-731520"/>
            <a:ext cx="4572000" cy="1920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937760"/>
            <a:ext cx="3108960" cy="1645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总结：今日判断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F4EF"/>
                </a:solidFill>
                <a:latin typeface="Calibri"/>
              </a:rPr>
              <a:t>项目功能闭环明确，工程可靠性是下一阶段的主要杠杆。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9966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07568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75688"/>
            <a:ext cx="8138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40" b="0" i="0">
                <a:solidFill>
                  <a:srgbClr val="FFFFFF"/>
                </a:solidFill>
                <a:latin typeface="Calibri"/>
              </a:rPr>
              <a:t>AI 生成、编辑、部署、管理闭环已具备雏形，适合围绕用户主路径继续打磨体验。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9966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3580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35808"/>
            <a:ext cx="8138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40" b="0" i="0">
                <a:solidFill>
                  <a:srgbClr val="FFFFFF"/>
                </a:solidFill>
                <a:latin typeface="Calibri"/>
              </a:rPr>
              <a:t>微服务拆分已经形成，需用文档、CI 与集成测试降低多依赖协作成本。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9966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99592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Georgia"/>
              </a:rPr>
              <a:t>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95928"/>
            <a:ext cx="8138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40" b="0" i="0">
                <a:solidFill>
                  <a:srgbClr val="FFFFFF"/>
                </a:solidFill>
                <a:latin typeface="Calibri"/>
              </a:rPr>
              <a:t>优先补齐配置治理、自动化验证、监控告警与运行指标采集。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4243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6F4EF"/>
                </a:solidFill>
                <a:latin typeface="Calibri"/>
              </a:rPr>
              <a:t>报告文件：docs/reports/project-status-2026-06-03.pptx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4F7F1"/>
                </a:solidFill>
                <a:latin typeface="Calibri"/>
              </a:rPr>
              <a:t>yu-ai-code-mother · 每日项目状态 ·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08792" y="6428232"/>
            <a:ext cx="612648" cy="1280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94592" y="63459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D4F7F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</dc:title>
  <dc:subject>AI 零代码应用生成平台项目状态</dc:subject>
  <dc:creator>Cursor Automation</dc:creator>
  <cp:keywords/>
  <dc:description>Generated from repository README, modules, and git history.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