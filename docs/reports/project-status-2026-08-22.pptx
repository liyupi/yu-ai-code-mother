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B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D2B2E"/>
                </a:solidFill>
                <a:latin typeface="Calibri"/>
              </a:rPr>
              <a:t>第 9–14 期活跃日提交次数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教程提交密度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08-07</c:v>
                  </c:pt>
                  <c:pt idx="1">
                    <c:v>08-12</c:v>
                  </c:pt>
                  <c:pt idx="2">
                    <c:v>08-13</c:v>
                  </c:pt>
                  <c:pt idx="3">
                    <c:v>08-14</c:v>
                  </c:pt>
                  <c:pt idx="4">
                    <c:v>08-26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6</c:v>
                </c:pt>
                <c:pt idx="3">
                  <c:v>2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C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7AA8A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C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280160"/>
            <a:ext cx="3657600" cy="3657600"/>
          </a:xfrm>
          <a:prstGeom prst="ellipse">
            <a:avLst/>
          </a:prstGeom>
          <a:solidFill>
            <a:srgbClr val="014F58"/>
          </a:solidFill>
          <a:ln w="12700">
            <a:solidFill>
              <a:srgbClr val="014F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00400"/>
            <a:ext cx="2560320" cy="2560320"/>
          </a:xfrm>
          <a:prstGeom prst="ellipse">
            <a:avLst/>
          </a:prstGeom>
          <a:solidFill>
            <a:srgbClr val="01363F"/>
          </a:solidFill>
          <a:ln w="12700">
            <a:solidFill>
              <a:srgbClr val="0136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·  DAILY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面向项目维护者与教学协作团队的基线扫描：能力、近期变更、开放问题与下一步。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2026-08-22  北京时间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274320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 893918c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7432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期基线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6537960" cy="1051560"/>
          </a:xfrm>
          <a:prstGeom prst="roundRect">
            <a:avLst>
              <a:gd name="adj" fmla="val 8696"/>
            </a:avLst>
          </a:prstGeom>
          <a:solidFill>
            <a:srgbClr val="014F58"/>
          </a:solidFill>
          <a:ln w="12700">
            <a:solidFill>
              <a:srgbClr val="014F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112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无业务提交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双栈（单体 + 微服务）并存  ·  3 个 Open Issue  ·  无业务 CI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今日速览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仓库静态扫描结果，并非生产运行时指标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88900" dist="25400" dir="8100000">
              <a:srgbClr val="012A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0" y="129844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40817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847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30352" y="230428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自 2025-08-26 静止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0320" y="1170432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129030000" dist="322580000" dir="486000000000">
              <a:srgbClr val="012A32">
                <a:alpha val="10000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298448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33472" y="1847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893918c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633472" y="230428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HEAD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65176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期微服务改造完成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63440" y="1170432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4338681000000" dist="4096766000000" dir="29160000000000000">
              <a:srgbClr val="012A32">
                <a:alpha val="10000000000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94960" y="1298448"/>
            <a:ext cx="493776" cy="493776"/>
          </a:xfrm>
          <a:prstGeom prst="ellipse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40817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36592" y="1847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4736592" y="230428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75488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编号 5 / 81 / 65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766560" y="1170432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82101248700000000" dist="52028928200000000" dir="1.7496e+21">
              <a:srgbClr val="012A32">
                <a:alpha val="1000000000000000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98080" y="1298448"/>
            <a:ext cx="493776" cy="493776"/>
          </a:xfrm>
          <a:prstGeom prst="ellipse">
            <a:avLst/>
          </a:prstGeom>
          <a:solidFill>
            <a:srgbClr val="1B7A4E"/>
          </a:solidFill>
          <a:ln w="12700">
            <a:solidFill>
              <a:srgbClr val="1B7A4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40817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39712" y="18470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30" name="Text 24"/>
          <p:cNvSpPr/>
          <p:nvPr/>
        </p:nvSpPr>
        <p:spPr>
          <a:xfrm>
            <a:off x="6839712" y="230428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858000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GitHub Actions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57200" y="3346704"/>
            <a:ext cx="8229600" cy="1335024"/>
          </a:xfrm>
          <a:prstGeom prst="roundRect">
            <a:avLst>
              <a:gd name="adj" fmla="val 6849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0080" y="373075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2219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88720" y="3474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188720" y="3767328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教学主线已闭环到微服务改造；代码基线稳定，但社区 Issue 与双栈维护成本尚未消化。今日汇报以冻结基线与开放风险为主，不臆造业务增长数字。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对标大厂的企业级 AI 代码生成教学平台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4023360" cy="3493008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2.31268585849e+21" dist="660767388140000000000" dir="1.04976e+26">
              <a:srgbClr val="012A32">
                <a:alpha val="1e+2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52144"/>
            <a:ext cx="109728" cy="3493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07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481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用户用自然语言描述需求，平台自动路由生成策略、流式产出代码，并支持可视化改稿、一键部署与后台治理。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042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作者形态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2304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程序员鱼皮教学项目，含完整教程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仓库周期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2025-07-24 起步，共 60 次提交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182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当前基线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3182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期微服务改造完成（含单体）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6210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3621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HTML、多文件、Vue 工程三种路由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0599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4059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user、app、chat_history 三张表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152144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2.9371110402823e+25" dist="8.391745829378e+24" dir="6.29856e+30">
              <a:srgbClr val="012A32">
                <a:alpha val="1e+2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128016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335024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84648" y="1280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18888" y="16642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3.5.4、Java 21、MyBatis-Flex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12280" y="1152144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3.730131021158521e+29" dist="1.0657517203310059e+29" dir="3.779136e+35">
              <a:srgbClr val="012A32">
                <a:alpha val="1e+34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922008" y="128016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1335024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287768" y="1280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运行时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922008" y="16642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1.1.0、LangGraph4j rc2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709160" y="235915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4.737266396871321e+33" dist="1.3535046848203775e+33" dir="2.2674816e+40">
              <a:srgbClr val="012A32">
                <a:alpha val="1e+39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818888" y="248716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542032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84648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4818888" y="28712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Alibaba、Dubbo 3.3、Nacos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812280" y="235915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6.016328324026578e+37" dist="1.7189509497218795e+37" dir="1.36048896e+45">
              <a:srgbClr val="012A32">
                <a:alpha val="9.999999999999999e+43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922008" y="248716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542032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287768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6922008" y="28712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3、TypeScript、Ant Design Vue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709160" y="356616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7.640736971513755e+41" dist="2.183067706146787e+41" dir="8.16293376e+49">
              <a:srgbClr val="012A32">
                <a:alpha val="1e+49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818888" y="369417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749040"/>
            <a:ext cx="201168" cy="20116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84648" y="3694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数据缓存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4818888" y="40782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 / Redisson、Caffeine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812280" y="356616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9.703735953822469e+45" dist="2.7724959868064195e+45" dir="4.897760256e+54">
              <a:srgbClr val="012A32">
                <a:alpha val="9.999999999999999e+53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6922008" y="369417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3749040"/>
            <a:ext cx="201168" cy="20116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287768" y="3694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6922008" y="40782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Actuator、Prometheus、Grafana 样例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四大能力与代码实现一一对应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2323744661354536e+50" dist="3.5210699032441527e+49" dir="2.9386561536e+59">
              <a:srgbClr val="012A32">
                <a:alpha val="9.999999999999999e+5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53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75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1389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19019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路由服务选择 HTML、多文件或 Vue 工程；工具调用写文件，SSE 流式回传执行过程。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15214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5651155719920262e+54" dist="4.471758777120074e+53" dir="1.76319369216e+64">
              <a:srgbClr val="012A32">
                <a:alpha val="9.999999999999999e+63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353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44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1389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46320" y="19019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生成页实时预览。原生模式全量改稿，工程模式增量修改；可选中元素并与 AI 对话迭代。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293522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9876967764298733e+58" dist="5.679133646942494e+57" dir="1.057916215296e+69">
              <a:srgbClr val="012A32">
                <a:alpha val="9.999999999999999e+68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136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172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0080" y="36850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部署到云端、自动截封面、产出可访问地址，并支持完整源码下载。截图已拆为独立服务。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663440" y="293522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2.524374906065939e+62" dist="7.212499731616968e+61" dir="6.347497291776e+73">
              <a:srgbClr val="012A32">
                <a:alpha val="9.999999999999998e+73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136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2783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13248" y="3172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4846320" y="36850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用户、应用、对话后台；精选优先级；限流与 Prompt 审查；指标可接入 Prometheus。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同一仓库同时保留可运行单体与七模块微服务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4023360" cy="3493008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3.2059561307037426e+66" dist="9.15987465915355e+65" dir="3.8084983750656e+78">
              <a:srgbClr val="012A32">
                <a:alpha val="9.999999999999998e+7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43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1673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243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单体栈  src/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" y="179222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179222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源文件（含部分厂商适配）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245059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245059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控制器：应用 / 用户 / SSE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" y="310896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371600" y="31089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前端页面：首页、对话、管理、登录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8368" y="376732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371600" y="37673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工作流变体：串行、子图、并发收集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09160" y="1152144"/>
            <a:ext cx="3977640" cy="3493008"/>
          </a:xfrm>
          <a:prstGeom prst="roundRect">
            <a:avLst>
              <a:gd name="adj" fmla="val 2618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92040" y="1243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16736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58384" y="1243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微服务栈  7 模块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937760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37760" y="19751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公共能力、数据模型、内部 RPC 接口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3776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937760" y="2505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账号、会话、权限拦截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937760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937760" y="30358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应用、对话、生成门面、限流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937760" y="3346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937760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模型工厂、工具、记忆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937760" y="38770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937760" y="4096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网页截图与封面上传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日无新提交；里程碑回看第 10 至 14 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2148840" cy="3493008"/>
          </a:xfrm>
          <a:prstGeom prst="roundRect">
            <a:avLst>
              <a:gd name="adj" fmla="val 4255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2435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15179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" y="2176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" y="257860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昨日与本周均无 master 变更。HEAD 停留在 2025-08-26 第 14 期完成提交。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" y="40416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上次活动距今约 12 个月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1152144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4.071564285993753e+70" dist="1.1633040817125008e+70" dir="2.28509902503936e+83">
              <a:srgbClr val="012A32">
                <a:alpha val="9.999999999999998e+8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4368" y="13624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243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08-12   第 10 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1554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工作流与图片并发收集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88920" y="2066544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5.170886643212067e+74" dist="1.477396183774876e+74" dir="1.371059415023616e+88">
              <a:srgbClr val="012A32">
                <a:alpha val="9.999999999999999e+88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44368" y="22768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368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1579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   第 11 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并发、实时、限流、Prompt 审查与成本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2980944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6.567026036879325e+78" dist="1.8762931533940924e+78" dir="8.226356490141696e+92">
              <a:srgbClr val="012A32">
                <a:alpha val="9.999999999999998e+9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44368" y="31912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36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   第 12–13 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部署上线与可观测性（Prometheus + Grafana）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88920" y="3895344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8.340123066836742e+82" dist="2.3828923048104974e+82" dir="4.9358138940850176e+97">
              <a:srgbClr val="012A32">
                <a:alpha val="9.999999999999998e+98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44368" y="41056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74720" y="3986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   第 14 期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74720" y="4297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微服务拆分完成；中间态提交不可单独使用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左侧为仓库可核验数字；右侧运行时数据待 Grafana 对接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0591956294882662e+87" dist="3.0262732271093317e+86" dir="2.9614883364510103e+102">
              <a:srgbClr val="012A32">
                <a:alpha val="9.999999999999998e+10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3385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152144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3451784494500981e+91" dist="3.8433669984288512e+90" dir="1.7768930018706063e+107">
              <a:srgbClr val="012A32">
                <a:alpha val="9.999999999999998e+108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13385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6642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152144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7083766308016246e+95" dist="4.8810760880046414e+94" dir="1.0661358011223639e+112">
              <a:srgbClr val="012A32">
                <a:alpha val="9.999999999999997e+11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3385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152144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2.1696383211180632e+99" dist="6.198966631765894e+98" dir="6.396814806734183e+116">
              <a:srgbClr val="012A32">
                <a:alpha val="9.999999999999998e+118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3385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6642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核心数据表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249424"/>
          <a:ext cx="47548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394960" y="2249424"/>
            <a:ext cx="32918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2.7554406678199403e+103" dist="7.872687622342685e+102" dir="3.83808888404051e+121">
              <a:srgbClr val="012A32">
                <a:alpha val="9.999999999999997e+123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59552" y="23957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459736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80176" y="23957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运行时指标待采集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96128" y="2852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日活用户 / 新建应用：未接入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596128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调用次数与 Token：需 PromQL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596128" y="36210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 / 耗时 P95：无窗口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596128" y="4005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部署成功率：无生产采样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工程健康度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仓库无业务 CI；测试以集成场景为主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3.499409648131324e+107" dist="9.998313280375211e+106" dir="2.302853330424306e+126">
              <a:srgbClr val="012A32">
                <a:alpha val="9.999999999999997e+12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3560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" y="1371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持续集成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184708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.github/workflows。近期 Actions 仅见 Copilot 仓库访问探测（2026-03），不能代表构建质量。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15214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4.4442502531267815e+111" dist="1.2697857866076517e+111" dir="1.3817119982545836e+131">
              <a:srgbClr val="012A32">
                <a:alpha val="9.999999999999997e+133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3533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35608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0096" y="1371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自动化测试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46320" y="184708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个测试类覆盖工作流、解析、路由与工具。多数依赖真实模型或外部 API，不能当作离线门禁。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293522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5.644197821471012e+115" dist="1.6126279489917177e+115" dir="8.290271989527502e+135">
              <a:srgbClr val="012A32">
                <a:alpha val="9.999999999999998e+138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13639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1868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33856" y="3154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可观测样例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0080" y="363016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抓取本机 8123 的 Actuator 指标；grafana/ 含 AI 模型看板样例，告警规则仍为空。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663440" y="2935224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7.168131233268186e+119" dist="2.0480374952194813e+119" dir="4.974163193716501e+140">
              <a:srgbClr val="012A32">
                <a:alpha val="9.999999999999999e+143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136392"/>
            <a:ext cx="384048" cy="384048"/>
          </a:xfrm>
          <a:prstGeom prst="ellipse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18688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0096" y="3154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依赖成熟度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4846320" y="363016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1.6.0-rc2；LangChain4j 混用 1.1.0 与 1.1.0-beta7。厂商目录内残留未完成注释与调试输出。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 与结构性阻塞，按影响排序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9.103526666250596e+123" dist="2.6010076189287412e+123" dir="2.9844979162299e+145">
              <a:srgbClr val="012A32">
                <a:alpha val="9.999999999999998e+14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371600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3716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122529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Vue 生成缺少 reasoning_content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153619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推理接口升级后，工具调用第二轮缺字段即 400。社区建议换模型绕过，主线尚未合入补丁。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1561478866138256e+128" dist="3.303279676039501e+127" dir="1.79069874973794e+150">
              <a:srgbClr val="012A32">
                <a:alpha val="9.999999999999999e+1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" y="2267712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2677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212140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 前端 npm 镜像安装失败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2432304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清华镜像缺少 @vitejs/plugin-vue@^6。后端学员按视频改 registry 后卡住。文档未写官方源回退步骤。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4683078159995586e+132" dist="4.195165188570166e+131" dir="1.074419249842764e+155">
              <a:srgbClr val="012A32">
                <a:alpha val="1e+15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3163824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163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30175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 You.com 联网搜索未落地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3328416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提案完整但无实现。不阻塞现有三种生成模式，却拉高了对生成时效性的预期。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  <a:effectLst>
            <a:outerShdw sx="100000" sy="100000" kx="0" ky="0" algn="bl" rotWithShape="0" blurRad="1.8647509263194394e+136" dist="5.327859789484111e+135" dir="6.4465154990565844e+159">
              <a:srgbClr val="012A32">
                <a:alpha val="9.999999999999999e+16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" y="4059936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0599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3913632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  双栈并存与基线冻结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7008" y="4224528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期中间态提交被明确禁止单独使用。近一年无维护，RC / beta 依赖漂移风险上升。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4937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建议按「先修复、再护栏、后扩展」排序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271016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27101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11887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 推理字段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1463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DeepSeek 工具轮次补齐 reasoning_content，或默认路由到非推理模型并在 README 标明。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1984248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98424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19019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补齐前端安装说明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21762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在前端 README 写明官方 npm 源，以及清华镜像失败时的回退命令，关闭 #81 认知缺口。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" y="2697480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6974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26151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最小离线 CI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28895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compile 与不连外网的单元测试工作流。现有工作流、截图测试标为 manual。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341071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41071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98448" y="33284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明确双栈边界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8448" y="3602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文档写清「学习用单体 / 进阶用微服务」，并警告中间态提交不可单独检出运行。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7AA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4123944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41239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98448" y="40416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 #65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98448" y="43159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本周内接受、延期或关闭 You.com 搜索提案，避免功能预期悬空。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651760" cy="2651760"/>
          </a:xfrm>
          <a:prstGeom prst="ellipse">
            <a:avLst/>
          </a:prstGeom>
          <a:solidFill>
            <a:srgbClr val="01363F"/>
          </a:solidFill>
          <a:ln w="12700">
            <a:solidFill>
              <a:srgbClr val="013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能力完整、基线冻结、风险集中在兼容性与文档。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1657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5361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F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2376" y="1920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生成、改稿、部署、治理四条主链路，在单体和微服务中都可对照学习。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1657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28616" y="15361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F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进度静止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28616" y="1920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日零提交，HEAD 锁定第 14 期。教学交付完成，工程演进暂停。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1657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30906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F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优先灭火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" y="34747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先修 #5 推理字段与 #81 安装文档，再补离线 CI，最后决策扩展工具。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1657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30906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F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指标诚实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28616" y="34747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仓库数字可复核；生产调用与成功率需等 Grafana 采集，今日不做虚报。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2026-08-22</dc:title>
  <dc:subject>AI 零代码应用生成平台项目状态</dc:subject>
  <dc:creator>yu-ai-code-mother 维护组</dc:creator>
  <cp:lastModifiedBy>yu-ai-code-mother 维护组</cp:lastModifiedBy>
  <cp:revision>1</cp:revision>
  <dcterms:created xsi:type="dcterms:W3CDTF">2026-08-22T09:19:01Z</dcterms:created>
  <dcterms:modified xsi:type="dcterms:W3CDTF">2026-08-22T09:19:01Z</dcterms:modified>
</cp:coreProperties>
</file>