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713232"/>
            <a:ext cx="3657600" cy="3657600"/>
          </a:xfrm>
          <a:prstGeom prst="ellipse">
            <a:avLst/>
          </a:prstGeom>
          <a:solidFill>
            <a:srgbClr val="00A896">
              <a:alpha val="14000"/>
            </a:srgbClr>
          </a:solidFill>
          <a:ln w="1905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526280"/>
            <a:ext cx="2560320" cy="2560320"/>
          </a:xfrm>
          <a:prstGeom prst="ellipse">
            <a:avLst/>
          </a:prstGeom>
          <a:solidFill>
            <a:srgbClr val="02C39A">
              <a:alpha val="12000"/>
            </a:srgbClr>
          </a:solidFill>
          <a:ln w="19050">
            <a:solidFill>
              <a:srgbClr val="02C39A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5074920"/>
            <a:ext cx="914400" cy="914400"/>
          </a:xfrm>
          <a:prstGeom prst="ellipse">
            <a:avLst/>
          </a:prstGeom>
          <a:solidFill>
            <a:srgbClr val="00A896">
              <a:alpha val="8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54406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658368"/>
            <a:ext cx="2267712" cy="420624"/>
          </a:xfrm>
          <a:prstGeom prst="roundRect">
            <a:avLst>
              <a:gd name="adj" fmla="val 1739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768096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4173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49808" y="2148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" y="2862072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090672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README、源码模块、提交历史与测试/监控配置整理。用于每日同步能力边界、风险与下一步优先级。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123444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59752" y="1399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159752" y="199339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主要形态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159752" y="22585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/ 微服务 / 前端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9345168" y="123444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9760" y="1399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509760" y="199339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9509760" y="22585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 等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995160" y="278892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9752" y="2953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159752" y="354787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核心能力域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7159752" y="38130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生成、编辑、部署、管理等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9345168" y="278892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09760" y="2953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509760" y="354787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近7日代码提交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9509760" y="38130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当前分支无业务变更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749808" y="5989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日期：2026-06-14（北京时间）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代码生成平台，覆盖创建、对话生成、预览部署、后台管理与可观测性。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1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444752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16093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220370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后端主线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914400" y="246888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/ LangChain4j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127248" y="1444752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16093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3291840" y="220370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前端体验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3291840" y="246888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/ TS / Ant Design Vue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504688" y="1444752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16093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LangGraph4j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5669280" y="220370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工作流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5669280" y="246888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 / 质检 / 构建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882128" y="1444752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16093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3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046720" y="220370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监控指标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8046720" y="246888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scrape 配置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49808" y="3246120"/>
            <a:ext cx="49834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3246120"/>
            <a:ext cx="100584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344728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356616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536192" y="3447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产品定位</a:t>
            </a:r>
            <a:endParaRPr lang="en-US" sz="1540" dirty="0"/>
          </a:p>
        </p:txBody>
      </p:sp>
      <p:sp>
        <p:nvSpPr>
          <p:cNvPr id="34" name="Text 32"/>
          <p:cNvSpPr/>
          <p:nvPr/>
        </p:nvSpPr>
        <p:spPr>
          <a:xfrm>
            <a:off x="1536192" y="3867912"/>
            <a:ext cx="40233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用户用自然语言创建网站应用，实时查看 AI 生成过程，并支持部署、源码下载与精选展示。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6144768" y="3246120"/>
            <a:ext cx="49834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3246120"/>
            <a:ext cx="100584" cy="1965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936" y="344728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356616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931152" y="3447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工程定位</a:t>
            </a:r>
            <a:endParaRPr lang="en-US" sz="1540" dirty="0"/>
          </a:p>
        </p:txBody>
      </p:sp>
      <p:sp>
        <p:nvSpPr>
          <p:cNvPr id="40" name="Text 38"/>
          <p:cNvSpPr/>
          <p:nvPr/>
        </p:nvSpPr>
        <p:spPr>
          <a:xfrm>
            <a:off x="6931152" y="3867912"/>
            <a:ext cx="40233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仓库保留单体应用与微服务改造版本，便于教学演进和架构对比；前端独立维护。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主要模块与边界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根后端、微服务目录、前端子项目、SQL 与监控配置共同组成当前仓库。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2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508760"/>
            <a:ext cx="4892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508760"/>
            <a:ext cx="100584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70992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82880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536192" y="17099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536192" y="2130552"/>
            <a:ext cx="39319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src/main/java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应用、用户、聊天历史、静态资源、AI 生成、限流、监控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172200" y="1508760"/>
            <a:ext cx="4892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508760"/>
            <a:ext cx="100584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170992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182880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958584" y="17099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微服务改造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6958584" y="2130552"/>
            <a:ext cx="39319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/ user / app / ai / screenshot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3822192"/>
            <a:ext cx="4892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3822192"/>
            <a:ext cx="100584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0233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41422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536192" y="40233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前端工程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536192" y="4443984"/>
            <a:ext cx="39319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主页、对话页、应用编辑、应用管理、用户登录注册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172200" y="3822192"/>
            <a:ext cx="4892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822192"/>
            <a:ext cx="100584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402336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41422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958584" y="40233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数据与监控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6958584" y="4443984"/>
            <a:ext cx="39319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prometheus / grafana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数据库初始化、Prometheus 抓取、Grafana 资产目录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5468112" y="2148840"/>
            <a:ext cx="502920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68112" y="4480560"/>
            <a:ext cx="502920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README、接口与前端页面归纳的已具备能力。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3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3258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325880"/>
            <a:ext cx="100584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52704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64592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536192" y="15270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536192" y="1947672"/>
            <a:ext cx="251460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HTML、多文件和 Vue 项目生成；SSE/Flux 流式输出生成过程。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462272" y="13258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62272" y="1325880"/>
            <a:ext cx="10058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52704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64592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248656" y="15270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5248656" y="1947672"/>
            <a:ext cx="251460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前端向 iframe 注入编辑脚本，支持 hover、选中与编辑模式同步。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174736" y="13258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74736" y="1325880"/>
            <a:ext cx="100584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1527048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5904" y="164592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961120" y="15270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部署与下载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8961120" y="1947672"/>
            <a:ext cx="251460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提供应用部署、静态资源访问和项目源码 ZIP 下载能力。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49808" y="33832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3383280"/>
            <a:ext cx="100584" cy="1600200"/>
          </a:xfrm>
          <a:prstGeom prst="rect">
            <a:avLst/>
          </a:prstGeom>
          <a:solidFill>
            <a:srgbClr val="153E60"/>
          </a:solidFill>
          <a:ln w="12700">
            <a:solidFill>
              <a:srgbClr val="153E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584448"/>
            <a:ext cx="438912" cy="438912"/>
          </a:xfrm>
          <a:prstGeom prst="ellipse">
            <a:avLst/>
          </a:prstGeom>
          <a:solidFill>
            <a:srgbClr val="153E60"/>
          </a:solidFill>
          <a:ln w="12700">
            <a:solidFill>
              <a:srgbClr val="153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370332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536192" y="35844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用户与权限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1536192" y="4005072"/>
            <a:ext cx="251460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注册、登录、会话、用户管理、管理员鉴权与所有者权限控制。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4462272" y="33832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62272" y="3383280"/>
            <a:ext cx="100584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58444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70332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248656" y="35844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精选与后台管理</a:t>
            </a:r>
            <a:endParaRPr lang="en-US" sz="1540" dirty="0"/>
          </a:p>
        </p:txBody>
      </p:sp>
      <p:sp>
        <p:nvSpPr>
          <p:cNvPr id="42" name="Text 40"/>
          <p:cNvSpPr/>
          <p:nvPr/>
        </p:nvSpPr>
        <p:spPr>
          <a:xfrm>
            <a:off x="5248656" y="4005072"/>
            <a:ext cx="251460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管理员可管理应用、设置精选、查询聊天记录和用户信息。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8174736" y="33832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74736" y="3383280"/>
            <a:ext cx="10058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75904" y="358444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75904" y="370332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8961120" y="35844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监控与优化基础</a:t>
            </a:r>
            <a:endParaRPr lang="en-US" sz="1540" dirty="0"/>
          </a:p>
        </p:txBody>
      </p:sp>
      <p:sp>
        <p:nvSpPr>
          <p:cNvPr id="48" name="Text 46"/>
          <p:cNvSpPr/>
          <p:nvPr/>
        </p:nvSpPr>
        <p:spPr>
          <a:xfrm>
            <a:off x="8961120" y="4005072"/>
            <a:ext cx="251460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具备限流、缓存、Actuator、Prometheus 与 AI 指标采集类。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生成与工作流要点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+ LangGraph4j 将生成链路拆成可观察、可扩展的步骤。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4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28800"/>
            <a:ext cx="749808" cy="7498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0391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" y="27614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素材收集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1810512" y="2029968"/>
            <a:ext cx="347472" cy="292608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88336" y="1828800"/>
            <a:ext cx="749808" cy="7498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20391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68296" y="27614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提示增强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2350008" y="30906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657600" y="2029968"/>
            <a:ext cx="347472" cy="292608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35424" y="1828800"/>
            <a:ext cx="749808" cy="7498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20391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15384" y="27614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类型路由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4197096" y="30906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5504688" y="2029968"/>
            <a:ext cx="347472" cy="292608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1828800"/>
            <a:ext cx="749808" cy="7498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0391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62472" y="27614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044184" y="30906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7351776" y="2029968"/>
            <a:ext cx="347472" cy="292608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1828800"/>
            <a:ext cx="749808" cy="7498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20391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27614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7891272" y="30906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9198864" y="2029968"/>
            <a:ext cx="347472" cy="292608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76688" y="1828800"/>
            <a:ext cx="749808" cy="7498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76688" y="20391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756648" y="27614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项目构建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9738360" y="30906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749808" y="4187952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49808" y="4187952"/>
            <a:ext cx="10058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0976" y="438912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" y="45079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1536192" y="43891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质量闭环</a:t>
            </a:r>
            <a:endParaRPr lang="en-US" sz="1540" dirty="0"/>
          </a:p>
        </p:txBody>
      </p:sp>
      <p:sp>
        <p:nvSpPr>
          <p:cNvPr id="47" name="Text 45"/>
          <p:cNvSpPr/>
          <p:nvPr/>
        </p:nvSpPr>
        <p:spPr>
          <a:xfrm>
            <a:off x="1536192" y="4809744"/>
            <a:ext cx="41605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质检节点根据结果选择构建、跳过构建或回到代码生成节点。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6199632" y="4187952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99632" y="4187952"/>
            <a:ext cx="10058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438912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5079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6986016" y="43891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流式交互</a:t>
            </a:r>
            <a:endParaRPr lang="en-US" sz="1540" dirty="0"/>
          </a:p>
        </p:txBody>
      </p:sp>
      <p:sp>
        <p:nvSpPr>
          <p:cNvPr id="53" name="Text 51"/>
          <p:cNvSpPr/>
          <p:nvPr/>
        </p:nvSpPr>
        <p:spPr>
          <a:xfrm>
            <a:off x="6986016" y="4809744"/>
            <a:ext cx="41605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AppController 与 WorkflowSseController 提供 SSE/Flux 输出，支撑实时生成体验。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昨日/近期变更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天优先：当前分支无代码提交，全分支可见日报相关提交。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5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298448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298448"/>
            <a:ext cx="10058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49961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6184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536192" y="149961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当前分支近 7 天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536192" y="1920240"/>
            <a:ext cx="4114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未发现业务代码或配置变更提交；本次仅新增当天 PPT 文件。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199632" y="1298448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298448"/>
            <a:ext cx="10058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499616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6184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986016" y="149961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全分支近 7 天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6986016" y="1920240"/>
            <a:ext cx="4114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可见 2026-06-07 至 2026-06-13 的日报与视觉优化提交。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3127248"/>
            <a:ext cx="507492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3127248"/>
            <a:ext cx="100584" cy="15361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3328416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4472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536192" y="332841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最近非文档里程碑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536192" y="3749040"/>
            <a:ext cx="4114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 完成微服务改造，涉及 user/app/ai/screenshot 等模块。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199632" y="3127248"/>
            <a:ext cx="507492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3127248"/>
            <a:ext cx="100584" cy="1536192"/>
          </a:xfrm>
          <a:prstGeom prst="rect">
            <a:avLst/>
          </a:prstGeom>
          <a:solidFill>
            <a:srgbClr val="153E60"/>
          </a:solidFill>
          <a:ln w="12700">
            <a:solidFill>
              <a:srgbClr val="153E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328416"/>
            <a:ext cx="438912" cy="438912"/>
          </a:xfrm>
          <a:prstGeom prst="ellipse">
            <a:avLst/>
          </a:prstGeom>
          <a:solidFill>
            <a:srgbClr val="153E60"/>
          </a:solidFill>
          <a:ln w="12700">
            <a:solidFill>
              <a:srgbClr val="153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4472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986016" y="332841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工程趋势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6986016" y="3749040"/>
            <a:ext cx="4114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项目重点从核心功能演进到架构拆分、可观测性、稳定性和成本优化。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1005840" y="5376672"/>
            <a:ext cx="10012680" cy="109728"/>
          </a:xfrm>
          <a:prstGeom prst="rect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52120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696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06-07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3520440" y="52120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5696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06-10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925312" y="52120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96712" y="5696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06-12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321040" y="52120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5696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06-13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10716768" y="52120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88168" y="56967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06-14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数据/指标要点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当前仓库提供监控基础设施配置，但没有随仓库提交运行态指标快照。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6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137160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9264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69264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全局抓取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969264" y="239572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246120" y="137160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10712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3410712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应用指标抓取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3410712" y="239572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metrics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687568" y="137160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52160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5/min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5852160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对话限流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5852160" y="239572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按用户维度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29016" y="137160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93608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3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293608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精选优先级约定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8293608" y="239572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管理员精选应用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04672" y="3246120"/>
            <a:ext cx="5166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3246120"/>
            <a:ext cx="100584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344728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56616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591056" y="344728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已能观测</a:t>
            </a:r>
            <a:endParaRPr lang="en-US" sz="1540" dirty="0"/>
          </a:p>
        </p:txBody>
      </p:sp>
      <p:sp>
        <p:nvSpPr>
          <p:cNvPr id="34" name="Text 32"/>
          <p:cNvSpPr/>
          <p:nvPr/>
        </p:nvSpPr>
        <p:spPr>
          <a:xfrm>
            <a:off x="1591056" y="3867912"/>
            <a:ext cx="42062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Micrometer Prometheus、AI 模型指标采集类、限流切面与缓存键工具。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6309360" y="3246120"/>
            <a:ext cx="5166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246120"/>
            <a:ext cx="100584" cy="1645920"/>
          </a:xfrm>
          <a:prstGeom prst="rect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0528" y="3447288"/>
            <a:ext cx="438912" cy="438912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356616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7095744" y="344728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待补数据</a:t>
            </a:r>
            <a:endParaRPr lang="en-US" sz="1540" dirty="0"/>
          </a:p>
        </p:txBody>
      </p:sp>
      <p:sp>
        <p:nvSpPr>
          <p:cNvPr id="40" name="Text 38"/>
          <p:cNvSpPr/>
          <p:nvPr/>
        </p:nvSpPr>
        <p:spPr>
          <a:xfrm>
            <a:off x="7095744" y="3867912"/>
            <a:ext cx="42062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建议补充生成成功率、耗时、部署成功率、AI 成本、活跃应用数和错误率。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测试、CI 与可观测性状态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检查构建脚本、测试目录与 CI 配置后的结论。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7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3716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371600"/>
            <a:ext cx="100584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57276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6916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536192" y="157276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后端测试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536192" y="1993392"/>
            <a:ext cx="24688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单体项目存在 JUnit/Spring Boot 测试，覆盖解析、AI 生成、工作流和截图工具。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443984" y="13716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43984" y="1371600"/>
            <a:ext cx="100584" cy="1828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157276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6916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230368" y="157276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前端检查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5230368" y="1993392"/>
            <a:ext cx="24688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提供 build、type-check、lint、format；未发现前端测试文件。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138160" y="13716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1371600"/>
            <a:ext cx="100584" cy="1828800"/>
          </a:xfrm>
          <a:prstGeom prst="rect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1572768"/>
            <a:ext cx="438912" cy="438912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16916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924544" y="157276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配置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8924544" y="1993392"/>
            <a:ext cx="24688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.github/workflows；当前自动化状态依赖本地或外部流水线。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49808" y="370332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3703320"/>
            <a:ext cx="10058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904488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02336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536192" y="390448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运行态监控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1536192" y="4325112"/>
            <a:ext cx="42062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已配置 Prometheus 自身和 Spring Boot 应用抓取目标。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236208" y="370332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36208" y="3703320"/>
            <a:ext cx="100584" cy="1508760"/>
          </a:xfrm>
          <a:prstGeom prst="rect">
            <a:avLst/>
          </a:prstGeom>
          <a:solidFill>
            <a:srgbClr val="153E60"/>
          </a:solidFill>
          <a:ln w="12700">
            <a:solidFill>
              <a:srgbClr val="153E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37376" y="3904488"/>
            <a:ext cx="438912" cy="438912"/>
          </a:xfrm>
          <a:prstGeom prst="ellipse">
            <a:avLst/>
          </a:prstGeom>
          <a:solidFill>
            <a:srgbClr val="153E60"/>
          </a:solidFill>
          <a:ln w="12700">
            <a:solidFill>
              <a:srgbClr val="153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402336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022592" y="390448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本次报告校验</a:t>
            </a:r>
            <a:endParaRPr lang="en-US" sz="1540" dirty="0"/>
          </a:p>
        </p:txBody>
      </p:sp>
      <p:sp>
        <p:nvSpPr>
          <p:cNvPr id="42" name="Text 40"/>
          <p:cNvSpPr/>
          <p:nvPr/>
        </p:nvSpPr>
        <p:spPr>
          <a:xfrm>
            <a:off x="7022592" y="4325112"/>
            <a:ext cx="42062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已执行文本抽取、占位符检查和渲染检查，确认无明显版式问题。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按当前仓库状态推断的待补齐工程事项。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8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234440"/>
            <a:ext cx="5074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234440"/>
            <a:ext cx="100584" cy="1280160"/>
          </a:xfrm>
          <a:prstGeom prst="rect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435608"/>
            <a:ext cx="438912" cy="438912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554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536192" y="143560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自动化质量门禁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536192" y="1856232"/>
            <a:ext cx="4114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缺少仓库内 CI 工作流，建议固化后端测试、前端构建和报告检查。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199632" y="1234440"/>
            <a:ext cx="5074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234440"/>
            <a:ext cx="100584" cy="1280160"/>
          </a:xfrm>
          <a:prstGeom prst="rect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435608"/>
            <a:ext cx="438912" cy="438912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554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986016" y="143560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日报指标采集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6986016" y="1856232"/>
            <a:ext cx="4114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目前报告只能引用配置和源码，缺少真实运行态数据快照。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2907792"/>
            <a:ext cx="5074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2907792"/>
            <a:ext cx="100584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31089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2278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536192" y="310896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微服务运行说明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536192" y="3529584"/>
            <a:ext cx="4114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微服务模块已拆分，启动依赖、服务发现和环境变量说明可继续增强。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199632" y="2907792"/>
            <a:ext cx="5074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907792"/>
            <a:ext cx="100584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1089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2278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986016" y="310896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前端测试覆盖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6986016" y="3529584"/>
            <a:ext cx="4114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未发现前端测试文件，可补充关键页面组件测试或端到端校验。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3273552" y="4553712"/>
            <a:ext cx="56692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73552" y="4553712"/>
            <a:ext cx="100584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0" y="4754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487375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059936" y="475488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发布与运营数据闭环</a:t>
            </a:r>
            <a:endParaRPr lang="en-US" sz="1540" dirty="0"/>
          </a:p>
        </p:txBody>
      </p:sp>
      <p:sp>
        <p:nvSpPr>
          <p:cNvPr id="42" name="Text 40"/>
          <p:cNvSpPr/>
          <p:nvPr/>
        </p:nvSpPr>
        <p:spPr>
          <a:xfrm>
            <a:off x="4059936" y="5175504"/>
            <a:ext cx="4709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部署成功率、生成耗时、AI 成本和用户活跃度尚未进入日报自动输入。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关注影响可维护性、上线稳定性和日报真实性的风险。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9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207008"/>
            <a:ext cx="50749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1207008"/>
            <a:ext cx="100584" cy="1170432"/>
          </a:xfrm>
          <a:prstGeom prst="rect">
            <a:avLst/>
          </a:prstGeom>
          <a:solidFill>
            <a:srgbClr val="B84A35"/>
          </a:solidFill>
          <a:ln w="12700">
            <a:solidFill>
              <a:srgbClr val="B84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1408176"/>
            <a:ext cx="438912" cy="438912"/>
          </a:xfrm>
          <a:prstGeom prst="ellipse">
            <a:avLst/>
          </a:prstGeom>
          <a:solidFill>
            <a:srgbClr val="B84A35"/>
          </a:solidFill>
          <a:ln w="12700">
            <a:solidFill>
              <a:srgbClr val="B84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52704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536192" y="140817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配置与密钥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536192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AI、对象存储、数据库、Redis、Nacos/Dubbo 等环境依赖较多。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207008"/>
            <a:ext cx="50749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207008"/>
            <a:ext cx="100584" cy="1170432"/>
          </a:xfrm>
          <a:prstGeom prst="rect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408176"/>
            <a:ext cx="438912" cy="438912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52704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986016" y="1408176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代码形态并存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6986016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单体与微服务目录同时存在，缺少清晰运行指引时易出现修复遗漏。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" y="2880360"/>
            <a:ext cx="50749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2880360"/>
            <a:ext cx="100584" cy="1170432"/>
          </a:xfrm>
          <a:prstGeom prst="rect">
            <a:avLst/>
          </a:prstGeom>
          <a:solidFill>
            <a:srgbClr val="B84A35"/>
          </a:solidFill>
          <a:ln w="12700">
            <a:solidFill>
              <a:srgbClr val="B84A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3081528"/>
            <a:ext cx="438912" cy="438912"/>
          </a:xfrm>
          <a:prstGeom prst="ellipse">
            <a:avLst/>
          </a:prstGeom>
          <a:solidFill>
            <a:srgbClr val="B84A35"/>
          </a:solidFill>
          <a:ln w="12700">
            <a:solidFill>
              <a:srgbClr val="B84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20040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536192" y="308152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第三方 AI 成本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536192" y="3502152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生成链路依赖模型和工具调用，需跟踪成本、超时、失败重试和限流体验。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9632" y="2880360"/>
            <a:ext cx="50749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880360"/>
            <a:ext cx="100584" cy="1170432"/>
          </a:xfrm>
          <a:prstGeom prst="rect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081528"/>
            <a:ext cx="438912" cy="438912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20040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986016" y="308152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测试自动化缺口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6986016" y="3502152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无仓库内 CI 配置，业务提交质量无法在 PR 阶段自动证明。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" y="4498848"/>
            <a:ext cx="10515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9808" y="4498848"/>
            <a:ext cx="100584" cy="1170432"/>
          </a:xfrm>
          <a:prstGeom prst="rect">
            <a:avLst/>
          </a:prstGeom>
          <a:solidFill>
            <a:srgbClr val="B84A35"/>
          </a:solidFill>
          <a:ln w="12700">
            <a:solidFill>
              <a:srgbClr val="B84A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0976" y="4700016"/>
            <a:ext cx="438912" cy="438912"/>
          </a:xfrm>
          <a:prstGeom prst="ellipse">
            <a:avLst/>
          </a:prstGeom>
          <a:solidFill>
            <a:srgbClr val="B84A35"/>
          </a:solidFill>
          <a:ln w="12700">
            <a:solidFill>
              <a:srgbClr val="B84A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" y="48188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1536192" y="4700016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监控未闭环</a:t>
            </a:r>
            <a:endParaRPr lang="en-US" sz="1540" dirty="0"/>
          </a:p>
        </p:txBody>
      </p:sp>
      <p:sp>
        <p:nvSpPr>
          <p:cNvPr id="42" name="Text 40"/>
          <p:cNvSpPr/>
          <p:nvPr/>
        </p:nvSpPr>
        <p:spPr>
          <a:xfrm>
            <a:off x="1536192" y="5120640"/>
            <a:ext cx="9555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配置存在，但日报还未自动读取实际指标，风险趋势难以量化。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7"/>
          </a:solidFill>
          <a:ln w="12700">
            <a:solidFill>
              <a:srgbClr val="EF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-237744"/>
            <a:ext cx="1024128" cy="1024128"/>
          </a:xfrm>
          <a:prstGeom prst="ellipse">
            <a:avLst/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28016"/>
            <a:ext cx="393192" cy="3931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以提高可验证性、可观测性和交付稳定性为优先。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4114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DDF3F0"/>
          </a:solidFill>
          <a:ln w="12700">
            <a:solidFill>
              <a:srgbClr val="DDF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502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2026-06-14 · 10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09960" y="6318504"/>
            <a:ext cx="40233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58016" y="6318504"/>
            <a:ext cx="21031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11704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31673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72768" y="109728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12435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CI 基线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3950208" y="124358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Maven test、前端 type-check/build、报告占位符检查。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213055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2768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72768" y="205740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83080" y="22037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补齐日报数据源</a:t>
            </a:r>
            <a:endParaRPr lang="en-US" sz="1360" dirty="0"/>
          </a:p>
        </p:txBody>
      </p:sp>
      <p:sp>
        <p:nvSpPr>
          <p:cNvPr id="22" name="Text 20"/>
          <p:cNvSpPr/>
          <p:nvPr/>
        </p:nvSpPr>
        <p:spPr>
          <a:xfrm>
            <a:off x="3950208" y="220370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Prometheus/日志/数据库提取生成量、成功率、耗时、成本与部署指标。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30906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23697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72768" y="3017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8308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明确运行手册</a:t>
            </a:r>
            <a:endParaRPr lang="en-US" sz="1360" dirty="0"/>
          </a:p>
        </p:txBody>
      </p:sp>
      <p:sp>
        <p:nvSpPr>
          <p:cNvPr id="27" name="Text 25"/>
          <p:cNvSpPr/>
          <p:nvPr/>
        </p:nvSpPr>
        <p:spPr>
          <a:xfrm>
            <a:off x="3950208" y="316382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整理单体与微服务两种部署方式、必需中间件和环境变量。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405079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1970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72768" y="397764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83080" y="41239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强化前端关键路径</a:t>
            </a:r>
            <a:endParaRPr lang="en-US" sz="1360" dirty="0"/>
          </a:p>
        </p:txBody>
      </p:sp>
      <p:sp>
        <p:nvSpPr>
          <p:cNvPr id="32" name="Text 30"/>
          <p:cNvSpPr/>
          <p:nvPr/>
        </p:nvSpPr>
        <p:spPr>
          <a:xfrm>
            <a:off x="3950208" y="412394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为创建应用、对话生成、部署弹窗和管理员页补充端到端校验。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8680" y="50109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157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72768" y="493776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7E4D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783080" y="50840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8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收敛风险清单</a:t>
            </a:r>
            <a:endParaRPr lang="en-US" sz="1360" dirty="0"/>
          </a:p>
        </p:txBody>
      </p:sp>
      <p:sp>
        <p:nvSpPr>
          <p:cNvPr id="37" name="Text 35"/>
          <p:cNvSpPr/>
          <p:nvPr/>
        </p:nvSpPr>
        <p:spPr>
          <a:xfrm>
            <a:off x="3950208" y="508406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AI 调用失败、成本超限、截图/部署失败和权限问题设定告警。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713232"/>
            <a:ext cx="3657600" cy="3657600"/>
          </a:xfrm>
          <a:prstGeom prst="ellipse">
            <a:avLst/>
          </a:prstGeom>
          <a:solidFill>
            <a:srgbClr val="00A896">
              <a:alpha val="14000"/>
            </a:srgbClr>
          </a:solidFill>
          <a:ln w="1905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526280"/>
            <a:ext cx="2560320" cy="2560320"/>
          </a:xfrm>
          <a:prstGeom prst="ellipse">
            <a:avLst/>
          </a:prstGeom>
          <a:solidFill>
            <a:srgbClr val="02C39A">
              <a:alpha val="12000"/>
            </a:srgbClr>
          </a:solidFill>
          <a:ln w="19050">
            <a:solidFill>
              <a:srgbClr val="02C39A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5074920"/>
            <a:ext cx="914400" cy="914400"/>
          </a:xfrm>
          <a:prstGeom prst="ellipse">
            <a:avLst/>
          </a:prstGeom>
          <a:solidFill>
            <a:srgbClr val="00A896">
              <a:alpha val="8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54406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583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1325880"/>
            <a:ext cx="7452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平台核心能力完整，下一阶段重点是“可验证、可观测、可运营”。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4892040" cy="1060704"/>
          </a:xfrm>
          <a:prstGeom prst="roundRect">
            <a:avLst>
              <a:gd name="adj" fmla="val 8621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03580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9125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691640" y="304495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生成、可视化编辑、部署下载、后台管理和监控基础已具备。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822960" y="4407408"/>
            <a:ext cx="4892040" cy="1060704"/>
          </a:xfrm>
          <a:prstGeom prst="roundRect">
            <a:avLst>
              <a:gd name="adj" fmla="val 8621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4654296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80974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691640" y="466344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当前分支近 7 天无业务代码提交，本次仅新增状态报告。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4892040" cy="1060704"/>
          </a:xfrm>
          <a:prstGeom prst="roundRect">
            <a:avLst>
              <a:gd name="adj" fmla="val 8621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0528" y="303580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319125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178040" y="304495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CI、运行数据、架构并存和外部 AI 依赖需要重点治理。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6309360" y="4407408"/>
            <a:ext cx="4892040" cy="1060704"/>
          </a:xfrm>
          <a:prstGeom prst="roundRect">
            <a:avLst>
              <a:gd name="adj" fmla="val 8621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4654296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480974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178040" y="466344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优先补 CI、日报指标采集、运行手册和关键路径测试。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749808" y="60533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7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报告文件：docs/reports/project-status-2026-06-14.pptx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零代码应用生成平台每日项目状态汇报 2026-06-14</dc:title>
  <dc:subject>每日项目状态汇报</dc:subject>
  <dc:creator>Cursor Automation</dc:creator>
  <cp:lastModifiedBy>Cursor Automation</cp:lastModifiedBy>
  <cp:revision>1</cp:revision>
  <dcterms:created xsi:type="dcterms:W3CDTF">2026-06-14T09:11:28Z</dcterms:created>
  <dcterms:modified xsi:type="dcterms:W3CDTF">2026-06-14T09:11:28Z</dcterms:modified>
</cp:coreProperties>
</file>