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3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097280"/>
            <a:ext cx="4754880" cy="4754880"/>
          </a:xfrm>
          <a:prstGeom prst="ellipse">
            <a:avLst/>
          </a:prstGeom>
          <a:solidFill>
            <a:srgbClr val="028090">
              <a:alpha val="82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3474720"/>
            <a:ext cx="3108960" cy="3108960"/>
          </a:xfrm>
          <a:prstGeom prst="ellipse">
            <a:avLst/>
          </a:prstGeom>
          <a:solidFill>
            <a:srgbClr val="02C39A">
              <a:alpha val="64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530352"/>
            <a:ext cx="2212848" cy="365760"/>
          </a:xfrm>
          <a:prstGeom prst="roundRect">
            <a:avLst>
              <a:gd name="adj" fmla="val 2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53949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spc="130" kern="0" dirty="0">
                <a:solidFill>
                  <a:srgbClr val="67E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 · AI · CODE · MOTHER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21792" y="1481328"/>
            <a:ext cx="804672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每日项目状态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658368" y="251460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dirty="0">
                <a:solidFill>
                  <a:srgbClr val="67E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零代码应用生成平台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58368" y="321868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2026-07-22  ·  北京时间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58368" y="3977640"/>
            <a:ext cx="6675120" cy="804672"/>
          </a:xfrm>
          <a:prstGeom prst="roundRect">
            <a:avLst>
              <a:gd name="adj" fmla="val 909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41513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7E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状态快照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920240" y="4078224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能力底座完整  ·  近期代码活动停滞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" y="620877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9DDD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面向项目维护者 / 团队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625328" y="601675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47472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E6FFFA"/>
          </a:solidFill>
          <a:ln w="12700">
            <a:solidFill>
              <a:srgbClr val="E6FFF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6656" y="356616"/>
            <a:ext cx="10149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spc="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9052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833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85216" y="140817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功能链路已成形；工程交付可信度是当前主要缺口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0899648" y="347472"/>
            <a:ext cx="676656" cy="67665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899648" y="34747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85216" y="1993392"/>
            <a:ext cx="2542032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6E9E7"/>
            </a:solidFill>
            <a:prstDash val="solid"/>
          </a:ln>
          <a:effectLst>
            <a:outerShdw sx="100000" sy="100000" kx="0" ky="0" algn="bl" rotWithShape="0" blurRad="25400" dist="50800" dir="2700000">
              <a:srgbClr val="164E63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86384" y="219456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8448" y="2103120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833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786384" y="2715768"/>
            <a:ext cx="2139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代码生成模式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86384" y="2980944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多文件 / Vue 工程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73552" y="1993392"/>
            <a:ext cx="2542032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6E9E7"/>
            </a:solidFill>
            <a:prstDash val="solid"/>
          </a:ln>
          <a:effectLst>
            <a:outerShdw sx="100000" sy="100000" kx="0" ky="0" algn="bl" rotWithShape="0" blurRad="25400" dist="50800" dir="2700000">
              <a:srgbClr val="164E6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74720" y="2194560"/>
            <a:ext cx="384048" cy="38404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86784" y="2103120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833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100" dirty="0"/>
          </a:p>
        </p:txBody>
      </p:sp>
      <p:sp>
        <p:nvSpPr>
          <p:cNvPr id="16" name="Text 14"/>
          <p:cNvSpPr/>
          <p:nvPr/>
        </p:nvSpPr>
        <p:spPr>
          <a:xfrm>
            <a:off x="3474720" y="2715768"/>
            <a:ext cx="2139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74720" y="2980944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· model · client · user · app · ai · screenshot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61888" y="1993392"/>
            <a:ext cx="2542032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6E9E7"/>
            </a:solidFill>
            <a:prstDash val="solid"/>
          </a:ln>
          <a:effectLst>
            <a:outerShdw sx="100000" sy="100000" kx="0" ky="0" algn="bl" rotWithShape="0" blurRad="25400" dist="50800" dir="2700000">
              <a:srgbClr val="164E63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63056" y="2194560"/>
            <a:ext cx="384048" cy="38404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0" y="2103120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833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3100" dirty="0"/>
          </a:p>
        </p:txBody>
      </p:sp>
      <p:sp>
        <p:nvSpPr>
          <p:cNvPr id="21" name="Text 19"/>
          <p:cNvSpPr/>
          <p:nvPr/>
        </p:nvSpPr>
        <p:spPr>
          <a:xfrm>
            <a:off x="6163056" y="2715768"/>
            <a:ext cx="2139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前端路由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163056" y="2980944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创作、账户、管理与编辑入口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650224" y="1993392"/>
            <a:ext cx="2542032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6E9E7"/>
            </a:solidFill>
            <a:prstDash val="solid"/>
          </a:ln>
          <a:effectLst>
            <a:outerShdw sx="100000" sy="100000" kx="0" ky="0" algn="bl" rotWithShape="0" blurRad="25400" dist="50800" dir="2700000">
              <a:srgbClr val="164E63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851392" y="2194560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63456" y="2103120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833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endParaRPr lang="en-US" sz="3100" dirty="0"/>
          </a:p>
        </p:txBody>
      </p:sp>
      <p:sp>
        <p:nvSpPr>
          <p:cNvPr id="26" name="Text 24"/>
          <p:cNvSpPr/>
          <p:nvPr/>
        </p:nvSpPr>
        <p:spPr>
          <a:xfrm>
            <a:off x="8851392" y="2715768"/>
            <a:ext cx="21396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测试方法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851392" y="2980944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个测试类中的 @Test 静态计数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85216" y="3703320"/>
            <a:ext cx="7022592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D6E9E7"/>
            </a:solidFill>
            <a:prstDash val="solid"/>
          </a:ln>
          <a:effectLst>
            <a:outerShdw sx="100000" sy="100000" kx="0" ky="0" algn="bl" rotWithShape="0" blurRad="25400" dist="50800" dir="2700000">
              <a:srgbClr val="164E63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59536" y="391363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8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当前判断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859536" y="4480560"/>
            <a:ext cx="256032" cy="25603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9536" y="44805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261872" y="4370832"/>
            <a:ext cx="5980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产品链路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261872" y="4654296"/>
            <a:ext cx="59801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覆盖需求输入 → AI 生成 → 可视化编辑 → 部署分享 → 管理监控。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59536" y="4956048"/>
            <a:ext cx="256032" cy="25603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9536" y="49560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261872" y="4846320"/>
            <a:ext cx="5980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技术形态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261872" y="5129784"/>
            <a:ext cx="59801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前端 + Spring Boot 单体，同时保留 7 模块微服务实现。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859536" y="5431536"/>
            <a:ext cx="256032" cy="25603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9536" y="54315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261872" y="5321808"/>
            <a:ext cx="5980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编排</a:t>
            </a:r>
            <a:endParaRPr lang="en-US" sz="1450" dirty="0"/>
          </a:p>
        </p:txBody>
      </p:sp>
      <p:sp>
        <p:nvSpPr>
          <p:cNvPr id="41" name="Text 39"/>
          <p:cNvSpPr/>
          <p:nvPr/>
        </p:nvSpPr>
        <p:spPr>
          <a:xfrm>
            <a:off x="1261872" y="5605272"/>
            <a:ext cx="59801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具备流式响应、智能路由、工具调用、工作流与代码质量检查。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7882128" y="3703320"/>
            <a:ext cx="3310128" cy="2395728"/>
          </a:xfrm>
          <a:prstGeom prst="roundRect">
            <a:avLst>
              <a:gd name="adj" fmla="val 3053"/>
            </a:avLst>
          </a:prstGeom>
          <a:solidFill>
            <a:srgbClr val="083344"/>
          </a:solidFill>
          <a:ln w="12700">
            <a:solidFill>
              <a:srgbClr val="083344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83880" y="3986784"/>
            <a:ext cx="2697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700" b="1" dirty="0">
                <a:solidFill>
                  <a:srgbClr val="67E8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330</a:t>
            </a:r>
            <a:endParaRPr lang="en-US" sz="4700" dirty="0"/>
          </a:p>
        </p:txBody>
      </p:sp>
      <p:sp>
        <p:nvSpPr>
          <p:cNvPr id="44" name="Text 42"/>
          <p:cNvSpPr/>
          <p:nvPr/>
        </p:nvSpPr>
        <p:spPr>
          <a:xfrm>
            <a:off x="10479024" y="422452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211312" y="4754880"/>
            <a:ext cx="2633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距最近一次业务代码提交</a:t>
            </a:r>
            <a:endParaRPr lang="en-US" sz="1450" dirty="0"/>
          </a:p>
        </p:txBody>
      </p:sp>
      <p:sp>
        <p:nvSpPr>
          <p:cNvPr id="46" name="Text 44"/>
          <p:cNvSpPr/>
          <p:nvPr/>
        </p:nvSpPr>
        <p:spPr>
          <a:xfrm>
            <a:off x="8229600" y="5184648"/>
            <a:ext cx="25968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B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最新：2025-08-26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B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最近 7 天：0 提交（报告生成前）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585216" y="651967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B8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资料：README、源码目录与 Git 历史；统计口径截至 2026-07-22（北京时间）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10149840" y="6519672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8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47472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E6FFFA"/>
          </a:solidFill>
          <a:ln w="12700">
            <a:solidFill>
              <a:srgbClr val="E6FFF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6656" y="356616"/>
            <a:ext cx="10149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spc="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9052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833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系统能力地图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85216" y="140817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从用户交互到 AI 编排、代码产物与部署运维的端到端链路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0899648" y="347472"/>
            <a:ext cx="676656" cy="67665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899648" y="34747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85216" y="1993392"/>
            <a:ext cx="2148840" cy="4078224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6E9E7"/>
            </a:solidFill>
            <a:prstDash val="solid"/>
          </a:ln>
          <a:effectLst>
            <a:outerShdw sx="100000" sy="100000" kx="0" ky="0" algn="bl" rotWithShape="0" blurRad="25400" dist="50800" dir="2700000">
              <a:srgbClr val="164E63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68096" y="2194560"/>
            <a:ext cx="1783080" cy="603504"/>
          </a:xfrm>
          <a:prstGeom prst="roundRect">
            <a:avLst>
              <a:gd name="adj" fmla="val 12121"/>
            </a:avLst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249424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98448" y="2240280"/>
            <a:ext cx="1124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体验层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868680" y="3218688"/>
            <a:ext cx="164592" cy="1645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52144" y="3145536"/>
            <a:ext cx="129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TypeScript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68680" y="3849624"/>
            <a:ext cx="164592" cy="1645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52144" y="3776472"/>
            <a:ext cx="129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 Design Vue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68680" y="4480560"/>
            <a:ext cx="164592" cy="1645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52144" y="4407408"/>
            <a:ext cx="129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实时对话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68680" y="5111496"/>
            <a:ext cx="164592" cy="1645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52144" y="5038344"/>
            <a:ext cx="1298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可视化选择 / 编辑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807208" y="3712464"/>
            <a:ext cx="219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3400" dirty="0"/>
          </a:p>
        </p:txBody>
      </p:sp>
      <p:sp>
        <p:nvSpPr>
          <p:cNvPr id="21" name="Shape 19"/>
          <p:cNvSpPr/>
          <p:nvPr/>
        </p:nvSpPr>
        <p:spPr>
          <a:xfrm>
            <a:off x="3054096" y="1993392"/>
            <a:ext cx="2331720" cy="4078224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6E9E7"/>
            </a:solidFill>
            <a:prstDash val="solid"/>
          </a:ln>
          <a:effectLst>
            <a:outerShdw sx="100000" sy="100000" kx="0" ky="0" algn="bl" rotWithShape="0" blurRad="25400" dist="50800" dir="2700000">
              <a:srgbClr val="164E6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36976" y="2194560"/>
            <a:ext cx="1965960" cy="603504"/>
          </a:xfrm>
          <a:prstGeom prst="roundRect">
            <a:avLst>
              <a:gd name="adj" fmla="val 12121"/>
            </a:avLst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64992" y="2249424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767328" y="2240280"/>
            <a:ext cx="13075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业务编排层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3337560" y="3218688"/>
            <a:ext cx="164592" cy="16459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21024" y="3145536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 / Java 21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3337560" y="3849624"/>
            <a:ext cx="164592" cy="16459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21024" y="3776472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应用、用户、会话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3337560" y="4480560"/>
            <a:ext cx="164592" cy="16459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21024" y="4407408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限流 / 审查 / 缓存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3337560" y="5111496"/>
            <a:ext cx="164592" cy="16459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21024" y="5038344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静态资源与下载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5458968" y="3712464"/>
            <a:ext cx="219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3400" dirty="0"/>
          </a:p>
        </p:txBody>
      </p:sp>
      <p:sp>
        <p:nvSpPr>
          <p:cNvPr id="34" name="Shape 32"/>
          <p:cNvSpPr/>
          <p:nvPr/>
        </p:nvSpPr>
        <p:spPr>
          <a:xfrm>
            <a:off x="5705856" y="1993392"/>
            <a:ext cx="2395728" cy="4078224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D6E9E7"/>
            </a:solidFill>
            <a:prstDash val="solid"/>
          </a:ln>
          <a:effectLst>
            <a:outerShdw sx="100000" sy="100000" kx="0" ky="0" algn="bl" rotWithShape="0" blurRad="25400" dist="50800" dir="2700000">
              <a:srgbClr val="164E63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888736" y="2194560"/>
            <a:ext cx="2029968" cy="603504"/>
          </a:xfrm>
          <a:prstGeom prst="roundRect">
            <a:avLst>
              <a:gd name="adj" fmla="val 12121"/>
            </a:avLst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16752" y="2249424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419088" y="224028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生成层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5989320" y="3218688"/>
            <a:ext cx="164592" cy="16459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72784" y="3145536"/>
            <a:ext cx="1545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LangChain4j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5989320" y="3849624"/>
            <a:ext cx="164592" cy="16459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72784" y="3776472"/>
            <a:ext cx="1545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LangGraph4j 工作流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5989320" y="4480560"/>
            <a:ext cx="164592" cy="16459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72784" y="4407408"/>
            <a:ext cx="1545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智能类型路由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5989320" y="5111496"/>
            <a:ext cx="164592" cy="16459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72784" y="5038344"/>
            <a:ext cx="1545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文件工具与质量检查</a:t>
            </a:r>
            <a:endParaRPr lang="en-US" sz="1350" dirty="0"/>
          </a:p>
        </p:txBody>
      </p:sp>
      <p:sp>
        <p:nvSpPr>
          <p:cNvPr id="46" name="Text 44"/>
          <p:cNvSpPr/>
          <p:nvPr/>
        </p:nvSpPr>
        <p:spPr>
          <a:xfrm>
            <a:off x="8174736" y="3712464"/>
            <a:ext cx="219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3400" dirty="0"/>
          </a:p>
        </p:txBody>
      </p:sp>
      <p:sp>
        <p:nvSpPr>
          <p:cNvPr id="47" name="Shape 45"/>
          <p:cNvSpPr/>
          <p:nvPr/>
        </p:nvSpPr>
        <p:spPr>
          <a:xfrm>
            <a:off x="8421624" y="1993392"/>
            <a:ext cx="2770632" cy="4078224"/>
          </a:xfrm>
          <a:prstGeom prst="roundRect">
            <a:avLst>
              <a:gd name="adj" fmla="val 2640"/>
            </a:avLst>
          </a:prstGeom>
          <a:solidFill>
            <a:srgbClr val="FFFFFF"/>
          </a:solidFill>
          <a:ln w="12700">
            <a:solidFill>
              <a:srgbClr val="D6E9E7"/>
            </a:solidFill>
            <a:prstDash val="solid"/>
          </a:ln>
          <a:effectLst>
            <a:outerShdw sx="100000" sy="100000" kx="0" ky="0" algn="bl" rotWithShape="0" blurRad="25400" dist="50800" dir="2700000">
              <a:srgbClr val="164E63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604504" y="2194560"/>
            <a:ext cx="2404872" cy="603504"/>
          </a:xfrm>
          <a:prstGeom prst="roundRect">
            <a:avLst>
              <a:gd name="adj" fmla="val 12121"/>
            </a:avLst>
          </a:prstGeom>
          <a:solidFill>
            <a:srgbClr val="064E5E"/>
          </a:solidFill>
          <a:ln w="12700">
            <a:solidFill>
              <a:srgbClr val="064E5E">
                <a:alpha val="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732520" y="2249424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9134856" y="2240280"/>
            <a:ext cx="17465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交付与基础设施</a:t>
            </a:r>
            <a:endParaRPr lang="en-US" sz="1650" dirty="0"/>
          </a:p>
        </p:txBody>
      </p:sp>
      <p:sp>
        <p:nvSpPr>
          <p:cNvPr id="51" name="Shape 49"/>
          <p:cNvSpPr/>
          <p:nvPr/>
        </p:nvSpPr>
        <p:spPr>
          <a:xfrm>
            <a:off x="8705088" y="3218688"/>
            <a:ext cx="164592" cy="164592"/>
          </a:xfrm>
          <a:prstGeom prst="ellipse">
            <a:avLst/>
          </a:prstGeom>
          <a:solidFill>
            <a:srgbClr val="064E5E"/>
          </a:solidFill>
          <a:ln w="12700">
            <a:solidFill>
              <a:srgbClr val="064E5E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88552" y="314553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构建 / 部署 / 截图</a:t>
            </a:r>
            <a:endParaRPr lang="en-US" sz="1350" dirty="0"/>
          </a:p>
        </p:txBody>
      </p:sp>
      <p:sp>
        <p:nvSpPr>
          <p:cNvPr id="53" name="Shape 51"/>
          <p:cNvSpPr/>
          <p:nvPr/>
        </p:nvSpPr>
        <p:spPr>
          <a:xfrm>
            <a:off x="8705088" y="3849624"/>
            <a:ext cx="164592" cy="164592"/>
          </a:xfrm>
          <a:prstGeom prst="ellipse">
            <a:avLst/>
          </a:prstGeom>
          <a:solidFill>
            <a:srgbClr val="064E5E"/>
          </a:solidFill>
          <a:ln w="12700">
            <a:solidFill>
              <a:srgbClr val="064E5E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988552" y="377647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· Redis · COS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8705088" y="4480560"/>
            <a:ext cx="164592" cy="164592"/>
          </a:xfrm>
          <a:prstGeom prst="ellipse">
            <a:avLst/>
          </a:prstGeom>
          <a:solidFill>
            <a:srgbClr val="064E5E"/>
          </a:solidFill>
          <a:ln w="12700">
            <a:solidFill>
              <a:srgbClr val="064E5E">
                <a:alpha val="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988552" y="44074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Nacos · Dubbo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8705088" y="5111496"/>
            <a:ext cx="164592" cy="164592"/>
          </a:xfrm>
          <a:prstGeom prst="ellipse">
            <a:avLst/>
          </a:prstGeom>
          <a:solidFill>
            <a:srgbClr val="064E5E"/>
          </a:solidFill>
          <a:ln w="12700">
            <a:solidFill>
              <a:srgbClr val="064E5E">
                <a:alpha val="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988552" y="503834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 · Prometheus</a:t>
            </a:r>
            <a:endParaRPr lang="en-US" sz="1350" dirty="0"/>
          </a:p>
        </p:txBody>
      </p:sp>
      <p:sp>
        <p:nvSpPr>
          <p:cNvPr id="59" name="Text 57"/>
          <p:cNvSpPr/>
          <p:nvPr/>
        </p:nvSpPr>
        <p:spPr>
          <a:xfrm>
            <a:off x="585216" y="651967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B8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资料：README、源码目录与 Git 历史；统计口径截至 2026-07-22（北京时间）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10149840" y="6519672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8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47472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E6FFFA"/>
          </a:solidFill>
          <a:ln w="12700">
            <a:solidFill>
              <a:srgbClr val="E6FFF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6656" y="356616"/>
            <a:ext cx="10149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spc="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9052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833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四大核心能力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85216" y="140817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与源码共同确认的产品能力边界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0899648" y="347472"/>
            <a:ext cx="676656" cy="67665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899648" y="34747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85216" y="1975104"/>
            <a:ext cx="5321808" cy="1764792"/>
          </a:xfrm>
          <a:prstGeom prst="roundRect">
            <a:avLst>
              <a:gd name="adj" fmla="val 4145"/>
            </a:avLst>
          </a:prstGeom>
          <a:solidFill>
            <a:srgbClr val="FFFFFF"/>
          </a:solidFill>
          <a:ln w="12700">
            <a:solidFill>
              <a:srgbClr val="D6E9E7"/>
            </a:solidFill>
            <a:prstDash val="solid"/>
          </a:ln>
          <a:effectLst>
            <a:outerShdw sx="100000" sy="100000" kx="0" ky="0" algn="bl" rotWithShape="0" blurRad="25400" dist="50800" dir="2700000">
              <a:srgbClr val="164E63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13816" y="2203704"/>
            <a:ext cx="493776" cy="49377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3816" y="220370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63040" y="2185416"/>
            <a:ext cx="4224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8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智能代码生成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13816" y="2889504"/>
            <a:ext cx="486460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自动选择 HTML、多文件或 Vue 工程策略；支持流式输出、工具调用、文件读写与代码质量检查。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9632" y="1975104"/>
            <a:ext cx="4992624" cy="1764792"/>
          </a:xfrm>
          <a:prstGeom prst="roundRect">
            <a:avLst>
              <a:gd name="adj" fmla="val 4145"/>
            </a:avLst>
          </a:prstGeom>
          <a:solidFill>
            <a:srgbClr val="FFFFFF"/>
          </a:solidFill>
          <a:ln w="12700">
            <a:solidFill>
              <a:srgbClr val="D6E9E7"/>
            </a:solidFill>
            <a:prstDash val="solid"/>
          </a:ln>
          <a:effectLst>
            <a:outerShdw sx="100000" sy="100000" kx="0" ky="0" algn="bl" rotWithShape="0" blurRad="25400" dist="50800" dir="2700000">
              <a:srgbClr val="164E6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28232" y="2203704"/>
            <a:ext cx="493776" cy="49377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220370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77456" y="2185416"/>
            <a:ext cx="3895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8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可视化编辑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28232" y="2889504"/>
            <a:ext cx="453542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生成应用实时预览；进入编辑模式后选择页面元素，并通过对话驱动定向修改。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85216" y="4041648"/>
            <a:ext cx="5321808" cy="1764792"/>
          </a:xfrm>
          <a:prstGeom prst="roundRect">
            <a:avLst>
              <a:gd name="adj" fmla="val 4145"/>
            </a:avLst>
          </a:prstGeom>
          <a:solidFill>
            <a:srgbClr val="FFFFFF"/>
          </a:solidFill>
          <a:ln w="12700">
            <a:solidFill>
              <a:srgbClr val="D6E9E7"/>
            </a:solidFill>
            <a:prstDash val="solid"/>
          </a:ln>
          <a:effectLst>
            <a:outerShdw sx="100000" sy="100000" kx="0" ky="0" algn="bl" rotWithShape="0" blurRad="25400" dist="50800" dir="2700000">
              <a:srgbClr val="164E63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" y="4270248"/>
            <a:ext cx="493776" cy="49377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" y="42702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63040" y="4251960"/>
            <a:ext cx="4224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8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一键部署与分享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13816" y="4956048"/>
            <a:ext cx="486460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部署到云端、自动生成封面截图、输出访问地址，并支持完整项目源码下载。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199632" y="4041648"/>
            <a:ext cx="4992624" cy="1764792"/>
          </a:xfrm>
          <a:prstGeom prst="roundRect">
            <a:avLst>
              <a:gd name="adj" fmla="val 4145"/>
            </a:avLst>
          </a:prstGeom>
          <a:solidFill>
            <a:srgbClr val="FFFFFF"/>
          </a:solidFill>
          <a:ln w="12700">
            <a:solidFill>
              <a:srgbClr val="D6E9E7"/>
            </a:solidFill>
            <a:prstDash val="solid"/>
          </a:ln>
          <a:effectLst>
            <a:outerShdw sx="100000" sy="100000" kx="0" ky="0" algn="bl" rotWithShape="0" blurRad="25400" dist="50800" dir="2700000">
              <a:srgbClr val="164E63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28232" y="4270248"/>
            <a:ext cx="493776" cy="493776"/>
          </a:xfrm>
          <a:prstGeom prst="ellipse">
            <a:avLst/>
          </a:prstGeom>
          <a:solidFill>
            <a:srgbClr val="064E5E"/>
          </a:solidFill>
          <a:ln w="12700">
            <a:solidFill>
              <a:srgbClr val="064E5E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28232" y="42702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077456" y="4251960"/>
            <a:ext cx="3895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8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企业级管理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428232" y="4956048"/>
            <a:ext cx="453542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覆盖用户、应用与对话管理；支持精选应用、限流、安全审查、系统与业务指标监控。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85216" y="651967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B8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资料：根 README、前端 README、AppController、工作流与监控配置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0149840" y="6519672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8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47472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E6FFFA"/>
          </a:solidFill>
          <a:ln w="12700">
            <a:solidFill>
              <a:srgbClr val="E6FFF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6656" y="356616"/>
            <a:ext cx="10149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spc="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9052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833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近期进展与代码活跃度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85216" y="140817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天无业务提交；以下为仓库最新一轮可追溯变更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0899648" y="347472"/>
            <a:ext cx="676656" cy="67665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899648" y="34747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85216" y="1965960"/>
            <a:ext cx="2788920" cy="4142232"/>
          </a:xfrm>
          <a:prstGeom prst="roundRect">
            <a:avLst>
              <a:gd name="adj" fmla="val 2623"/>
            </a:avLst>
          </a:prstGeom>
          <a:solidFill>
            <a:srgbClr val="083344"/>
          </a:solidFill>
          <a:ln w="12700">
            <a:solidFill>
              <a:srgbClr val="08334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2359152"/>
            <a:ext cx="2212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67E8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昨日 / 最近 7 天提交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32688" y="405079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B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最新提交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B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 23:23 +08:00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024128" y="5239512"/>
            <a:ext cx="1920240" cy="310896"/>
          </a:xfrm>
          <a:prstGeom prst="roundRect">
            <a:avLst>
              <a:gd name="adj" fmla="val 23529"/>
            </a:avLst>
          </a:prstGeom>
          <a:solidFill>
            <a:srgbClr val="FFF5D6"/>
          </a:solidFill>
          <a:ln w="12700">
            <a:solidFill>
              <a:srgbClr val="FFF5D6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33856" y="5248656"/>
            <a:ext cx="17007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spc="40" kern="0" dirty="0">
                <a:solidFill>
                  <a:srgbClr val="9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需恢复可持续交付节奏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041648" y="2331720"/>
            <a:ext cx="0" cy="3246120"/>
          </a:xfrm>
          <a:prstGeom prst="line">
            <a:avLst/>
          </a:prstGeom>
          <a:noFill/>
          <a:ln w="25400">
            <a:solidFill>
              <a:srgbClr val="D6E9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31336" y="2295144"/>
            <a:ext cx="420624" cy="420624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62272" y="2157984"/>
            <a:ext cx="804672" cy="310896"/>
          </a:xfrm>
          <a:prstGeom prst="roundRect">
            <a:avLst>
              <a:gd name="adj" fmla="val 23529"/>
            </a:avLst>
          </a:prstGeom>
          <a:solidFill>
            <a:srgbClr val="E6FFFA"/>
          </a:solidFill>
          <a:ln w="12700">
            <a:solidFill>
              <a:srgbClr val="E6FFF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2167128"/>
            <a:ext cx="585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spc="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08·13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31536" y="2084832"/>
            <a:ext cx="5138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8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性能、安全与成本优化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431536" y="2514600"/>
            <a:ext cx="5193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并发、Redis 缓存、实时性、限流、Prompt 审查、稳定性与成本优化。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831336" y="3593592"/>
            <a:ext cx="420624" cy="420624"/>
          </a:xfrm>
          <a:prstGeom prst="ellipse">
            <a:avLst/>
          </a:prstGeom>
          <a:solidFill>
            <a:srgbClr val="00A8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62272" y="3456432"/>
            <a:ext cx="804672" cy="310896"/>
          </a:xfrm>
          <a:prstGeom prst="roundRect">
            <a:avLst>
              <a:gd name="adj" fmla="val 23529"/>
            </a:avLst>
          </a:prstGeom>
          <a:solidFill>
            <a:srgbClr val="E6FFFA"/>
          </a:solidFill>
          <a:ln w="12700">
            <a:solidFill>
              <a:srgbClr val="E6FFF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3465576"/>
            <a:ext cx="585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spc="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08·14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31536" y="3383280"/>
            <a:ext cx="5138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8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部署上线与可观测性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431536" y="3813048"/>
            <a:ext cx="5193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上线能力补齐，接入 Actuator / Prometheus 监控基础。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3831336" y="4892040"/>
            <a:ext cx="420624" cy="420624"/>
          </a:xfrm>
          <a:prstGeom prst="ellipse">
            <a:avLst/>
          </a:prstGeom>
          <a:solidFill>
            <a:srgbClr val="02C39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62272" y="4754880"/>
            <a:ext cx="804672" cy="310896"/>
          </a:xfrm>
          <a:prstGeom prst="roundRect">
            <a:avLst>
              <a:gd name="adj" fmla="val 23529"/>
            </a:avLst>
          </a:prstGeom>
          <a:solidFill>
            <a:srgbClr val="E6FFFA"/>
          </a:solidFill>
          <a:ln w="12700">
            <a:solidFill>
              <a:srgbClr val="E6FFFA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0" y="4764024"/>
            <a:ext cx="585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spc="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08·26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31536" y="4681728"/>
            <a:ext cx="5138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8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微服务改造完成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431536" y="5111496"/>
            <a:ext cx="5193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拆分 7 个模块，加入 Dubbo + Nacos 跨服务调用；最终提交保留完整单体代码。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85216" y="651967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B8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资料：git log -20；近 7 天窗口截至报告生成前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149840" y="6519672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8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47472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E6FFFA"/>
          </a:solidFill>
          <a:ln w="12700">
            <a:solidFill>
              <a:srgbClr val="E6FFF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6656" y="356616"/>
            <a:ext cx="10149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spc="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9052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833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数据与指标要点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85216" y="140817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当前可量化信息来自仓库静态扫描；线上经营指标尚未接入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0899648" y="347472"/>
            <a:ext cx="676656" cy="67665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899648" y="34747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85216" y="1975104"/>
            <a:ext cx="24688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6E9E7"/>
            </a:solidFill>
            <a:prstDash val="solid"/>
          </a:ln>
          <a:effectLst>
            <a:outerShdw sx="100000" sy="100000" kx="0" ky="0" algn="bl" rotWithShape="0" blurRad="25400" dist="50800" dir="2700000">
              <a:srgbClr val="164E63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86384" y="2176272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8448" y="20848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833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786384" y="2697480"/>
            <a:ext cx="2066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生成策略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86384" y="2962656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multi-file / Vue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73552" y="1975104"/>
            <a:ext cx="24688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6E9E7"/>
            </a:solidFill>
            <a:prstDash val="solid"/>
          </a:ln>
          <a:effectLst>
            <a:outerShdw sx="100000" sy="100000" kx="0" ky="0" algn="bl" rotWithShape="0" blurRad="25400" dist="50800" dir="2700000">
              <a:srgbClr val="164E6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74720" y="2176272"/>
            <a:ext cx="384048" cy="38404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86784" y="20848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833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100" dirty="0"/>
          </a:p>
        </p:txBody>
      </p:sp>
      <p:sp>
        <p:nvSpPr>
          <p:cNvPr id="16" name="Text 14"/>
          <p:cNvSpPr/>
          <p:nvPr/>
        </p:nvSpPr>
        <p:spPr>
          <a:xfrm>
            <a:off x="3474720" y="2697480"/>
            <a:ext cx="2066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74720" y="2962656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父 POM modules 计数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61888" y="1975104"/>
            <a:ext cx="24688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6E9E7"/>
            </a:solidFill>
            <a:prstDash val="solid"/>
          </a:ln>
          <a:effectLst>
            <a:outerShdw sx="100000" sy="100000" kx="0" ky="0" algn="bl" rotWithShape="0" blurRad="25400" dist="50800" dir="2700000">
              <a:srgbClr val="164E63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63056" y="2176272"/>
            <a:ext cx="384048" cy="38404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0" y="20848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833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3100" dirty="0"/>
          </a:p>
        </p:txBody>
      </p:sp>
      <p:sp>
        <p:nvSpPr>
          <p:cNvPr id="21" name="Text 19"/>
          <p:cNvSpPr/>
          <p:nvPr/>
        </p:nvSpPr>
        <p:spPr>
          <a:xfrm>
            <a:off x="6163056" y="2697480"/>
            <a:ext cx="2066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前端路由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163056" y="2962656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router/index.ts 静态计数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650224" y="1975104"/>
            <a:ext cx="24688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6E9E7"/>
            </a:solidFill>
            <a:prstDash val="solid"/>
          </a:ln>
          <a:effectLst>
            <a:outerShdw sx="100000" sy="100000" kx="0" ky="0" algn="bl" rotWithShape="0" blurRad="25400" dist="50800" dir="2700000">
              <a:srgbClr val="164E63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851392" y="217627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63456" y="20848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833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</a:t>
            </a:r>
            <a:endParaRPr lang="en-US" sz="3100" dirty="0"/>
          </a:p>
        </p:txBody>
      </p:sp>
      <p:sp>
        <p:nvSpPr>
          <p:cNvPr id="26" name="Text 24"/>
          <p:cNvSpPr/>
          <p:nvPr/>
        </p:nvSpPr>
        <p:spPr>
          <a:xfrm>
            <a:off x="8851392" y="2697480"/>
            <a:ext cx="20665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@Test 方法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851392" y="2962656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个 Java 测试类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85216" y="3730752"/>
            <a:ext cx="5193792" cy="2267712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D6E9E7"/>
            </a:solidFill>
            <a:prstDash val="solid"/>
          </a:ln>
          <a:effectLst>
            <a:outerShdw sx="100000" sy="100000" kx="0" ky="0" algn="bl" rotWithShape="0" blurRad="25400" dist="50800" dir="2700000">
              <a:srgbClr val="164E63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50392" y="395020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8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已具备监控基础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859536" y="4517136"/>
            <a:ext cx="256032" cy="25603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9536" y="45171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261872" y="4407408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系统侧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261872" y="4690872"/>
            <a:ext cx="4133088" cy="112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 暴露 health / info / prometheus。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59536" y="4968240"/>
            <a:ext cx="256032" cy="25603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9536" y="4968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261872" y="4858512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业务侧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261872" y="5141976"/>
            <a:ext cx="4133088" cy="112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声明支持 AI 调用与业务指标监控。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859536" y="5419344"/>
            <a:ext cx="256032" cy="25603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9536" y="54193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261872" y="5309616"/>
            <a:ext cx="4133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仓库侧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1261872" y="5593080"/>
            <a:ext cx="4133088" cy="112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测试源覆盖生成、解析、工作流与截图工具。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089904" y="3730752"/>
            <a:ext cx="5102352" cy="2267712"/>
          </a:xfrm>
          <a:prstGeom prst="roundRect">
            <a:avLst>
              <a:gd name="adj" fmla="val 3226"/>
            </a:avLst>
          </a:prstGeom>
          <a:solidFill>
            <a:srgbClr val="FFF5D6"/>
          </a:solidFill>
          <a:ln w="12700">
            <a:solidFill>
              <a:srgbClr val="F5C45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64224" y="395020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7A4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运营数据缺口</a:t>
            </a:r>
            <a:endParaRPr lang="en-US" sz="1900" dirty="0"/>
          </a:p>
        </p:txBody>
      </p:sp>
      <p:sp>
        <p:nvSpPr>
          <p:cNvPr id="44" name="Text 42"/>
          <p:cNvSpPr/>
          <p:nvPr/>
        </p:nvSpPr>
        <p:spPr>
          <a:xfrm>
            <a:off x="6364224" y="4507992"/>
            <a:ext cx="44622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765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尚未从仓库获得：生成成功率、P95 生成耗时、单次 AI 成本、部署成功率、活跃用户数。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6364224" y="5239512"/>
            <a:ext cx="4462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7A4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建议下一版日报接入真实仪表盘快照，避免以代码规模替代产品健康度。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85216" y="651967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B8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资料：README、源码目录与 Git 历史；统计口径截至 2026-07-22（北京时间）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10149840" y="6519672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8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47472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E6FFFA"/>
          </a:solidFill>
          <a:ln w="12700">
            <a:solidFill>
              <a:srgbClr val="E6FFF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6656" y="356616"/>
            <a:ext cx="10149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spc="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9052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833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未完成项与工程债务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85216" y="140817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功能覆盖并不等同于可持续交付；当前缺口集中在验证、治理与一致性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0899648" y="347472"/>
            <a:ext cx="676656" cy="67665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899648" y="34747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85216" y="1993392"/>
            <a:ext cx="7443216" cy="4041648"/>
          </a:xfrm>
          <a:prstGeom prst="roundRect">
            <a:avLst>
              <a:gd name="adj" fmla="val 1810"/>
            </a:avLst>
          </a:prstGeom>
          <a:solidFill>
            <a:srgbClr val="FFFFFF"/>
          </a:solidFill>
          <a:ln w="12700">
            <a:solidFill>
              <a:srgbClr val="D6E9E7"/>
            </a:solidFill>
            <a:prstDash val="solid"/>
          </a:ln>
          <a:effectLst>
            <a:outerShdw sx="100000" sy="100000" kx="0" ky="0" algn="bl" rotWithShape="0" blurRad="25400" dist="50800" dir="2700000">
              <a:srgbClr val="164E63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59536" y="2368296"/>
            <a:ext cx="256032" cy="25603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368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261872" y="2258568"/>
            <a:ext cx="6437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微服务集成验收</a:t>
            </a:r>
            <a:endParaRPr lang="en-US" sz="1420" dirty="0"/>
          </a:p>
        </p:txBody>
      </p:sp>
      <p:sp>
        <p:nvSpPr>
          <p:cNvPr id="12" name="Text 10"/>
          <p:cNvSpPr/>
          <p:nvPr/>
        </p:nvSpPr>
        <p:spPr>
          <a:xfrm>
            <a:off x="1261872" y="2542032"/>
            <a:ext cx="6437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已有 Nacos / Dubbo 配置与模块拆分，但未发现自动化的多服务冒烟或端到端验收。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859536" y="3072384"/>
            <a:ext cx="256032" cy="25603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30723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261872" y="2962656"/>
            <a:ext cx="6437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单双体实现一致性</a:t>
            </a:r>
            <a:endParaRPr lang="en-US" sz="1420" dirty="0"/>
          </a:p>
        </p:txBody>
      </p:sp>
      <p:sp>
        <p:nvSpPr>
          <p:cNvPr id="16" name="Text 14"/>
          <p:cNvSpPr/>
          <p:nvPr/>
        </p:nvSpPr>
        <p:spPr>
          <a:xfrm>
            <a:off x="1261872" y="3246120"/>
            <a:ext cx="6437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仓库同时保留单体与微服务代码，核心类存在复制，修复容易分叉。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859536" y="3776472"/>
            <a:ext cx="256032" cy="25603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3776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261872" y="3666744"/>
            <a:ext cx="6437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流式调用内部 TODO</a:t>
            </a:r>
            <a:endParaRPr lang="en-US" sz="1420" dirty="0"/>
          </a:p>
        </p:txBody>
      </p:sp>
      <p:sp>
        <p:nvSpPr>
          <p:cNvPr id="20" name="Text 18"/>
          <p:cNvSpPr/>
          <p:nvPr/>
        </p:nvSpPr>
        <p:spPr>
          <a:xfrm>
            <a:off x="1261872" y="3950208"/>
            <a:ext cx="6437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自带的 LangChain4j 流式处理代码仍有 TODO 与调试输出，需明确维护边界。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859536" y="4480560"/>
            <a:ext cx="256032" cy="25603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9536" y="44805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261872" y="4370832"/>
            <a:ext cx="6437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环境配置治理</a:t>
            </a:r>
            <a:endParaRPr lang="en-US" sz="1420" dirty="0"/>
          </a:p>
        </p:txBody>
      </p:sp>
      <p:sp>
        <p:nvSpPr>
          <p:cNvPr id="24" name="Text 22"/>
          <p:cNvSpPr/>
          <p:nvPr/>
        </p:nvSpPr>
        <p:spPr>
          <a:xfrm>
            <a:off x="1261872" y="4654296"/>
            <a:ext cx="6437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默认数据库口令、外部 API 占位配置与本地地址仍在主配置中。</a:t>
            </a:r>
            <a:endParaRPr lang="en-US" sz="1220" dirty="0"/>
          </a:p>
        </p:txBody>
      </p:sp>
      <p:sp>
        <p:nvSpPr>
          <p:cNvPr id="25" name="Shape 23"/>
          <p:cNvSpPr/>
          <p:nvPr/>
        </p:nvSpPr>
        <p:spPr>
          <a:xfrm>
            <a:off x="859536" y="5184648"/>
            <a:ext cx="256032" cy="25603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9536" y="51846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261872" y="5074920"/>
            <a:ext cx="6437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业务指标闭环</a:t>
            </a:r>
            <a:endParaRPr lang="en-US" sz="1420" dirty="0"/>
          </a:p>
        </p:txBody>
      </p:sp>
      <p:sp>
        <p:nvSpPr>
          <p:cNvPr id="28" name="Text 26"/>
          <p:cNvSpPr/>
          <p:nvPr/>
        </p:nvSpPr>
        <p:spPr>
          <a:xfrm>
            <a:off x="1261872" y="5358384"/>
            <a:ext cx="6437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已具备 Prometheus 入口，但未看到日报所需指标定义、目标值与告警阈值。</a:t>
            </a:r>
            <a:endParaRPr lang="en-US" sz="1220" dirty="0"/>
          </a:p>
        </p:txBody>
      </p:sp>
      <p:sp>
        <p:nvSpPr>
          <p:cNvPr id="29" name="Shape 27"/>
          <p:cNvSpPr/>
          <p:nvPr/>
        </p:nvSpPr>
        <p:spPr>
          <a:xfrm>
            <a:off x="8348472" y="1993392"/>
            <a:ext cx="2843784" cy="4041648"/>
          </a:xfrm>
          <a:prstGeom prst="roundRect">
            <a:avLst>
              <a:gd name="adj" fmla="val 2572"/>
            </a:avLst>
          </a:prstGeom>
          <a:solidFill>
            <a:srgbClr val="064E5E"/>
          </a:solidFill>
          <a:ln w="12700">
            <a:solidFill>
              <a:srgbClr val="064E5E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68512" y="2304288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交付成熟度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686800" y="2999232"/>
            <a:ext cx="987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4E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产品能力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0396728" y="299923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686800" y="3282696"/>
            <a:ext cx="2121408" cy="118872"/>
          </a:xfrm>
          <a:prstGeom prst="roundRect">
            <a:avLst>
              <a:gd name="adj" fmla="val 30769"/>
            </a:avLst>
          </a:prstGeom>
          <a:solidFill>
            <a:srgbClr val="3B7078"/>
          </a:solidFill>
          <a:ln w="12700">
            <a:solidFill>
              <a:srgbClr val="3B7078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686800" y="3282696"/>
            <a:ext cx="1739555" cy="118872"/>
          </a:xfrm>
          <a:prstGeom prst="roundRect">
            <a:avLst>
              <a:gd name="adj" fmla="val 30769"/>
            </a:avLst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86800" y="3630168"/>
            <a:ext cx="987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4E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架构覆盖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0396728" y="363016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686800" y="3913632"/>
            <a:ext cx="2121408" cy="118872"/>
          </a:xfrm>
          <a:prstGeom prst="roundRect">
            <a:avLst>
              <a:gd name="adj" fmla="val 30769"/>
            </a:avLst>
          </a:prstGeom>
          <a:solidFill>
            <a:srgbClr val="3B7078"/>
          </a:solidFill>
          <a:ln w="12700">
            <a:solidFill>
              <a:srgbClr val="3B7078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686800" y="3913632"/>
            <a:ext cx="1612270" cy="118872"/>
          </a:xfrm>
          <a:prstGeom prst="roundRect">
            <a:avLst>
              <a:gd name="adj" fmla="val 30769"/>
            </a:avLst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86800" y="4261104"/>
            <a:ext cx="987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4E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自动化验证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0396728" y="4261104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8686800" y="4544568"/>
            <a:ext cx="2121408" cy="118872"/>
          </a:xfrm>
          <a:prstGeom prst="roundRect">
            <a:avLst>
              <a:gd name="adj" fmla="val 30769"/>
            </a:avLst>
          </a:prstGeom>
          <a:solidFill>
            <a:srgbClr val="3B7078"/>
          </a:solidFill>
          <a:ln w="12700">
            <a:solidFill>
              <a:srgbClr val="3B7078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686800" y="4544568"/>
            <a:ext cx="593994" cy="118872"/>
          </a:xfrm>
          <a:prstGeom prst="roundRect">
            <a:avLst>
              <a:gd name="adj" fmla="val 30769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686800" y="4892040"/>
            <a:ext cx="987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D4E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运营度量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10396728" y="489204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8686800" y="5175504"/>
            <a:ext cx="2121408" cy="118872"/>
          </a:xfrm>
          <a:prstGeom prst="roundRect">
            <a:avLst>
              <a:gd name="adj" fmla="val 30769"/>
            </a:avLst>
          </a:prstGeom>
          <a:solidFill>
            <a:srgbClr val="3B7078"/>
          </a:solidFill>
          <a:ln w="12700">
            <a:solidFill>
              <a:srgbClr val="3B7078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686800" y="5175504"/>
            <a:ext cx="466710" cy="118872"/>
          </a:xfrm>
          <a:prstGeom prst="roundRect">
            <a:avLst>
              <a:gd name="adj" fmla="val 30769"/>
            </a:avLst>
          </a:prstGeom>
          <a:solidFill>
            <a:srgbClr val="D65A5A"/>
          </a:solidFill>
          <a:ln w="12700">
            <a:solidFill>
              <a:srgbClr val="D65A5A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650224" y="5559552"/>
            <a:ext cx="2240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B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注：成熟度为基于仓库证据的定性评分，用于排序，不代表线上 SLA。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585216" y="651967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B8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资料：README、源码目录与 Git 历史；统计口径截至 2026-07-22（北京时间）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149840" y="6519672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8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47472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E6FFFA"/>
          </a:solidFill>
          <a:ln w="12700">
            <a:solidFill>
              <a:srgbClr val="E6FFF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6656" y="356616"/>
            <a:ext cx="10149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spc="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QUALITY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9052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833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风险、阻塞与质量状态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85216" y="140817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仓库未发现 CI 工作流；测试存在但缺少持续通过证据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0899648" y="347472"/>
            <a:ext cx="676656" cy="67665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899648" y="34747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85216" y="1993392"/>
            <a:ext cx="5184648" cy="1737360"/>
          </a:xfrm>
          <a:prstGeom prst="roundRect">
            <a:avLst>
              <a:gd name="adj" fmla="val 4211"/>
            </a:avLst>
          </a:prstGeom>
          <a:solidFill>
            <a:srgbClr val="FDE8E8"/>
          </a:solidFill>
          <a:ln w="15240">
            <a:solidFill>
              <a:srgbClr val="D65A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2203704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65A5A"/>
          </a:solidFill>
          <a:ln w="12700">
            <a:solidFill>
              <a:srgbClr val="D65A5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2203704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9344" y="219456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8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配置与日志安全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13816" y="283464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主配置包含默认 root/123456；AI 请求/响应日志开启，可能暴露提示词或生成内容。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07608" y="1993392"/>
            <a:ext cx="5184648" cy="1737360"/>
          </a:xfrm>
          <a:prstGeom prst="roundRect">
            <a:avLst>
              <a:gd name="adj" fmla="val 4211"/>
            </a:avLst>
          </a:prstGeom>
          <a:solidFill>
            <a:srgbClr val="FFF5D6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27064" y="2203704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27064" y="2203704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031736" y="219456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8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持续集成缺失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236208" y="283464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.github/workflows 等 CI 配置；15 个测试类 / 27 个 @Test 没有近期开箱即用的持续结果。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85216" y="4078224"/>
            <a:ext cx="5184648" cy="1737360"/>
          </a:xfrm>
          <a:prstGeom prst="roundRect">
            <a:avLst>
              <a:gd name="adj" fmla="val 4211"/>
            </a:avLst>
          </a:prstGeom>
          <a:solidFill>
            <a:srgbClr val="E6FFFA"/>
          </a:solidFill>
          <a:ln w="1524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4288536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4288536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9344" y="427939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8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依赖稳定性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13816" y="4919472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LangChain4j beta 与 LangGraph4j RC 版本并存，升级或兼容回归风险较高。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007608" y="4078224"/>
            <a:ext cx="5184648" cy="1737360"/>
          </a:xfrm>
          <a:prstGeom prst="roundRect">
            <a:avLst>
              <a:gd name="adj" fmla="val 4211"/>
            </a:avLst>
          </a:prstGeom>
          <a:solidFill>
            <a:srgbClr val="E0F2FE"/>
          </a:solidFill>
          <a:ln w="15240">
            <a:solidFill>
              <a:srgbClr val="064E5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27064" y="4288536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064E5E"/>
          </a:solidFill>
          <a:ln w="12700">
            <a:solidFill>
              <a:srgbClr val="064E5E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27064" y="4288536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31736" y="427939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8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外部系统耦合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236208" y="4919472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MySQL、Redis、Nacos、COS、AI / 图片服务与浏览器驱动共同决定完整链路可用性。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85216" y="651967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B8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资料：仓库配置、POM、测试目录与工作流扫描；本次未执行依赖外部服务的业务测试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0149840" y="6519672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8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47472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E6FFFA"/>
          </a:solidFill>
          <a:ln w="12700">
            <a:solidFill>
              <a:srgbClr val="E6FFFA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76656" y="356616"/>
            <a:ext cx="10149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spc="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9052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833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建议的下一步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85216" y="140817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先建立可信交付底线，再推进架构收敛与运营度量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0899648" y="347472"/>
            <a:ext cx="676656" cy="67665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899648" y="34747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143000" y="2359152"/>
            <a:ext cx="0" cy="3044952"/>
          </a:xfrm>
          <a:prstGeom prst="line">
            <a:avLst/>
          </a:prstGeom>
          <a:noFill/>
          <a:ln w="38100">
            <a:solidFill>
              <a:srgbClr val="D6E9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" y="2157984"/>
            <a:ext cx="493776" cy="493776"/>
          </a:xfrm>
          <a:prstGeom prst="ellipse">
            <a:avLst/>
          </a:prstGeom>
          <a:solidFill>
            <a:srgbClr val="D65A5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15798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664208" y="2139696"/>
            <a:ext cx="566928" cy="310896"/>
          </a:xfrm>
          <a:prstGeom prst="roundRect">
            <a:avLst>
              <a:gd name="adj" fmla="val 23529"/>
            </a:avLst>
          </a:prstGeom>
          <a:solidFill>
            <a:srgbClr val="FDE8E8"/>
          </a:solidFill>
          <a:ln w="12700">
            <a:solidFill>
              <a:srgbClr val="FDE8E8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73936" y="2148840"/>
            <a:ext cx="347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spc="40" kern="0" dirty="0">
                <a:solidFill>
                  <a:srgbClr val="D6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441448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8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建立最小 CI 门禁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349240" y="1984248"/>
            <a:ext cx="5440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后端编译 + 单测；前端 type-check + build + 非修复式 lint。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2980944"/>
            <a:ext cx="493776" cy="493776"/>
          </a:xfrm>
          <a:prstGeom prst="ellipse">
            <a:avLst/>
          </a:prstGeom>
          <a:solidFill>
            <a:srgbClr val="D65A5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98094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664208" y="2962656"/>
            <a:ext cx="566928" cy="310896"/>
          </a:xfrm>
          <a:prstGeom prst="roundRect">
            <a:avLst>
              <a:gd name="adj" fmla="val 23529"/>
            </a:avLst>
          </a:prstGeom>
          <a:solidFill>
            <a:srgbClr val="FDE8E8"/>
          </a:solidFill>
          <a:ln w="12700">
            <a:solidFill>
              <a:srgbClr val="FDE8E8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73936" y="2971800"/>
            <a:ext cx="347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spc="40" kern="0" dirty="0">
                <a:solidFill>
                  <a:srgbClr val="D6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441448" y="280720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8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收敛配置与敏感日志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349240" y="2807208"/>
            <a:ext cx="5440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凭据全面环境变量化，移除默认口令；生产关闭 AI 请求/响应明文日志。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96112" y="3803904"/>
            <a:ext cx="493776" cy="493776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380390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664208" y="3785616"/>
            <a:ext cx="566928" cy="310896"/>
          </a:xfrm>
          <a:prstGeom prst="roundRect">
            <a:avLst>
              <a:gd name="adj" fmla="val 23529"/>
            </a:avLst>
          </a:prstGeom>
          <a:solidFill>
            <a:srgbClr val="FFF5D6"/>
          </a:solidFill>
          <a:ln w="12700">
            <a:solidFill>
              <a:srgbClr val="FFF5D6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73936" y="3794760"/>
            <a:ext cx="347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spc="4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441448" y="363016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8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补齐微服务冒烟链路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5349240" y="3630168"/>
            <a:ext cx="5440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固化 Nacos、Dubbo、MySQL、Redis、截图服务的一键启动与核心 E2E。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896112" y="4626864"/>
            <a:ext cx="493776" cy="493776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96112" y="46268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1664208" y="4608576"/>
            <a:ext cx="566928" cy="310896"/>
          </a:xfrm>
          <a:prstGeom prst="roundRect">
            <a:avLst>
              <a:gd name="adj" fmla="val 23529"/>
            </a:avLst>
          </a:prstGeom>
          <a:solidFill>
            <a:srgbClr val="FFF5D6"/>
          </a:solidFill>
          <a:ln w="12700">
            <a:solidFill>
              <a:srgbClr val="FFF5D6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773936" y="4617720"/>
            <a:ext cx="347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spc="4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2441448" y="445312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8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明确单双体演进策略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349240" y="4453128"/>
            <a:ext cx="5440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指定主实现与迁移边界，抽取共享模块，避免双份核心逻辑继续漂移。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896112" y="5449824"/>
            <a:ext cx="493776" cy="493776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6112" y="54498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1664208" y="5431536"/>
            <a:ext cx="566928" cy="310896"/>
          </a:xfrm>
          <a:prstGeom prst="roundRect">
            <a:avLst>
              <a:gd name="adj" fmla="val 23529"/>
            </a:avLst>
          </a:prstGeom>
          <a:solidFill>
            <a:srgbClr val="E6FFFA"/>
          </a:solidFill>
          <a:ln w="12700">
            <a:solidFill>
              <a:srgbClr val="E6FFFA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773936" y="5440680"/>
            <a:ext cx="347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spc="4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2441448" y="527608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833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定义产品健康指标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5349240" y="5276088"/>
            <a:ext cx="5440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52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接入生成成功率、P95 延迟、单次成本、部署成功率与活跃度日报。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7699248" y="5925312"/>
            <a:ext cx="3493008" cy="384048"/>
          </a:xfrm>
          <a:prstGeom prst="roundRect">
            <a:avLst>
              <a:gd name="adj" fmla="val 19048"/>
            </a:avLst>
          </a:prstGeom>
          <a:solidFill>
            <a:srgbClr val="083344"/>
          </a:solidFill>
          <a:ln w="12700">
            <a:solidFill>
              <a:srgbClr val="083344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845552" y="594360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优先级原则：安全与可验证性先行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585216" y="651967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6B8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资料：README、源码目录与 Git 历史；统计口径截至 2026-07-22（北京时间）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0149840" y="6519672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85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 ·  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33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05840" y="4297680"/>
            <a:ext cx="3931920" cy="3931920"/>
          </a:xfrm>
          <a:prstGeom prst="ellipse">
            <a:avLst/>
          </a:prstGeom>
          <a:solidFill>
            <a:srgbClr val="028090">
              <a:alpha val="76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-914400"/>
            <a:ext cx="3749040" cy="3749040"/>
          </a:xfrm>
          <a:prstGeom prst="ellipse">
            <a:avLst/>
          </a:prstGeom>
          <a:solidFill>
            <a:srgbClr val="02C39A">
              <a:alpha val="66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50292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155E68"/>
          </a:solidFill>
          <a:ln w="12700">
            <a:solidFill>
              <a:srgbClr val="155E68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512064"/>
            <a:ext cx="9509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spc="40" kern="0" dirty="0">
                <a:solidFill>
                  <a:srgbClr val="67E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58368" y="107899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结论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85800" y="1874520"/>
            <a:ext cx="76809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67E8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功能覆盖面强，当前瓶颈是交付可信度，</a:t>
            </a:r>
            <a:endParaRPr lang="en-US" sz="3100" dirty="0"/>
          </a:p>
          <a:p>
            <a:pPr algn="l" indent="0" marL="0">
              <a:buNone/>
            </a:pPr>
            <a:r>
              <a:rPr lang="en-US" sz="3100" b="1" dirty="0">
                <a:solidFill>
                  <a:srgbClr val="67E8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而不是功能数量。</a:t>
            </a:r>
            <a:endParaRPr lang="en-US" sz="3100" dirty="0"/>
          </a:p>
        </p:txBody>
      </p:sp>
      <p:sp>
        <p:nvSpPr>
          <p:cNvPr id="8" name="Shape 6"/>
          <p:cNvSpPr/>
          <p:nvPr/>
        </p:nvSpPr>
        <p:spPr>
          <a:xfrm>
            <a:off x="685800" y="370332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1000"/>
            </a:srgbClr>
          </a:solidFill>
          <a:ln w="12700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50208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3858768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B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能力底座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32888" y="384048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4462272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 / 编辑 / 部署 / 管理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407408" y="370332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1000"/>
            </a:srgbClr>
          </a:solidFill>
          <a:ln w="12700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36008" y="3950208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93208" y="3858768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B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工程状态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254496" y="384048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需加固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636008" y="4462272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CI、配置、E2E、双代码线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129016" y="370332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1000"/>
            </a:srgbClr>
          </a:solidFill>
          <a:ln w="12700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57616" y="3950208"/>
            <a:ext cx="310896" cy="310896"/>
          </a:xfrm>
          <a:prstGeom prst="ellipse">
            <a:avLst/>
          </a:prstGeom>
          <a:solidFill>
            <a:srgbClr val="D65A5A"/>
          </a:solidFill>
          <a:ln w="12700">
            <a:solidFill>
              <a:srgbClr val="D65A5A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14816" y="3858768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50" dirty="0">
                <a:solidFill>
                  <a:srgbClr val="B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近期活跃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976104" y="384048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停滞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57616" y="4462272"/>
            <a:ext cx="2880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最近 7 天 0 提交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85800" y="5806440"/>
            <a:ext cx="973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下一份日报应回答：代码是否持续可验证？核心链路是否可观测？线上指标是否改善？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10104120" y="62544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dirty="0">
                <a:solidFill>
                  <a:srgbClr val="9DDD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2026-07-22  ·  10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2026-07-22</dc:title>
  <dc:subject>AI 零代码应用生成平台每日项目状态</dc:subject>
  <dc:creator>Cursor Automation</dc:creator>
  <cp:lastModifiedBy>Cursor Automation</cp:lastModifiedBy>
  <cp:revision>1</cp:revision>
  <dcterms:created xsi:type="dcterms:W3CDTF">2026-07-22T09:05:45Z</dcterms:created>
  <dcterms:modified xsi:type="dcterms:W3CDTF">2026-07-22T09:05:45Z</dcterms:modified>
</cp:coreProperties>
</file>