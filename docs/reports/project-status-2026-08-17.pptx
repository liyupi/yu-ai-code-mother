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Java 或前端文件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2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单体业务</c:v>
                  </c:pt>
                  <c:pt idx="1">
                    <c:v>微服务合计</c:v>
                  </c:pt>
                  <c:pt idx="2">
                    <c:v>前端 src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</c:v>
                </c:pt>
                <c:pt idx="1">
                  <c:v>118</c:v>
                </c:pt>
                <c:pt idx="2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2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4A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4A4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-1371600"/>
            <a:ext cx="3931920" cy="3931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754880"/>
            <a:ext cx="2377440" cy="2377440"/>
          </a:xfrm>
          <a:prstGeom prst="ellipse">
            <a:avLst/>
          </a:prstGeom>
          <a:solidFill>
            <a:srgbClr val="007F74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5440680"/>
            <a:ext cx="960120" cy="9601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内部汇报  ·  面向项目维护者与教学团队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AI 零代码应用生成平台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4892040" cy="402336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0400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 master 无业务提交  ·  教学基线稳定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汇报日期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187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2026年8月17日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3931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4187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 UTC+8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3931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基线提交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187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893918c · 第 14 期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1C2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6565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数据来源：README、模块目录、git 历史、GitHub Issues（截至本次运行）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概览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项目定位与当前形态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5532120" cy="5029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91440" cy="5029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13716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44752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61872" y="13716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这是什么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49808" y="1901952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代码生成平台：用户用自然语言描述需求，平台自动选择生成策略、流式产出代码，并支持可视化改稿、一键部署与后台治理。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9808" y="3017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技术主线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49808" y="3328416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Spring Boot 3.5 + Java 21 + LangChain4j / LangGraph4j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 3 + TypeScript + Ant Design Vue + Vite 7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Spring Cloud Alibaba + Dubbo + Nacos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Redisson / Caffeine，Prometheus + Grafana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" y="49377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仓库同时保留完整单体（src/）与微服务拆分目录。教程第 14 期已交付双形态。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81928" y="1207008"/>
            <a:ext cx="2606040" cy="2359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81928" y="1207008"/>
            <a:ext cx="260604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14996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pPr indent="0" marL="0">
              <a:buNone/>
            </a:pPr>
            <a:r>
              <a:rPr lang="en-US" sz="1600" dirty="0">
                <a:solidFill>
                  <a:srgbClr val="00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期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6446520" y="2258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教程主线已完成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46520" y="27614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截至微服务改造收官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025128" y="1207008"/>
            <a:ext cx="2606040" cy="2359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025128" y="1207008"/>
            <a:ext cx="2606040" cy="91440"/>
          </a:xfrm>
          <a:prstGeom prst="rect">
            <a:avLst/>
          </a:prstGeom>
          <a:solidFill>
            <a:srgbClr val="007F74"/>
          </a:solidFill>
          <a:ln/>
        </p:spPr>
      </p:sp>
      <p:sp>
        <p:nvSpPr>
          <p:cNvPr id="24" name="Text 21"/>
          <p:cNvSpPr/>
          <p:nvPr/>
        </p:nvSpPr>
        <p:spPr>
          <a:xfrm>
            <a:off x="9189720" y="14996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00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套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9189720" y="2258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代码形态并存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189720" y="27614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+ 7 模块微服务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81928" y="3858768"/>
            <a:ext cx="2606040" cy="2359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81928" y="3858768"/>
            <a:ext cx="260604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6"/>
          <p:cNvSpPr/>
          <p:nvPr/>
        </p:nvSpPr>
        <p:spPr>
          <a:xfrm>
            <a:off x="6446520" y="415137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buNone/>
            </a:pPr>
            <a:r>
              <a:rPr lang="en-US" sz="1600" dirty="0">
                <a:solidFill>
                  <a:srgbClr val="00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种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6446520" y="4910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代码生成策略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446520" y="5413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多文件 / Vue 工程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025128" y="3858768"/>
            <a:ext cx="2606040" cy="2359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025128" y="3858768"/>
            <a:ext cx="2606040" cy="91440"/>
          </a:xfrm>
          <a:prstGeom prst="rect">
            <a:avLst/>
          </a:prstGeom>
          <a:solidFill>
            <a:srgbClr val="007F74"/>
          </a:solidFill>
          <a:ln/>
        </p:spPr>
      </p:sp>
      <p:sp>
        <p:nvSpPr>
          <p:cNvPr id="34" name="Text 31"/>
          <p:cNvSpPr/>
          <p:nvPr/>
        </p:nvSpPr>
        <p:spPr>
          <a:xfrm>
            <a:off x="9189720" y="415137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buNone/>
            </a:pPr>
            <a:r>
              <a:rPr lang="en-US" sz="1600" dirty="0">
                <a:solidFill>
                  <a:srgbClr val="00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个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9189720" y="4910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HTTP 入口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189720" y="5413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应用、用户、对话、工作流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能力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四条产品主线仍然完整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555955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822960" cy="228600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756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508760" y="201168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按需求路由 HTML、多文件或 Vue 工程；通过工具调用写文件，SSE 流式展示推理与执行过程。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09360" y="1207008"/>
            <a:ext cx="555955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1207008"/>
            <a:ext cx="822960" cy="228600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16" name="Shape 13"/>
          <p:cNvSpPr/>
          <p:nvPr/>
        </p:nvSpPr>
        <p:spPr>
          <a:xfrm>
            <a:off x="6492240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7568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7360920" y="201168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预览页可选中 DOM 元素，结合对话做原生全量或工程增量修改，直到页面满意为止。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67328"/>
            <a:ext cx="555955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7200" y="3767328"/>
            <a:ext cx="822960" cy="228600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22" name="Shape 18"/>
          <p:cNvSpPr/>
          <p:nvPr/>
        </p:nvSpPr>
        <p:spPr>
          <a:xfrm>
            <a:off x="640080" y="45445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3600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0876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1508760" y="457200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部署到可访问地址、自动截取封面、源码打包下载；管理员可在后台设置精选案例。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309360" y="3767328"/>
            <a:ext cx="5559552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309360" y="3767328"/>
            <a:ext cx="822960" cy="228600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28" name="Shape 23"/>
          <p:cNvSpPr/>
          <p:nvPr/>
        </p:nvSpPr>
        <p:spPr>
          <a:xfrm>
            <a:off x="6492240" y="45445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63600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6092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7360920" y="457200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覆盖用户、应用与对话管理，含 Prompt 护轨与限流，以及 Actuator + Prometheus 指标采集。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架构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单体、微服务与前端如何分层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553212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5532120" cy="47548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9844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120700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  ·  src/main/java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1938528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847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tools / guardrail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05840" y="2121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模型路由、文件工具、Prompt 审查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265176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+ langgraph4j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05840" y="2834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解析保存、工作流、图片并发收集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5800" y="3364992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3273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/ controller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05840" y="35478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应用、用户、对话、部署、截图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407822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9867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ratelimiter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05840" y="4261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指标、Redisson 限流、会话缓存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81928" y="1207008"/>
            <a:ext cx="544068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81928" y="1207008"/>
            <a:ext cx="5440680" cy="475488"/>
          </a:xfrm>
          <a:prstGeom prst="rect">
            <a:avLst/>
          </a:prstGeom>
          <a:solidFill>
            <a:srgbClr val="01363F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98448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812280" y="120700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 ·  7 个 Maven 模块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492240" y="1847088"/>
            <a:ext cx="2423160" cy="603504"/>
          </a:xfrm>
          <a:prstGeom prst="rect">
            <a:avLst/>
          </a:prstGeom>
          <a:solidFill>
            <a:srgbClr val="D8EFEB"/>
          </a:solidFill>
          <a:ln/>
        </p:spPr>
      </p:sp>
      <p:sp>
        <p:nvSpPr>
          <p:cNvPr id="29" name="Text 25"/>
          <p:cNvSpPr/>
          <p:nvPr/>
        </p:nvSpPr>
        <p:spPr>
          <a:xfrm>
            <a:off x="6601968" y="1847088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601968" y="2139696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通用能力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9052560" y="1847088"/>
            <a:ext cx="2423160" cy="603504"/>
          </a:xfrm>
          <a:prstGeom prst="rect">
            <a:avLst/>
          </a:prstGeom>
          <a:solidFill>
            <a:srgbClr val="D8EFEB"/>
          </a:solidFill>
          <a:ln/>
        </p:spPr>
      </p:sp>
      <p:sp>
        <p:nvSpPr>
          <p:cNvPr id="32" name="Text 28"/>
          <p:cNvSpPr/>
          <p:nvPr/>
        </p:nvSpPr>
        <p:spPr>
          <a:xfrm>
            <a:off x="9162288" y="1847088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9162288" y="2139696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实体与 DTO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492240" y="2560320"/>
            <a:ext cx="2423160" cy="603504"/>
          </a:xfrm>
          <a:prstGeom prst="rect">
            <a:avLst/>
          </a:prstGeom>
          <a:solidFill>
            <a:srgbClr val="D8EFEB"/>
          </a:solidFill>
          <a:ln/>
        </p:spPr>
      </p:sp>
      <p:sp>
        <p:nvSpPr>
          <p:cNvPr id="35" name="Text 31"/>
          <p:cNvSpPr/>
          <p:nvPr/>
        </p:nvSpPr>
        <p:spPr>
          <a:xfrm>
            <a:off x="6601968" y="256032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6601968" y="285292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跨服务接口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9052560" y="2560320"/>
            <a:ext cx="2423160" cy="603504"/>
          </a:xfrm>
          <a:prstGeom prst="rect">
            <a:avLst/>
          </a:prstGeom>
          <a:solidFill>
            <a:srgbClr val="D8EFEB"/>
          </a:solidFill>
          <a:ln/>
        </p:spPr>
      </p:sp>
      <p:sp>
        <p:nvSpPr>
          <p:cNvPr id="38" name="Text 34"/>
          <p:cNvSpPr/>
          <p:nvPr/>
        </p:nvSpPr>
        <p:spPr>
          <a:xfrm>
            <a:off x="9162288" y="256032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9162288" y="285292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账号与鉴权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6492240" y="3273552"/>
            <a:ext cx="2423160" cy="603504"/>
          </a:xfrm>
          <a:prstGeom prst="rect">
            <a:avLst/>
          </a:prstGeom>
          <a:solidFill>
            <a:srgbClr val="D8EFEB"/>
          </a:solidFill>
          <a:ln/>
        </p:spPr>
      </p:sp>
      <p:sp>
        <p:nvSpPr>
          <p:cNvPr id="41" name="Text 37"/>
          <p:cNvSpPr/>
          <p:nvPr/>
        </p:nvSpPr>
        <p:spPr>
          <a:xfrm>
            <a:off x="6601968" y="327355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6601968" y="356616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应用主流程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9052560" y="3273552"/>
            <a:ext cx="2423160" cy="603504"/>
          </a:xfrm>
          <a:prstGeom prst="rect">
            <a:avLst/>
          </a:prstGeom>
          <a:solidFill>
            <a:srgbClr val="D8EFEB"/>
          </a:solidFill>
          <a:ln/>
        </p:spPr>
      </p:sp>
      <p:sp>
        <p:nvSpPr>
          <p:cNvPr id="44" name="Text 40"/>
          <p:cNvSpPr/>
          <p:nvPr/>
        </p:nvSpPr>
        <p:spPr>
          <a:xfrm>
            <a:off x="9162288" y="327355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9162288" y="356616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生成与工作流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6492240" y="3986784"/>
            <a:ext cx="5029200" cy="603504"/>
          </a:xfrm>
          <a:prstGeom prst="rect">
            <a:avLst/>
          </a:prstGeom>
          <a:solidFill>
            <a:srgbClr val="D8EFEB"/>
          </a:solidFill>
          <a:ln/>
        </p:spPr>
      </p:sp>
      <p:sp>
        <p:nvSpPr>
          <p:cNvPr id="47" name="Text 43"/>
          <p:cNvSpPr/>
          <p:nvPr/>
        </p:nvSpPr>
        <p:spPr>
          <a:xfrm>
            <a:off x="6601968" y="3986784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6601968" y="427939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封面截图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457200" y="5212080"/>
            <a:ext cx="11265408" cy="105156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50" name="Text 46"/>
          <p:cNvSpPr/>
          <p:nvPr/>
        </p:nvSpPr>
        <p:spPr>
          <a:xfrm>
            <a:off x="658368" y="5303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yu-ai-code-mother-frontend</a:t>
            </a:r>
            <a:endParaRPr lang="en-US" sz="1500" dirty="0"/>
          </a:p>
        </p:txBody>
      </p:sp>
      <p:sp>
        <p:nvSpPr>
          <p:cNvPr id="51" name="Text 47"/>
          <p:cNvSpPr/>
          <p:nvPr/>
        </p:nvSpPr>
        <p:spPr>
          <a:xfrm>
            <a:off x="658368" y="561441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覆盖首页创建、对话预览、可视化编辑、应用 / 用户 / 对话管理与登录注册。构建脚本含 type-check、lint、vite build；仓库内尚无前端单测。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进展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日无代码合入，社区问题仍在积压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520440" cy="502920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 / 近 7 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71907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658368" y="2743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笔业务提交落入 master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" y="32461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最近有效基线仍是 2025-08-26 的 893918c（教程第 14 期：微服务改造完成，并保留完整单体），距今约 356 天。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5349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自动化日报 PR 持续产出，不计入业务变更。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70248" y="1207008"/>
            <a:ext cx="7452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70248" y="1207008"/>
            <a:ext cx="91440" cy="1554480"/>
          </a:xfrm>
          <a:prstGeom prst="rect">
            <a:avLst/>
          </a:prstGeom>
          <a:solidFill>
            <a:srgbClr val="007F7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138988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D8EF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389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13533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14 期微服务收官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1773936"/>
            <a:ext cx="690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拆出 common / model / client / user / app / ai / screenshot，Dubbo + Nacos 跨服务调用已落地。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70248" y="2898648"/>
            <a:ext cx="7452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70248" y="2898648"/>
            <a:ext cx="91440" cy="1554480"/>
          </a:xfrm>
          <a:prstGeom prst="rect">
            <a:avLst/>
          </a:prstGeom>
          <a:solidFill>
            <a:srgbClr val="007F74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308152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D8EFE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30815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0449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个开放 Issue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3465576"/>
            <a:ext cx="690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 清华 npm 镜像装不上 Vite 插件；#5 Vue 工程缺 reasoning_content；#65 You.com 搜索提案待评估。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270248" y="4590288"/>
            <a:ext cx="7452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70248" y="4590288"/>
            <a:ext cx="91440" cy="1554480"/>
          </a:xfrm>
          <a:prstGeom prst="rect">
            <a:avLst/>
          </a:prstGeom>
          <a:solidFill>
            <a:srgbClr val="007F74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477316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D8EFE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7731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32120" y="47365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可观测性与优化已在库中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0" y="5157216"/>
            <a:ext cx="690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11–13 期已含限流、护轨、缓存、成本与 Grafana 看板配置，但生产采集尚未接通。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指标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仓库盘点可用，生产 KPI 仍为空白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298448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21792" y="196596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单体业务 Java 文件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" y="23317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不含拷贝的 LangChain4j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120700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47872" y="1298448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47872" y="196596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Java 文件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47872" y="23317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个模块合计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20700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73952" y="1298448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73952" y="196596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23317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多数依赖外网与密钥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35440" y="120700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00032" y="1298448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400032" y="196596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00032" y="23317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缺陷、安装、提案各 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264408"/>
            <a:ext cx="69037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3832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模块体量对照（文件数，不是运行时负载）</a:t>
            </a:r>
            <a:endParaRPr lang="en-US" sz="15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48640" y="3703320"/>
          <a:ext cx="6675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7653528" y="3264408"/>
            <a:ext cx="4069080" cy="2971800"/>
          </a:xfrm>
          <a:prstGeom prst="rect">
            <a:avLst/>
          </a:prstGeom>
          <a:solidFill>
            <a:srgbClr val="01363F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456432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27532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测试状态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7863840" y="393192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仓库没有业务构建或单测流水线（无 .github/workflows）。前端仅有本地 lint 与类型检查脚本。最近的 Actions 记录是 2026 年 3 月 Copilot 权限检查，与产品回归无关。Prometheus 告警规则仍停在注释里。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未完成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开放问题与工程债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6118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3611880" cy="73152"/>
          </a:xfrm>
          <a:prstGeom prst="rect">
            <a:avLst/>
          </a:prstGeom>
          <a:solidFill>
            <a:srgbClr val="8F1D2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898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60320" y="1426464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8D6D8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4264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工程缺思考链字段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思考模式工具调用报 invalid_request_error。自 2026 年 1 月仍开放，工程模式生成会直接失败。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207008"/>
            <a:ext cx="36118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207008"/>
            <a:ext cx="3611880" cy="73152"/>
          </a:xfrm>
          <a:prstGeom prst="rect">
            <a:avLst/>
          </a:prstGeom>
          <a:solidFill>
            <a:srgbClr val="8A4B0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13898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#81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00800" y="1426464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6E4C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4264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清华 npm 镜像安装失败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0560" y="242316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学员按视频改 registry 后，@vitejs/plugin-vue 6 返回 404。6 天前新开，文档未写明官方源。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1207008"/>
            <a:ext cx="36118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207008"/>
            <a:ext cx="3611880" cy="73152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13898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#65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0241280" y="1426464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D8EFEB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0" y="14264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联网搜索工具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21040" y="242316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 Vue 工程生成时检索文档与示例。方案已写清，尚未排期，也不改变现有工具链。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361688"/>
            <a:ext cx="11265408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" y="44805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仓库内其他未收口项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368" y="4846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无业务 CI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258568" y="4846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与 master 都不会自动编译或跑测试。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44768" y="4846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告警未启用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44968" y="4846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里的规则文件仍是注释。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" y="54681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配置模板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258568" y="54681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默认库密与云厂商字段需靠 local profile 覆盖。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44768" y="54681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残留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44968" y="54681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拷贝的流式处理含调试输出，不宜再扩散。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风险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当前阻塞与需要盯住的漂移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611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89888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F8D6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898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739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工程模式生成不稳定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21284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 会让 Vue 项目生成直接失败。教学演示与精选案例都依赖该路径。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1207008"/>
            <a:ext cx="3611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389888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F8D6D8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3898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17739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没有回归闸门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221284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测试类多需真实模型与密钥，且无 CI。回归只能靠人工；微服务中间态提交曾标明不可单独使用。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1207008"/>
            <a:ext cx="3611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389888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F6E4C4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3898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17739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双形态维护成本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221284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单体与微服务逻辑重复。一边修缺陷另一边容易漏，长期会分叉。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21608"/>
            <a:ext cx="3611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904488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F6E4C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044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2885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前端安装路径易断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472744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教程引导清华镜像，但 plugin-vue 6 不在该源。新学员会卡在第一公里。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297680" y="3721608"/>
            <a:ext cx="3611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904488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F6E4C4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39044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80560" y="42885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外部模型与预发布依赖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80560" y="472744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DeepSeek、DashScope、Pexels、COS 均需密钥。LangGraph4j 仍为 1.6.0-rc2。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38160" y="3721608"/>
            <a:ext cx="3611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21040" y="3904488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D8EFEB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39044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21040" y="42885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生产指标空白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21040" y="472744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看板文件在库中，但无在线抓取。成本、延迟、失败率无法按日对照。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计划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建议按影响面推进的五步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12654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100584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07008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Vue 工程思考链字段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16276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 DeepSeek 工具调用对 reasoning_content 的要求，给 #5 可复现修复与回归用例。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112654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12848"/>
            <a:ext cx="100584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12848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230428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补前端安装说明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263347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在前端 README 写清官方 npm 源，并标注清华镜像对 scoped 包的缺口，回复 #81。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112654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18688"/>
            <a:ext cx="1005840" cy="86868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18688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91640" y="331012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补最小 CI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91640" y="363931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先跑不依赖外网密钥的单测与前端类型检查 / lint；密钥类测试标为手动或夜间任务。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224528"/>
            <a:ext cx="112654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224528"/>
            <a:ext cx="1005840" cy="86868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24528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91640" y="431596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评估 You.com 搜索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91640" y="46451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#65 方案做可行性与配额评估，确认是否只挂到 Vue 工程工具集。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230368"/>
            <a:ext cx="112654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1363F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5230368"/>
            <a:ext cx="1005840" cy="86868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230368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91640" y="532180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接通一份生产看板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691640" y="565099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哪怕只暴露生成次数、失败率、Token 消耗，也比继续空转 Grafana 配置更有用。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总结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教学基线完整，工程化仍停在路口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566160" cy="2788920"/>
          </a:xfrm>
          <a:prstGeom prst="rect">
            <a:avLst/>
          </a:prstGeom>
          <a:solidFill>
            <a:srgbClr val="023A42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53619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能力已齐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41248" y="246888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生成、改稿、部署、管理四条主线在单体与微服务中都还在，前端页面覆盖完整。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566160" cy="2788920"/>
          </a:xfrm>
          <a:prstGeom prst="rect">
            <a:avLst/>
          </a:prstGeom>
          <a:solidFill>
            <a:srgbClr val="023A42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53619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0288" y="19385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代码静止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90288" y="246888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日无业务提交。基线停在 2025-08-26 第 14 期。日报自动化不能代替产品迭代。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566160" cy="2788920"/>
          </a:xfrm>
          <a:prstGeom prst="rect">
            <a:avLst/>
          </a:prstGeom>
          <a:solidFill>
            <a:srgbClr val="023A42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153619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39328" y="19385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风险集中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39328" y="246888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工程缺陷、安装文档、缺失 CI，是当前最伤学员与维护者的三件事。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下一步默认顺序：修 #5 → 写清 npm 源 → 加上最小 CI。生产指标与 #65 搜索能力可并行评估，不必阻塞前三项。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下次汇报将继续对照 master 提交、开放 Issue 与 CI 是否出现。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11C2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65653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2026-08-17  ·  北京时间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2026-08-17</dc:title>
  <dc:subject>AI 零代码应用生成平台项目状态</dc:subject>
  <dc:creator>yu-ai-code-mother 维护组</dc:creator>
  <cp:lastModifiedBy>yu-ai-code-mother 维护组</cp:lastModifiedBy>
  <cp:revision>1</cp:revision>
  <dcterms:created xsi:type="dcterms:W3CDTF">2026-08-17T09:15:36Z</dcterms:created>
  <dcterms:modified xsi:type="dcterms:W3CDTF">2026-08-17T09:15:36Z</dcterms:modified>
</cp:coreProperties>
</file>