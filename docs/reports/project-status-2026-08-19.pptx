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charts/chart1.xml" ContentType="application/vnd.openxmlformats-officedocument.drawingml.chart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61520" cy="6858000"/>
  <p:notesSz cx="6858000" cy="1216152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300" b="0" i="0" u="none" strike="noStrike">
                <a:solidFill>
                  <a:srgbClr val="16363A"/>
                </a:solidFill>
                <a:latin typeface="Calibri"/>
              </a:defRPr>
            </a:pPr>
            <a:r>
              <a:rPr sz="1300" b="0" i="0" u="none" strike="noStrike">
                <a:solidFill>
                  <a:srgbClr val="16363A"/>
                </a:solidFill>
                <a:latin typeface="Calibri"/>
              </a:rPr>
              <a:t>按阶段统计的提交量（仓库 git log）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提交数</c:v>
                </c:pt>
              </c:strCache>
            </c:strRef>
          </c:tx>
          <c:spPr>
            <a:solidFill>
              <a:srgbClr val="028090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16363A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Sheet1!$A$2:$A$5</c:f>
              <c:multiLvlStrCache>
                <c:ptCount val="4"/>
                <c:lvl>
                  <c:pt idx="0">
                    <c:v>7月下旬</c:v>
                  </c:pt>
                  <c:pt idx="1">
                    <c:v>8月上旬</c:v>
                  </c:pt>
                  <c:pt idx="2">
                    <c:v>8月中旬</c:v>
                  </c:pt>
                  <c:pt idx="3">
                    <c:v>8月26日</c:v>
                  </c:pt>
                </c:lvl>
              </c:multiLvlStrCache>
            </c:multiLvl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24</c:v>
                </c:pt>
                <c:pt idx="1">
                  <c:v>10</c:v>
                </c:pt>
                <c:pt idx="2">
                  <c:v>16</c:v>
                </c:pt>
                <c:pt idx="3">
                  <c:v>10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16363A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4A6F73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D5EFEB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4A6F73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image" Target="../media/image-2-5.png"/><Relationship Id="rId6" Type="http://schemas.openxmlformats.org/officeDocument/2006/relationships/image" Target="../media/image-2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image" Target="../media/image-6-1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image" Target="../media/image-10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12A3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160520" cy="6858000"/>
          </a:xfrm>
          <a:prstGeom prst="rect">
            <a:avLst/>
          </a:prstGeom>
          <a:solidFill>
            <a:srgbClr val="014049"/>
          </a:solidFill>
          <a:ln/>
        </p:spPr>
      </p:sp>
      <p:sp>
        <p:nvSpPr>
          <p:cNvPr id="3" name="Shape 1"/>
          <p:cNvSpPr/>
          <p:nvPr/>
        </p:nvSpPr>
        <p:spPr>
          <a:xfrm>
            <a:off x="-1097280" y="-1280160"/>
            <a:ext cx="3840480" cy="3840480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4" name="Shape 2"/>
          <p:cNvSpPr/>
          <p:nvPr/>
        </p:nvSpPr>
        <p:spPr>
          <a:xfrm>
            <a:off x="2194560" y="4937760"/>
            <a:ext cx="3108960" cy="3108960"/>
          </a:xfrm>
          <a:prstGeom prst="ellipse">
            <a:avLst/>
          </a:prstGeom>
          <a:solidFill>
            <a:srgbClr val="01353D"/>
          </a:solidFill>
          <a:ln/>
        </p:spPr>
      </p:sp>
      <p:sp>
        <p:nvSpPr>
          <p:cNvPr id="5" name="Shape 3"/>
          <p:cNvSpPr/>
          <p:nvPr/>
        </p:nvSpPr>
        <p:spPr>
          <a:xfrm>
            <a:off x="502920" y="1965960"/>
            <a:ext cx="658368" cy="658368"/>
          </a:xfrm>
          <a:prstGeom prst="roundRect">
            <a:avLst>
              <a:gd name="adj" fmla="val 19444"/>
            </a:avLst>
          </a:prstGeom>
          <a:solidFill>
            <a:srgbClr val="02C39A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30936" y="2093976"/>
            <a:ext cx="402336" cy="402336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502920" y="2788920"/>
            <a:ext cx="3200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内部汇报</a:t>
            </a:r>
            <a:endParaRPr lang="en-US" sz="1400" dirty="0"/>
          </a:p>
        </p:txBody>
      </p:sp>
      <p:sp>
        <p:nvSpPr>
          <p:cNvPr id="8" name="Text 5"/>
          <p:cNvSpPr/>
          <p:nvPr/>
        </p:nvSpPr>
        <p:spPr>
          <a:xfrm>
            <a:off x="502920" y="3154680"/>
            <a:ext cx="320040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D5EF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面向维护者与团队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D5EF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基于仓库代码与提交记录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D5EF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以及 GitHub 公开 Issue</a:t>
            </a:r>
            <a:endParaRPr lang="en-US" sz="1600" dirty="0"/>
          </a:p>
        </p:txBody>
      </p:sp>
      <p:sp>
        <p:nvSpPr>
          <p:cNvPr id="9" name="Text 6"/>
          <p:cNvSpPr/>
          <p:nvPr/>
        </p:nvSpPr>
        <p:spPr>
          <a:xfrm>
            <a:off x="502920" y="5440680"/>
            <a:ext cx="3200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C5E4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第 14 期教程完成后</a:t>
            </a:r>
            <a:endParaRPr lang="en-US" sz="1400" dirty="0"/>
          </a:p>
          <a:p>
            <a:pPr indent="0" marL="0">
              <a:buNone/>
            </a:pPr>
            <a:r>
              <a:rPr lang="en-US" sz="1400" i="1" dirty="0">
                <a:solidFill>
                  <a:srgbClr val="C5E4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单体与微服务双轨并存</a:t>
            </a:r>
            <a:endParaRPr lang="en-US" sz="1400" dirty="0"/>
          </a:p>
        </p:txBody>
      </p:sp>
      <p:sp>
        <p:nvSpPr>
          <p:cNvPr id="10" name="Text 7"/>
          <p:cNvSpPr/>
          <p:nvPr/>
        </p:nvSpPr>
        <p:spPr>
          <a:xfrm>
            <a:off x="4617720" y="1691640"/>
            <a:ext cx="70408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每日项目状态</a:t>
            </a:r>
            <a:endParaRPr lang="en-US" sz="4400" dirty="0"/>
          </a:p>
        </p:txBody>
      </p:sp>
      <p:sp>
        <p:nvSpPr>
          <p:cNvPr id="11" name="Text 8"/>
          <p:cNvSpPr/>
          <p:nvPr/>
        </p:nvSpPr>
        <p:spPr>
          <a:xfrm>
            <a:off x="4617720" y="2487168"/>
            <a:ext cx="70408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yu-ai-code-mother</a:t>
            </a:r>
            <a:endParaRPr lang="en-US" sz="2200" dirty="0"/>
          </a:p>
        </p:txBody>
      </p:sp>
      <p:sp>
        <p:nvSpPr>
          <p:cNvPr id="12" name="Text 9"/>
          <p:cNvSpPr/>
          <p:nvPr/>
        </p:nvSpPr>
        <p:spPr>
          <a:xfrm>
            <a:off x="4617720" y="2999232"/>
            <a:ext cx="6858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C5E4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零代码应用生成平台  ·  代码、架构与社区健康度扫描</a:t>
            </a:r>
            <a:endParaRPr lang="en-US" sz="1600" dirty="0"/>
          </a:p>
        </p:txBody>
      </p:sp>
      <p:sp>
        <p:nvSpPr>
          <p:cNvPr id="13" name="Shape 10"/>
          <p:cNvSpPr/>
          <p:nvPr/>
        </p:nvSpPr>
        <p:spPr>
          <a:xfrm>
            <a:off x="4617720" y="3703320"/>
            <a:ext cx="2468880" cy="365760"/>
          </a:xfrm>
          <a:prstGeom prst="roundRect">
            <a:avLst>
              <a:gd name="adj" fmla="val 20000"/>
            </a:avLst>
          </a:prstGeom>
          <a:solidFill>
            <a:srgbClr val="016875"/>
          </a:solidFill>
          <a:ln/>
        </p:spPr>
      </p:sp>
      <p:sp>
        <p:nvSpPr>
          <p:cNvPr id="14" name="Text 11"/>
          <p:cNvSpPr/>
          <p:nvPr/>
        </p:nvSpPr>
        <p:spPr>
          <a:xfrm>
            <a:off x="4617720" y="3703320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2026年8月19日</a:t>
            </a:r>
            <a:endParaRPr lang="en-US" sz="1400" dirty="0"/>
          </a:p>
        </p:txBody>
      </p:sp>
      <p:sp>
        <p:nvSpPr>
          <p:cNvPr id="15" name="Shape 12"/>
          <p:cNvSpPr/>
          <p:nvPr/>
        </p:nvSpPr>
        <p:spPr>
          <a:xfrm>
            <a:off x="7269480" y="3703320"/>
            <a:ext cx="1417320" cy="365760"/>
          </a:xfrm>
          <a:prstGeom prst="roundRect">
            <a:avLst>
              <a:gd name="adj" fmla="val 20000"/>
            </a:avLst>
          </a:prstGeom>
          <a:solidFill>
            <a:srgbClr val="016875"/>
          </a:solidFill>
          <a:ln/>
        </p:spPr>
      </p:sp>
      <p:sp>
        <p:nvSpPr>
          <p:cNvPr id="16" name="Text 13"/>
          <p:cNvSpPr/>
          <p:nvPr/>
        </p:nvSpPr>
        <p:spPr>
          <a:xfrm>
            <a:off x="7269480" y="3703320"/>
            <a:ext cx="1417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北京时间</a:t>
            </a:r>
            <a:endParaRPr lang="en-US" sz="1400" dirty="0"/>
          </a:p>
        </p:txBody>
      </p:sp>
      <p:sp>
        <p:nvSpPr>
          <p:cNvPr id="17" name="Shape 14"/>
          <p:cNvSpPr/>
          <p:nvPr/>
        </p:nvSpPr>
        <p:spPr>
          <a:xfrm>
            <a:off x="8869680" y="3703320"/>
            <a:ext cx="1051560" cy="365760"/>
          </a:xfrm>
          <a:prstGeom prst="roundRect">
            <a:avLst>
              <a:gd name="adj" fmla="val 20000"/>
            </a:avLst>
          </a:prstGeom>
          <a:solidFill>
            <a:srgbClr val="016875"/>
          </a:solidFill>
          <a:ln/>
        </p:spPr>
      </p:sp>
      <p:sp>
        <p:nvSpPr>
          <p:cNvPr id="18" name="Text 15"/>
          <p:cNvSpPr/>
          <p:nvPr/>
        </p:nvSpPr>
        <p:spPr>
          <a:xfrm>
            <a:off x="8869680" y="3703320"/>
            <a:ext cx="1051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日报</a:t>
            </a:r>
            <a:endParaRPr lang="en-US" sz="1400" dirty="0"/>
          </a:p>
        </p:txBody>
      </p:sp>
      <p:sp>
        <p:nvSpPr>
          <p:cNvPr id="19" name="Shape 16"/>
          <p:cNvSpPr/>
          <p:nvPr/>
        </p:nvSpPr>
        <p:spPr>
          <a:xfrm>
            <a:off x="4617720" y="5349240"/>
            <a:ext cx="109728" cy="777240"/>
          </a:xfrm>
          <a:prstGeom prst="rect">
            <a:avLst/>
          </a:prstGeom>
          <a:solidFill>
            <a:srgbClr val="02C39A"/>
          </a:solidFill>
          <a:ln/>
        </p:spPr>
      </p:sp>
      <p:sp>
        <p:nvSpPr>
          <p:cNvPr id="20" name="Text 17"/>
          <p:cNvSpPr/>
          <p:nvPr/>
        </p:nvSpPr>
        <p:spPr>
          <a:xfrm>
            <a:off x="4892040" y="5349240"/>
            <a:ext cx="66751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B7D8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近 7 日 master 无业务提交。最近代码节点仍为 2025-08-26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B7D8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教程第 14 期「微服务改造完成」。本汇报聚焦现状盘点与风险跟进。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E8F4F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61520" cy="73152"/>
          </a:xfrm>
          <a:prstGeom prst="rect">
            <a:avLst/>
          </a:prstGeom>
          <a:solidFill>
            <a:srgbClr val="02C39A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329184"/>
            <a:ext cx="87782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012A3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项目概览</a:t>
            </a:r>
            <a:endParaRPr lang="en-US" sz="3600" dirty="0"/>
          </a:p>
        </p:txBody>
      </p:sp>
      <p:sp>
        <p:nvSpPr>
          <p:cNvPr id="5" name="Shape 3"/>
          <p:cNvSpPr/>
          <p:nvPr/>
        </p:nvSpPr>
        <p:spPr>
          <a:xfrm>
            <a:off x="9921240" y="402336"/>
            <a:ext cx="1783080" cy="347472"/>
          </a:xfrm>
          <a:prstGeom prst="roundRect">
            <a:avLst>
              <a:gd name="adj" fmla="val 21053"/>
            </a:avLst>
          </a:prstGeom>
          <a:solidFill>
            <a:srgbClr val="D5EFEB"/>
          </a:solidFill>
          <a:ln/>
        </p:spPr>
      </p:sp>
      <p:sp>
        <p:nvSpPr>
          <p:cNvPr id="6" name="Text 4"/>
          <p:cNvSpPr/>
          <p:nvPr/>
        </p:nvSpPr>
        <p:spPr>
          <a:xfrm>
            <a:off x="9921240" y="402336"/>
            <a:ext cx="17830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8月19日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0" y="6601968"/>
            <a:ext cx="12161520" cy="256032"/>
          </a:xfrm>
          <a:prstGeom prst="rect">
            <a:avLst/>
          </a:prstGeom>
          <a:solidFill>
            <a:srgbClr val="012A32"/>
          </a:solidFill>
          <a:ln/>
        </p:spPr>
      </p:sp>
      <p:sp>
        <p:nvSpPr>
          <p:cNvPr id="8" name="Text 6"/>
          <p:cNvSpPr/>
          <p:nvPr/>
        </p:nvSpPr>
        <p:spPr>
          <a:xfrm>
            <a:off x="457200" y="6601968"/>
            <a:ext cx="9326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5EF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零代码应用生成平台  ·  每日项目状态  ·  2026-08-19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10424160" y="6601968"/>
            <a:ext cx="1280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/ 10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457200" y="1051560"/>
            <a:ext cx="2743200" cy="1353312"/>
          </a:xfrm>
          <a:prstGeom prst="roundRect">
            <a:avLst>
              <a:gd name="adj" fmla="val 675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27000" dist="38100" dir="8100000">
              <a:srgbClr val="012A32">
                <a:alpha val="8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621792" y="1207008"/>
            <a:ext cx="384048" cy="384048"/>
          </a:xfrm>
          <a:prstGeom prst="roundRect">
            <a:avLst>
              <a:gd name="adj" fmla="val 19048"/>
            </a:avLst>
          </a:prstGeom>
          <a:solidFill>
            <a:srgbClr val="028090"/>
          </a:solidFill>
          <a:ln/>
        </p:spPr>
      </p:sp>
      <p:pic>
        <p:nvPicPr>
          <p:cNvPr id="1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94944" y="1261872"/>
            <a:ext cx="237744" cy="237744"/>
          </a:xfrm>
          <a:prstGeom prst="rect">
            <a:avLst/>
          </a:prstGeom>
        </p:spPr>
      </p:pic>
      <p:sp>
        <p:nvSpPr>
          <p:cNvPr id="13" name="Text 10"/>
          <p:cNvSpPr/>
          <p:nvPr/>
        </p:nvSpPr>
        <p:spPr>
          <a:xfrm>
            <a:off x="621792" y="1627632"/>
            <a:ext cx="241401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12A3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双轨</a:t>
            </a:r>
            <a:endParaRPr lang="en-US" sz="2800" dirty="0"/>
          </a:p>
        </p:txBody>
      </p:sp>
      <p:sp>
        <p:nvSpPr>
          <p:cNvPr id="14" name="Text 11"/>
          <p:cNvSpPr/>
          <p:nvPr/>
        </p:nvSpPr>
        <p:spPr>
          <a:xfrm>
            <a:off x="621792" y="2048256"/>
            <a:ext cx="241401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636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单体 + 微服务</a:t>
            </a:r>
            <a:endParaRPr lang="en-US" sz="1500" dirty="0"/>
          </a:p>
        </p:txBody>
      </p:sp>
      <p:sp>
        <p:nvSpPr>
          <p:cNvPr id="15" name="Shape 12"/>
          <p:cNvSpPr/>
          <p:nvPr/>
        </p:nvSpPr>
        <p:spPr>
          <a:xfrm>
            <a:off x="3383280" y="1051560"/>
            <a:ext cx="2743200" cy="1353312"/>
          </a:xfrm>
          <a:prstGeom prst="roundRect">
            <a:avLst>
              <a:gd name="adj" fmla="val 675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27000" dist="38100" dir="8100000">
              <a:srgbClr val="012A32">
                <a:alpha val="8000"/>
              </a:srgbClr>
            </a:outerShdw>
          </a:effectLst>
        </p:spPr>
      </p:sp>
      <p:sp>
        <p:nvSpPr>
          <p:cNvPr id="16" name="Shape 13"/>
          <p:cNvSpPr/>
          <p:nvPr/>
        </p:nvSpPr>
        <p:spPr>
          <a:xfrm>
            <a:off x="3547872" y="1207008"/>
            <a:ext cx="384048" cy="384048"/>
          </a:xfrm>
          <a:prstGeom prst="roundRect">
            <a:avLst>
              <a:gd name="adj" fmla="val 19048"/>
            </a:avLst>
          </a:prstGeom>
          <a:solidFill>
            <a:srgbClr val="028090"/>
          </a:solidFill>
          <a:ln/>
        </p:spPr>
      </p:sp>
      <p:pic>
        <p:nvPicPr>
          <p:cNvPr id="1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21024" y="1261872"/>
            <a:ext cx="237744" cy="237744"/>
          </a:xfrm>
          <a:prstGeom prst="rect">
            <a:avLst/>
          </a:prstGeom>
        </p:spPr>
      </p:pic>
      <p:sp>
        <p:nvSpPr>
          <p:cNvPr id="18" name="Text 14"/>
          <p:cNvSpPr/>
          <p:nvPr/>
        </p:nvSpPr>
        <p:spPr>
          <a:xfrm>
            <a:off x="3547872" y="1627632"/>
            <a:ext cx="241401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12A3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7</a:t>
            </a:r>
            <a:endParaRPr lang="en-US" sz="2800" dirty="0"/>
          </a:p>
        </p:txBody>
      </p:sp>
      <p:sp>
        <p:nvSpPr>
          <p:cNvPr id="19" name="Text 15"/>
          <p:cNvSpPr/>
          <p:nvPr/>
        </p:nvSpPr>
        <p:spPr>
          <a:xfrm>
            <a:off x="3547872" y="2048256"/>
            <a:ext cx="241401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636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微服务模块</a:t>
            </a:r>
            <a:endParaRPr lang="en-US" sz="1500" dirty="0"/>
          </a:p>
        </p:txBody>
      </p:sp>
      <p:sp>
        <p:nvSpPr>
          <p:cNvPr id="20" name="Shape 16"/>
          <p:cNvSpPr/>
          <p:nvPr/>
        </p:nvSpPr>
        <p:spPr>
          <a:xfrm>
            <a:off x="6309360" y="1051560"/>
            <a:ext cx="2743200" cy="1353312"/>
          </a:xfrm>
          <a:prstGeom prst="roundRect">
            <a:avLst>
              <a:gd name="adj" fmla="val 675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27000" dist="38100" dir="8100000">
              <a:srgbClr val="012A32">
                <a:alpha val="8000"/>
              </a:srgbClr>
            </a:outerShdw>
          </a:effectLst>
        </p:spPr>
      </p:sp>
      <p:sp>
        <p:nvSpPr>
          <p:cNvPr id="21" name="Shape 17"/>
          <p:cNvSpPr/>
          <p:nvPr/>
        </p:nvSpPr>
        <p:spPr>
          <a:xfrm>
            <a:off x="6473952" y="1207008"/>
            <a:ext cx="384048" cy="384048"/>
          </a:xfrm>
          <a:prstGeom prst="roundRect">
            <a:avLst>
              <a:gd name="adj" fmla="val 19048"/>
            </a:avLst>
          </a:prstGeom>
          <a:solidFill>
            <a:srgbClr val="028090"/>
          </a:solidFill>
          <a:ln/>
        </p:spPr>
      </p:sp>
      <p:pic>
        <p:nvPicPr>
          <p:cNvPr id="2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47104" y="1261872"/>
            <a:ext cx="237744" cy="237744"/>
          </a:xfrm>
          <a:prstGeom prst="rect">
            <a:avLst/>
          </a:prstGeom>
        </p:spPr>
      </p:pic>
      <p:sp>
        <p:nvSpPr>
          <p:cNvPr id="23" name="Text 18"/>
          <p:cNvSpPr/>
          <p:nvPr/>
        </p:nvSpPr>
        <p:spPr>
          <a:xfrm>
            <a:off x="6473952" y="1627632"/>
            <a:ext cx="241401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12A3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60</a:t>
            </a:r>
            <a:endParaRPr lang="en-US" sz="2800" dirty="0"/>
          </a:p>
        </p:txBody>
      </p:sp>
      <p:sp>
        <p:nvSpPr>
          <p:cNvPr id="24" name="Text 19"/>
          <p:cNvSpPr/>
          <p:nvPr/>
        </p:nvSpPr>
        <p:spPr>
          <a:xfrm>
            <a:off x="6473952" y="2048256"/>
            <a:ext cx="241401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636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累计提交</a:t>
            </a:r>
            <a:endParaRPr lang="en-US" sz="1500" dirty="0"/>
          </a:p>
        </p:txBody>
      </p:sp>
      <p:sp>
        <p:nvSpPr>
          <p:cNvPr id="25" name="Shape 20"/>
          <p:cNvSpPr/>
          <p:nvPr/>
        </p:nvSpPr>
        <p:spPr>
          <a:xfrm>
            <a:off x="9235440" y="1051560"/>
            <a:ext cx="2743200" cy="1353312"/>
          </a:xfrm>
          <a:prstGeom prst="roundRect">
            <a:avLst>
              <a:gd name="adj" fmla="val 675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27000" dist="38100" dir="8100000">
              <a:srgbClr val="012A32">
                <a:alpha val="8000"/>
              </a:srgbClr>
            </a:outerShdw>
          </a:effectLst>
        </p:spPr>
      </p:sp>
      <p:sp>
        <p:nvSpPr>
          <p:cNvPr id="26" name="Shape 21"/>
          <p:cNvSpPr/>
          <p:nvPr/>
        </p:nvSpPr>
        <p:spPr>
          <a:xfrm>
            <a:off x="9400032" y="1207008"/>
            <a:ext cx="384048" cy="384048"/>
          </a:xfrm>
          <a:prstGeom prst="roundRect">
            <a:avLst>
              <a:gd name="adj" fmla="val 19048"/>
            </a:avLst>
          </a:prstGeom>
          <a:solidFill>
            <a:srgbClr val="028090"/>
          </a:solidFill>
          <a:ln/>
        </p:spPr>
      </p:sp>
      <p:pic>
        <p:nvPicPr>
          <p:cNvPr id="27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473184" y="1261872"/>
            <a:ext cx="237744" cy="237744"/>
          </a:xfrm>
          <a:prstGeom prst="rect">
            <a:avLst/>
          </a:prstGeom>
        </p:spPr>
      </p:pic>
      <p:sp>
        <p:nvSpPr>
          <p:cNvPr id="28" name="Text 22"/>
          <p:cNvSpPr/>
          <p:nvPr/>
        </p:nvSpPr>
        <p:spPr>
          <a:xfrm>
            <a:off x="9400032" y="1627632"/>
            <a:ext cx="241401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12A3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</a:t>
            </a:r>
            <a:endParaRPr lang="en-US" sz="2800" dirty="0"/>
          </a:p>
        </p:txBody>
      </p:sp>
      <p:sp>
        <p:nvSpPr>
          <p:cNvPr id="29" name="Text 23"/>
          <p:cNvSpPr/>
          <p:nvPr/>
        </p:nvSpPr>
        <p:spPr>
          <a:xfrm>
            <a:off x="9400032" y="2048256"/>
            <a:ext cx="241401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636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开放 Issue</a:t>
            </a:r>
            <a:endParaRPr lang="en-US" sz="1500" dirty="0"/>
          </a:p>
        </p:txBody>
      </p:sp>
      <p:sp>
        <p:nvSpPr>
          <p:cNvPr id="30" name="Shape 24"/>
          <p:cNvSpPr/>
          <p:nvPr/>
        </p:nvSpPr>
        <p:spPr>
          <a:xfrm>
            <a:off x="457200" y="2697480"/>
            <a:ext cx="5623560" cy="3611880"/>
          </a:xfrm>
          <a:prstGeom prst="roundRect">
            <a:avLst>
              <a:gd name="adj" fmla="val 2532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27000" dist="38100" dir="8100000">
              <a:srgbClr val="012A32">
                <a:alpha val="8000"/>
              </a:srgbClr>
            </a:outerShdw>
          </a:effectLst>
        </p:spPr>
      </p:sp>
      <p:sp>
        <p:nvSpPr>
          <p:cNvPr id="31" name="Shape 25"/>
          <p:cNvSpPr/>
          <p:nvPr/>
        </p:nvSpPr>
        <p:spPr>
          <a:xfrm>
            <a:off x="658368" y="2834640"/>
            <a:ext cx="365760" cy="365760"/>
          </a:xfrm>
          <a:prstGeom prst="roundRect">
            <a:avLst>
              <a:gd name="adj" fmla="val 20000"/>
            </a:avLst>
          </a:prstGeom>
          <a:solidFill>
            <a:srgbClr val="028090"/>
          </a:solidFill>
          <a:ln/>
        </p:spPr>
      </p:sp>
      <p:pic>
        <p:nvPicPr>
          <p:cNvPr id="32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31520" y="2907792"/>
            <a:ext cx="219456" cy="219456"/>
          </a:xfrm>
          <a:prstGeom prst="rect">
            <a:avLst/>
          </a:prstGeom>
        </p:spPr>
      </p:pic>
      <p:sp>
        <p:nvSpPr>
          <p:cNvPr id="33" name="Text 26"/>
          <p:cNvSpPr/>
          <p:nvPr/>
        </p:nvSpPr>
        <p:spPr>
          <a:xfrm>
            <a:off x="1143000" y="2834640"/>
            <a:ext cx="4663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12A3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定位与受众</a:t>
            </a:r>
            <a:endParaRPr lang="en-US" sz="1800" dirty="0"/>
          </a:p>
        </p:txBody>
      </p:sp>
      <p:sp>
        <p:nvSpPr>
          <p:cNvPr id="34" name="Text 27"/>
          <p:cNvSpPr/>
          <p:nvPr/>
        </p:nvSpPr>
        <p:spPr>
          <a:xfrm>
            <a:off x="685800" y="3337560"/>
            <a:ext cx="5212080" cy="2788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1000"/>
              </a:spcAft>
              <a:buNone/>
            </a:pPr>
            <a:r>
              <a:rPr lang="en-US" sz="1500" dirty="0">
                <a:solidFill>
                  <a:srgbClr val="1636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教学向企业级 AI 代码生成平台，用户用自然语言生成、预览、编辑并部署网页应用。</a:t>
            </a:r>
            <a:endParaRPr lang="en-US" sz="150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1500" dirty="0">
                <a:solidFill>
                  <a:srgbClr val="1636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后端 Spring Boot 3.5 + Java 21，前端 Vue 3 + TypeScript + Ant Design Vue。</a:t>
            </a:r>
            <a:endParaRPr lang="en-US" sz="150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1500" dirty="0">
                <a:solidFill>
                  <a:srgbClr val="1636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核心引擎：LangChain4j 智能体 + LangGraph4j 工作流，SSE 流式输出。</a:t>
            </a:r>
            <a:endParaRPr lang="en-US" sz="150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1500" dirty="0">
                <a:solidFill>
                  <a:srgbClr val="1636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仓库同时保留完整单体（src/）与微服务工程，便于对照学习。</a:t>
            </a:r>
            <a:endParaRPr lang="en-US" sz="1500" dirty="0"/>
          </a:p>
        </p:txBody>
      </p:sp>
      <p:sp>
        <p:nvSpPr>
          <p:cNvPr id="35" name="Shape 28"/>
          <p:cNvSpPr/>
          <p:nvPr/>
        </p:nvSpPr>
        <p:spPr>
          <a:xfrm>
            <a:off x="6355080" y="2697480"/>
            <a:ext cx="5349240" cy="3611880"/>
          </a:xfrm>
          <a:prstGeom prst="roundRect">
            <a:avLst>
              <a:gd name="adj" fmla="val 2532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27000" dist="38100" dir="8100000">
              <a:srgbClr val="012A32">
                <a:alpha val="8000"/>
              </a:srgbClr>
            </a:outerShdw>
          </a:effectLst>
        </p:spPr>
      </p:sp>
      <p:sp>
        <p:nvSpPr>
          <p:cNvPr id="36" name="Shape 29"/>
          <p:cNvSpPr/>
          <p:nvPr/>
        </p:nvSpPr>
        <p:spPr>
          <a:xfrm>
            <a:off x="6556248" y="2880360"/>
            <a:ext cx="365760" cy="365760"/>
          </a:xfrm>
          <a:prstGeom prst="roundRect">
            <a:avLst>
              <a:gd name="adj" fmla="val 20000"/>
            </a:avLst>
          </a:prstGeom>
          <a:solidFill>
            <a:srgbClr val="00A896"/>
          </a:solidFill>
          <a:ln/>
        </p:spPr>
      </p:sp>
      <p:pic>
        <p:nvPicPr>
          <p:cNvPr id="37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629400" y="2953512"/>
            <a:ext cx="219456" cy="219456"/>
          </a:xfrm>
          <a:prstGeom prst="rect">
            <a:avLst/>
          </a:prstGeom>
        </p:spPr>
      </p:pic>
      <p:sp>
        <p:nvSpPr>
          <p:cNvPr id="38" name="Text 30"/>
          <p:cNvSpPr/>
          <p:nvPr/>
        </p:nvSpPr>
        <p:spPr>
          <a:xfrm>
            <a:off x="7040880" y="2880360"/>
            <a:ext cx="4434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12A3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技术栈要点</a:t>
            </a:r>
            <a:endParaRPr lang="en-US" sz="1800" dirty="0"/>
          </a:p>
        </p:txBody>
      </p:sp>
      <p:sp>
        <p:nvSpPr>
          <p:cNvPr id="39" name="Shape 31"/>
          <p:cNvSpPr/>
          <p:nvPr/>
        </p:nvSpPr>
        <p:spPr>
          <a:xfrm>
            <a:off x="6583680" y="3383280"/>
            <a:ext cx="4937760" cy="457200"/>
          </a:xfrm>
          <a:prstGeom prst="roundRect">
            <a:avLst>
              <a:gd name="adj" fmla="val 12000"/>
            </a:avLst>
          </a:prstGeom>
          <a:solidFill>
            <a:srgbClr val="D5EFEB"/>
          </a:solidFill>
          <a:ln/>
        </p:spPr>
      </p:sp>
      <p:sp>
        <p:nvSpPr>
          <p:cNvPr id="40" name="Text 32"/>
          <p:cNvSpPr/>
          <p:nvPr/>
        </p:nvSpPr>
        <p:spPr>
          <a:xfrm>
            <a:off x="6720840" y="3383280"/>
            <a:ext cx="1737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语言 / 运行时</a:t>
            </a:r>
            <a:endParaRPr lang="en-US" sz="1300" dirty="0"/>
          </a:p>
        </p:txBody>
      </p:sp>
      <p:sp>
        <p:nvSpPr>
          <p:cNvPr id="41" name="Text 33"/>
          <p:cNvSpPr/>
          <p:nvPr/>
        </p:nvSpPr>
        <p:spPr>
          <a:xfrm>
            <a:off x="8458200" y="3383280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636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Java 21 · Node / Vite 7</a:t>
            </a:r>
            <a:endParaRPr lang="en-US" sz="1400" dirty="0"/>
          </a:p>
        </p:txBody>
      </p:sp>
      <p:sp>
        <p:nvSpPr>
          <p:cNvPr id="42" name="Shape 34"/>
          <p:cNvSpPr/>
          <p:nvPr/>
        </p:nvSpPr>
        <p:spPr>
          <a:xfrm>
            <a:off x="6583680" y="3913632"/>
            <a:ext cx="4937760" cy="457200"/>
          </a:xfrm>
          <a:prstGeom prst="roundRect">
            <a:avLst>
              <a:gd name="adj" fmla="val 12000"/>
            </a:avLst>
          </a:prstGeom>
          <a:solidFill>
            <a:srgbClr val="F4FBFB"/>
          </a:solidFill>
          <a:ln/>
        </p:spPr>
      </p:sp>
      <p:sp>
        <p:nvSpPr>
          <p:cNvPr id="43" name="Text 35"/>
          <p:cNvSpPr/>
          <p:nvPr/>
        </p:nvSpPr>
        <p:spPr>
          <a:xfrm>
            <a:off x="6720840" y="3913632"/>
            <a:ext cx="1737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框架</a:t>
            </a:r>
            <a:endParaRPr lang="en-US" sz="1300" dirty="0"/>
          </a:p>
        </p:txBody>
      </p:sp>
      <p:sp>
        <p:nvSpPr>
          <p:cNvPr id="44" name="Text 36"/>
          <p:cNvSpPr/>
          <p:nvPr/>
        </p:nvSpPr>
        <p:spPr>
          <a:xfrm>
            <a:off x="8458200" y="3913632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636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LangChain4j 1.1 · LangGraph4j 1.6-rc2</a:t>
            </a:r>
            <a:endParaRPr lang="en-US" sz="1400" dirty="0"/>
          </a:p>
        </p:txBody>
      </p:sp>
      <p:sp>
        <p:nvSpPr>
          <p:cNvPr id="45" name="Shape 37"/>
          <p:cNvSpPr/>
          <p:nvPr/>
        </p:nvSpPr>
        <p:spPr>
          <a:xfrm>
            <a:off x="6583680" y="4443984"/>
            <a:ext cx="4937760" cy="457200"/>
          </a:xfrm>
          <a:prstGeom prst="roundRect">
            <a:avLst>
              <a:gd name="adj" fmla="val 12000"/>
            </a:avLst>
          </a:prstGeom>
          <a:solidFill>
            <a:srgbClr val="D5EFEB"/>
          </a:solidFill>
          <a:ln/>
        </p:spPr>
      </p:sp>
      <p:sp>
        <p:nvSpPr>
          <p:cNvPr id="46" name="Text 38"/>
          <p:cNvSpPr/>
          <p:nvPr/>
        </p:nvSpPr>
        <p:spPr>
          <a:xfrm>
            <a:off x="6720840" y="4443984"/>
            <a:ext cx="1737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数据与缓存</a:t>
            </a:r>
            <a:endParaRPr lang="en-US" sz="1300" dirty="0"/>
          </a:p>
        </p:txBody>
      </p:sp>
      <p:sp>
        <p:nvSpPr>
          <p:cNvPr id="47" name="Text 39"/>
          <p:cNvSpPr/>
          <p:nvPr/>
        </p:nvSpPr>
        <p:spPr>
          <a:xfrm>
            <a:off x="8458200" y="4443984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636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MySQL · Redis · Redisson · Caffeine</a:t>
            </a:r>
            <a:endParaRPr lang="en-US" sz="1400" dirty="0"/>
          </a:p>
        </p:txBody>
      </p:sp>
      <p:sp>
        <p:nvSpPr>
          <p:cNvPr id="48" name="Shape 40"/>
          <p:cNvSpPr/>
          <p:nvPr/>
        </p:nvSpPr>
        <p:spPr>
          <a:xfrm>
            <a:off x="6583680" y="4974336"/>
            <a:ext cx="4937760" cy="457200"/>
          </a:xfrm>
          <a:prstGeom prst="roundRect">
            <a:avLst>
              <a:gd name="adj" fmla="val 12000"/>
            </a:avLst>
          </a:prstGeom>
          <a:solidFill>
            <a:srgbClr val="F4FBFB"/>
          </a:solidFill>
          <a:ln/>
        </p:spPr>
      </p:sp>
      <p:sp>
        <p:nvSpPr>
          <p:cNvPr id="49" name="Text 41"/>
          <p:cNvSpPr/>
          <p:nvPr/>
        </p:nvSpPr>
        <p:spPr>
          <a:xfrm>
            <a:off x="6720840" y="4974336"/>
            <a:ext cx="1737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微服务</a:t>
            </a:r>
            <a:endParaRPr lang="en-US" sz="1300" dirty="0"/>
          </a:p>
        </p:txBody>
      </p:sp>
      <p:sp>
        <p:nvSpPr>
          <p:cNvPr id="50" name="Text 42"/>
          <p:cNvSpPr/>
          <p:nvPr/>
        </p:nvSpPr>
        <p:spPr>
          <a:xfrm>
            <a:off x="8458200" y="4974336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636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Spring Cloud Alibaba · Dubbo 3.3 · Nacos</a:t>
            </a:r>
            <a:endParaRPr lang="en-US" sz="1400" dirty="0"/>
          </a:p>
        </p:txBody>
      </p:sp>
      <p:sp>
        <p:nvSpPr>
          <p:cNvPr id="51" name="Shape 43"/>
          <p:cNvSpPr/>
          <p:nvPr/>
        </p:nvSpPr>
        <p:spPr>
          <a:xfrm>
            <a:off x="6583680" y="5504688"/>
            <a:ext cx="4937760" cy="457200"/>
          </a:xfrm>
          <a:prstGeom prst="roundRect">
            <a:avLst>
              <a:gd name="adj" fmla="val 12000"/>
            </a:avLst>
          </a:prstGeom>
          <a:solidFill>
            <a:srgbClr val="D5EFEB"/>
          </a:solidFill>
          <a:ln/>
        </p:spPr>
      </p:sp>
      <p:sp>
        <p:nvSpPr>
          <p:cNvPr id="52" name="Text 44"/>
          <p:cNvSpPr/>
          <p:nvPr/>
        </p:nvSpPr>
        <p:spPr>
          <a:xfrm>
            <a:off x="6720840" y="5504688"/>
            <a:ext cx="1737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可观测</a:t>
            </a:r>
            <a:endParaRPr lang="en-US" sz="1300" dirty="0"/>
          </a:p>
        </p:txBody>
      </p:sp>
      <p:sp>
        <p:nvSpPr>
          <p:cNvPr id="53" name="Text 45"/>
          <p:cNvSpPr/>
          <p:nvPr/>
        </p:nvSpPr>
        <p:spPr>
          <a:xfrm>
            <a:off x="8458200" y="5504688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636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Prometheus · Grafana AI 指标看板</a:t>
            </a:r>
            <a:endParaRPr lang="en-US" sz="1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E8F4F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61520" cy="73152"/>
          </a:xfrm>
          <a:prstGeom prst="rect">
            <a:avLst/>
          </a:prstGeom>
          <a:solidFill>
            <a:srgbClr val="02C39A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329184"/>
            <a:ext cx="87782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012A3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核心能力</a:t>
            </a:r>
            <a:endParaRPr lang="en-US" sz="3600" dirty="0"/>
          </a:p>
        </p:txBody>
      </p:sp>
      <p:sp>
        <p:nvSpPr>
          <p:cNvPr id="5" name="Shape 3"/>
          <p:cNvSpPr/>
          <p:nvPr/>
        </p:nvSpPr>
        <p:spPr>
          <a:xfrm>
            <a:off x="9921240" y="402336"/>
            <a:ext cx="1783080" cy="347472"/>
          </a:xfrm>
          <a:prstGeom prst="roundRect">
            <a:avLst>
              <a:gd name="adj" fmla="val 21053"/>
            </a:avLst>
          </a:prstGeom>
          <a:solidFill>
            <a:srgbClr val="D5EFEB"/>
          </a:solidFill>
          <a:ln/>
        </p:spPr>
      </p:sp>
      <p:sp>
        <p:nvSpPr>
          <p:cNvPr id="6" name="Text 4"/>
          <p:cNvSpPr/>
          <p:nvPr/>
        </p:nvSpPr>
        <p:spPr>
          <a:xfrm>
            <a:off x="9921240" y="402336"/>
            <a:ext cx="17830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8月19日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0" y="6601968"/>
            <a:ext cx="12161520" cy="256032"/>
          </a:xfrm>
          <a:prstGeom prst="rect">
            <a:avLst/>
          </a:prstGeom>
          <a:solidFill>
            <a:srgbClr val="012A32"/>
          </a:solidFill>
          <a:ln/>
        </p:spPr>
      </p:sp>
      <p:sp>
        <p:nvSpPr>
          <p:cNvPr id="8" name="Text 6"/>
          <p:cNvSpPr/>
          <p:nvPr/>
        </p:nvSpPr>
        <p:spPr>
          <a:xfrm>
            <a:off x="457200" y="6601968"/>
            <a:ext cx="9326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5EF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零代码应用生成平台  ·  每日项目状态  ·  2026-08-19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10424160" y="6601968"/>
            <a:ext cx="1280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/ 10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457200" y="1051560"/>
            <a:ext cx="5577840" cy="1664208"/>
          </a:xfrm>
          <a:prstGeom prst="roundRect">
            <a:avLst>
              <a:gd name="adj" fmla="val 5495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27000" dist="38100" dir="8100000">
              <a:srgbClr val="012A32">
                <a:alpha val="8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658368" y="1307592"/>
            <a:ext cx="512064" cy="512064"/>
          </a:xfrm>
          <a:prstGeom prst="roundRect">
            <a:avLst>
              <a:gd name="adj" fmla="val 17857"/>
            </a:avLst>
          </a:prstGeom>
          <a:solidFill>
            <a:srgbClr val="028090"/>
          </a:solidFill>
          <a:ln/>
        </p:spPr>
      </p:sp>
      <p:pic>
        <p:nvPicPr>
          <p:cNvPr id="1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68096" y="1417320"/>
            <a:ext cx="292608" cy="292608"/>
          </a:xfrm>
          <a:prstGeom prst="rect">
            <a:avLst/>
          </a:prstGeom>
        </p:spPr>
      </p:pic>
      <p:sp>
        <p:nvSpPr>
          <p:cNvPr id="13" name="Text 10"/>
          <p:cNvSpPr/>
          <p:nvPr/>
        </p:nvSpPr>
        <p:spPr>
          <a:xfrm>
            <a:off x="1335024" y="1307592"/>
            <a:ext cx="44805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12A3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智能代码生成</a:t>
            </a:r>
            <a:endParaRPr lang="en-US" sz="2000" dirty="0"/>
          </a:p>
        </p:txBody>
      </p:sp>
      <p:sp>
        <p:nvSpPr>
          <p:cNvPr id="14" name="Text 11"/>
          <p:cNvSpPr/>
          <p:nvPr/>
        </p:nvSpPr>
        <p:spPr>
          <a:xfrm>
            <a:off x="658368" y="1965960"/>
            <a:ext cx="5212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636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按需求自动路由 HTML / 多文件 / Vue 工程；工具读写文件，SSE 实时展示执行过程。</a:t>
            </a:r>
            <a:endParaRPr lang="en-US" sz="1500" dirty="0"/>
          </a:p>
        </p:txBody>
      </p:sp>
      <p:sp>
        <p:nvSpPr>
          <p:cNvPr id="15" name="Shape 12"/>
          <p:cNvSpPr/>
          <p:nvPr/>
        </p:nvSpPr>
        <p:spPr>
          <a:xfrm>
            <a:off x="6309360" y="1051560"/>
            <a:ext cx="5577840" cy="1664208"/>
          </a:xfrm>
          <a:prstGeom prst="roundRect">
            <a:avLst>
              <a:gd name="adj" fmla="val 5495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27000" dist="38100" dir="8100000">
              <a:srgbClr val="012A32">
                <a:alpha val="8000"/>
              </a:srgbClr>
            </a:outerShdw>
          </a:effectLst>
        </p:spPr>
      </p:sp>
      <p:sp>
        <p:nvSpPr>
          <p:cNvPr id="16" name="Shape 13"/>
          <p:cNvSpPr/>
          <p:nvPr/>
        </p:nvSpPr>
        <p:spPr>
          <a:xfrm>
            <a:off x="6510528" y="1307592"/>
            <a:ext cx="512064" cy="512064"/>
          </a:xfrm>
          <a:prstGeom prst="roundRect">
            <a:avLst>
              <a:gd name="adj" fmla="val 17857"/>
            </a:avLst>
          </a:prstGeom>
          <a:solidFill>
            <a:srgbClr val="028090"/>
          </a:solidFill>
          <a:ln/>
        </p:spPr>
      </p:sp>
      <p:pic>
        <p:nvPicPr>
          <p:cNvPr id="1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20256" y="1417320"/>
            <a:ext cx="292608" cy="292608"/>
          </a:xfrm>
          <a:prstGeom prst="rect">
            <a:avLst/>
          </a:prstGeom>
        </p:spPr>
      </p:pic>
      <p:sp>
        <p:nvSpPr>
          <p:cNvPr id="18" name="Text 14"/>
          <p:cNvSpPr/>
          <p:nvPr/>
        </p:nvSpPr>
        <p:spPr>
          <a:xfrm>
            <a:off x="7187184" y="1307592"/>
            <a:ext cx="44805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12A3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可视化编辑</a:t>
            </a:r>
            <a:endParaRPr lang="en-US" sz="2000" dirty="0"/>
          </a:p>
        </p:txBody>
      </p:sp>
      <p:sp>
        <p:nvSpPr>
          <p:cNvPr id="19" name="Text 15"/>
          <p:cNvSpPr/>
          <p:nvPr/>
        </p:nvSpPr>
        <p:spPr>
          <a:xfrm>
            <a:off x="6510528" y="1965960"/>
            <a:ext cx="5212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636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预览页选中元素后继续与 AI 对话，迭代改版直到满意，前端 visualEditor 支撑。</a:t>
            </a:r>
            <a:endParaRPr lang="en-US" sz="1500" dirty="0"/>
          </a:p>
        </p:txBody>
      </p:sp>
      <p:sp>
        <p:nvSpPr>
          <p:cNvPr id="20" name="Shape 16"/>
          <p:cNvSpPr/>
          <p:nvPr/>
        </p:nvSpPr>
        <p:spPr>
          <a:xfrm>
            <a:off x="457200" y="2880360"/>
            <a:ext cx="5577840" cy="1664208"/>
          </a:xfrm>
          <a:prstGeom prst="roundRect">
            <a:avLst>
              <a:gd name="adj" fmla="val 5495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27000" dist="38100" dir="8100000">
              <a:srgbClr val="012A32">
                <a:alpha val="8000"/>
              </a:srgbClr>
            </a:outerShdw>
          </a:effectLst>
        </p:spPr>
      </p:sp>
      <p:sp>
        <p:nvSpPr>
          <p:cNvPr id="21" name="Shape 17"/>
          <p:cNvSpPr/>
          <p:nvPr/>
        </p:nvSpPr>
        <p:spPr>
          <a:xfrm>
            <a:off x="658368" y="3136392"/>
            <a:ext cx="512064" cy="512064"/>
          </a:xfrm>
          <a:prstGeom prst="roundRect">
            <a:avLst>
              <a:gd name="adj" fmla="val 17857"/>
            </a:avLst>
          </a:prstGeom>
          <a:solidFill>
            <a:srgbClr val="028090"/>
          </a:solidFill>
          <a:ln/>
        </p:spPr>
      </p:sp>
      <p:pic>
        <p:nvPicPr>
          <p:cNvPr id="2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8096" y="3246120"/>
            <a:ext cx="292608" cy="292608"/>
          </a:xfrm>
          <a:prstGeom prst="rect">
            <a:avLst/>
          </a:prstGeom>
        </p:spPr>
      </p:pic>
      <p:sp>
        <p:nvSpPr>
          <p:cNvPr id="23" name="Text 18"/>
          <p:cNvSpPr/>
          <p:nvPr/>
        </p:nvSpPr>
        <p:spPr>
          <a:xfrm>
            <a:off x="1335024" y="3136392"/>
            <a:ext cx="44805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12A3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部署与分享</a:t>
            </a:r>
            <a:endParaRPr lang="en-US" sz="2000" dirty="0"/>
          </a:p>
        </p:txBody>
      </p:sp>
      <p:sp>
        <p:nvSpPr>
          <p:cNvPr id="24" name="Text 19"/>
          <p:cNvSpPr/>
          <p:nvPr/>
        </p:nvSpPr>
        <p:spPr>
          <a:xfrm>
            <a:off x="658368" y="3794760"/>
            <a:ext cx="5212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636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一键部署拿访问地址，自动截封面；支持完整源码下载与精选案例展示。</a:t>
            </a:r>
            <a:endParaRPr lang="en-US" sz="1500" dirty="0"/>
          </a:p>
        </p:txBody>
      </p:sp>
      <p:sp>
        <p:nvSpPr>
          <p:cNvPr id="25" name="Shape 20"/>
          <p:cNvSpPr/>
          <p:nvPr/>
        </p:nvSpPr>
        <p:spPr>
          <a:xfrm>
            <a:off x="6309360" y="2880360"/>
            <a:ext cx="5577840" cy="1664208"/>
          </a:xfrm>
          <a:prstGeom prst="roundRect">
            <a:avLst>
              <a:gd name="adj" fmla="val 5495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27000" dist="38100" dir="8100000">
              <a:srgbClr val="012A32">
                <a:alpha val="8000"/>
              </a:srgbClr>
            </a:outerShdw>
          </a:effectLst>
        </p:spPr>
      </p:sp>
      <p:sp>
        <p:nvSpPr>
          <p:cNvPr id="26" name="Shape 21"/>
          <p:cNvSpPr/>
          <p:nvPr/>
        </p:nvSpPr>
        <p:spPr>
          <a:xfrm>
            <a:off x="6510528" y="3136392"/>
            <a:ext cx="512064" cy="512064"/>
          </a:xfrm>
          <a:prstGeom prst="roundRect">
            <a:avLst>
              <a:gd name="adj" fmla="val 17857"/>
            </a:avLst>
          </a:prstGeom>
          <a:solidFill>
            <a:srgbClr val="028090"/>
          </a:solidFill>
          <a:ln/>
        </p:spPr>
      </p:sp>
      <p:pic>
        <p:nvPicPr>
          <p:cNvPr id="27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20256" y="3246120"/>
            <a:ext cx="292608" cy="292608"/>
          </a:xfrm>
          <a:prstGeom prst="rect">
            <a:avLst/>
          </a:prstGeom>
        </p:spPr>
      </p:pic>
      <p:sp>
        <p:nvSpPr>
          <p:cNvPr id="28" name="Text 22"/>
          <p:cNvSpPr/>
          <p:nvPr/>
        </p:nvSpPr>
        <p:spPr>
          <a:xfrm>
            <a:off x="7187184" y="3136392"/>
            <a:ext cx="44805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12A3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企业级管理</a:t>
            </a:r>
            <a:endParaRPr lang="en-US" sz="2000" dirty="0"/>
          </a:p>
        </p:txBody>
      </p:sp>
      <p:sp>
        <p:nvSpPr>
          <p:cNvPr id="29" name="Text 23"/>
          <p:cNvSpPr/>
          <p:nvPr/>
        </p:nvSpPr>
        <p:spPr>
          <a:xfrm>
            <a:off x="6510528" y="3794760"/>
            <a:ext cx="5212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636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用户 / 应用 / 对话后台，精选优先级，限流与 Prompt 审查，AI 调用监控。</a:t>
            </a:r>
            <a:endParaRPr lang="en-US" sz="1500" dirty="0"/>
          </a:p>
        </p:txBody>
      </p:sp>
      <p:sp>
        <p:nvSpPr>
          <p:cNvPr id="30" name="Shape 24"/>
          <p:cNvSpPr/>
          <p:nvPr/>
        </p:nvSpPr>
        <p:spPr>
          <a:xfrm>
            <a:off x="457200" y="4800600"/>
            <a:ext cx="11247120" cy="1572768"/>
          </a:xfrm>
          <a:prstGeom prst="roundRect">
            <a:avLst>
              <a:gd name="adj" fmla="val 5814"/>
            </a:avLst>
          </a:prstGeom>
          <a:solidFill>
            <a:srgbClr val="012A32"/>
          </a:solidFill>
          <a:ln/>
        </p:spPr>
      </p:sp>
      <p:sp>
        <p:nvSpPr>
          <p:cNvPr id="31" name="Text 25"/>
          <p:cNvSpPr/>
          <p:nvPr/>
        </p:nvSpPr>
        <p:spPr>
          <a:xfrm>
            <a:off x="685800" y="4901184"/>
            <a:ext cx="10789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LangGraph4j 工作流主链</a:t>
            </a:r>
            <a:endParaRPr lang="en-US" sz="1300" dirty="0"/>
          </a:p>
        </p:txBody>
      </p:sp>
      <p:sp>
        <p:nvSpPr>
          <p:cNvPr id="32" name="Shape 26"/>
          <p:cNvSpPr/>
          <p:nvPr/>
        </p:nvSpPr>
        <p:spPr>
          <a:xfrm>
            <a:off x="685800" y="5266944"/>
            <a:ext cx="1664208" cy="868680"/>
          </a:xfrm>
          <a:prstGeom prst="roundRect">
            <a:avLst>
              <a:gd name="adj" fmla="val 8421"/>
            </a:avLst>
          </a:prstGeom>
          <a:solidFill>
            <a:srgbClr val="016875"/>
          </a:solidFill>
          <a:ln/>
        </p:spPr>
      </p:sp>
      <p:sp>
        <p:nvSpPr>
          <p:cNvPr id="33" name="Text 27"/>
          <p:cNvSpPr/>
          <p:nvPr/>
        </p:nvSpPr>
        <p:spPr>
          <a:xfrm>
            <a:off x="685800" y="5321808"/>
            <a:ext cx="16642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200" dirty="0"/>
          </a:p>
        </p:txBody>
      </p:sp>
      <p:sp>
        <p:nvSpPr>
          <p:cNvPr id="34" name="Text 28"/>
          <p:cNvSpPr/>
          <p:nvPr/>
        </p:nvSpPr>
        <p:spPr>
          <a:xfrm>
            <a:off x="685800" y="5614416"/>
            <a:ext cx="166420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路由</a:t>
            </a:r>
            <a:endParaRPr lang="en-US" sz="1500" dirty="0"/>
          </a:p>
        </p:txBody>
      </p:sp>
      <p:sp>
        <p:nvSpPr>
          <p:cNvPr id="35" name="Shape 29"/>
          <p:cNvSpPr/>
          <p:nvPr/>
        </p:nvSpPr>
        <p:spPr>
          <a:xfrm>
            <a:off x="2514600" y="5266944"/>
            <a:ext cx="1664208" cy="868680"/>
          </a:xfrm>
          <a:prstGeom prst="roundRect">
            <a:avLst>
              <a:gd name="adj" fmla="val 8421"/>
            </a:avLst>
          </a:prstGeom>
          <a:solidFill>
            <a:srgbClr val="016875"/>
          </a:solidFill>
          <a:ln/>
        </p:spPr>
      </p:sp>
      <p:sp>
        <p:nvSpPr>
          <p:cNvPr id="36" name="Text 30"/>
          <p:cNvSpPr/>
          <p:nvPr/>
        </p:nvSpPr>
        <p:spPr>
          <a:xfrm>
            <a:off x="2514600" y="5321808"/>
            <a:ext cx="16642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200" dirty="0"/>
          </a:p>
        </p:txBody>
      </p:sp>
      <p:sp>
        <p:nvSpPr>
          <p:cNvPr id="37" name="Text 31"/>
          <p:cNvSpPr/>
          <p:nvPr/>
        </p:nvSpPr>
        <p:spPr>
          <a:xfrm>
            <a:off x="2514600" y="5614416"/>
            <a:ext cx="166420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提示增强</a:t>
            </a:r>
            <a:endParaRPr lang="en-US" sz="1500" dirty="0"/>
          </a:p>
        </p:txBody>
      </p:sp>
      <p:sp>
        <p:nvSpPr>
          <p:cNvPr id="38" name="Shape 32"/>
          <p:cNvSpPr/>
          <p:nvPr/>
        </p:nvSpPr>
        <p:spPr>
          <a:xfrm>
            <a:off x="4343400" y="5266944"/>
            <a:ext cx="1664208" cy="868680"/>
          </a:xfrm>
          <a:prstGeom prst="roundRect">
            <a:avLst>
              <a:gd name="adj" fmla="val 8421"/>
            </a:avLst>
          </a:prstGeom>
          <a:solidFill>
            <a:srgbClr val="016875"/>
          </a:solidFill>
          <a:ln/>
        </p:spPr>
      </p:sp>
      <p:sp>
        <p:nvSpPr>
          <p:cNvPr id="39" name="Text 33"/>
          <p:cNvSpPr/>
          <p:nvPr/>
        </p:nvSpPr>
        <p:spPr>
          <a:xfrm>
            <a:off x="4343400" y="5321808"/>
            <a:ext cx="16642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200" dirty="0"/>
          </a:p>
        </p:txBody>
      </p:sp>
      <p:sp>
        <p:nvSpPr>
          <p:cNvPr id="40" name="Text 34"/>
          <p:cNvSpPr/>
          <p:nvPr/>
        </p:nvSpPr>
        <p:spPr>
          <a:xfrm>
            <a:off x="4343400" y="5614416"/>
            <a:ext cx="166420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图片采集</a:t>
            </a:r>
            <a:endParaRPr lang="en-US" sz="1500" dirty="0"/>
          </a:p>
        </p:txBody>
      </p:sp>
      <p:sp>
        <p:nvSpPr>
          <p:cNvPr id="41" name="Shape 35"/>
          <p:cNvSpPr/>
          <p:nvPr/>
        </p:nvSpPr>
        <p:spPr>
          <a:xfrm>
            <a:off x="6172200" y="5266944"/>
            <a:ext cx="1664208" cy="868680"/>
          </a:xfrm>
          <a:prstGeom prst="roundRect">
            <a:avLst>
              <a:gd name="adj" fmla="val 8421"/>
            </a:avLst>
          </a:prstGeom>
          <a:solidFill>
            <a:srgbClr val="016875"/>
          </a:solidFill>
          <a:ln/>
        </p:spPr>
      </p:sp>
      <p:sp>
        <p:nvSpPr>
          <p:cNvPr id="42" name="Text 36"/>
          <p:cNvSpPr/>
          <p:nvPr/>
        </p:nvSpPr>
        <p:spPr>
          <a:xfrm>
            <a:off x="6172200" y="5321808"/>
            <a:ext cx="16642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200" dirty="0"/>
          </a:p>
        </p:txBody>
      </p:sp>
      <p:sp>
        <p:nvSpPr>
          <p:cNvPr id="43" name="Text 37"/>
          <p:cNvSpPr/>
          <p:nvPr/>
        </p:nvSpPr>
        <p:spPr>
          <a:xfrm>
            <a:off x="6172200" y="5614416"/>
            <a:ext cx="166420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代码生成</a:t>
            </a:r>
            <a:endParaRPr lang="en-US" sz="1500" dirty="0"/>
          </a:p>
        </p:txBody>
      </p:sp>
      <p:sp>
        <p:nvSpPr>
          <p:cNvPr id="44" name="Shape 38"/>
          <p:cNvSpPr/>
          <p:nvPr/>
        </p:nvSpPr>
        <p:spPr>
          <a:xfrm>
            <a:off x="8001000" y="5266944"/>
            <a:ext cx="1664208" cy="868680"/>
          </a:xfrm>
          <a:prstGeom prst="roundRect">
            <a:avLst>
              <a:gd name="adj" fmla="val 8421"/>
            </a:avLst>
          </a:prstGeom>
          <a:solidFill>
            <a:srgbClr val="016875"/>
          </a:solidFill>
          <a:ln/>
        </p:spPr>
      </p:sp>
      <p:sp>
        <p:nvSpPr>
          <p:cNvPr id="45" name="Text 39"/>
          <p:cNvSpPr/>
          <p:nvPr/>
        </p:nvSpPr>
        <p:spPr>
          <a:xfrm>
            <a:off x="8001000" y="5321808"/>
            <a:ext cx="16642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200" dirty="0"/>
          </a:p>
        </p:txBody>
      </p:sp>
      <p:sp>
        <p:nvSpPr>
          <p:cNvPr id="46" name="Text 40"/>
          <p:cNvSpPr/>
          <p:nvPr/>
        </p:nvSpPr>
        <p:spPr>
          <a:xfrm>
            <a:off x="8001000" y="5614416"/>
            <a:ext cx="166420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质量检查</a:t>
            </a:r>
            <a:endParaRPr lang="en-US" sz="1500" dirty="0"/>
          </a:p>
        </p:txBody>
      </p:sp>
      <p:sp>
        <p:nvSpPr>
          <p:cNvPr id="47" name="Shape 41"/>
          <p:cNvSpPr/>
          <p:nvPr/>
        </p:nvSpPr>
        <p:spPr>
          <a:xfrm>
            <a:off x="9829800" y="5266944"/>
            <a:ext cx="1664208" cy="868680"/>
          </a:xfrm>
          <a:prstGeom prst="roundRect">
            <a:avLst>
              <a:gd name="adj" fmla="val 8421"/>
            </a:avLst>
          </a:prstGeom>
          <a:solidFill>
            <a:srgbClr val="016875"/>
          </a:solidFill>
          <a:ln/>
        </p:spPr>
      </p:sp>
      <p:sp>
        <p:nvSpPr>
          <p:cNvPr id="48" name="Text 42"/>
          <p:cNvSpPr/>
          <p:nvPr/>
        </p:nvSpPr>
        <p:spPr>
          <a:xfrm>
            <a:off x="9829800" y="5321808"/>
            <a:ext cx="16642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1200" dirty="0"/>
          </a:p>
        </p:txBody>
      </p:sp>
      <p:sp>
        <p:nvSpPr>
          <p:cNvPr id="49" name="Text 43"/>
          <p:cNvSpPr/>
          <p:nvPr/>
        </p:nvSpPr>
        <p:spPr>
          <a:xfrm>
            <a:off x="9829800" y="5614416"/>
            <a:ext cx="166420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项目构建</a:t>
            </a:r>
            <a:endParaRPr lang="en-US" sz="15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E8F4F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61520" cy="73152"/>
          </a:xfrm>
          <a:prstGeom prst="rect">
            <a:avLst/>
          </a:prstGeom>
          <a:solidFill>
            <a:srgbClr val="02C39A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329184"/>
            <a:ext cx="87782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012A3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架构与模块</a:t>
            </a:r>
            <a:endParaRPr lang="en-US" sz="3600" dirty="0"/>
          </a:p>
        </p:txBody>
      </p:sp>
      <p:sp>
        <p:nvSpPr>
          <p:cNvPr id="5" name="Shape 3"/>
          <p:cNvSpPr/>
          <p:nvPr/>
        </p:nvSpPr>
        <p:spPr>
          <a:xfrm>
            <a:off x="9921240" y="402336"/>
            <a:ext cx="1783080" cy="347472"/>
          </a:xfrm>
          <a:prstGeom prst="roundRect">
            <a:avLst>
              <a:gd name="adj" fmla="val 21053"/>
            </a:avLst>
          </a:prstGeom>
          <a:solidFill>
            <a:srgbClr val="D5EFEB"/>
          </a:solidFill>
          <a:ln/>
        </p:spPr>
      </p:sp>
      <p:sp>
        <p:nvSpPr>
          <p:cNvPr id="6" name="Text 4"/>
          <p:cNvSpPr/>
          <p:nvPr/>
        </p:nvSpPr>
        <p:spPr>
          <a:xfrm>
            <a:off x="9921240" y="402336"/>
            <a:ext cx="17830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8月19日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0" y="6601968"/>
            <a:ext cx="12161520" cy="256032"/>
          </a:xfrm>
          <a:prstGeom prst="rect">
            <a:avLst/>
          </a:prstGeom>
          <a:solidFill>
            <a:srgbClr val="012A32"/>
          </a:solidFill>
          <a:ln/>
        </p:spPr>
      </p:sp>
      <p:sp>
        <p:nvSpPr>
          <p:cNvPr id="8" name="Text 6"/>
          <p:cNvSpPr/>
          <p:nvPr/>
        </p:nvSpPr>
        <p:spPr>
          <a:xfrm>
            <a:off x="457200" y="6601968"/>
            <a:ext cx="9326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5EF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零代码应用生成平台  ·  每日项目状态  ·  2026-08-19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10424160" y="6601968"/>
            <a:ext cx="1280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/ 10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457200" y="1051560"/>
            <a:ext cx="5623560" cy="5257800"/>
          </a:xfrm>
          <a:prstGeom prst="roundRect">
            <a:avLst>
              <a:gd name="adj" fmla="val 173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27000" dist="38100" dir="8100000">
              <a:srgbClr val="012A32">
                <a:alpha val="8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57200" y="1051560"/>
            <a:ext cx="128016" cy="5257800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12" name="Shape 10"/>
          <p:cNvSpPr/>
          <p:nvPr/>
        </p:nvSpPr>
        <p:spPr>
          <a:xfrm>
            <a:off x="786384" y="1207008"/>
            <a:ext cx="384048" cy="384048"/>
          </a:xfrm>
          <a:prstGeom prst="roundRect">
            <a:avLst>
              <a:gd name="adj" fmla="val 19048"/>
            </a:avLst>
          </a:prstGeom>
          <a:solidFill>
            <a:srgbClr val="028090"/>
          </a:solidFill>
          <a:ln/>
        </p:spPr>
      </p:sp>
      <p:pic>
        <p:nvPicPr>
          <p:cNvPr id="1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59536" y="1280160"/>
            <a:ext cx="237744" cy="237744"/>
          </a:xfrm>
          <a:prstGeom prst="rect">
            <a:avLst/>
          </a:prstGeom>
        </p:spPr>
      </p:pic>
      <p:sp>
        <p:nvSpPr>
          <p:cNvPr id="14" name="Text 11"/>
          <p:cNvSpPr/>
          <p:nvPr/>
        </p:nvSpPr>
        <p:spPr>
          <a:xfrm>
            <a:off x="1280160" y="1207008"/>
            <a:ext cx="44805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12A3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单体工程  src/</a:t>
            </a:r>
            <a:endParaRPr lang="en-US" sz="2000" dirty="0"/>
          </a:p>
        </p:txBody>
      </p:sp>
      <p:sp>
        <p:nvSpPr>
          <p:cNvPr id="15" name="Text 12"/>
          <p:cNvSpPr/>
          <p:nvPr/>
        </p:nvSpPr>
        <p:spPr>
          <a:xfrm>
            <a:off x="786384" y="1755648"/>
            <a:ext cx="5029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控制器</a:t>
            </a:r>
            <a:endParaRPr lang="en-US" sz="1400" dirty="0"/>
          </a:p>
        </p:txBody>
      </p:sp>
      <p:sp>
        <p:nvSpPr>
          <p:cNvPr id="16" name="Text 13"/>
          <p:cNvSpPr/>
          <p:nvPr/>
        </p:nvSpPr>
        <p:spPr>
          <a:xfrm>
            <a:off x="786384" y="2011680"/>
            <a:ext cx="5029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636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 / User / Chat / Workflow SSE / 静态资源</a:t>
            </a:r>
            <a:endParaRPr lang="en-US" sz="1400" dirty="0"/>
          </a:p>
        </p:txBody>
      </p:sp>
      <p:sp>
        <p:nvSpPr>
          <p:cNvPr id="17" name="Text 14"/>
          <p:cNvSpPr/>
          <p:nvPr/>
        </p:nvSpPr>
        <p:spPr>
          <a:xfrm>
            <a:off x="786384" y="2468880"/>
            <a:ext cx="5029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生成核心</a:t>
            </a:r>
            <a:endParaRPr lang="en-US" sz="1400" dirty="0"/>
          </a:p>
        </p:txBody>
      </p:sp>
      <p:sp>
        <p:nvSpPr>
          <p:cNvPr id="18" name="Text 15"/>
          <p:cNvSpPr/>
          <p:nvPr/>
        </p:nvSpPr>
        <p:spPr>
          <a:xfrm>
            <a:off x="786384" y="2724912"/>
            <a:ext cx="5029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636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门面、解析、落盘、Vue 工程构建</a:t>
            </a:r>
            <a:endParaRPr lang="en-US" sz="1400" dirty="0"/>
          </a:p>
        </p:txBody>
      </p:sp>
      <p:sp>
        <p:nvSpPr>
          <p:cNvPr id="19" name="Text 16"/>
          <p:cNvSpPr/>
          <p:nvPr/>
        </p:nvSpPr>
        <p:spPr>
          <a:xfrm>
            <a:off x="786384" y="3182112"/>
            <a:ext cx="5029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工具</a:t>
            </a:r>
            <a:endParaRPr lang="en-US" sz="1400" dirty="0"/>
          </a:p>
        </p:txBody>
      </p:sp>
      <p:sp>
        <p:nvSpPr>
          <p:cNvPr id="20" name="Text 17"/>
          <p:cNvSpPr/>
          <p:nvPr/>
        </p:nvSpPr>
        <p:spPr>
          <a:xfrm>
            <a:off x="786384" y="3438144"/>
            <a:ext cx="5029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636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文件读写改删、目录、退出工具</a:t>
            </a:r>
            <a:endParaRPr lang="en-US" sz="1400" dirty="0"/>
          </a:p>
        </p:txBody>
      </p:sp>
      <p:sp>
        <p:nvSpPr>
          <p:cNvPr id="21" name="Text 18"/>
          <p:cNvSpPr/>
          <p:nvPr/>
        </p:nvSpPr>
        <p:spPr>
          <a:xfrm>
            <a:off x="786384" y="3895344"/>
            <a:ext cx="5029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工作流</a:t>
            </a:r>
            <a:endParaRPr lang="en-US" sz="1400" dirty="0"/>
          </a:p>
        </p:txBody>
      </p:sp>
      <p:sp>
        <p:nvSpPr>
          <p:cNvPr id="22" name="Text 19"/>
          <p:cNvSpPr/>
          <p:nvPr/>
        </p:nvSpPr>
        <p:spPr>
          <a:xfrm>
            <a:off x="786384" y="4151376"/>
            <a:ext cx="5029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636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串行 / 子图 / 并发图片采集节点</a:t>
            </a:r>
            <a:endParaRPr lang="en-US" sz="1400" dirty="0"/>
          </a:p>
        </p:txBody>
      </p:sp>
      <p:sp>
        <p:nvSpPr>
          <p:cNvPr id="23" name="Text 20"/>
          <p:cNvSpPr/>
          <p:nvPr/>
        </p:nvSpPr>
        <p:spPr>
          <a:xfrm>
            <a:off x="786384" y="4608576"/>
            <a:ext cx="5029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防护</a:t>
            </a:r>
            <a:endParaRPr lang="en-US" sz="1400" dirty="0"/>
          </a:p>
        </p:txBody>
      </p:sp>
      <p:sp>
        <p:nvSpPr>
          <p:cNvPr id="24" name="Text 21"/>
          <p:cNvSpPr/>
          <p:nvPr/>
        </p:nvSpPr>
        <p:spPr>
          <a:xfrm>
            <a:off x="786384" y="4864608"/>
            <a:ext cx="5029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636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限流切面、Prompt 审查、鉴权 AOP</a:t>
            </a:r>
            <a:endParaRPr lang="en-US" sz="1400" dirty="0"/>
          </a:p>
        </p:txBody>
      </p:sp>
      <p:sp>
        <p:nvSpPr>
          <p:cNvPr id="25" name="Text 22"/>
          <p:cNvSpPr/>
          <p:nvPr/>
        </p:nvSpPr>
        <p:spPr>
          <a:xfrm>
            <a:off x="786384" y="5321808"/>
            <a:ext cx="5029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监控</a:t>
            </a:r>
            <a:endParaRPr lang="en-US" sz="1400" dirty="0"/>
          </a:p>
        </p:txBody>
      </p:sp>
      <p:sp>
        <p:nvSpPr>
          <p:cNvPr id="26" name="Text 23"/>
          <p:cNvSpPr/>
          <p:nvPr/>
        </p:nvSpPr>
        <p:spPr>
          <a:xfrm>
            <a:off x="786384" y="5577840"/>
            <a:ext cx="5029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636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AiModelMetricsCollector + Grafana</a:t>
            </a:r>
            <a:endParaRPr lang="en-US" sz="1400" dirty="0"/>
          </a:p>
        </p:txBody>
      </p:sp>
      <p:sp>
        <p:nvSpPr>
          <p:cNvPr id="27" name="Shape 24"/>
          <p:cNvSpPr/>
          <p:nvPr/>
        </p:nvSpPr>
        <p:spPr>
          <a:xfrm>
            <a:off x="6309360" y="1051560"/>
            <a:ext cx="5394960" cy="5257800"/>
          </a:xfrm>
          <a:prstGeom prst="roundRect">
            <a:avLst>
              <a:gd name="adj" fmla="val 1739"/>
            </a:avLst>
          </a:prstGeom>
          <a:solidFill>
            <a:srgbClr val="012A32"/>
          </a:solidFill>
          <a:ln/>
        </p:spPr>
      </p:sp>
      <p:sp>
        <p:nvSpPr>
          <p:cNvPr id="28" name="Shape 25"/>
          <p:cNvSpPr/>
          <p:nvPr/>
        </p:nvSpPr>
        <p:spPr>
          <a:xfrm>
            <a:off x="6537960" y="1207008"/>
            <a:ext cx="384048" cy="384048"/>
          </a:xfrm>
          <a:prstGeom prst="roundRect">
            <a:avLst>
              <a:gd name="adj" fmla="val 19048"/>
            </a:avLst>
          </a:prstGeom>
          <a:solidFill>
            <a:srgbClr val="02C39A"/>
          </a:solidFill>
          <a:ln/>
        </p:spPr>
      </p:sp>
      <p:pic>
        <p:nvPicPr>
          <p:cNvPr id="2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11112" y="1280160"/>
            <a:ext cx="237744" cy="237744"/>
          </a:xfrm>
          <a:prstGeom prst="rect">
            <a:avLst/>
          </a:prstGeom>
        </p:spPr>
      </p:pic>
      <p:sp>
        <p:nvSpPr>
          <p:cNvPr id="30" name="Text 26"/>
          <p:cNvSpPr/>
          <p:nvPr/>
        </p:nvSpPr>
        <p:spPr>
          <a:xfrm>
            <a:off x="7040880" y="1207008"/>
            <a:ext cx="4297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微服务  7 模块</a:t>
            </a:r>
            <a:endParaRPr lang="en-US" sz="2000" dirty="0"/>
          </a:p>
        </p:txBody>
      </p:sp>
      <p:sp>
        <p:nvSpPr>
          <p:cNvPr id="31" name="Shape 27"/>
          <p:cNvSpPr/>
          <p:nvPr/>
        </p:nvSpPr>
        <p:spPr>
          <a:xfrm>
            <a:off x="6537960" y="1783080"/>
            <a:ext cx="4892040" cy="585216"/>
          </a:xfrm>
          <a:prstGeom prst="roundRect">
            <a:avLst>
              <a:gd name="adj" fmla="val 12500"/>
            </a:avLst>
          </a:prstGeom>
          <a:solidFill>
            <a:srgbClr val="014D56"/>
          </a:solidFill>
          <a:ln/>
        </p:spPr>
      </p:sp>
      <p:sp>
        <p:nvSpPr>
          <p:cNvPr id="32" name="Text 28"/>
          <p:cNvSpPr/>
          <p:nvPr/>
        </p:nvSpPr>
        <p:spPr>
          <a:xfrm>
            <a:off x="6675120" y="1783080"/>
            <a:ext cx="4617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14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common / model / client</a:t>
            </a:r>
            <a:endParaRPr lang="en-US" sz="1400" dirty="0"/>
          </a:p>
        </p:txBody>
      </p:sp>
      <p:sp>
        <p:nvSpPr>
          <p:cNvPr id="33" name="Text 29"/>
          <p:cNvSpPr/>
          <p:nvPr/>
        </p:nvSpPr>
        <p:spPr>
          <a:xfrm>
            <a:off x="6675120" y="2057400"/>
            <a:ext cx="4617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5E4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共享模型、DTO、Dubbo 接口</a:t>
            </a:r>
            <a:endParaRPr lang="en-US" sz="1300" dirty="0"/>
          </a:p>
        </p:txBody>
      </p:sp>
      <p:sp>
        <p:nvSpPr>
          <p:cNvPr id="34" name="Shape 30"/>
          <p:cNvSpPr/>
          <p:nvPr/>
        </p:nvSpPr>
        <p:spPr>
          <a:xfrm>
            <a:off x="6537960" y="2441448"/>
            <a:ext cx="4892040" cy="585216"/>
          </a:xfrm>
          <a:prstGeom prst="roundRect">
            <a:avLst>
              <a:gd name="adj" fmla="val 12500"/>
            </a:avLst>
          </a:prstGeom>
          <a:solidFill>
            <a:srgbClr val="014D56"/>
          </a:solidFill>
          <a:ln/>
        </p:spPr>
      </p:sp>
      <p:sp>
        <p:nvSpPr>
          <p:cNvPr id="35" name="Text 31"/>
          <p:cNvSpPr/>
          <p:nvPr/>
        </p:nvSpPr>
        <p:spPr>
          <a:xfrm>
            <a:off x="6675120" y="2441448"/>
            <a:ext cx="4617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14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yu-ai-code-user</a:t>
            </a:r>
            <a:endParaRPr lang="en-US" sz="1400" dirty="0"/>
          </a:p>
        </p:txBody>
      </p:sp>
      <p:sp>
        <p:nvSpPr>
          <p:cNvPr id="36" name="Text 32"/>
          <p:cNvSpPr/>
          <p:nvPr/>
        </p:nvSpPr>
        <p:spPr>
          <a:xfrm>
            <a:off x="6675120" y="2715768"/>
            <a:ext cx="4617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5E4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注册登录、角色鉴权</a:t>
            </a:r>
            <a:endParaRPr lang="en-US" sz="1300" dirty="0"/>
          </a:p>
        </p:txBody>
      </p:sp>
      <p:sp>
        <p:nvSpPr>
          <p:cNvPr id="37" name="Shape 33"/>
          <p:cNvSpPr/>
          <p:nvPr/>
        </p:nvSpPr>
        <p:spPr>
          <a:xfrm>
            <a:off x="6537960" y="3099816"/>
            <a:ext cx="4892040" cy="585216"/>
          </a:xfrm>
          <a:prstGeom prst="roundRect">
            <a:avLst>
              <a:gd name="adj" fmla="val 12500"/>
            </a:avLst>
          </a:prstGeom>
          <a:solidFill>
            <a:srgbClr val="014D56"/>
          </a:solidFill>
          <a:ln/>
        </p:spPr>
      </p:sp>
      <p:sp>
        <p:nvSpPr>
          <p:cNvPr id="38" name="Text 34"/>
          <p:cNvSpPr/>
          <p:nvPr/>
        </p:nvSpPr>
        <p:spPr>
          <a:xfrm>
            <a:off x="6675120" y="3099816"/>
            <a:ext cx="4617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14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yu-ai-code-app</a:t>
            </a:r>
            <a:endParaRPr lang="en-US" sz="1400" dirty="0"/>
          </a:p>
        </p:txBody>
      </p:sp>
      <p:sp>
        <p:nvSpPr>
          <p:cNvPr id="39" name="Text 35"/>
          <p:cNvSpPr/>
          <p:nvPr/>
        </p:nvSpPr>
        <p:spPr>
          <a:xfrm>
            <a:off x="6675120" y="3374136"/>
            <a:ext cx="4617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5E4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应用生命周期与生成编排</a:t>
            </a:r>
            <a:endParaRPr lang="en-US" sz="1300" dirty="0"/>
          </a:p>
        </p:txBody>
      </p:sp>
      <p:sp>
        <p:nvSpPr>
          <p:cNvPr id="40" name="Shape 36"/>
          <p:cNvSpPr/>
          <p:nvPr/>
        </p:nvSpPr>
        <p:spPr>
          <a:xfrm>
            <a:off x="6537960" y="3758184"/>
            <a:ext cx="4892040" cy="585216"/>
          </a:xfrm>
          <a:prstGeom prst="roundRect">
            <a:avLst>
              <a:gd name="adj" fmla="val 12500"/>
            </a:avLst>
          </a:prstGeom>
          <a:solidFill>
            <a:srgbClr val="014D56"/>
          </a:solidFill>
          <a:ln/>
        </p:spPr>
      </p:sp>
      <p:sp>
        <p:nvSpPr>
          <p:cNvPr id="41" name="Text 37"/>
          <p:cNvSpPr/>
          <p:nvPr/>
        </p:nvSpPr>
        <p:spPr>
          <a:xfrm>
            <a:off x="6675120" y="3758184"/>
            <a:ext cx="4617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14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yu-ai-code-ai</a:t>
            </a:r>
            <a:endParaRPr lang="en-US" sz="1400" dirty="0"/>
          </a:p>
        </p:txBody>
      </p:sp>
      <p:sp>
        <p:nvSpPr>
          <p:cNvPr id="42" name="Text 38"/>
          <p:cNvSpPr/>
          <p:nvPr/>
        </p:nvSpPr>
        <p:spPr>
          <a:xfrm>
            <a:off x="6675120" y="4032504"/>
            <a:ext cx="4617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5E4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模型、工具、路由策略</a:t>
            </a:r>
            <a:endParaRPr lang="en-US" sz="1300" dirty="0"/>
          </a:p>
        </p:txBody>
      </p:sp>
      <p:sp>
        <p:nvSpPr>
          <p:cNvPr id="43" name="Shape 39"/>
          <p:cNvSpPr/>
          <p:nvPr/>
        </p:nvSpPr>
        <p:spPr>
          <a:xfrm>
            <a:off x="6537960" y="4416552"/>
            <a:ext cx="4892040" cy="585216"/>
          </a:xfrm>
          <a:prstGeom prst="roundRect">
            <a:avLst>
              <a:gd name="adj" fmla="val 12500"/>
            </a:avLst>
          </a:prstGeom>
          <a:solidFill>
            <a:srgbClr val="014D56"/>
          </a:solidFill>
          <a:ln/>
        </p:spPr>
      </p:sp>
      <p:sp>
        <p:nvSpPr>
          <p:cNvPr id="44" name="Text 40"/>
          <p:cNvSpPr/>
          <p:nvPr/>
        </p:nvSpPr>
        <p:spPr>
          <a:xfrm>
            <a:off x="6675120" y="4416552"/>
            <a:ext cx="4617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14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yu-ai-code-screenshot</a:t>
            </a:r>
            <a:endParaRPr lang="en-US" sz="1400" dirty="0"/>
          </a:p>
        </p:txBody>
      </p:sp>
      <p:sp>
        <p:nvSpPr>
          <p:cNvPr id="45" name="Text 41"/>
          <p:cNvSpPr/>
          <p:nvPr/>
        </p:nvSpPr>
        <p:spPr>
          <a:xfrm>
            <a:off x="6675120" y="4690872"/>
            <a:ext cx="4617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5E4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网页截图与封面</a:t>
            </a:r>
            <a:endParaRPr lang="en-US" sz="1300" dirty="0"/>
          </a:p>
        </p:txBody>
      </p:sp>
      <p:sp>
        <p:nvSpPr>
          <p:cNvPr id="46" name="Text 42"/>
          <p:cNvSpPr/>
          <p:nvPr/>
        </p:nvSpPr>
        <p:spPr>
          <a:xfrm>
            <a:off x="6537960" y="5230368"/>
            <a:ext cx="48920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C5E4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中间态提交不可单独检出，请以 893918c 完整态为准。</a:t>
            </a:r>
            <a:endParaRPr lang="en-US" sz="14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E8F4F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61520" cy="73152"/>
          </a:xfrm>
          <a:prstGeom prst="rect">
            <a:avLst/>
          </a:prstGeom>
          <a:solidFill>
            <a:srgbClr val="02C39A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329184"/>
            <a:ext cx="87782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012A3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近期进展</a:t>
            </a:r>
            <a:endParaRPr lang="en-US" sz="3600" dirty="0"/>
          </a:p>
        </p:txBody>
      </p:sp>
      <p:sp>
        <p:nvSpPr>
          <p:cNvPr id="5" name="Shape 3"/>
          <p:cNvSpPr/>
          <p:nvPr/>
        </p:nvSpPr>
        <p:spPr>
          <a:xfrm>
            <a:off x="9921240" y="402336"/>
            <a:ext cx="1783080" cy="347472"/>
          </a:xfrm>
          <a:prstGeom prst="roundRect">
            <a:avLst>
              <a:gd name="adj" fmla="val 21053"/>
            </a:avLst>
          </a:prstGeom>
          <a:solidFill>
            <a:srgbClr val="D5EFEB"/>
          </a:solidFill>
          <a:ln/>
        </p:spPr>
      </p:sp>
      <p:sp>
        <p:nvSpPr>
          <p:cNvPr id="6" name="Text 4"/>
          <p:cNvSpPr/>
          <p:nvPr/>
        </p:nvSpPr>
        <p:spPr>
          <a:xfrm>
            <a:off x="9921240" y="402336"/>
            <a:ext cx="17830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8月19日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0" y="6601968"/>
            <a:ext cx="12161520" cy="256032"/>
          </a:xfrm>
          <a:prstGeom prst="rect">
            <a:avLst/>
          </a:prstGeom>
          <a:solidFill>
            <a:srgbClr val="012A32"/>
          </a:solidFill>
          <a:ln/>
        </p:spPr>
      </p:sp>
      <p:sp>
        <p:nvSpPr>
          <p:cNvPr id="8" name="Text 6"/>
          <p:cNvSpPr/>
          <p:nvPr/>
        </p:nvSpPr>
        <p:spPr>
          <a:xfrm>
            <a:off x="457200" y="6601968"/>
            <a:ext cx="9326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5EF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零代码应用生成平台  ·  每日项目状态  ·  2026-08-19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10424160" y="6601968"/>
            <a:ext cx="1280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/ 10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457200" y="1051560"/>
            <a:ext cx="3794760" cy="5257800"/>
          </a:xfrm>
          <a:prstGeom prst="roundRect">
            <a:avLst>
              <a:gd name="adj" fmla="val 2410"/>
            </a:avLst>
          </a:prstGeom>
          <a:solidFill>
            <a:srgbClr val="012A32"/>
          </a:solidFill>
          <a:ln/>
        </p:spPr>
      </p:sp>
      <p:pic>
        <p:nvPicPr>
          <p:cNvPr id="11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13232" y="1261872"/>
            <a:ext cx="329184" cy="329184"/>
          </a:xfrm>
          <a:prstGeom prst="rect">
            <a:avLst/>
          </a:prstGeom>
        </p:spPr>
      </p:pic>
      <p:sp>
        <p:nvSpPr>
          <p:cNvPr id="12" name="Text 9"/>
          <p:cNvSpPr/>
          <p:nvPr/>
        </p:nvSpPr>
        <p:spPr>
          <a:xfrm>
            <a:off x="1170432" y="1261872"/>
            <a:ext cx="2834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近 7 日代码</a:t>
            </a:r>
            <a:endParaRPr lang="en-US" sz="1600" dirty="0"/>
          </a:p>
        </p:txBody>
      </p:sp>
      <p:sp>
        <p:nvSpPr>
          <p:cNvPr id="13" name="Text 10"/>
          <p:cNvSpPr/>
          <p:nvPr/>
        </p:nvSpPr>
        <p:spPr>
          <a:xfrm>
            <a:off x="685800" y="1737360"/>
            <a:ext cx="33375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</a:t>
            </a:r>
            <a:endParaRPr lang="en-US" sz="6800" dirty="0"/>
          </a:p>
        </p:txBody>
      </p:sp>
      <p:sp>
        <p:nvSpPr>
          <p:cNvPr id="14" name="Text 11"/>
          <p:cNvSpPr/>
          <p:nvPr/>
        </p:nvSpPr>
        <p:spPr>
          <a:xfrm>
            <a:off x="685800" y="2697480"/>
            <a:ext cx="3337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D5EF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业务提交（master）</a:t>
            </a:r>
            <a:endParaRPr lang="en-US" sz="1600" dirty="0"/>
          </a:p>
        </p:txBody>
      </p:sp>
      <p:sp>
        <p:nvSpPr>
          <p:cNvPr id="15" name="Text 12"/>
          <p:cNvSpPr/>
          <p:nvPr/>
        </p:nvSpPr>
        <p:spPr>
          <a:xfrm>
            <a:off x="685800" y="3090672"/>
            <a:ext cx="3337560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C5E4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昨日与本周均无功能合入。最近一次代码提交仍是 2025-08-26 的教程第 14 期，距今约一年。维护重心已转向文档与社区答疑。</a:t>
            </a:r>
            <a:endParaRPr lang="en-US" sz="1400" dirty="0"/>
          </a:p>
        </p:txBody>
      </p:sp>
      <p:sp>
        <p:nvSpPr>
          <p:cNvPr id="16" name="Shape 13"/>
          <p:cNvSpPr/>
          <p:nvPr/>
        </p:nvSpPr>
        <p:spPr>
          <a:xfrm>
            <a:off x="685800" y="5029200"/>
            <a:ext cx="3337560" cy="1051560"/>
          </a:xfrm>
          <a:prstGeom prst="roundRect">
            <a:avLst>
              <a:gd name="adj" fmla="val 6957"/>
            </a:avLst>
          </a:prstGeom>
          <a:solidFill>
            <a:srgbClr val="014D56"/>
          </a:solidFill>
          <a:ln/>
        </p:spPr>
      </p:sp>
      <p:sp>
        <p:nvSpPr>
          <p:cNvPr id="17" name="Text 14"/>
          <p:cNvSpPr/>
          <p:nvPr/>
        </p:nvSpPr>
        <p:spPr>
          <a:xfrm>
            <a:off x="868680" y="5120640"/>
            <a:ext cx="2971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社区近况</a:t>
            </a:r>
            <a:endParaRPr lang="en-US" sz="1200" dirty="0"/>
          </a:p>
        </p:txBody>
      </p:sp>
      <p:sp>
        <p:nvSpPr>
          <p:cNvPr id="18" name="Text 15"/>
          <p:cNvSpPr/>
          <p:nvPr/>
        </p:nvSpPr>
        <p:spPr>
          <a:xfrm>
            <a:off x="868680" y="5394960"/>
            <a:ext cx="2971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月 11 日 Issue #81 报告清华 npm 镜像无法安装 @vitejs/plugin-vue，尚无回复。</a:t>
            </a:r>
            <a:endParaRPr lang="en-US" sz="1300" dirty="0"/>
          </a:p>
        </p:txBody>
      </p:sp>
      <p:sp>
        <p:nvSpPr>
          <p:cNvPr id="19" name="Shape 16"/>
          <p:cNvSpPr/>
          <p:nvPr/>
        </p:nvSpPr>
        <p:spPr>
          <a:xfrm>
            <a:off x="4526280" y="1051560"/>
            <a:ext cx="7178040" cy="1152144"/>
          </a:xfrm>
          <a:prstGeom prst="roundRect">
            <a:avLst>
              <a:gd name="adj" fmla="val 793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27000" dist="38100" dir="8100000">
              <a:srgbClr val="012A32">
                <a:alpha val="8000"/>
              </a:srgbClr>
            </a:outerShdw>
          </a:effectLst>
        </p:spPr>
      </p:sp>
      <p:sp>
        <p:nvSpPr>
          <p:cNvPr id="20" name="Shape 17"/>
          <p:cNvSpPr/>
          <p:nvPr/>
        </p:nvSpPr>
        <p:spPr>
          <a:xfrm>
            <a:off x="4663440" y="1307592"/>
            <a:ext cx="1234440" cy="694944"/>
          </a:xfrm>
          <a:prstGeom prst="roundRect">
            <a:avLst>
              <a:gd name="adj" fmla="val 10526"/>
            </a:avLst>
          </a:prstGeom>
          <a:solidFill>
            <a:srgbClr val="028090"/>
          </a:solidFill>
          <a:ln/>
        </p:spPr>
      </p:sp>
      <p:sp>
        <p:nvSpPr>
          <p:cNvPr id="21" name="Text 18"/>
          <p:cNvSpPr/>
          <p:nvPr/>
        </p:nvSpPr>
        <p:spPr>
          <a:xfrm>
            <a:off x="4663440" y="1307592"/>
            <a:ext cx="123444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08-13</a:t>
            </a:r>
            <a:endParaRPr lang="en-US" sz="1300" dirty="0"/>
          </a:p>
        </p:txBody>
      </p:sp>
      <p:sp>
        <p:nvSpPr>
          <p:cNvPr id="22" name="Text 19"/>
          <p:cNvSpPr/>
          <p:nvPr/>
        </p:nvSpPr>
        <p:spPr>
          <a:xfrm>
            <a:off x="6080760" y="1252728"/>
            <a:ext cx="5394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12A3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第 11 期 系统优化</a:t>
            </a:r>
            <a:endParaRPr lang="en-US" sz="1800" dirty="0"/>
          </a:p>
        </p:txBody>
      </p:sp>
      <p:sp>
        <p:nvSpPr>
          <p:cNvPr id="23" name="Text 20"/>
          <p:cNvSpPr/>
          <p:nvPr/>
        </p:nvSpPr>
        <p:spPr>
          <a:xfrm>
            <a:off x="6080760" y="1673352"/>
            <a:ext cx="5394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636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并发缓存、限流、Prompt 审查、稳定性与成本</a:t>
            </a:r>
            <a:endParaRPr lang="en-US" sz="1400" dirty="0"/>
          </a:p>
        </p:txBody>
      </p:sp>
      <p:sp>
        <p:nvSpPr>
          <p:cNvPr id="24" name="Shape 21"/>
          <p:cNvSpPr/>
          <p:nvPr/>
        </p:nvSpPr>
        <p:spPr>
          <a:xfrm>
            <a:off x="4526280" y="2350008"/>
            <a:ext cx="7178040" cy="1152144"/>
          </a:xfrm>
          <a:prstGeom prst="roundRect">
            <a:avLst>
              <a:gd name="adj" fmla="val 793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27000" dist="38100" dir="8100000">
              <a:srgbClr val="012A32">
                <a:alpha val="8000"/>
              </a:srgbClr>
            </a:outerShdw>
          </a:effectLst>
        </p:spPr>
      </p:sp>
      <p:sp>
        <p:nvSpPr>
          <p:cNvPr id="25" name="Shape 22"/>
          <p:cNvSpPr/>
          <p:nvPr/>
        </p:nvSpPr>
        <p:spPr>
          <a:xfrm>
            <a:off x="4663440" y="2606040"/>
            <a:ext cx="1234440" cy="694944"/>
          </a:xfrm>
          <a:prstGeom prst="roundRect">
            <a:avLst>
              <a:gd name="adj" fmla="val 10526"/>
            </a:avLst>
          </a:prstGeom>
          <a:solidFill>
            <a:srgbClr val="028090"/>
          </a:solidFill>
          <a:ln/>
        </p:spPr>
      </p:sp>
      <p:sp>
        <p:nvSpPr>
          <p:cNvPr id="26" name="Text 23"/>
          <p:cNvSpPr/>
          <p:nvPr/>
        </p:nvSpPr>
        <p:spPr>
          <a:xfrm>
            <a:off x="4663440" y="2606040"/>
            <a:ext cx="123444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08-14</a:t>
            </a:r>
            <a:endParaRPr lang="en-US" sz="1300" dirty="0"/>
          </a:p>
        </p:txBody>
      </p:sp>
      <p:sp>
        <p:nvSpPr>
          <p:cNvPr id="27" name="Text 24"/>
          <p:cNvSpPr/>
          <p:nvPr/>
        </p:nvSpPr>
        <p:spPr>
          <a:xfrm>
            <a:off x="6080760" y="2551176"/>
            <a:ext cx="5394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12A3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第 12–13 期</a:t>
            </a:r>
            <a:endParaRPr lang="en-US" sz="1800" dirty="0"/>
          </a:p>
        </p:txBody>
      </p:sp>
      <p:sp>
        <p:nvSpPr>
          <p:cNvPr id="28" name="Text 25"/>
          <p:cNvSpPr/>
          <p:nvPr/>
        </p:nvSpPr>
        <p:spPr>
          <a:xfrm>
            <a:off x="6080760" y="2971800"/>
            <a:ext cx="5394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636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部署上线 + Prometheus / Grafana 可观测性</a:t>
            </a:r>
            <a:endParaRPr lang="en-US" sz="1400" dirty="0"/>
          </a:p>
        </p:txBody>
      </p:sp>
      <p:sp>
        <p:nvSpPr>
          <p:cNvPr id="29" name="Shape 26"/>
          <p:cNvSpPr/>
          <p:nvPr/>
        </p:nvSpPr>
        <p:spPr>
          <a:xfrm>
            <a:off x="4526280" y="3648456"/>
            <a:ext cx="7178040" cy="1152144"/>
          </a:xfrm>
          <a:prstGeom prst="roundRect">
            <a:avLst>
              <a:gd name="adj" fmla="val 793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27000" dist="38100" dir="8100000">
              <a:srgbClr val="012A32">
                <a:alpha val="8000"/>
              </a:srgbClr>
            </a:outerShdw>
          </a:effectLst>
        </p:spPr>
      </p:sp>
      <p:sp>
        <p:nvSpPr>
          <p:cNvPr id="30" name="Shape 27"/>
          <p:cNvSpPr/>
          <p:nvPr/>
        </p:nvSpPr>
        <p:spPr>
          <a:xfrm>
            <a:off x="4663440" y="3904488"/>
            <a:ext cx="1234440" cy="694944"/>
          </a:xfrm>
          <a:prstGeom prst="roundRect">
            <a:avLst>
              <a:gd name="adj" fmla="val 10526"/>
            </a:avLst>
          </a:prstGeom>
          <a:solidFill>
            <a:srgbClr val="028090"/>
          </a:solidFill>
          <a:ln/>
        </p:spPr>
      </p:sp>
      <p:sp>
        <p:nvSpPr>
          <p:cNvPr id="31" name="Text 28"/>
          <p:cNvSpPr/>
          <p:nvPr/>
        </p:nvSpPr>
        <p:spPr>
          <a:xfrm>
            <a:off x="4663440" y="3904488"/>
            <a:ext cx="123444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08-26</a:t>
            </a:r>
            <a:endParaRPr lang="en-US" sz="1300" dirty="0"/>
          </a:p>
        </p:txBody>
      </p:sp>
      <p:sp>
        <p:nvSpPr>
          <p:cNvPr id="32" name="Text 29"/>
          <p:cNvSpPr/>
          <p:nvPr/>
        </p:nvSpPr>
        <p:spPr>
          <a:xfrm>
            <a:off x="6080760" y="3849624"/>
            <a:ext cx="5394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12A3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第 14 期 微服务完成</a:t>
            </a:r>
            <a:endParaRPr lang="en-US" sz="1800" dirty="0"/>
          </a:p>
        </p:txBody>
      </p:sp>
      <p:sp>
        <p:nvSpPr>
          <p:cNvPr id="33" name="Text 30"/>
          <p:cNvSpPr/>
          <p:nvPr/>
        </p:nvSpPr>
        <p:spPr>
          <a:xfrm>
            <a:off x="6080760" y="4270248"/>
            <a:ext cx="5394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636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拆 user / app / ai / screenshot，Dubbo + Nacos</a:t>
            </a:r>
            <a:endParaRPr lang="en-US" sz="1400" dirty="0"/>
          </a:p>
        </p:txBody>
      </p:sp>
      <p:sp>
        <p:nvSpPr>
          <p:cNvPr id="34" name="Shape 31"/>
          <p:cNvSpPr/>
          <p:nvPr/>
        </p:nvSpPr>
        <p:spPr>
          <a:xfrm>
            <a:off x="4526280" y="4946904"/>
            <a:ext cx="7178040" cy="1152144"/>
          </a:xfrm>
          <a:prstGeom prst="roundRect">
            <a:avLst>
              <a:gd name="adj" fmla="val 793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27000" dist="38100" dir="8100000">
              <a:srgbClr val="012A32">
                <a:alpha val="8000"/>
              </a:srgbClr>
            </a:outerShdw>
          </a:effectLst>
        </p:spPr>
      </p:sp>
      <p:sp>
        <p:nvSpPr>
          <p:cNvPr id="35" name="Shape 32"/>
          <p:cNvSpPr/>
          <p:nvPr/>
        </p:nvSpPr>
        <p:spPr>
          <a:xfrm>
            <a:off x="4663440" y="5202936"/>
            <a:ext cx="1234440" cy="694944"/>
          </a:xfrm>
          <a:prstGeom prst="roundRect">
            <a:avLst>
              <a:gd name="adj" fmla="val 10526"/>
            </a:avLst>
          </a:prstGeom>
          <a:solidFill>
            <a:srgbClr val="C05621"/>
          </a:solidFill>
          <a:ln/>
        </p:spPr>
      </p:sp>
      <p:sp>
        <p:nvSpPr>
          <p:cNvPr id="36" name="Text 33"/>
          <p:cNvSpPr/>
          <p:nvPr/>
        </p:nvSpPr>
        <p:spPr>
          <a:xfrm>
            <a:off x="4663440" y="5202936"/>
            <a:ext cx="123444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近一周</a:t>
            </a:r>
            <a:endParaRPr lang="en-US" sz="1300" dirty="0"/>
          </a:p>
        </p:txBody>
      </p:sp>
      <p:sp>
        <p:nvSpPr>
          <p:cNvPr id="37" name="Text 34"/>
          <p:cNvSpPr/>
          <p:nvPr/>
        </p:nvSpPr>
        <p:spPr>
          <a:xfrm>
            <a:off x="6080760" y="5148072"/>
            <a:ext cx="5394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12A3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无代码变更</a:t>
            </a:r>
            <a:endParaRPr lang="en-US" sz="1800" dirty="0"/>
          </a:p>
        </p:txBody>
      </p:sp>
      <p:sp>
        <p:nvSpPr>
          <p:cNvPr id="38" name="Text 35"/>
          <p:cNvSpPr/>
          <p:nvPr/>
        </p:nvSpPr>
        <p:spPr>
          <a:xfrm>
            <a:off x="6080760" y="5568696"/>
            <a:ext cx="5394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636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仅自动化日报 PR；业务仓库静止</a:t>
            </a:r>
            <a:endParaRPr lang="en-US" sz="14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E8F4F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61520" cy="73152"/>
          </a:xfrm>
          <a:prstGeom prst="rect">
            <a:avLst/>
          </a:prstGeom>
          <a:solidFill>
            <a:srgbClr val="02C39A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329184"/>
            <a:ext cx="87782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012A3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数据与指标要点</a:t>
            </a:r>
            <a:endParaRPr lang="en-US" sz="3600" dirty="0"/>
          </a:p>
        </p:txBody>
      </p:sp>
      <p:sp>
        <p:nvSpPr>
          <p:cNvPr id="5" name="Shape 3"/>
          <p:cNvSpPr/>
          <p:nvPr/>
        </p:nvSpPr>
        <p:spPr>
          <a:xfrm>
            <a:off x="9921240" y="402336"/>
            <a:ext cx="1783080" cy="347472"/>
          </a:xfrm>
          <a:prstGeom prst="roundRect">
            <a:avLst>
              <a:gd name="adj" fmla="val 21053"/>
            </a:avLst>
          </a:prstGeom>
          <a:solidFill>
            <a:srgbClr val="D5EFEB"/>
          </a:solidFill>
          <a:ln/>
        </p:spPr>
      </p:sp>
      <p:sp>
        <p:nvSpPr>
          <p:cNvPr id="6" name="Text 4"/>
          <p:cNvSpPr/>
          <p:nvPr/>
        </p:nvSpPr>
        <p:spPr>
          <a:xfrm>
            <a:off x="9921240" y="402336"/>
            <a:ext cx="17830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8月19日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0" y="6601968"/>
            <a:ext cx="12161520" cy="256032"/>
          </a:xfrm>
          <a:prstGeom prst="rect">
            <a:avLst/>
          </a:prstGeom>
          <a:solidFill>
            <a:srgbClr val="012A32"/>
          </a:solidFill>
          <a:ln/>
        </p:spPr>
      </p:sp>
      <p:sp>
        <p:nvSpPr>
          <p:cNvPr id="8" name="Text 6"/>
          <p:cNvSpPr/>
          <p:nvPr/>
        </p:nvSpPr>
        <p:spPr>
          <a:xfrm>
            <a:off x="457200" y="6601968"/>
            <a:ext cx="9326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5EF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零代码应用生成平台  ·  每日项目状态  ·  2026-08-19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10424160" y="6601968"/>
            <a:ext cx="1280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/ 10</a:t>
            </a:r>
            <a:endParaRPr lang="en-US" sz="1200" dirty="0"/>
          </a:p>
        </p:txBody>
      </p:sp>
      <p:graphicFrame>
        <p:nvGraphicFramePr>
          <p:cNvPr id="10" name="Chart 0" descr=""/>
          <p:cNvGraphicFramePr/>
          <p:nvPr/>
        </p:nvGraphicFramePr>
        <p:xfrm>
          <a:off x="457200" y="1051560"/>
          <a:ext cx="6583680" cy="37947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11" name="Shape 8"/>
          <p:cNvSpPr/>
          <p:nvPr/>
        </p:nvSpPr>
        <p:spPr>
          <a:xfrm>
            <a:off x="7269480" y="1051560"/>
            <a:ext cx="4434840" cy="3794760"/>
          </a:xfrm>
          <a:prstGeom prst="roundRect">
            <a:avLst>
              <a:gd name="adj" fmla="val 241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27000" dist="38100" dir="8100000">
              <a:srgbClr val="012A32">
                <a:alpha val="8000"/>
              </a:srgbClr>
            </a:outerShdw>
          </a:effectLst>
        </p:spPr>
      </p:sp>
      <p:sp>
        <p:nvSpPr>
          <p:cNvPr id="12" name="Text 9"/>
          <p:cNvSpPr/>
          <p:nvPr/>
        </p:nvSpPr>
        <p:spPr>
          <a:xfrm>
            <a:off x="7452360" y="1170432"/>
            <a:ext cx="4114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12A3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代码资产快照</a:t>
            </a:r>
            <a:endParaRPr lang="en-US" sz="1800" dirty="0"/>
          </a:p>
        </p:txBody>
      </p:sp>
      <p:sp>
        <p:nvSpPr>
          <p:cNvPr id="13" name="Text 10"/>
          <p:cNvSpPr/>
          <p:nvPr/>
        </p:nvSpPr>
        <p:spPr>
          <a:xfrm>
            <a:off x="7498080" y="1627632"/>
            <a:ext cx="1371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2809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287</a:t>
            </a:r>
            <a:endParaRPr lang="en-US" sz="2800" dirty="0"/>
          </a:p>
        </p:txBody>
      </p:sp>
      <p:sp>
        <p:nvSpPr>
          <p:cNvPr id="14" name="Text 11"/>
          <p:cNvSpPr/>
          <p:nvPr/>
        </p:nvSpPr>
        <p:spPr>
          <a:xfrm>
            <a:off x="8915400" y="1627632"/>
            <a:ext cx="2560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636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Java 源文件</a:t>
            </a:r>
            <a:endParaRPr lang="en-US" sz="1600" dirty="0"/>
          </a:p>
        </p:txBody>
      </p:sp>
      <p:sp>
        <p:nvSpPr>
          <p:cNvPr id="15" name="Text 12"/>
          <p:cNvSpPr/>
          <p:nvPr/>
        </p:nvSpPr>
        <p:spPr>
          <a:xfrm>
            <a:off x="7498080" y="2404872"/>
            <a:ext cx="1371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2809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38</a:t>
            </a:r>
            <a:endParaRPr lang="en-US" sz="2800" dirty="0"/>
          </a:p>
        </p:txBody>
      </p:sp>
      <p:sp>
        <p:nvSpPr>
          <p:cNvPr id="16" name="Text 13"/>
          <p:cNvSpPr/>
          <p:nvPr/>
        </p:nvSpPr>
        <p:spPr>
          <a:xfrm>
            <a:off x="8915400" y="2404872"/>
            <a:ext cx="2560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636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前端 Vue / TS</a:t>
            </a:r>
            <a:endParaRPr lang="en-US" sz="1600" dirty="0"/>
          </a:p>
        </p:txBody>
      </p:sp>
      <p:sp>
        <p:nvSpPr>
          <p:cNvPr id="17" name="Text 14"/>
          <p:cNvSpPr/>
          <p:nvPr/>
        </p:nvSpPr>
        <p:spPr>
          <a:xfrm>
            <a:off x="7498080" y="3182112"/>
            <a:ext cx="1371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2809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14</a:t>
            </a:r>
            <a:endParaRPr lang="en-US" sz="2800" dirty="0"/>
          </a:p>
        </p:txBody>
      </p:sp>
      <p:sp>
        <p:nvSpPr>
          <p:cNvPr id="18" name="Text 15"/>
          <p:cNvSpPr/>
          <p:nvPr/>
        </p:nvSpPr>
        <p:spPr>
          <a:xfrm>
            <a:off x="8915400" y="3182112"/>
            <a:ext cx="2560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636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单体集成测试</a:t>
            </a:r>
            <a:endParaRPr lang="en-US" sz="1600" dirty="0"/>
          </a:p>
        </p:txBody>
      </p:sp>
      <p:sp>
        <p:nvSpPr>
          <p:cNvPr id="19" name="Text 16"/>
          <p:cNvSpPr/>
          <p:nvPr/>
        </p:nvSpPr>
        <p:spPr>
          <a:xfrm>
            <a:off x="7498080" y="3959352"/>
            <a:ext cx="1371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2809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7</a:t>
            </a:r>
            <a:endParaRPr lang="en-US" sz="2800" dirty="0"/>
          </a:p>
        </p:txBody>
      </p:sp>
      <p:sp>
        <p:nvSpPr>
          <p:cNvPr id="20" name="Text 17"/>
          <p:cNvSpPr/>
          <p:nvPr/>
        </p:nvSpPr>
        <p:spPr>
          <a:xfrm>
            <a:off x="8915400" y="3959352"/>
            <a:ext cx="2560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636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 Issue 累计</a:t>
            </a:r>
            <a:endParaRPr lang="en-US" sz="1600" dirty="0"/>
          </a:p>
        </p:txBody>
      </p:sp>
      <p:sp>
        <p:nvSpPr>
          <p:cNvPr id="21" name="Shape 18"/>
          <p:cNvSpPr/>
          <p:nvPr/>
        </p:nvSpPr>
        <p:spPr>
          <a:xfrm>
            <a:off x="457200" y="5029200"/>
            <a:ext cx="11247120" cy="1371600"/>
          </a:xfrm>
          <a:prstGeom prst="roundRect">
            <a:avLst>
              <a:gd name="adj" fmla="val 6667"/>
            </a:avLst>
          </a:prstGeom>
          <a:solidFill>
            <a:srgbClr val="D5EFEB"/>
          </a:solidFill>
          <a:ln/>
        </p:spPr>
      </p:sp>
      <p:sp>
        <p:nvSpPr>
          <p:cNvPr id="22" name="Shape 19"/>
          <p:cNvSpPr/>
          <p:nvPr/>
        </p:nvSpPr>
        <p:spPr>
          <a:xfrm>
            <a:off x="658368" y="5193792"/>
            <a:ext cx="347472" cy="347472"/>
          </a:xfrm>
          <a:prstGeom prst="roundRect">
            <a:avLst>
              <a:gd name="adj" fmla="val 21053"/>
            </a:avLst>
          </a:prstGeom>
          <a:solidFill>
            <a:srgbClr val="028090"/>
          </a:solidFill>
          <a:ln/>
        </p:spPr>
      </p:sp>
      <p:pic>
        <p:nvPicPr>
          <p:cNvPr id="23" name="Image 0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2376" y="5257800"/>
            <a:ext cx="219456" cy="219456"/>
          </a:xfrm>
          <a:prstGeom prst="rect">
            <a:avLst/>
          </a:prstGeom>
        </p:spPr>
      </p:pic>
      <p:sp>
        <p:nvSpPr>
          <p:cNvPr id="24" name="Text 20"/>
          <p:cNvSpPr/>
          <p:nvPr/>
        </p:nvSpPr>
        <p:spPr>
          <a:xfrm>
            <a:off x="1115568" y="5193792"/>
            <a:ext cx="10241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12A3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线上业务指标与本周提交</a:t>
            </a:r>
            <a:endParaRPr lang="en-US" sz="1600" dirty="0"/>
          </a:p>
        </p:txBody>
      </p:sp>
      <p:sp>
        <p:nvSpPr>
          <p:cNvPr id="25" name="Text 21"/>
          <p:cNvSpPr/>
          <p:nvPr/>
        </p:nvSpPr>
        <p:spPr>
          <a:xfrm>
            <a:off x="658368" y="5614416"/>
            <a:ext cx="1083564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636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本周提交为 0，未画入上图以免零柱压住坐标轴。应用数、生成成功率、Token 与部署次数等运行指标未从生产导出。仓库已有 Grafana 看板与采集器，本页为代码资产与公开社区统计，请勿当作线上 SLA。</a:t>
            </a:r>
            <a:endParaRPr lang="en-US" sz="14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E8F4F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61520" cy="73152"/>
          </a:xfrm>
          <a:prstGeom prst="rect">
            <a:avLst/>
          </a:prstGeom>
          <a:solidFill>
            <a:srgbClr val="02C39A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329184"/>
            <a:ext cx="87782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012A3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质量与测试</a:t>
            </a:r>
            <a:endParaRPr lang="en-US" sz="3600" dirty="0"/>
          </a:p>
        </p:txBody>
      </p:sp>
      <p:sp>
        <p:nvSpPr>
          <p:cNvPr id="5" name="Shape 3"/>
          <p:cNvSpPr/>
          <p:nvPr/>
        </p:nvSpPr>
        <p:spPr>
          <a:xfrm>
            <a:off x="9921240" y="402336"/>
            <a:ext cx="1783080" cy="347472"/>
          </a:xfrm>
          <a:prstGeom prst="roundRect">
            <a:avLst>
              <a:gd name="adj" fmla="val 21053"/>
            </a:avLst>
          </a:prstGeom>
          <a:solidFill>
            <a:srgbClr val="D5EFEB"/>
          </a:solidFill>
          <a:ln/>
        </p:spPr>
      </p:sp>
      <p:sp>
        <p:nvSpPr>
          <p:cNvPr id="6" name="Text 4"/>
          <p:cNvSpPr/>
          <p:nvPr/>
        </p:nvSpPr>
        <p:spPr>
          <a:xfrm>
            <a:off x="9921240" y="402336"/>
            <a:ext cx="17830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8月19日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0" y="6601968"/>
            <a:ext cx="12161520" cy="256032"/>
          </a:xfrm>
          <a:prstGeom prst="rect">
            <a:avLst/>
          </a:prstGeom>
          <a:solidFill>
            <a:srgbClr val="012A32"/>
          </a:solidFill>
          <a:ln/>
        </p:spPr>
      </p:sp>
      <p:sp>
        <p:nvSpPr>
          <p:cNvPr id="8" name="Text 6"/>
          <p:cNvSpPr/>
          <p:nvPr/>
        </p:nvSpPr>
        <p:spPr>
          <a:xfrm>
            <a:off x="457200" y="6601968"/>
            <a:ext cx="9326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5EF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零代码应用生成平台  ·  每日项目状态  ·  2026-08-19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10424160" y="6601968"/>
            <a:ext cx="1280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/ 10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457200" y="1051560"/>
            <a:ext cx="7315200" cy="5257800"/>
          </a:xfrm>
          <a:prstGeom prst="roundRect">
            <a:avLst>
              <a:gd name="adj" fmla="val 173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27000" dist="38100" dir="8100000">
              <a:srgbClr val="012A32">
                <a:alpha val="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685800" y="1188720"/>
            <a:ext cx="6858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12A3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单体测试清单（14 个）</a:t>
            </a:r>
            <a:endParaRPr lang="en-US" sz="1800" dirty="0"/>
          </a:p>
        </p:txBody>
      </p:sp>
      <p:sp>
        <p:nvSpPr>
          <p:cNvPr id="12" name="Shape 10"/>
          <p:cNvSpPr/>
          <p:nvPr/>
        </p:nvSpPr>
        <p:spPr>
          <a:xfrm>
            <a:off x="658368" y="1664208"/>
            <a:ext cx="6912864" cy="749808"/>
          </a:xfrm>
          <a:prstGeom prst="roundRect">
            <a:avLst>
              <a:gd name="adj" fmla="val 9756"/>
            </a:avLst>
          </a:prstGeom>
          <a:solidFill>
            <a:srgbClr val="D5EFEB"/>
          </a:solidFill>
          <a:ln/>
        </p:spPr>
      </p:sp>
      <p:sp>
        <p:nvSpPr>
          <p:cNvPr id="13" name="Text 11"/>
          <p:cNvSpPr/>
          <p:nvPr/>
        </p:nvSpPr>
        <p:spPr>
          <a:xfrm>
            <a:off x="822960" y="1664208"/>
            <a:ext cx="169164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工作流 6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2560320" y="1664208"/>
            <a:ext cx="484632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636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CodeGen 串行 / 子图 / 并发，图片采集与 AI 并发</a:t>
            </a:r>
            <a:endParaRPr lang="en-US" sz="1500" dirty="0"/>
          </a:p>
        </p:txBody>
      </p:sp>
      <p:sp>
        <p:nvSpPr>
          <p:cNvPr id="15" name="Shape 13"/>
          <p:cNvSpPr/>
          <p:nvPr/>
        </p:nvSpPr>
        <p:spPr>
          <a:xfrm>
            <a:off x="658368" y="2505456"/>
            <a:ext cx="6912864" cy="749808"/>
          </a:xfrm>
          <a:prstGeom prst="roundRect">
            <a:avLst>
              <a:gd name="adj" fmla="val 9756"/>
            </a:avLst>
          </a:prstGeom>
          <a:solidFill>
            <a:srgbClr val="F0F7F6"/>
          </a:solidFill>
          <a:ln/>
        </p:spPr>
      </p:sp>
      <p:sp>
        <p:nvSpPr>
          <p:cNvPr id="16" name="Text 14"/>
          <p:cNvSpPr/>
          <p:nvPr/>
        </p:nvSpPr>
        <p:spPr>
          <a:xfrm>
            <a:off x="822960" y="2505456"/>
            <a:ext cx="169164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工具 4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2560320" y="2505456"/>
            <a:ext cx="484632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636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插画、Mermaid、Logo、图片搜索</a:t>
            </a:r>
            <a:endParaRPr lang="en-US" sz="1500" dirty="0"/>
          </a:p>
        </p:txBody>
      </p:sp>
      <p:sp>
        <p:nvSpPr>
          <p:cNvPr id="18" name="Shape 16"/>
          <p:cNvSpPr/>
          <p:nvPr/>
        </p:nvSpPr>
        <p:spPr>
          <a:xfrm>
            <a:off x="658368" y="3346704"/>
            <a:ext cx="6912864" cy="749808"/>
          </a:xfrm>
          <a:prstGeom prst="roundRect">
            <a:avLst>
              <a:gd name="adj" fmla="val 9756"/>
            </a:avLst>
          </a:prstGeom>
          <a:solidFill>
            <a:srgbClr val="D5EFEB"/>
          </a:solidFill>
          <a:ln/>
        </p:spPr>
      </p:sp>
      <p:sp>
        <p:nvSpPr>
          <p:cNvPr id="19" name="Text 17"/>
          <p:cNvSpPr/>
          <p:nvPr/>
        </p:nvSpPr>
        <p:spPr>
          <a:xfrm>
            <a:off x="822960" y="3346704"/>
            <a:ext cx="169164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生成 3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2560320" y="3346704"/>
            <a:ext cx="484632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636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门面、解析器、类型路由与生成服务</a:t>
            </a:r>
            <a:endParaRPr lang="en-US" sz="1500" dirty="0"/>
          </a:p>
        </p:txBody>
      </p:sp>
      <p:sp>
        <p:nvSpPr>
          <p:cNvPr id="21" name="Shape 19"/>
          <p:cNvSpPr/>
          <p:nvPr/>
        </p:nvSpPr>
        <p:spPr>
          <a:xfrm>
            <a:off x="658368" y="4187952"/>
            <a:ext cx="6912864" cy="749808"/>
          </a:xfrm>
          <a:prstGeom prst="roundRect">
            <a:avLst>
              <a:gd name="adj" fmla="val 9756"/>
            </a:avLst>
          </a:prstGeom>
          <a:solidFill>
            <a:srgbClr val="F0F7F6"/>
          </a:solidFill>
          <a:ln/>
        </p:spPr>
      </p:sp>
      <p:sp>
        <p:nvSpPr>
          <p:cNvPr id="22" name="Text 20"/>
          <p:cNvSpPr/>
          <p:nvPr/>
        </p:nvSpPr>
        <p:spPr>
          <a:xfrm>
            <a:off x="822960" y="4187952"/>
            <a:ext cx="169164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截图 1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2560320" y="4187952"/>
            <a:ext cx="484632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636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WebScreenshotUtils 网页截图</a:t>
            </a:r>
            <a:endParaRPr lang="en-US" sz="1500" dirty="0"/>
          </a:p>
        </p:txBody>
      </p:sp>
      <p:sp>
        <p:nvSpPr>
          <p:cNvPr id="24" name="Shape 22"/>
          <p:cNvSpPr/>
          <p:nvPr/>
        </p:nvSpPr>
        <p:spPr>
          <a:xfrm>
            <a:off x="658368" y="5029200"/>
            <a:ext cx="6912864" cy="749808"/>
          </a:xfrm>
          <a:prstGeom prst="roundRect">
            <a:avLst>
              <a:gd name="adj" fmla="val 9756"/>
            </a:avLst>
          </a:prstGeom>
          <a:solidFill>
            <a:srgbClr val="D5EFEB"/>
          </a:solidFill>
          <a:ln/>
        </p:spPr>
      </p:sp>
      <p:sp>
        <p:nvSpPr>
          <p:cNvPr id="25" name="Text 23"/>
          <p:cNvSpPr/>
          <p:nvPr/>
        </p:nvSpPr>
        <p:spPr>
          <a:xfrm>
            <a:off x="822960" y="5029200"/>
            <a:ext cx="169164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运行前提</a:t>
            </a:r>
            <a:endParaRPr lang="en-US" sz="1500" dirty="0"/>
          </a:p>
        </p:txBody>
      </p:sp>
      <p:sp>
        <p:nvSpPr>
          <p:cNvPr id="26" name="Text 24"/>
          <p:cNvSpPr/>
          <p:nvPr/>
        </p:nvSpPr>
        <p:spPr>
          <a:xfrm>
            <a:off x="2560320" y="5029200"/>
            <a:ext cx="484632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636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需本地 Redis、MySQL 与模型密钥，空环境无法默认跑通</a:t>
            </a:r>
            <a:endParaRPr lang="en-US" sz="1500" dirty="0"/>
          </a:p>
        </p:txBody>
      </p:sp>
      <p:sp>
        <p:nvSpPr>
          <p:cNvPr id="27" name="Shape 25"/>
          <p:cNvSpPr/>
          <p:nvPr/>
        </p:nvSpPr>
        <p:spPr>
          <a:xfrm>
            <a:off x="8001000" y="1051560"/>
            <a:ext cx="3703320" cy="2423160"/>
          </a:xfrm>
          <a:prstGeom prst="roundRect">
            <a:avLst>
              <a:gd name="adj" fmla="val 3774"/>
            </a:avLst>
          </a:prstGeom>
          <a:solidFill>
            <a:srgbClr val="FDF0E9"/>
          </a:solidFill>
          <a:ln/>
        </p:spPr>
      </p:sp>
      <p:sp>
        <p:nvSpPr>
          <p:cNvPr id="28" name="Shape 26"/>
          <p:cNvSpPr/>
          <p:nvPr/>
        </p:nvSpPr>
        <p:spPr>
          <a:xfrm>
            <a:off x="8211312" y="1234440"/>
            <a:ext cx="365760" cy="365760"/>
          </a:xfrm>
          <a:prstGeom prst="roundRect">
            <a:avLst>
              <a:gd name="adj" fmla="val 20000"/>
            </a:avLst>
          </a:prstGeom>
          <a:solidFill>
            <a:srgbClr val="C05621"/>
          </a:solidFill>
          <a:ln/>
        </p:spPr>
      </p:sp>
      <p:pic>
        <p:nvPicPr>
          <p:cNvPr id="29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84464" y="1307592"/>
            <a:ext cx="219456" cy="219456"/>
          </a:xfrm>
          <a:prstGeom prst="rect">
            <a:avLst/>
          </a:prstGeom>
        </p:spPr>
      </p:pic>
      <p:sp>
        <p:nvSpPr>
          <p:cNvPr id="30" name="Text 27"/>
          <p:cNvSpPr/>
          <p:nvPr/>
        </p:nvSpPr>
        <p:spPr>
          <a:xfrm>
            <a:off x="8686800" y="1234440"/>
            <a:ext cx="2788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C0562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CI 状态</a:t>
            </a:r>
            <a:endParaRPr lang="en-US" sz="1800" dirty="0"/>
          </a:p>
        </p:txBody>
      </p:sp>
      <p:sp>
        <p:nvSpPr>
          <p:cNvPr id="31" name="Text 28"/>
          <p:cNvSpPr/>
          <p:nvPr/>
        </p:nvSpPr>
        <p:spPr>
          <a:xfrm>
            <a:off x="8211312" y="1719072"/>
            <a:ext cx="329184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636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仓库没有 GitHub Actions。近 7 日也无流水线记录。现有测试都是集成测试，绑定中间件与模型密钥。</a:t>
            </a:r>
            <a:endParaRPr lang="en-US" sz="1400" dirty="0"/>
          </a:p>
        </p:txBody>
      </p:sp>
      <p:sp>
        <p:nvSpPr>
          <p:cNvPr id="32" name="Shape 29"/>
          <p:cNvSpPr/>
          <p:nvPr/>
        </p:nvSpPr>
        <p:spPr>
          <a:xfrm>
            <a:off x="8001000" y="3703320"/>
            <a:ext cx="3703320" cy="2606040"/>
          </a:xfrm>
          <a:prstGeom prst="roundRect">
            <a:avLst>
              <a:gd name="adj" fmla="val 3509"/>
            </a:avLst>
          </a:prstGeom>
          <a:solidFill>
            <a:srgbClr val="012A32"/>
          </a:solidFill>
          <a:ln/>
        </p:spPr>
      </p:sp>
      <p:sp>
        <p:nvSpPr>
          <p:cNvPr id="33" name="Text 30"/>
          <p:cNvSpPr/>
          <p:nvPr/>
        </p:nvSpPr>
        <p:spPr>
          <a:xfrm>
            <a:off x="8211312" y="3858768"/>
            <a:ext cx="3291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前端质量脚本</a:t>
            </a:r>
            <a:endParaRPr lang="en-US" sz="1600" dirty="0"/>
          </a:p>
        </p:txBody>
      </p:sp>
      <p:sp>
        <p:nvSpPr>
          <p:cNvPr id="34" name="Text 31"/>
          <p:cNvSpPr/>
          <p:nvPr/>
        </p:nvSpPr>
        <p:spPr>
          <a:xfrm>
            <a:off x="8211312" y="4279392"/>
            <a:ext cx="3291840" cy="1783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D5EF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已有 lint、type-check、build。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D5EF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没有前端单测与 E2E。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D5EF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微服务目录未见对等测试。</a:t>
            </a:r>
            <a:endParaRPr lang="en-US" sz="15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E8F4F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61520" cy="73152"/>
          </a:xfrm>
          <a:prstGeom prst="rect">
            <a:avLst/>
          </a:prstGeom>
          <a:solidFill>
            <a:srgbClr val="02C39A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329184"/>
            <a:ext cx="87782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012A3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风险与问题</a:t>
            </a:r>
            <a:endParaRPr lang="en-US" sz="3600" dirty="0"/>
          </a:p>
        </p:txBody>
      </p:sp>
      <p:sp>
        <p:nvSpPr>
          <p:cNvPr id="5" name="Shape 3"/>
          <p:cNvSpPr/>
          <p:nvPr/>
        </p:nvSpPr>
        <p:spPr>
          <a:xfrm>
            <a:off x="9921240" y="402336"/>
            <a:ext cx="1783080" cy="347472"/>
          </a:xfrm>
          <a:prstGeom prst="roundRect">
            <a:avLst>
              <a:gd name="adj" fmla="val 21053"/>
            </a:avLst>
          </a:prstGeom>
          <a:solidFill>
            <a:srgbClr val="D5EFEB"/>
          </a:solidFill>
          <a:ln/>
        </p:spPr>
      </p:sp>
      <p:sp>
        <p:nvSpPr>
          <p:cNvPr id="6" name="Text 4"/>
          <p:cNvSpPr/>
          <p:nvPr/>
        </p:nvSpPr>
        <p:spPr>
          <a:xfrm>
            <a:off x="9921240" y="402336"/>
            <a:ext cx="17830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8月19日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0" y="6601968"/>
            <a:ext cx="12161520" cy="256032"/>
          </a:xfrm>
          <a:prstGeom prst="rect">
            <a:avLst/>
          </a:prstGeom>
          <a:solidFill>
            <a:srgbClr val="012A32"/>
          </a:solidFill>
          <a:ln/>
        </p:spPr>
      </p:sp>
      <p:sp>
        <p:nvSpPr>
          <p:cNvPr id="8" name="Text 6"/>
          <p:cNvSpPr/>
          <p:nvPr/>
        </p:nvSpPr>
        <p:spPr>
          <a:xfrm>
            <a:off x="457200" y="6601968"/>
            <a:ext cx="9326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5EF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零代码应用生成平台  ·  每日项目状态  ·  2026-08-19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10424160" y="6601968"/>
            <a:ext cx="1280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/ 10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457200" y="1051560"/>
            <a:ext cx="3657600" cy="2395728"/>
          </a:xfrm>
          <a:prstGeom prst="roundRect">
            <a:avLst>
              <a:gd name="adj" fmla="val 381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27000" dist="38100" dir="8100000">
              <a:srgbClr val="012A32">
                <a:alpha val="8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640080" y="1252728"/>
            <a:ext cx="1234440" cy="310896"/>
          </a:xfrm>
          <a:prstGeom prst="roundRect">
            <a:avLst>
              <a:gd name="adj" fmla="val 17647"/>
            </a:avLst>
          </a:prstGeom>
          <a:solidFill>
            <a:srgbClr val="C05621"/>
          </a:solidFill>
          <a:ln/>
        </p:spPr>
      </p:sp>
      <p:sp>
        <p:nvSpPr>
          <p:cNvPr id="12" name="Text 10"/>
          <p:cNvSpPr/>
          <p:nvPr/>
        </p:nvSpPr>
        <p:spPr>
          <a:xfrm>
            <a:off x="640080" y="1252728"/>
            <a:ext cx="12344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#5 高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640080" y="1691640"/>
            <a:ext cx="331012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12A3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Vue 推理字段缺失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640080" y="2350008"/>
            <a:ext cx="3310128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636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DeepSeek 工具调用缺少推理字段，生成 Vue 工程会失败。2025 年 12 月提出，仍开放。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4315968" y="1051560"/>
            <a:ext cx="3657600" cy="2395728"/>
          </a:xfrm>
          <a:prstGeom prst="roundRect">
            <a:avLst>
              <a:gd name="adj" fmla="val 381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27000" dist="38100" dir="8100000">
              <a:srgbClr val="012A32">
                <a:alpha val="8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4498848" y="1252728"/>
            <a:ext cx="1234440" cy="310896"/>
          </a:xfrm>
          <a:prstGeom prst="roundRect">
            <a:avLst>
              <a:gd name="adj" fmla="val 17647"/>
            </a:avLst>
          </a:prstGeom>
          <a:solidFill>
            <a:srgbClr val="028090"/>
          </a:solidFill>
          <a:ln/>
        </p:spPr>
      </p:sp>
      <p:sp>
        <p:nvSpPr>
          <p:cNvPr id="17" name="Text 15"/>
          <p:cNvSpPr/>
          <p:nvPr/>
        </p:nvSpPr>
        <p:spPr>
          <a:xfrm>
            <a:off x="4498848" y="1252728"/>
            <a:ext cx="12344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#81 中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4498848" y="1691640"/>
            <a:ext cx="331012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12A3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前端 npm 安装失败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4498848" y="2350008"/>
            <a:ext cx="3310128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636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清华镜像找不到 plugin-vue 6。8 月 11 日新建，文档尚未改写可用源。</a:t>
            </a:r>
            <a:endParaRPr lang="en-US" sz="1400" dirty="0"/>
          </a:p>
        </p:txBody>
      </p:sp>
      <p:sp>
        <p:nvSpPr>
          <p:cNvPr id="20" name="Shape 18"/>
          <p:cNvSpPr/>
          <p:nvPr/>
        </p:nvSpPr>
        <p:spPr>
          <a:xfrm>
            <a:off x="8174736" y="1051560"/>
            <a:ext cx="3657600" cy="2395728"/>
          </a:xfrm>
          <a:prstGeom prst="roundRect">
            <a:avLst>
              <a:gd name="adj" fmla="val 381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27000" dist="38100" dir="8100000">
              <a:srgbClr val="012A32">
                <a:alpha val="8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8357616" y="1252728"/>
            <a:ext cx="1234440" cy="310896"/>
          </a:xfrm>
          <a:prstGeom prst="roundRect">
            <a:avLst>
              <a:gd name="adj" fmla="val 17647"/>
            </a:avLst>
          </a:prstGeom>
          <a:solidFill>
            <a:srgbClr val="028090"/>
          </a:solidFill>
          <a:ln/>
        </p:spPr>
      </p:sp>
      <p:sp>
        <p:nvSpPr>
          <p:cNvPr id="22" name="Text 20"/>
          <p:cNvSpPr/>
          <p:nvPr/>
        </p:nvSpPr>
        <p:spPr>
          <a:xfrm>
            <a:off x="8357616" y="1252728"/>
            <a:ext cx="12344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#65 中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8357616" y="1691640"/>
            <a:ext cx="331012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12A3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You.com 联网搜索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8357616" y="2350008"/>
            <a:ext cx="3310128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636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社区提案给 Vue 工程加搜索工具，尚未合入，生成内容时效受限。</a:t>
            </a:r>
            <a:endParaRPr lang="en-US" sz="1400" dirty="0"/>
          </a:p>
        </p:txBody>
      </p:sp>
      <p:sp>
        <p:nvSpPr>
          <p:cNvPr id="25" name="Shape 23"/>
          <p:cNvSpPr/>
          <p:nvPr/>
        </p:nvSpPr>
        <p:spPr>
          <a:xfrm>
            <a:off x="457200" y="3657600"/>
            <a:ext cx="3657600" cy="2395728"/>
          </a:xfrm>
          <a:prstGeom prst="roundRect">
            <a:avLst>
              <a:gd name="adj" fmla="val 381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27000" dist="38100" dir="8100000">
              <a:srgbClr val="012A32">
                <a:alpha val="8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640080" y="3858768"/>
            <a:ext cx="1234440" cy="310896"/>
          </a:xfrm>
          <a:prstGeom prst="roundRect">
            <a:avLst>
              <a:gd name="adj" fmla="val 17647"/>
            </a:avLst>
          </a:prstGeom>
          <a:solidFill>
            <a:srgbClr val="C05621"/>
          </a:solidFill>
          <a:ln/>
        </p:spPr>
      </p:sp>
      <p:sp>
        <p:nvSpPr>
          <p:cNvPr id="27" name="Text 25"/>
          <p:cNvSpPr/>
          <p:nvPr/>
        </p:nvSpPr>
        <p:spPr>
          <a:xfrm>
            <a:off x="640080" y="3858768"/>
            <a:ext cx="12344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工程 高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640080" y="4297680"/>
            <a:ext cx="331012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12A3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双轨代码分叉</a:t>
            </a:r>
            <a:endParaRPr lang="en-US" sz="1600" dirty="0"/>
          </a:p>
        </p:txBody>
      </p:sp>
      <p:sp>
        <p:nvSpPr>
          <p:cNvPr id="29" name="Text 27"/>
          <p:cNvSpPr/>
          <p:nvPr/>
        </p:nvSpPr>
        <p:spPr>
          <a:xfrm>
            <a:off x="640080" y="4956048"/>
            <a:ext cx="3310128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636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单体与微服务需同步修缺陷。中间态提交不可单独使用。</a:t>
            </a:r>
            <a:endParaRPr lang="en-US" sz="1400" dirty="0"/>
          </a:p>
        </p:txBody>
      </p:sp>
      <p:sp>
        <p:nvSpPr>
          <p:cNvPr id="30" name="Shape 28"/>
          <p:cNvSpPr/>
          <p:nvPr/>
        </p:nvSpPr>
        <p:spPr>
          <a:xfrm>
            <a:off x="4315968" y="3657600"/>
            <a:ext cx="3657600" cy="2395728"/>
          </a:xfrm>
          <a:prstGeom prst="roundRect">
            <a:avLst>
              <a:gd name="adj" fmla="val 381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27000" dist="38100" dir="8100000">
              <a:srgbClr val="012A32">
                <a:alpha val="8000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4498848" y="3858768"/>
            <a:ext cx="1234440" cy="310896"/>
          </a:xfrm>
          <a:prstGeom prst="roundRect">
            <a:avLst>
              <a:gd name="adj" fmla="val 17647"/>
            </a:avLst>
          </a:prstGeom>
          <a:solidFill>
            <a:srgbClr val="028090"/>
          </a:solidFill>
          <a:ln/>
        </p:spPr>
      </p:sp>
      <p:sp>
        <p:nvSpPr>
          <p:cNvPr id="32" name="Text 30"/>
          <p:cNvSpPr/>
          <p:nvPr/>
        </p:nvSpPr>
        <p:spPr>
          <a:xfrm>
            <a:off x="4498848" y="3858768"/>
            <a:ext cx="12344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工程 中</a:t>
            </a:r>
            <a:endParaRPr lang="en-US" sz="1200" dirty="0"/>
          </a:p>
        </p:txBody>
      </p:sp>
      <p:sp>
        <p:nvSpPr>
          <p:cNvPr id="33" name="Text 31"/>
          <p:cNvSpPr/>
          <p:nvPr/>
        </p:nvSpPr>
        <p:spPr>
          <a:xfrm>
            <a:off x="4498848" y="4297680"/>
            <a:ext cx="331012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12A3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测试无法自动跑</a:t>
            </a:r>
            <a:endParaRPr lang="en-US" sz="1600" dirty="0"/>
          </a:p>
        </p:txBody>
      </p:sp>
      <p:sp>
        <p:nvSpPr>
          <p:cNvPr id="34" name="Text 32"/>
          <p:cNvSpPr/>
          <p:nvPr/>
        </p:nvSpPr>
        <p:spPr>
          <a:xfrm>
            <a:off x="4498848" y="4956048"/>
            <a:ext cx="3310128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636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没有 CI，集成测试绑定外部接口。回归只能靠手工或本地密钥。</a:t>
            </a:r>
            <a:endParaRPr lang="en-US" sz="1400" dirty="0"/>
          </a:p>
        </p:txBody>
      </p:sp>
      <p:sp>
        <p:nvSpPr>
          <p:cNvPr id="35" name="Shape 33"/>
          <p:cNvSpPr/>
          <p:nvPr/>
        </p:nvSpPr>
        <p:spPr>
          <a:xfrm>
            <a:off x="8174736" y="3657600"/>
            <a:ext cx="3657600" cy="2395728"/>
          </a:xfrm>
          <a:prstGeom prst="roundRect">
            <a:avLst>
              <a:gd name="adj" fmla="val 381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27000" dist="38100" dir="8100000">
              <a:srgbClr val="012A32">
                <a:alpha val="8000"/>
              </a:srgbClr>
            </a:outerShdw>
          </a:effectLst>
        </p:spPr>
      </p:sp>
      <p:sp>
        <p:nvSpPr>
          <p:cNvPr id="36" name="Shape 34"/>
          <p:cNvSpPr/>
          <p:nvPr/>
        </p:nvSpPr>
        <p:spPr>
          <a:xfrm>
            <a:off x="8357616" y="3858768"/>
            <a:ext cx="1234440" cy="310896"/>
          </a:xfrm>
          <a:prstGeom prst="roundRect">
            <a:avLst>
              <a:gd name="adj" fmla="val 17647"/>
            </a:avLst>
          </a:prstGeom>
          <a:solidFill>
            <a:srgbClr val="028090"/>
          </a:solidFill>
          <a:ln/>
        </p:spPr>
      </p:sp>
      <p:sp>
        <p:nvSpPr>
          <p:cNvPr id="37" name="Text 35"/>
          <p:cNvSpPr/>
          <p:nvPr/>
        </p:nvSpPr>
        <p:spPr>
          <a:xfrm>
            <a:off x="8357616" y="3858768"/>
            <a:ext cx="12344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依赖 低</a:t>
            </a:r>
            <a:endParaRPr lang="en-US" sz="1200" dirty="0"/>
          </a:p>
        </p:txBody>
      </p:sp>
      <p:sp>
        <p:nvSpPr>
          <p:cNvPr id="38" name="Text 36"/>
          <p:cNvSpPr/>
          <p:nvPr/>
        </p:nvSpPr>
        <p:spPr>
          <a:xfrm>
            <a:off x="8357616" y="4297680"/>
            <a:ext cx="331012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12A3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预发布组件</a:t>
            </a:r>
            <a:endParaRPr lang="en-US" sz="1600" dirty="0"/>
          </a:p>
        </p:txBody>
      </p:sp>
      <p:sp>
        <p:nvSpPr>
          <p:cNvPr id="39" name="Text 37"/>
          <p:cNvSpPr/>
          <p:nvPr/>
        </p:nvSpPr>
        <p:spPr>
          <a:xfrm>
            <a:off x="8357616" y="4956048"/>
            <a:ext cx="3310128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636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LangGraph4j 仍是 1.6.0-rc2。内嵌 LangChain4j 源码含调试输出。</a:t>
            </a:r>
            <a:endParaRPr lang="en-US" sz="14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E8F4F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61520" cy="73152"/>
          </a:xfrm>
          <a:prstGeom prst="rect">
            <a:avLst/>
          </a:prstGeom>
          <a:solidFill>
            <a:srgbClr val="02C39A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329184"/>
            <a:ext cx="87782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012A3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下一步计划</a:t>
            </a:r>
            <a:endParaRPr lang="en-US" sz="3600" dirty="0"/>
          </a:p>
        </p:txBody>
      </p:sp>
      <p:sp>
        <p:nvSpPr>
          <p:cNvPr id="5" name="Shape 3"/>
          <p:cNvSpPr/>
          <p:nvPr/>
        </p:nvSpPr>
        <p:spPr>
          <a:xfrm>
            <a:off x="9921240" y="402336"/>
            <a:ext cx="1783080" cy="347472"/>
          </a:xfrm>
          <a:prstGeom prst="roundRect">
            <a:avLst>
              <a:gd name="adj" fmla="val 21053"/>
            </a:avLst>
          </a:prstGeom>
          <a:solidFill>
            <a:srgbClr val="D5EFEB"/>
          </a:solidFill>
          <a:ln/>
        </p:spPr>
      </p:sp>
      <p:sp>
        <p:nvSpPr>
          <p:cNvPr id="6" name="Text 4"/>
          <p:cNvSpPr/>
          <p:nvPr/>
        </p:nvSpPr>
        <p:spPr>
          <a:xfrm>
            <a:off x="9921240" y="402336"/>
            <a:ext cx="17830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8月19日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0" y="6601968"/>
            <a:ext cx="12161520" cy="256032"/>
          </a:xfrm>
          <a:prstGeom prst="rect">
            <a:avLst/>
          </a:prstGeom>
          <a:solidFill>
            <a:srgbClr val="012A32"/>
          </a:solidFill>
          <a:ln/>
        </p:spPr>
      </p:sp>
      <p:sp>
        <p:nvSpPr>
          <p:cNvPr id="8" name="Text 6"/>
          <p:cNvSpPr/>
          <p:nvPr/>
        </p:nvSpPr>
        <p:spPr>
          <a:xfrm>
            <a:off x="457200" y="6601968"/>
            <a:ext cx="9326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5EF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零代码应用生成平台  ·  每日项目状态  ·  2026-08-19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10424160" y="6601968"/>
            <a:ext cx="1280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 / 10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457200" y="1078992"/>
            <a:ext cx="11247120" cy="896112"/>
          </a:xfrm>
          <a:prstGeom prst="roundRect">
            <a:avLst>
              <a:gd name="adj" fmla="val 1020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27000" dist="38100" dir="8100000">
              <a:srgbClr val="012A32">
                <a:alpha val="8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621792" y="1243584"/>
            <a:ext cx="585216" cy="585216"/>
          </a:xfrm>
          <a:prstGeom prst="roundRect">
            <a:avLst>
              <a:gd name="adj" fmla="val 15625"/>
            </a:avLst>
          </a:prstGeom>
          <a:solidFill>
            <a:srgbClr val="028090"/>
          </a:solidFill>
          <a:ln/>
        </p:spPr>
      </p:sp>
      <p:sp>
        <p:nvSpPr>
          <p:cNvPr id="12" name="Text 10"/>
          <p:cNvSpPr/>
          <p:nvPr/>
        </p:nvSpPr>
        <p:spPr>
          <a:xfrm>
            <a:off x="621792" y="1243584"/>
            <a:ext cx="585216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1417320" y="1188720"/>
            <a:ext cx="402336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12A3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关闭前端安装卡点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5349240" y="1225296"/>
            <a:ext cx="612648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636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在说明文档写明官方 npm 源或可用镜像，并回复 Issue 81。</a:t>
            </a:r>
            <a:endParaRPr lang="en-US" sz="1500" dirty="0"/>
          </a:p>
        </p:txBody>
      </p:sp>
      <p:sp>
        <p:nvSpPr>
          <p:cNvPr id="15" name="Shape 13"/>
          <p:cNvSpPr/>
          <p:nvPr/>
        </p:nvSpPr>
        <p:spPr>
          <a:xfrm>
            <a:off x="457200" y="2103120"/>
            <a:ext cx="11247120" cy="896112"/>
          </a:xfrm>
          <a:prstGeom prst="roundRect">
            <a:avLst>
              <a:gd name="adj" fmla="val 1020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27000" dist="38100" dir="8100000">
              <a:srgbClr val="012A32">
                <a:alpha val="8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621792" y="2267712"/>
            <a:ext cx="585216" cy="585216"/>
          </a:xfrm>
          <a:prstGeom prst="roundRect">
            <a:avLst>
              <a:gd name="adj" fmla="val 15625"/>
            </a:avLst>
          </a:prstGeom>
          <a:solidFill>
            <a:srgbClr val="028090"/>
          </a:solidFill>
          <a:ln/>
        </p:spPr>
      </p:sp>
      <p:sp>
        <p:nvSpPr>
          <p:cNvPr id="17" name="Text 15"/>
          <p:cNvSpPr/>
          <p:nvPr/>
        </p:nvSpPr>
        <p:spPr>
          <a:xfrm>
            <a:off x="621792" y="2267712"/>
            <a:ext cx="585216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1417320" y="2212848"/>
            <a:ext cx="402336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12A3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修复 Vue 推理字段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5349240" y="2249424"/>
            <a:ext cx="612648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636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按 DeepSeek 工具调用协议补齐推理字段，回归 Issue 5。</a:t>
            </a:r>
            <a:endParaRPr lang="en-US" sz="1500" dirty="0"/>
          </a:p>
        </p:txBody>
      </p:sp>
      <p:sp>
        <p:nvSpPr>
          <p:cNvPr id="20" name="Shape 18"/>
          <p:cNvSpPr/>
          <p:nvPr/>
        </p:nvSpPr>
        <p:spPr>
          <a:xfrm>
            <a:off x="457200" y="3127248"/>
            <a:ext cx="11247120" cy="896112"/>
          </a:xfrm>
          <a:prstGeom prst="roundRect">
            <a:avLst>
              <a:gd name="adj" fmla="val 1020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27000" dist="38100" dir="8100000">
              <a:srgbClr val="012A32">
                <a:alpha val="8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621792" y="3291840"/>
            <a:ext cx="585216" cy="585216"/>
          </a:xfrm>
          <a:prstGeom prst="roundRect">
            <a:avLst>
              <a:gd name="adj" fmla="val 15625"/>
            </a:avLst>
          </a:prstGeom>
          <a:solidFill>
            <a:srgbClr val="012A32"/>
          </a:solidFill>
          <a:ln/>
        </p:spPr>
      </p:sp>
      <p:sp>
        <p:nvSpPr>
          <p:cNvPr id="22" name="Text 20"/>
          <p:cNvSpPr/>
          <p:nvPr/>
        </p:nvSpPr>
        <p:spPr>
          <a:xfrm>
            <a:off x="621792" y="3291840"/>
            <a:ext cx="585216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1417320" y="3236976"/>
            <a:ext cx="402336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12A3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评估联网搜索</a:t>
            </a:r>
            <a:endParaRPr lang="en-US" sz="1800" dirty="0"/>
          </a:p>
        </p:txBody>
      </p:sp>
      <p:sp>
        <p:nvSpPr>
          <p:cNvPr id="24" name="Text 22"/>
          <p:cNvSpPr/>
          <p:nvPr/>
        </p:nvSpPr>
        <p:spPr>
          <a:xfrm>
            <a:off x="5349240" y="3273552"/>
            <a:ext cx="612648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636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评审 Issue 65：是否接入 You.com，以及密钥、配额与提示边界。</a:t>
            </a:r>
            <a:endParaRPr lang="en-US" sz="1500" dirty="0"/>
          </a:p>
        </p:txBody>
      </p:sp>
      <p:sp>
        <p:nvSpPr>
          <p:cNvPr id="25" name="Shape 23"/>
          <p:cNvSpPr/>
          <p:nvPr/>
        </p:nvSpPr>
        <p:spPr>
          <a:xfrm>
            <a:off x="457200" y="4151376"/>
            <a:ext cx="11247120" cy="896112"/>
          </a:xfrm>
          <a:prstGeom prst="roundRect">
            <a:avLst>
              <a:gd name="adj" fmla="val 1020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27000" dist="38100" dir="8100000">
              <a:srgbClr val="012A32">
                <a:alpha val="8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621792" y="4315968"/>
            <a:ext cx="585216" cy="585216"/>
          </a:xfrm>
          <a:prstGeom prst="roundRect">
            <a:avLst>
              <a:gd name="adj" fmla="val 15625"/>
            </a:avLst>
          </a:prstGeom>
          <a:solidFill>
            <a:srgbClr val="012A32"/>
          </a:solidFill>
          <a:ln/>
        </p:spPr>
      </p:sp>
      <p:sp>
        <p:nvSpPr>
          <p:cNvPr id="27" name="Text 25"/>
          <p:cNvSpPr/>
          <p:nvPr/>
        </p:nvSpPr>
        <p:spPr>
          <a:xfrm>
            <a:off x="621792" y="4315968"/>
            <a:ext cx="585216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1417320" y="4261104"/>
            <a:ext cx="402336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12A3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补最小 CI</a:t>
            </a:r>
            <a:endParaRPr lang="en-US" sz="1800" dirty="0"/>
          </a:p>
        </p:txBody>
      </p:sp>
      <p:sp>
        <p:nvSpPr>
          <p:cNvPr id="29" name="Text 27"/>
          <p:cNvSpPr/>
          <p:nvPr/>
        </p:nvSpPr>
        <p:spPr>
          <a:xfrm>
            <a:off x="5349240" y="4297680"/>
            <a:ext cx="612648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636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Actions 先跑编译与离线单测，前端同步跑 lint 与类型检查。</a:t>
            </a:r>
            <a:endParaRPr lang="en-US" sz="1500" dirty="0"/>
          </a:p>
        </p:txBody>
      </p:sp>
      <p:sp>
        <p:nvSpPr>
          <p:cNvPr id="30" name="Shape 28"/>
          <p:cNvSpPr/>
          <p:nvPr/>
        </p:nvSpPr>
        <p:spPr>
          <a:xfrm>
            <a:off x="457200" y="5175504"/>
            <a:ext cx="11247120" cy="896112"/>
          </a:xfrm>
          <a:prstGeom prst="roundRect">
            <a:avLst>
              <a:gd name="adj" fmla="val 1020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27000" dist="38100" dir="8100000">
              <a:srgbClr val="012A32">
                <a:alpha val="8000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621792" y="5340096"/>
            <a:ext cx="585216" cy="585216"/>
          </a:xfrm>
          <a:prstGeom prst="roundRect">
            <a:avLst>
              <a:gd name="adj" fmla="val 15625"/>
            </a:avLst>
          </a:prstGeom>
          <a:solidFill>
            <a:srgbClr val="012A32"/>
          </a:solidFill>
          <a:ln/>
        </p:spPr>
      </p:sp>
      <p:sp>
        <p:nvSpPr>
          <p:cNvPr id="32" name="Text 30"/>
          <p:cNvSpPr/>
          <p:nvPr/>
        </p:nvSpPr>
        <p:spPr>
          <a:xfrm>
            <a:off x="621792" y="5340096"/>
            <a:ext cx="585216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400" dirty="0"/>
          </a:p>
        </p:txBody>
      </p:sp>
      <p:sp>
        <p:nvSpPr>
          <p:cNvPr id="33" name="Text 31"/>
          <p:cNvSpPr/>
          <p:nvPr/>
        </p:nvSpPr>
        <p:spPr>
          <a:xfrm>
            <a:off x="1417320" y="5285232"/>
            <a:ext cx="402336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12A3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微服务测试对齐</a:t>
            </a:r>
            <a:endParaRPr lang="en-US" sz="1800" dirty="0"/>
          </a:p>
        </p:txBody>
      </p:sp>
      <p:sp>
        <p:nvSpPr>
          <p:cNvPr id="34" name="Text 32"/>
          <p:cNvSpPr/>
          <p:nvPr/>
        </p:nvSpPr>
        <p:spPr>
          <a:xfrm>
            <a:off x="5349240" y="5321808"/>
            <a:ext cx="612648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636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为 user、app、screenshot 补离线测试，并更新双轨部署手册。</a:t>
            </a:r>
            <a:endParaRPr lang="en-US" sz="15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12A3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692640" y="-1463040"/>
            <a:ext cx="3840480" cy="3840480"/>
          </a:xfrm>
          <a:prstGeom prst="ellipse">
            <a:avLst/>
          </a:prstGeom>
          <a:solidFill>
            <a:srgbClr val="014049"/>
          </a:solidFill>
          <a:ln/>
        </p:spPr>
      </p:sp>
      <p:sp>
        <p:nvSpPr>
          <p:cNvPr id="3" name="Shape 1"/>
          <p:cNvSpPr/>
          <p:nvPr/>
        </p:nvSpPr>
        <p:spPr>
          <a:xfrm>
            <a:off x="-1280160" y="4754880"/>
            <a:ext cx="3291840" cy="3291840"/>
          </a:xfrm>
          <a:prstGeom prst="ellipse">
            <a:avLst/>
          </a:prstGeom>
          <a:solidFill>
            <a:srgbClr val="01353D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411480"/>
            <a:ext cx="10789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今日结论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640080" y="987552"/>
            <a:ext cx="10789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i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能力完整，代码静止，社区问题在排队。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502920" y="1554480"/>
            <a:ext cx="3657600" cy="3154680"/>
          </a:xfrm>
          <a:prstGeom prst="roundRect">
            <a:avLst>
              <a:gd name="adj" fmla="val 3478"/>
            </a:avLst>
          </a:prstGeom>
          <a:solidFill>
            <a:srgbClr val="016875"/>
          </a:solidFill>
          <a:ln/>
        </p:spPr>
      </p:sp>
      <p:sp>
        <p:nvSpPr>
          <p:cNvPr id="7" name="Shape 5"/>
          <p:cNvSpPr/>
          <p:nvPr/>
        </p:nvSpPr>
        <p:spPr>
          <a:xfrm>
            <a:off x="731520" y="1828800"/>
            <a:ext cx="502920" cy="502920"/>
          </a:xfrm>
          <a:prstGeom prst="roundRect">
            <a:avLst>
              <a:gd name="adj" fmla="val 18182"/>
            </a:avLst>
          </a:prstGeom>
          <a:solidFill>
            <a:srgbClr val="02C39A"/>
          </a:solidFill>
          <a:ln/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32104" y="1929384"/>
            <a:ext cx="301752" cy="301752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731520" y="2468880"/>
            <a:ext cx="31546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平台能力已闭环</a:t>
            </a:r>
            <a:endParaRPr lang="en-US" sz="2000" dirty="0"/>
          </a:p>
        </p:txBody>
      </p:sp>
      <p:sp>
        <p:nvSpPr>
          <p:cNvPr id="10" name="Text 7"/>
          <p:cNvSpPr/>
          <p:nvPr/>
        </p:nvSpPr>
        <p:spPr>
          <a:xfrm>
            <a:off x="731520" y="3291840"/>
            <a:ext cx="315468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C5E4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生成、编辑、部署、管理与工作流均已落地，教学主线到第 14 期微服务。</a:t>
            </a:r>
            <a:endParaRPr lang="en-US" sz="1500" dirty="0"/>
          </a:p>
        </p:txBody>
      </p:sp>
      <p:sp>
        <p:nvSpPr>
          <p:cNvPr id="11" name="Shape 8"/>
          <p:cNvSpPr/>
          <p:nvPr/>
        </p:nvSpPr>
        <p:spPr>
          <a:xfrm>
            <a:off x="4343400" y="1554480"/>
            <a:ext cx="3657600" cy="3154680"/>
          </a:xfrm>
          <a:prstGeom prst="roundRect">
            <a:avLst>
              <a:gd name="adj" fmla="val 3478"/>
            </a:avLst>
          </a:prstGeom>
          <a:solidFill>
            <a:srgbClr val="016875"/>
          </a:solidFill>
          <a:ln/>
        </p:spPr>
      </p:sp>
      <p:sp>
        <p:nvSpPr>
          <p:cNvPr id="12" name="Shape 9"/>
          <p:cNvSpPr/>
          <p:nvPr/>
        </p:nvSpPr>
        <p:spPr>
          <a:xfrm>
            <a:off x="4572000" y="1828800"/>
            <a:ext cx="502920" cy="502920"/>
          </a:xfrm>
          <a:prstGeom prst="roundRect">
            <a:avLst>
              <a:gd name="adj" fmla="val 18182"/>
            </a:avLst>
          </a:prstGeom>
          <a:solidFill>
            <a:srgbClr val="02C39A"/>
          </a:solidFill>
          <a:ln/>
        </p:spPr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72584" y="1929384"/>
            <a:ext cx="301752" cy="301752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4572000" y="2468880"/>
            <a:ext cx="31546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近一年无功能提交</a:t>
            </a:r>
            <a:endParaRPr lang="en-US" sz="2000" dirty="0"/>
          </a:p>
        </p:txBody>
      </p:sp>
      <p:sp>
        <p:nvSpPr>
          <p:cNvPr id="15" name="Text 11"/>
          <p:cNvSpPr/>
          <p:nvPr/>
        </p:nvSpPr>
        <p:spPr>
          <a:xfrm>
            <a:off x="4572000" y="3291840"/>
            <a:ext cx="315468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C5E4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本周与昨日均为 0 合入。风险来自未关闭的学员问题，而不是在途特性。</a:t>
            </a:r>
            <a:endParaRPr lang="en-US" sz="1500" dirty="0"/>
          </a:p>
        </p:txBody>
      </p:sp>
      <p:sp>
        <p:nvSpPr>
          <p:cNvPr id="16" name="Shape 12"/>
          <p:cNvSpPr/>
          <p:nvPr/>
        </p:nvSpPr>
        <p:spPr>
          <a:xfrm>
            <a:off x="8183880" y="1554480"/>
            <a:ext cx="3657600" cy="3154680"/>
          </a:xfrm>
          <a:prstGeom prst="roundRect">
            <a:avLst>
              <a:gd name="adj" fmla="val 3478"/>
            </a:avLst>
          </a:prstGeom>
          <a:solidFill>
            <a:srgbClr val="016875"/>
          </a:solidFill>
          <a:ln/>
        </p:spPr>
      </p:sp>
      <p:sp>
        <p:nvSpPr>
          <p:cNvPr id="17" name="Shape 13"/>
          <p:cNvSpPr/>
          <p:nvPr/>
        </p:nvSpPr>
        <p:spPr>
          <a:xfrm>
            <a:off x="8412480" y="1828800"/>
            <a:ext cx="502920" cy="502920"/>
          </a:xfrm>
          <a:prstGeom prst="roundRect">
            <a:avLst>
              <a:gd name="adj" fmla="val 18182"/>
            </a:avLst>
          </a:prstGeom>
          <a:solidFill>
            <a:srgbClr val="02C39A"/>
          </a:solidFill>
          <a:ln/>
        </p:spPr>
      </p:sp>
      <p:pic>
        <p:nvPicPr>
          <p:cNvPr id="1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13064" y="1929384"/>
            <a:ext cx="301752" cy="301752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8412480" y="2468880"/>
            <a:ext cx="31546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本周优先修体验</a:t>
            </a:r>
            <a:endParaRPr lang="en-US" sz="2000" dirty="0"/>
          </a:p>
        </p:txBody>
      </p:sp>
      <p:sp>
        <p:nvSpPr>
          <p:cNvPr id="20" name="Text 15"/>
          <p:cNvSpPr/>
          <p:nvPr/>
        </p:nvSpPr>
        <p:spPr>
          <a:xfrm>
            <a:off x="8412480" y="3291840"/>
            <a:ext cx="315468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C5E4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先处理 #81 安装与 #5 生成失败，再谈新工具与 CI，收益最直接。</a:t>
            </a:r>
            <a:endParaRPr lang="en-US" sz="1500" dirty="0"/>
          </a:p>
        </p:txBody>
      </p:sp>
      <p:sp>
        <p:nvSpPr>
          <p:cNvPr id="21" name="Text 16"/>
          <p:cNvSpPr/>
          <p:nvPr/>
        </p:nvSpPr>
        <p:spPr>
          <a:xfrm>
            <a:off x="502920" y="4892040"/>
            <a:ext cx="11155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D5EF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下一份日报若仍无代码变更，将继续跟踪上述 3 个开放 Issue 与 CI 空窗，不再重复罗列教程里程碑。</a:t>
            </a:r>
            <a:endParaRPr lang="en-US" sz="1500" dirty="0"/>
          </a:p>
        </p:txBody>
      </p:sp>
      <p:sp>
        <p:nvSpPr>
          <p:cNvPr id="22" name="Shape 17"/>
          <p:cNvSpPr/>
          <p:nvPr/>
        </p:nvSpPr>
        <p:spPr>
          <a:xfrm>
            <a:off x="0" y="6601968"/>
            <a:ext cx="12161520" cy="256032"/>
          </a:xfrm>
          <a:prstGeom prst="rect">
            <a:avLst/>
          </a:prstGeom>
          <a:solidFill>
            <a:srgbClr val="011C22"/>
          </a:solidFill>
          <a:ln/>
        </p:spPr>
      </p:sp>
      <p:sp>
        <p:nvSpPr>
          <p:cNvPr id="23" name="Text 18"/>
          <p:cNvSpPr/>
          <p:nvPr/>
        </p:nvSpPr>
        <p:spPr>
          <a:xfrm>
            <a:off x="502920" y="6601968"/>
            <a:ext cx="9509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D5EF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资料来源：README、src、microservice、frontend、git log、GitHub Issues  ·  2026-08-19</a:t>
            </a:r>
            <a:endParaRPr lang="en-US" sz="1200" dirty="0"/>
          </a:p>
        </p:txBody>
      </p:sp>
      <p:sp>
        <p:nvSpPr>
          <p:cNvPr id="24" name="Text 19"/>
          <p:cNvSpPr/>
          <p:nvPr/>
        </p:nvSpPr>
        <p:spPr>
          <a:xfrm>
            <a:off x="10424160" y="6601968"/>
            <a:ext cx="1280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/ 10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每日项目状态汇报 2026-08-19</dc:title>
  <dc:subject>AI 零代码应用生成平台项目状态</dc:subject>
  <dc:creator>yu-ai-code-mother 维护组</dc:creator>
  <cp:lastModifiedBy>yu-ai-code-mother 维护组</cp:lastModifiedBy>
  <cp:revision>1</cp:revision>
  <dcterms:created xsi:type="dcterms:W3CDTF">2026-08-19T09:14:41Z</dcterms:created>
  <dcterms:modified xsi:type="dcterms:W3CDTF">2026-08-19T09:14:41Z</dcterms:modified>
</cp:coreProperties>
</file>