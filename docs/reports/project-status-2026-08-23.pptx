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文件数</c:v>
                </c:pt>
              </c:strCache>
            </c:strRef>
          </c:tx>
          <c:spPr>
            <a:solidFill>
              <a:srgbClr val="179A93"/>
            </a:solidFill>
          </c:spPr>
          <c:cat>
            <c:strRef>
              <c:f>Sheet1!$A$2:$A$6</c:f>
              <c:strCache>
                <c:ptCount val="5"/>
                <c:pt idx="0">
                  <c:v>单体业务 Java</c:v>
                </c:pt>
                <c:pt idx="1">
                  <c:v>微服务 Java</c:v>
                </c:pt>
                <c:pt idx="2">
                  <c:v>前端 Vue</c:v>
                </c:pt>
                <c:pt idx="3">
                  <c:v>前端 TS</c:v>
                </c:pt>
                <c:pt idx="4">
                  <c:v>测试类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146</c:v>
                </c:pt>
                <c:pt idx="1">
                  <c:v>118</c:v>
                </c:pt>
                <c:pt idx="2">
                  <c:v>17</c:v>
                </c:pt>
                <c:pt idx="3">
                  <c:v>17</c:v>
                </c:pt>
                <c:pt idx="4">
                  <c:v>14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4F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A3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0" y="-365760"/>
            <a:ext cx="4937760" cy="2926080"/>
          </a:xfrm>
          <a:prstGeom prst="roundRect">
            <a:avLst>
              <a:gd name="adj" fmla="val 30000"/>
            </a:avLst>
          </a:prstGeom>
          <a:solidFill>
            <a:srgbClr val="0C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0" y="4206240"/>
            <a:ext cx="4206240" cy="2194560"/>
          </a:xfrm>
          <a:prstGeom prst="roundRect">
            <a:avLst>
              <a:gd name="adj" fmla="val 25000"/>
            </a:avLst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0" y="1371600"/>
            <a:ext cx="2011680" cy="2011680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27080" y="1691640"/>
            <a:ext cx="1371600" cy="1371600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28832" y="1993392"/>
            <a:ext cx="777240" cy="777240"/>
          </a:xfrm>
          <a:prstGeom prst="ellipse">
            <a:avLst/>
          </a:prstGeom>
          <a:solidFill>
            <a:srgbClr val="4F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51560"/>
            <a:ext cx="7772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FC4BC"/>
                </a:solidFill>
                <a:latin typeface="Calibri"/>
                <a:ea typeface="Microsoft YaHei"/>
                <a:cs typeface="Calibri"/>
              </a:rPr>
              <a:t>INTERNAL  ·  DAILY STATUS  ·  北京时间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9601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每日项目状态汇报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9326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4FC4BC"/>
                </a:solidFill>
                <a:latin typeface="Georgia"/>
                <a:ea typeface="Microsoft YaHei"/>
                <a:cs typeface="Georgia"/>
              </a:rPr>
              <a:t>AI 零代码应用生成平台  ·  yu-ai-code-mother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8686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面向项目维护者与核心团队：盘点当前能力、近期变更、风险阻塞与下一步。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554480" cy="384048"/>
          </a:xfrm>
          <a:prstGeom prst="roundRect">
            <a:avLst>
              <a:gd name="adj" fmla="val 12000"/>
            </a:avLst>
          </a:prstGeom>
          <a:solidFill>
            <a:srgbClr val="0C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554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2026 年 8 月 23 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160520"/>
            <a:ext cx="1554480" cy="384048"/>
          </a:xfrm>
          <a:prstGeom prst="roundRect">
            <a:avLst>
              <a:gd name="adj" fmla="val 12000"/>
            </a:avLst>
          </a:prstGeom>
          <a:solidFill>
            <a:srgbClr val="0C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206240"/>
            <a:ext cx="1554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星期日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1605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0C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206240"/>
            <a:ext cx="21488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教程第 14 期主干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82512"/>
            <a:ext cx="9144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数据来源：README、主模块目录、git 历史、GitHub Issues / Actions   ·   仅新增报告文件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今日要点速览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近 7 日仓库无业务提交；教学主干能力已闭环，工程推进处于静默期。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1691640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近 7 日提交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59152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无业务代码变更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32588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325880"/>
            <a:ext cx="91440" cy="1691640"/>
          </a:xfrm>
          <a:prstGeom prst="rect">
            <a:avLst/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41732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9893A"/>
                </a:solidFill>
                <a:latin typeface="Georgia"/>
                <a:ea typeface="Microsoft YaHei"/>
                <a:cs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05740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开放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9152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安装 / 缺陷 / 提案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2588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91440" cy="169164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41732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6B73"/>
                </a:solidFill>
                <a:latin typeface="Georgia"/>
                <a:ea typeface="Microsoft YaHei"/>
                <a:cs typeface="Georgia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05740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业务测试类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359152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工作流与解析为主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32588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325880"/>
            <a:ext cx="91440" cy="1691640"/>
          </a:xfrm>
          <a:prstGeom prst="rect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141732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5C4A"/>
                </a:solidFill>
                <a:latin typeface="Georgia"/>
                <a:ea typeface="Microsoft YaHei"/>
                <a:cs typeface="Georgia"/>
              </a:rPr>
              <a:t>361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05740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距上次提交天数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359152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末次：2025-08-26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00400"/>
            <a:ext cx="566928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3383280"/>
            <a:ext cx="438912" cy="438912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38144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401568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当前判断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88620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主干定位清晰：需求描述 → 策略路由 → 流式生成 → 预览编辑 → 部署分享。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双轨并存：根目录单体可独立运行；yu-ai-code-mother-microservice 已按用户 / 应用 / AI / 截图拆分。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近期自动化日报持续产出，但未回合并入 master，业务主线仍停留在第 14 期。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200400"/>
            <a:ext cx="534924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0" y="3383280"/>
            <a:ext cx="438912" cy="438912"/>
          </a:xfrm>
          <a:prstGeom prst="ellipse">
            <a:avLst/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438144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401568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维护者应关注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886200"/>
            <a:ext cx="4892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1.  社区 Issue 积压：前端安装失败、Vue 生成缺陷、联网搜索提案。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2.  无业务 CI：仓库仅有 Copilot coding agent，最近成功于 2026-03-09。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3.  双代码树长期并行，微服务与单体能力同步成本上升。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4.  多数测试依赖外部模型与图片服务，默认环境无法全量回归。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项目概览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教学向企业级 AI 代码生成平台，对标网页端 AI 应用生成器。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80644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394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产品一句话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3949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用户用自然语言描述需求，平台自动选择生成策略，流式产出 HTML / 多文件 / Vue 工程，支持可视化改页、一键部署与源码下载。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12344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62656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教学项目 + 可运行全栈样板，覆盖智能体、工作流与后端架构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93008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38728"/>
            <a:ext cx="12344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作者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29584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程序员鱼皮  ·  编程导航系列教程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5993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05656"/>
            <a:ext cx="12344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运行形态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96512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单体 Spring Boot 服务（8123 /api）+ Vue 3 前端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26864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72584"/>
            <a:ext cx="12344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演进形态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66344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Dubbo + Nacos 微服务：用户 / 应用 / AI / 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93792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9512"/>
            <a:ext cx="12344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数据模型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230368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user / app / chat_history 三张核心表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280160"/>
            <a:ext cx="521208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280160"/>
            <a:ext cx="109728" cy="1554480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1417320"/>
            <a:ext cx="4709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后端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783080"/>
            <a:ext cx="4709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Java 21  ·  Spring Boot 3.5.4
LangChain4j 1.1.0
LangGraph4j 1.6.0-rc2
MyBatis-Flex  ·  Redis / Redisson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971800"/>
            <a:ext cx="521208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2971800"/>
            <a:ext cx="109728" cy="1554480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3108960"/>
            <a:ext cx="4709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前端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474720"/>
            <a:ext cx="4709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Vue 3.5  ·  TypeScript 5.8
Ant Design Vue 4  ·  Vite 7
Pinia  ·  Axios  ·  markdown-it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663440"/>
            <a:ext cx="521208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4663440"/>
            <a:ext cx="109728" cy="155448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800600"/>
            <a:ext cx="4709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基础设施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166360"/>
            <a:ext cx="4709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MySQL  ·  Caffeine 多级缓存
腾讯云 COS  ·  Selenium 截图
Actuator + Prometheus + Grafana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核心能力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四大产品能力已落地；生成策略覆盖三种工程形态。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536192"/>
            <a:ext cx="566928" cy="566928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4434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65960"/>
            <a:ext cx="4434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需求分析 + 策略路由，工具调用写文件；SSE 流式展示推理与执行过程。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633472"/>
            <a:ext cx="3017520" cy="29260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6517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DeepSeek / 通义路由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1536192"/>
            <a:ext cx="566928" cy="566928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27632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536192"/>
            <a:ext cx="4434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可视化编辑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965960"/>
            <a:ext cx="4434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生成结果实时预览，可选中页面元素并继续对话，迭代到满意为止。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633472"/>
            <a:ext cx="3017520" cy="29260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6517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对话页左右分栏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3502152"/>
            <a:ext cx="566928" cy="56692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93592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502152"/>
            <a:ext cx="4434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一键部署分享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931920"/>
            <a:ext cx="4434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部署到可访问地址，自动截取封面；支持完整项目源码下载。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4599432"/>
            <a:ext cx="3017520" cy="29260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61772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COS + 截图服务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24612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3502152"/>
            <a:ext cx="566928" cy="56692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93592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02152"/>
            <a:ext cx="4434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企业级管理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931920"/>
            <a:ext cx="4434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用户 / 应用 / 对话后台，精选案例，AI 调用与系统指标监控。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4599432"/>
            <a:ext cx="3017520" cy="292608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61772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管理员三页后台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47120" cy="1005840"/>
          </a:xfrm>
          <a:prstGeom prst="roundRect">
            <a:avLst>
              <a:gd name="adj" fmla="val 12000"/>
            </a:avLst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13248"/>
            <a:ext cx="20116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4FC4BC"/>
                </a:solidFill>
                <a:latin typeface="Georgia"/>
                <a:ea typeface="Microsoft YaHei"/>
                <a:cs typeface="Georgia"/>
              </a:rPr>
              <a:t>生成模式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40680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779008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原生单页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440680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MULTI_FILE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5779008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多文件站点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440680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VUE_PROJECT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779008"/>
            <a:ext cx="2743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Vue 工程构建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架构与模块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单体保教学闭环；微服务按领域拆分，中间态提交不可单独使用。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66928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444752"/>
            <a:ext cx="438912" cy="438912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99616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63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单体主工程（根目录）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controller / service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应用、用户、对话、工作流 SSE、静态资源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ai + tools</a:t>
            </a:r>
          </a:p>
          <a:p>
            <a:pPr algn="l">
              <a:spcBef>
                <a:spcPts val="1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生成服务、文件工具集、Prompt 护轨、重试护轨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core</a:t>
            </a:r>
          </a:p>
          <a:p>
            <a:pPr algn="l">
              <a:spcBef>
                <a:spcPts val="1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解析 / 保存 / 流处理 / Vue 工程构建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langgraph4j</a:t>
            </a:r>
          </a:p>
          <a:p>
            <a:pPr algn="l">
              <a:spcBef>
                <a:spcPts val="1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工作流、并发子图、图片采集与质检节点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monitor / ratelimiter</a:t>
            </a:r>
          </a:p>
          <a:p>
            <a:pPr algn="l">
              <a:spcBef>
                <a:spcPts val="1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Prometheus 指标、用户级限流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frontend</a:t>
            </a:r>
          </a:p>
          <a:p>
            <a:pPr algn="l">
              <a:spcBef>
                <a:spcPts val="100"/>
              </a:spcBef>
              <a:spcAft>
                <a:spcPts val="8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首页、对话、编辑、三套管理页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80160"/>
            <a:ext cx="5349240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1444752"/>
            <a:ext cx="438912" cy="438912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99616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463040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微服务拆分（第 14 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65960"/>
            <a:ext cx="2148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common / model /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65960"/>
            <a:ext cx="2697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公共能力、模型、内部接口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50008"/>
            <a:ext cx="2148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50008"/>
            <a:ext cx="2697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账号与鉴权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34056"/>
            <a:ext cx="2148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734056"/>
            <a:ext cx="2697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应用生成主链路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18103"/>
            <a:ext cx="2148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118103"/>
            <a:ext cx="2697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模型与工具执行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502151"/>
            <a:ext cx="2148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02151"/>
            <a:ext cx="2697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封面截图独立服务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297680"/>
            <a:ext cx="5349240" cy="1965960"/>
          </a:xfrm>
          <a:prstGeom prst="roundRect">
            <a:avLst>
              <a:gd name="adj" fmla="val 12000"/>
            </a:avLst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937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4FC4BC"/>
                </a:solidFill>
                <a:latin typeface="Georgia"/>
                <a:ea typeface="Microsoft YaHei"/>
                <a:cs typeface="Georgia"/>
              </a:rPr>
              <a:t>LangGraph 主路径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9377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采集图片 → 增强提示词 → 路由类型 → 生成代码 → 质量检查 →（失败回环）构建工程。另有并发采集子图与子图工作流实现。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近期进展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近 7 日与近 30 日均无业务提交；最近有效里程碑仍是教程第 14 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112471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89888"/>
            <a:ext cx="45720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教程主线回看（最近有效提交）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1828800"/>
            <a:ext cx="201168" cy="20116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47088" y="1901952"/>
            <a:ext cx="2606040" cy="36576"/>
          </a:xfrm>
          <a:prstGeom prst="rect">
            <a:avLst/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606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08-13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59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62A36"/>
                </a:solidFill>
                <a:latin typeface="Calibri"/>
                <a:ea typeface="Microsoft YaHei"/>
                <a:cs typeface="Calibri"/>
              </a:rPr>
              <a:t>第 11 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2606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并发 / 安全 / 成本优化</a:t>
            </a:r>
          </a:p>
        </p:txBody>
      </p:sp>
      <p:sp>
        <p:nvSpPr>
          <p:cNvPr id="16" name="Oval 15"/>
          <p:cNvSpPr/>
          <p:nvPr/>
        </p:nvSpPr>
        <p:spPr>
          <a:xfrm>
            <a:off x="4434840" y="1828800"/>
            <a:ext cx="201168" cy="20116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6008" y="1901952"/>
            <a:ext cx="2606040" cy="36576"/>
          </a:xfrm>
          <a:prstGeom prst="rect">
            <a:avLst/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03120"/>
            <a:ext cx="2606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08-14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59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62A36"/>
                </a:solidFill>
                <a:latin typeface="Calibri"/>
                <a:ea typeface="Microsoft YaHei"/>
                <a:cs typeface="Calibri"/>
              </a:rPr>
              <a:t>第 12–13 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651760"/>
            <a:ext cx="2606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部署上线与可观测性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1828800"/>
            <a:ext cx="201168" cy="20116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24928" y="1901952"/>
            <a:ext cx="2606040" cy="36576"/>
          </a:xfrm>
          <a:prstGeom prst="rect">
            <a:avLst/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103120"/>
            <a:ext cx="2606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08-26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59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62A36"/>
                </a:solidFill>
                <a:latin typeface="Calibri"/>
                <a:ea typeface="Microsoft YaHei"/>
                <a:cs typeface="Calibri"/>
              </a:rPr>
              <a:t>第 14 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51760"/>
            <a:ext cx="2606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微服务改造完成</a:t>
            </a:r>
          </a:p>
        </p:txBody>
      </p:sp>
      <p:sp>
        <p:nvSpPr>
          <p:cNvPr id="26" name="Oval 25"/>
          <p:cNvSpPr/>
          <p:nvPr/>
        </p:nvSpPr>
        <p:spPr>
          <a:xfrm>
            <a:off x="10012679" y="1828800"/>
            <a:ext cx="201168" cy="201168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2103120"/>
            <a:ext cx="2606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近 7 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359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62A36"/>
                </a:solidFill>
                <a:latin typeface="Calibri"/>
                <a:ea typeface="Microsoft YaHei"/>
                <a:cs typeface="Calibri"/>
              </a:rPr>
              <a:t>静默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2651760"/>
            <a:ext cx="2606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0 次业务提交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11880"/>
            <a:ext cx="566928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794760"/>
            <a:ext cx="438912" cy="438912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49624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822191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昨日与近一周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2976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2026-08-22 仅有自动化日报草稿 PR，未合并。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master 仍指向 893918c（微服务改造完成，含完整单体）。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工作区当前分支与 master 同提交，工作树干净。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近 7 日 git log 为空，无功能、缺陷或依赖升级。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611880"/>
            <a:ext cx="534924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0" y="3794760"/>
            <a:ext cx="438912" cy="438912"/>
          </a:xfrm>
          <a:prstGeom prst="ellipse">
            <a:avLst/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49624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822191"/>
            <a:ext cx="4297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社区未完成项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976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#81  npm install 失败（清华镜像缺 scoped 包）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#5   Vue 工程生成缺 reasoning_content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#65  You.com 联网搜索工具提案待评估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数据与指标要点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仓库静态指标可核验；业务运营指标尚未从本仓库导出，下文单独标明。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280160"/>
          <a:ext cx="65379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78040" y="1280160"/>
            <a:ext cx="452628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417320"/>
            <a:ext cx="4114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可核验资产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874519"/>
            <a:ext cx="1005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11095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git 提交总数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50008"/>
            <a:ext cx="1005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86584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工作流节点类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825496"/>
            <a:ext cx="1005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62072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AI 文件工具类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300984"/>
            <a:ext cx="1005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微服务模块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76472"/>
            <a:ext cx="1005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79A93"/>
                </a:solidFill>
                <a:latin typeface="Georgia"/>
                <a:ea typeface="Microsoft YaHei"/>
                <a:cs typeface="Georg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13048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单体控制器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1645920"/>
          </a:xfrm>
          <a:prstGeom prst="roundRect">
            <a:avLst>
              <a:gd name="adj" fmla="val 12000"/>
            </a:avLst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73168"/>
            <a:ext cx="10789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4FC4BC"/>
                </a:solidFill>
                <a:latin typeface="Georgia"/>
                <a:ea typeface="Microsoft YaHei"/>
                <a:cs typeface="Georgia"/>
              </a:rPr>
              <a:t>运营指标（待接入监控看板，本仓库无导出数据）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8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D7EEEC"/>
                </a:solidFill>
                <a:latin typeface="Calibri"/>
                <a:ea typeface="Microsoft YaHei"/>
                <a:cs typeface="Calibri"/>
              </a:rPr>
              <a:t>建议从 Grafana / Prometheus 补齐并在后续日报引用：日均应用创建量、生成成功率、SSE 中断率、单次 Token 成本、部署成功率、精选应用点击。配置已具备（/api/actuator/prometheus，抓取间隔 10 秒），缺的是统一看板与基线。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质量与持续集成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存在本地测试与前端检查脚本，但没有面向主线的自动门禁。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6576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9144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测试覆盖面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14 个测试类：门面生成、代码解析、类型路由、截图工具。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LangGraph：主流程、并发、子图、图片采集与四类工具。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多为集成向测试，依赖模型 Key、Pexels、DashScope。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6576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91440"/>
          </a:xfrm>
          <a:prstGeom prst="rect">
            <a:avLst/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CI 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未发现 .github/workflows 业务流水线。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GitHub 仅注册 Copilot coding agent。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最近成功运行：2026-03-09，与产品回归无关。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6576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57600" cy="91440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087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前端质量门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65960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scripts：type-check / lint / format。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无统一在 CI 中执行的记录。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•  Issue #81 使部分学员环境装不上依赖。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09160"/>
            <a:ext cx="11247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37760"/>
            <a:ext cx="438912" cy="438912"/>
          </a:xfrm>
          <a:prstGeom prst="ellipse">
            <a:avLst/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92624"/>
            <a:ext cx="438912" cy="3657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56048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建议的最低门禁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107899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1）不依赖外网的解析 / 枚举 / 限流单测；2）前端 vue-tsc 与 eslint；3）微服务各模块编译。把需要 Key 的测试标为可选 profile，避免默认红灯。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风险与问题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功能完整度高，交付可重复性不足；以下按影响排序。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61872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39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99616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71600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双轨漂移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408175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单体与微服务并行约一年无同步提交，缺陷修复容易只落一边。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03120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04288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C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40863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12848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Vue 生成缺陷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49424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Issue #5：DeepSeek thinking 模式下 assistant 消息缺 reasoning_content，工程模式易失败。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44368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45536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82111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54096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前端安装受阻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90672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Issue #81：清华 npm 镜像对 @vitejs/plugin-vue@6 返回 404，学员无法起步。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85615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986783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23359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895344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无自动回归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931920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缺少 Actions 门禁，静默期更难发现依赖或模型协议回归。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26864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828031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64607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736592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预发布图引擎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73168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LangGraph4j 1.6.0-rc2，API 与行为仍可能变化。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68112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669279"/>
            <a:ext cx="640080" cy="384048"/>
          </a:xfrm>
          <a:prstGeom prst="roundRect">
            <a:avLst>
              <a:gd name="adj" fmla="val 30000"/>
            </a:avLst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05855"/>
            <a:ext cx="6400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577840"/>
            <a:ext cx="2834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提案未决策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614416"/>
            <a:ext cx="71780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Issue #65 You.com 搜索可增强时效，但引入新密钥与外呼成本。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下一步计划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优先恢复可重复交付，再考虑能力扩展。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658368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1097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447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本周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1.  补 GitHub Actions：离线单测 + 前端 type-check。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2.  文档标明 npm 官方源或可用镜像，关闭 #81 路径。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3.  复现并修复 #5 reasoning_content 协议对齐。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658368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53312"/>
            <a:ext cx="1097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4447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两周内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031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1.  梳理单体与微服务差异清单，明确唯一维护入口。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2.  评估 #65：工具规范、密钥、超时与失败降级。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3.  为需要 Key 的测试增加 skip / profile，避免误红。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657600" cy="658368"/>
          </a:xfrm>
          <a:prstGeom prst="rect">
            <a:avLst/>
          </a:prstGeom>
          <a:solidFill>
            <a:srgbClr val="C9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53312"/>
            <a:ext cx="1097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4447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月内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031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1.  微服务补齐跨服务追踪与统一配置（Nacos）。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2.  落地 Grafana 业务面板：成功率、成本、中断率。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3.  评估 LangGraph4j 稳定版，减少 RC 依赖风险。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1247120" cy="731520"/>
          </a:xfrm>
          <a:prstGeom prst="roundRect">
            <a:avLst>
              <a:gd name="adj" fmla="val 12000"/>
            </a:avLst>
          </a:prstGeom>
          <a:solidFill>
            <a:srgbClr val="D7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E6B73"/>
                </a:solidFill>
                <a:latin typeface="Calibri"/>
                <a:ea typeface="Microsoft YaHei"/>
                <a:cs typeface="Calibri"/>
              </a:rPr>
              <a:t>原则：本日报只新增报告文件，不改业务代码。上述事项需单独开任务分支落地。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6012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0" cy="54864"/>
          </a:xfrm>
          <a:prstGeom prst="rect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能力已闭环，静默期的关键工作是把门禁与社区缺陷补上。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623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4434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65960"/>
            <a:ext cx="4434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生成、预览编辑、部署分享、后台治理与监控配置均已具备。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623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1691640"/>
            <a:ext cx="566928" cy="56692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83080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536192"/>
            <a:ext cx="4434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进展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965960"/>
            <a:ext cx="4434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近 7 日无业务变更；有效基线仍是 2025-08-26 第 14 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34639"/>
            <a:ext cx="5623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246119"/>
            <a:ext cx="566928" cy="566928"/>
          </a:xfrm>
          <a:prstGeom prst="ellipse">
            <a:avLst/>
          </a:prstGeom>
          <a:solidFill>
            <a:srgbClr val="0E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37559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090671"/>
            <a:ext cx="4434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520439"/>
            <a:ext cx="4434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双轨漂移、Vue 生成协议缺陷、前端安装失败、缺少 CI。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834639"/>
            <a:ext cx="5623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60" y="3246119"/>
            <a:ext cx="566928" cy="566928"/>
          </a:xfrm>
          <a:prstGeom prst="ellipse">
            <a:avLst/>
          </a:prstGeom>
          <a:solidFill>
            <a:srgbClr val="179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37559"/>
            <a:ext cx="5669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090671"/>
            <a:ext cx="4434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62A36"/>
                </a:solidFill>
                <a:latin typeface="Georgia"/>
                <a:ea typeface="Microsoft YaHei"/>
                <a:cs typeface="Georgia"/>
              </a:rPr>
              <a:t>行动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520439"/>
            <a:ext cx="4434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6323A"/>
                </a:solidFill>
                <a:latin typeface="Calibri"/>
                <a:ea typeface="Microsoft YaHei"/>
                <a:cs typeface="Calibri"/>
              </a:rPr>
              <a:t>先门禁与 #5/#81，再决策联网搜索与微服务生产化。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26280"/>
            <a:ext cx="11247120" cy="1783080"/>
          </a:xfrm>
          <a:prstGeom prst="roundRect">
            <a:avLst>
              <a:gd name="adj" fmla="val 12000"/>
            </a:avLst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81728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4FC4BC"/>
                </a:solidFill>
                <a:latin typeface="Georgia"/>
                <a:ea typeface="Microsoft YaHei"/>
                <a:cs typeface="Georgia"/>
              </a:rPr>
              <a:t>一句话结论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yu-ai-code-mother 作为教学与演示平台已经可用；对维护者而言，当前最大缺口不是新功能，而是把“能跑”变成“可持续验证、可对外修复社区问题”。建议本周只做三件事：CI 门禁、#81 安装路径、#5 协议修复。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yu-ai-code-mother  ·  每日项目状态  ·  内部维护者汇报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6510528"/>
            <a:ext cx="2926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4A6670"/>
                </a:solidFill>
                <a:latin typeface="Calibri"/>
                <a:ea typeface="Microsoft YaHei"/>
                <a:cs typeface="Calibri"/>
              </a:rPr>
              <a:t>2026-08-23  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