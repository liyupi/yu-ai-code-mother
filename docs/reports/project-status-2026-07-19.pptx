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-1280160"/>
            <a:ext cx="5120640" cy="5120640"/>
          </a:xfrm>
          <a:prstGeom prst="ellipse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7968" y="-310896"/>
            <a:ext cx="3108960" cy="3108960"/>
          </a:xfrm>
          <a:prstGeom prst="ellipse">
            <a:avLst/>
          </a:prstGeom>
          <a:solidFill>
            <a:srgbClr val="028090">
              <a:alpha val="76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93776"/>
            <a:ext cx="1508760" cy="1508760"/>
          </a:xfrm>
          <a:prstGeom prst="ellipse">
            <a:avLst/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58368"/>
            <a:ext cx="128016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6766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8D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· AI CODE MOTHER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04088" y="294436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D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04088" y="3822192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0A5263"/>
          </a:solidFill>
          <a:ln w="12700">
            <a:solidFill>
              <a:srgbClr val="0A52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85876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D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项目维护者 / 团队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5193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2026-07-19  ·  北京时间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56692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A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README、主要模块与 Git 历史的静态快照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来源：README.md；git log（截至 2026-07-19）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产品能力完整，近期研发活动处于静默状态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971800" cy="4187952"/>
          </a:xfrm>
          <a:prstGeom prst="roundRect">
            <a:avLst>
              <a:gd name="adj" fmla="val 2462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651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能力可用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工程化待收口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96112" y="3977640"/>
            <a:ext cx="1993392" cy="0"/>
          </a:xfrm>
          <a:prstGeom prst="line">
            <a:avLst/>
          </a:prstGeom>
          <a:noFill/>
          <a:ln w="12700">
            <a:solidFill>
              <a:srgbClr val="2D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315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" y="49834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最近提交：2025-08-26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1965960"/>
            <a:ext cx="1627632" cy="197510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50792" y="217627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2631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0792" y="27797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描述需求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50792" y="32004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自然语言输入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50408" y="2660904"/>
            <a:ext cx="219456" cy="329184"/>
          </a:xfrm>
          <a:prstGeom prst="chevron">
            <a:avLst/>
          </a:prstGeom>
          <a:solidFill>
            <a:srgbClr val="CBE4E3"/>
          </a:solidFill>
          <a:ln w="12700">
            <a:solidFill>
              <a:srgbClr val="CBE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24728" y="1965960"/>
            <a:ext cx="1627632" cy="1975104"/>
          </a:xfrm>
          <a:prstGeom prst="roundRect">
            <a:avLst>
              <a:gd name="adj" fmla="val 4494"/>
            </a:avLst>
          </a:prstGeom>
          <a:solidFill>
            <a:srgbClr val="DDF4F0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217627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2631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27797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9320" y="32004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流式产出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88936" y="2660904"/>
            <a:ext cx="219456" cy="329184"/>
          </a:xfrm>
          <a:prstGeom prst="chevron">
            <a:avLst/>
          </a:prstGeom>
          <a:solidFill>
            <a:srgbClr val="CBE4E3"/>
          </a:solidFill>
          <a:ln w="12700">
            <a:solidFill>
              <a:srgbClr val="CBE4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63256" y="1965960"/>
            <a:ext cx="1627632" cy="197510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27848" y="217627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22631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27848" y="27797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可视编辑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27848" y="32004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选区 + 对话修改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27464" y="2660904"/>
            <a:ext cx="219456" cy="329184"/>
          </a:xfrm>
          <a:prstGeom prst="chevron">
            <a:avLst/>
          </a:prstGeom>
          <a:solidFill>
            <a:srgbClr val="CBE4E3"/>
          </a:solidFill>
          <a:ln w="12700">
            <a:solidFill>
              <a:srgbClr val="CBE4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01784" y="1965960"/>
            <a:ext cx="1627632" cy="197510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66376" y="217627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66376" y="22631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66376" y="27797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66376" y="32004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 / 下载 / 地址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86200" y="4343400"/>
            <a:ext cx="7452360" cy="1325880"/>
          </a:xfrm>
          <a:prstGeom prst="roundRect">
            <a:avLst>
              <a:gd name="adj" fmla="val 5517"/>
            </a:avLst>
          </a:prstGeom>
          <a:solidFill>
            <a:srgbClr val="EAF7F5"/>
          </a:solidFill>
          <a:ln w="12700">
            <a:solidFill>
              <a:srgbClr val="B9E2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87952" y="4617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平台定位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187952" y="4965192"/>
            <a:ext cx="6446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AI 开发实战与后端架构教学的企业级零代码应用生成平台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来源：README.md；pom.xml；yu-ai-code-mother-microservice/pom.xml；前端 package.json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架构与主要模块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单体主链路 + 微服务拆分并存，前端保持统一交互入口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755648"/>
            <a:ext cx="68397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755648"/>
            <a:ext cx="1051560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30552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56816" y="1920240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56816" y="233172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个页面 · Ant Design Vue · 可视化编辑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971800"/>
            <a:ext cx="683971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71800"/>
            <a:ext cx="105156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8386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6816" y="3136392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单体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56816" y="3547872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 · 应用管理 · 工作流 · 限流监控 · 部署下载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462272"/>
            <a:ext cx="68397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4462272"/>
            <a:ext cx="105156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1490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56816" y="4626864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Maven 微服务模块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56816" y="503834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· model · client · user · app · ai · screenshot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91272" y="1755648"/>
            <a:ext cx="3703320" cy="3849624"/>
          </a:xfrm>
          <a:prstGeom prst="roundRect">
            <a:avLst>
              <a:gd name="adj" fmla="val 1975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57032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共享基础设施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257032" y="268833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276148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272491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· Caffeine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57032" y="33284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015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336499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· LangGraph4j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57032" y="39684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40416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0" y="40050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· Nacos · Prometheus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57032" y="460857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46817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78240" y="46451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· Selenium · WebDriver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57032" y="512978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D5667"/>
          </a:solidFill>
          <a:ln w="12700">
            <a:solidFill>
              <a:srgbClr val="0D56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57032" y="516636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双轨维护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528048" y="51755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B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能力对齐是当前工程化主线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来源：README.md 第 20–46 行；src/main；前端 src/pages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形成“生成—编辑—部署—治理”的闭环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773936"/>
            <a:ext cx="504748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05740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47088" y="20299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47088" y="251460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自然语言需求分析、策略路由、工具调用与 SSE 流式输出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87952" y="2048256"/>
            <a:ext cx="1124712" cy="310896"/>
          </a:xfrm>
          <a:prstGeom prst="roundRect">
            <a:avLst>
              <a:gd name="adj" fmla="val 23529"/>
            </a:avLst>
          </a:prstGeom>
          <a:solidFill>
            <a:srgbClr val="E6F5F2"/>
          </a:solidFill>
          <a:ln w="12700">
            <a:solidFill>
              <a:srgbClr val="E6F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0848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种生成模式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1773936"/>
            <a:ext cx="504748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05740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4942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24928" y="20299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24928" y="251460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元素选择，结合 AI 对话快速修改页面并实时预览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765792" y="2048256"/>
            <a:ext cx="1124712" cy="310896"/>
          </a:xfrm>
          <a:prstGeom prst="roundRect">
            <a:avLst>
              <a:gd name="adj" fmla="val 23529"/>
            </a:avLst>
          </a:prstGeom>
          <a:solidFill>
            <a:srgbClr val="E6F5F2"/>
          </a:solidFill>
          <a:ln w="12700">
            <a:solidFill>
              <a:srgbClr val="E6F5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848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选区 + 对话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" y="3922776"/>
            <a:ext cx="504748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2062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9826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847088" y="4178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部署与分享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47088" y="466344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云端部署、自动截取封面、分享访问地址与源码下载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87952" y="4197096"/>
            <a:ext cx="1124712" cy="310896"/>
          </a:xfrm>
          <a:prstGeom prst="roundRect">
            <a:avLst>
              <a:gd name="adj" fmla="val 23529"/>
            </a:avLst>
          </a:prstGeom>
          <a:solidFill>
            <a:srgbClr val="E6F5F2"/>
          </a:solidFill>
          <a:ln w="12700">
            <a:solidFill>
              <a:srgbClr val="E6F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952" y="42336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交付闭环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3922776"/>
            <a:ext cx="504748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42062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9826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24928" y="4178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24928" y="466344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对话管理，精选应用、限流与指标监控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765792" y="4197096"/>
            <a:ext cx="1124712" cy="310896"/>
          </a:xfrm>
          <a:prstGeom prst="roundRect">
            <a:avLst>
              <a:gd name="adj" fmla="val 23529"/>
            </a:avLst>
          </a:prstGeom>
          <a:solidFill>
            <a:srgbClr val="E6F5F2"/>
          </a:solidFill>
          <a:ln w="12700">
            <a:solidFill>
              <a:srgbClr val="E6F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5792" y="42336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治理与可观测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来源：README.md；CodeGenTypeEnum.java；AppController.java；langgraph4j/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生成主链路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多策略生成已落地，LangGraph4j 工作流仍是独立演示链路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02996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46504" y="2185416"/>
            <a:ext cx="329184" cy="347472"/>
          </a:xfrm>
          <a:prstGeom prst="chevron">
            <a:avLst/>
          </a:prstGeom>
          <a:solidFill>
            <a:srgbClr val="A8D9D5"/>
          </a:solidFill>
          <a:ln w="12700">
            <a:solidFill>
              <a:srgbClr val="A8D9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2032" y="202996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30168" y="2185416"/>
            <a:ext cx="329184" cy="347472"/>
          </a:xfrm>
          <a:prstGeom prst="chevron">
            <a:avLst/>
          </a:prstGeom>
          <a:solidFill>
            <a:srgbClr val="A8D9D5"/>
          </a:solidFill>
          <a:ln w="12700">
            <a:solidFill>
              <a:srgbClr val="A8D9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类型路由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策略选择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5696" y="202996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13832" y="2185416"/>
            <a:ext cx="329184" cy="347472"/>
          </a:xfrm>
          <a:prstGeom prst="chevron">
            <a:avLst/>
          </a:prstGeom>
          <a:solidFill>
            <a:srgbClr val="A8D9D5"/>
          </a:solidFill>
          <a:ln w="12700">
            <a:solidFill>
              <a:srgbClr val="A8D9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61104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02996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97496" y="2185416"/>
            <a:ext cx="329184" cy="347472"/>
          </a:xfrm>
          <a:prstGeom prst="chevron">
            <a:avLst/>
          </a:prstGeom>
          <a:solidFill>
            <a:srgbClr val="A8D9D5"/>
          </a:solidFill>
          <a:ln w="12700">
            <a:solidFill>
              <a:srgbClr val="A8D9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文件构建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44768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/ 保存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3024" y="2029968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81160" y="2185416"/>
            <a:ext cx="329184" cy="347472"/>
          </a:xfrm>
          <a:prstGeom prst="chevron">
            <a:avLst/>
          </a:prstGeom>
          <a:solidFill>
            <a:srgbClr val="A8D9D5"/>
          </a:solidFill>
          <a:ln w="12700">
            <a:solidFill>
              <a:srgbClr val="A8D9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28432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76688" y="2029968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76688" y="22128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12096" y="29260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部署交付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912096" y="330098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ZIP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" y="4078224"/>
            <a:ext cx="68580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32688" y="4361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已支持的代码生成模式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32688" y="488289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49194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单文件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50592" y="488289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DCEFF5"/>
          </a:solidFill>
          <a:ln w="12700">
            <a:solidFill>
              <a:srgbClr val="DCEF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0592" y="49194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多文件项目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968496" y="4882896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E5F7F2"/>
          </a:solidFill>
          <a:ln w="12700">
            <a:solidFill>
              <a:srgbClr val="E5F7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68496" y="491947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23560" y="491947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同一入口按需求动态路由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18120" y="4078224"/>
            <a:ext cx="3712464" cy="1389888"/>
          </a:xfrm>
          <a:prstGeom prst="roundRect">
            <a:avLst>
              <a:gd name="adj" fmla="val 5263"/>
            </a:avLst>
          </a:prstGeom>
          <a:solidFill>
            <a:srgbClr val="FFF7E8"/>
          </a:solidFill>
          <a:ln w="12700">
            <a:solidFill>
              <a:srgbClr val="F1D9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19872" y="43616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19872" y="480060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工作流尚未并入主对话链路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来源：git log -10；最近提交 893918c（2025-08-26）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本期没有新增提交；最近可核实进展为第 14 期微服务改造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773936"/>
            <a:ext cx="3090672" cy="4069080"/>
          </a:xfrm>
          <a:prstGeom prst="roundRect">
            <a:avLst>
              <a:gd name="adj" fmla="val 2367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8408" y="203911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978408" y="313639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3803904"/>
            <a:ext cx="1938528" cy="0"/>
          </a:xfrm>
          <a:prstGeom prst="line">
            <a:avLst/>
          </a:prstGeom>
          <a:noFill/>
          <a:ln w="12700">
            <a:solidFill>
              <a:srgbClr val="2866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1696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昨日（07-18）无提交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D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今日汇报基于代码库静态快照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90472" y="517550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D5667"/>
          </a:solidFill>
          <a:ln w="12700">
            <a:solidFill>
              <a:srgbClr val="0D56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52120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研发静默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18836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90872" y="2350008"/>
            <a:ext cx="0" cy="3063240"/>
          </a:xfrm>
          <a:prstGeom prst="line">
            <a:avLst/>
          </a:prstGeom>
          <a:noFill/>
          <a:ln w="38100">
            <a:solidFill>
              <a:srgbClr val="A9DC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2359152"/>
            <a:ext cx="310896" cy="31089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模块拆分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66360" y="271576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/ user / app / ai / screenshot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35424" y="3346704"/>
            <a:ext cx="310896" cy="31089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跨服务调用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66360" y="37033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串联用户、应用与截图能力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35424" y="4334256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完成态提交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66360" y="469087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893918c：保留完整单体，同时交付微服务版本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66360" y="5404104"/>
            <a:ext cx="5788152" cy="438912"/>
          </a:xfrm>
          <a:prstGeom prst="roundRect">
            <a:avLst>
              <a:gd name="adj" fmla="val 16667"/>
            </a:avLst>
          </a:prstGeom>
          <a:solidFill>
            <a:srgbClr val="E8F6F5"/>
          </a:solidFill>
          <a:ln w="12700">
            <a:solidFill>
              <a:srgbClr val="BFE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2392" y="5532120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结论：微服务拆分已完成，但功能对齐与生产化验证尚未闭环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SIGNALS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来源：仓库文件统计；CodeGenTypeEnum.java；sql/create_table.sql；src/test；前端 src/pages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仓库级静态指标，用于理解覆盖面；不代表生产运行数据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773936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773936"/>
            <a:ext cx="10972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299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39112" y="22128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Maven 模块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9976" y="1773936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9976" y="1773936"/>
            <a:ext cx="109728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0299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797296" y="22128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773936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773936"/>
            <a:ext cx="109728" cy="14813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0299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555480" y="22128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" y="3675888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675888"/>
            <a:ext cx="109728" cy="1481328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93192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039112" y="411480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79976" y="3675888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79976" y="3675888"/>
            <a:ext cx="10972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393192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797296" y="411480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3675888"/>
            <a:ext cx="33467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675888"/>
            <a:ext cx="109728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93192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555480" y="411480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可启动微服务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" y="5705856"/>
            <a:ext cx="10863072" cy="429768"/>
          </a:xfrm>
          <a:prstGeom prst="roundRect">
            <a:avLst>
              <a:gd name="adj" fmla="val 17021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24728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运行指标（调用量、成功率、时延、成本）尚无仓库内可核实快照，建议接入监控后补齐趋势图。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来源：主链路与 workflow 控制器对比；微服务目录；Deprecated 标记；前端 env.ts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当前重点不是增加功能，而是消除双轨差异并补齐交付基础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1755648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199339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9293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主链路整合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1956816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LangGraph4j 工作流从独立接口接入核心生成链路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788920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02666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06324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9626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微服务能力对齐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11880" y="2990088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补齐工作流、监控与测试，明确单体 / 微服务的维护边界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3822192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059936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0965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9959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交付基础设施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11880" y="4023360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Gateway、容器编排与可复现的本地启动方案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855464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509320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12978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5029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遗留收敛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611880" y="5056632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 Deprecated 解析 / 保存类与内嵌源码调试残留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49056" y="1755648"/>
            <a:ext cx="3072384" cy="3895344"/>
          </a:xfrm>
          <a:prstGeom prst="roundRect">
            <a:avLst>
              <a:gd name="adj" fmla="val 2381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05672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完成定义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805672" y="2743200"/>
            <a:ext cx="265176" cy="2651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05672" y="2798064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53728" y="2756916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主流程有自动化验证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05672" y="3364992"/>
            <a:ext cx="265176" cy="2651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34198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253728" y="3378708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双轨能力清单可核对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805672" y="3986784"/>
            <a:ext cx="265176" cy="2651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05672" y="4041648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253728" y="400050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一条命令拉起依赖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805672" y="4608576"/>
            <a:ext cx="265176" cy="2651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05672" y="4663440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253728" y="4622292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/ 截图失败可诊断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来源：application.yml；pom.xml；单体 / 微服务目录对比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外部依赖与双轨维护是当前最高优先级风险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621792" y="1911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80944" y="5742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发生可能性 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1810512"/>
            <a:ext cx="1965960" cy="1572768"/>
          </a:xfrm>
          <a:prstGeom prst="roundRect">
            <a:avLst>
              <a:gd name="adj" fmla="val 4651"/>
            </a:avLst>
          </a:prstGeom>
          <a:solidFill>
            <a:srgbClr val="FFF6E4"/>
          </a:solidFill>
          <a:ln w="12700">
            <a:solidFill>
              <a:srgbClr val="FF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9933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低可能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52728" y="242316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7904" y="236829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依赖 API 变动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810512"/>
            <a:ext cx="1965960" cy="1572768"/>
          </a:xfrm>
          <a:prstGeom prst="roundRect">
            <a:avLst>
              <a:gd name="adj" fmla="val 4651"/>
            </a:avLst>
          </a:prstGeom>
          <a:solidFill>
            <a:srgbClr val="FCE9E7"/>
          </a:solidFill>
          <a:ln w="12700">
            <a:solidFill>
              <a:srgbClr val="FC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9933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 / 高可能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47288" y="2423160"/>
            <a:ext cx="146304" cy="146304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236829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AI / COS Key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843784"/>
            <a:ext cx="146304" cy="146304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2788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双轨能力漂移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" y="3685032"/>
            <a:ext cx="1965960" cy="1572768"/>
          </a:xfrm>
          <a:prstGeom prst="roundRect">
            <a:avLst>
              <a:gd name="adj" fmla="val 4651"/>
            </a:avLst>
          </a:prstGeom>
          <a:solidFill>
            <a:srgbClr val="EDF7F5"/>
          </a:solidFill>
          <a:ln w="12700">
            <a:solidFill>
              <a:srgbClr val="ED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8679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低影响 / 低可能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52728" y="429768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17904" y="424281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遗留废弃类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685032"/>
            <a:ext cx="1965960" cy="1572768"/>
          </a:xfrm>
          <a:prstGeom prst="roundRect">
            <a:avLst>
              <a:gd name="adj" fmla="val 4651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8679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低影响 / 高可能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47288" y="429768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424281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本地依赖复杂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47288" y="471830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466344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浏览器截图波动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1810512"/>
            <a:ext cx="5705856" cy="3447288"/>
          </a:xfrm>
          <a:prstGeom prst="roundRect">
            <a:avLst>
              <a:gd name="adj" fmla="val 2122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99632" y="2130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建议的缓解动作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6199632" y="272491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28117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94576" y="2743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配置基线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01584" y="274320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提供脱敏 env 模板与启动前置检查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3282696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3695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94576" y="3300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契约回归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01584" y="3300984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覆盖生成、部署、截图三条关键链路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99632" y="384048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9273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94576" y="3858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能力清单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01584" y="3858768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按模块对照单体与微服务实现差异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99632" y="439826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44851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44165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版本治理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101584" y="4416552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LangGraph4j RC 的稳定升级路径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33488" y="5559552"/>
            <a:ext cx="2523744" cy="310896"/>
          </a:xfrm>
          <a:prstGeom prst="roundRect">
            <a:avLst>
              <a:gd name="adj" fmla="val 23529"/>
            </a:avLst>
          </a:prstGeom>
          <a:solidFill>
            <a:srgbClr val="FCE9E7"/>
          </a:solidFill>
          <a:ln w="12700">
            <a:solidFill>
              <a:srgbClr val="FCE9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33488" y="559612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首要风险：凭证与依赖可用性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08792" y="-393192"/>
            <a:ext cx="1188720" cy="11887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164592"/>
            <a:ext cx="438912" cy="438912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37392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89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建议基于当前代码快照；优先级需由维护团队确认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12435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按“可运行 → 可验证 → 可维护 → 可观测”的顺序推进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" y="1746504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9202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404872"/>
            <a:ext cx="0" cy="402336"/>
          </a:xfrm>
          <a:prstGeom prst="line">
            <a:avLst/>
          </a:prstGeom>
          <a:noFill/>
          <a:ln w="25400">
            <a:solidFill>
              <a:srgbClr val="9FD5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682496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83794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建立可复现基线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05072" y="1856232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补齐脱敏配置模板、容器编排与健康检查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82712" y="1837944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18745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可运行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80720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9809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" y="3465576"/>
            <a:ext cx="0" cy="402336"/>
          </a:xfrm>
          <a:prstGeom prst="line">
            <a:avLst/>
          </a:prstGeom>
          <a:noFill/>
          <a:ln w="25400">
            <a:solidFill>
              <a:srgbClr val="9FD5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743200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0240" y="289864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打通关键回归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05072" y="291693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覆盖生成、可视编辑、部署与截图的端到端路径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82712" y="289864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CEFF5"/>
          </a:solidFill>
          <a:ln w="12700">
            <a:solidFill>
              <a:srgbClr val="DCEF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293522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可验证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" y="3867912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0416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4526280"/>
            <a:ext cx="0" cy="402336"/>
          </a:xfrm>
          <a:prstGeom prst="line">
            <a:avLst/>
          </a:prstGeom>
          <a:noFill/>
          <a:ln w="25400">
            <a:solidFill>
              <a:srgbClr val="9FD5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3803904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20240" y="395935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收敛双轨差异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05072" y="397764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形成能力矩阵，明确主实现与迁移 / 下线策略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82712" y="3959352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82712" y="39959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可维护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" y="4928616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1023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600200" y="4864608"/>
            <a:ext cx="74523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CBE4E3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920240" y="502005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补齐真实指标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005072" y="5038344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沉淀调用量、成功率、P95 时延与单位生成成本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982712" y="5020056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CEFF5"/>
          </a:solidFill>
          <a:ln w="12700">
            <a:solidFill>
              <a:srgbClr val="DCEF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50566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64040" y="1682496"/>
            <a:ext cx="2075688" cy="4261104"/>
          </a:xfrm>
          <a:prstGeom prst="roundRect">
            <a:avLst>
              <a:gd name="adj" fmla="val 3524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25400" dist="50800" dir="2700000">
              <a:srgbClr val="16424A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784080" y="19933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决策检查点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784080" y="26883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195560" y="268833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主交付形态：单体或微服务？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784080" y="33741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195560" y="337413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主链路接入范围？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84080" y="40599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195560" y="405993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生产部署目标环境？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784080" y="47457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195560" y="474573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成功指标与告警阈值？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15568" y="4434840"/>
            <a:ext cx="3063240" cy="3063240"/>
          </a:xfrm>
          <a:prstGeom prst="ellipse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-1261872"/>
            <a:ext cx="3200400" cy="3200400"/>
          </a:xfrm>
          <a:prstGeom prst="ellipse">
            <a:avLst/>
          </a:prstGeom>
          <a:solidFill>
            <a:srgbClr val="028090">
              <a:alpha val="7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603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D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335024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能力完整，工程化待收口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04088" y="22677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近期无新增提交，下一阶段应聚焦可复现、可验证与双轨能力对齐。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33375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0A4858"/>
          </a:solidFill>
          <a:ln w="12700">
            <a:solidFill>
              <a:srgbClr val="236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60273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3575304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产品闭环已具备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4041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生成、编辑、部署、治理四大能力均有实现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33375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0C5364"/>
          </a:solidFill>
          <a:ln w="12700">
            <a:solidFill>
              <a:srgbClr val="236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60273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3575304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最后进展可追溯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57800" y="4041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 完成微服务拆分的整合提交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0728" y="33375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0A4858"/>
          </a:solidFill>
          <a:ln w="12700">
            <a:solidFill>
              <a:srgbClr val="236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360273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0" y="3575304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风险集中且可治理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0" y="4041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配置依赖、双轨漂移、测试与交付基础是重点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5843016"/>
            <a:ext cx="8778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建议首先确认主交付形态，再启动关键链路回归与能力对齐。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8700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2026-07-19</dc:title>
  <dc:subject>每日项目状态汇报</dc:subject>
  <dc:creator>yu-ai-code-mother 项目维护组</dc:creator>
  <cp:lastModifiedBy>yu-ai-code-mother 项目维护组</cp:lastModifiedBy>
  <cp:revision>1</cp:revision>
  <dcterms:created xsi:type="dcterms:W3CDTF">2026-07-19T09:06:54Z</dcterms:created>
  <dcterms:modified xsi:type="dcterms:W3CDTF">2026-07-19T09:06:54Z</dcterms:modified>
</cp:coreProperties>
</file>