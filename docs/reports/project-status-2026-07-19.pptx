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-1280160"/>
            <a:ext cx="5120640" cy="5120640"/>
          </a:xfrm>
          <a:prstGeom prst="ellipse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87968" y="-310896"/>
            <a:ext cx="3108960" cy="3108960"/>
          </a:xfrm>
          <a:prstGeom prst="ellipse">
            <a:avLst/>
          </a:prstGeom>
          <a:solidFill>
            <a:srgbClr val="028090">
              <a:alpha val="76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493776"/>
            <a:ext cx="1508760" cy="1508760"/>
          </a:xfrm>
          <a:prstGeom prst="ellipse">
            <a:avLst/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58368"/>
            <a:ext cx="128016" cy="960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6766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60" kern="0" dirty="0">
                <a:solidFill>
                  <a:srgbClr val="8DE7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· AI CODE MOTHER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" y="1993392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04088" y="2944368"/>
            <a:ext cx="6583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DE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04088" y="3822192"/>
            <a:ext cx="1993392" cy="310896"/>
          </a:xfrm>
          <a:prstGeom prst="roundRect">
            <a:avLst>
              <a:gd name="adj" fmla="val 23529"/>
            </a:avLst>
          </a:prstGeom>
          <a:solidFill>
            <a:srgbClr val="0A5263"/>
          </a:solidFill>
          <a:ln w="12700">
            <a:solidFill>
              <a:srgbClr val="0A52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3858768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DE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面向：项目维护者与团队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4088" y="5193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2026-07-19  ·  北京时间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56692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A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README、主要模块与 Git 历史的静态快照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SNAPSHOT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来源：README.md；git log（截至 2026-07-19）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产品能力完整，近期研发活动处于静默状态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1783080"/>
            <a:ext cx="2971800" cy="4187952"/>
          </a:xfrm>
          <a:prstGeom prst="roundRect">
            <a:avLst>
              <a:gd name="adj" fmla="val 2462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2084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E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当前判断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2651760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能力完整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工程待收口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896112" y="3977640"/>
            <a:ext cx="1993392" cy="0"/>
          </a:xfrm>
          <a:prstGeom prst="line">
            <a:avLst/>
          </a:prstGeom>
          <a:noFill/>
          <a:ln w="12700">
            <a:solidFill>
              <a:srgbClr val="2D6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31596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5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87168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96112" y="498348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E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最近提交：2025-08-26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E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886200" y="1965960"/>
            <a:ext cx="1627632" cy="1975104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50792" y="217627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50792" y="22631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50792" y="277977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描述需求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050792" y="320040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自然语言输入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50408" y="2660904"/>
            <a:ext cx="219456" cy="329184"/>
          </a:xfrm>
          <a:prstGeom prst="chevron">
            <a:avLst/>
          </a:prstGeom>
          <a:solidFill>
            <a:srgbClr val="CBE4E3"/>
          </a:solidFill>
          <a:ln w="12700">
            <a:solidFill>
              <a:srgbClr val="CBE4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4728" y="1965960"/>
            <a:ext cx="1627632" cy="1975104"/>
          </a:xfrm>
          <a:prstGeom prst="roundRect">
            <a:avLst>
              <a:gd name="adj" fmla="val 4494"/>
            </a:avLst>
          </a:prstGeom>
          <a:solidFill>
            <a:srgbClr val="DDF4F0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89320" y="217627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22631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89320" y="277977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989320" y="320040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流式产出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88936" y="2660904"/>
            <a:ext cx="219456" cy="329184"/>
          </a:xfrm>
          <a:prstGeom prst="chevron">
            <a:avLst/>
          </a:prstGeom>
          <a:solidFill>
            <a:srgbClr val="CBE4E3"/>
          </a:solidFill>
          <a:ln w="12700">
            <a:solidFill>
              <a:srgbClr val="CBE4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63256" y="1965960"/>
            <a:ext cx="1627632" cy="1975104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27848" y="217627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27848" y="22631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27848" y="277977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可视编辑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927848" y="320040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选区 + 对话修改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427464" y="2660904"/>
            <a:ext cx="219456" cy="329184"/>
          </a:xfrm>
          <a:prstGeom prst="chevron">
            <a:avLst/>
          </a:prstGeom>
          <a:solidFill>
            <a:srgbClr val="CBE4E3"/>
          </a:solidFill>
          <a:ln w="12700">
            <a:solidFill>
              <a:srgbClr val="CBE4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01784" y="1965960"/>
            <a:ext cx="1627632" cy="1975104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866376" y="2176272"/>
            <a:ext cx="438912" cy="43891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66376" y="22631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66376" y="277977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866376" y="320040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 / 下载 / 地址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886200" y="4343400"/>
            <a:ext cx="7452360" cy="1325880"/>
          </a:xfrm>
          <a:prstGeom prst="roundRect">
            <a:avLst>
              <a:gd name="adj" fmla="val 5517"/>
            </a:avLst>
          </a:prstGeom>
          <a:solidFill>
            <a:srgbClr val="EAF7F5"/>
          </a:solidFill>
          <a:ln w="12700">
            <a:solidFill>
              <a:srgbClr val="B9E2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87952" y="4617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平台定位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187952" y="4965192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 AI 开发实战与后端架构教学的企业级零代码应用生成平台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MAP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来源：README.md；pom.xml；yu-ai-code-mother-microservice/pom.xml；前端 package.json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架构与主要模块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单体主链路 + 微服务拆分并存，前端保持统一交互入口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1755648"/>
            <a:ext cx="6839712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" y="1755648"/>
            <a:ext cx="1051560" cy="9875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130552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体验层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56816" y="1920240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56816" y="2331720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个页面 · Ant Design Vue · 可视化编辑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" y="2971800"/>
            <a:ext cx="683971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2971800"/>
            <a:ext cx="1051560" cy="12618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483864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956816" y="3136392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单体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56816" y="3547872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 · 应用管理 · 工作流 · 限流监控 · 部署下载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" y="4462272"/>
            <a:ext cx="68397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" y="4462272"/>
            <a:ext cx="1051560" cy="1143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914900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956816" y="4626864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个微服务模块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956816" y="5038344"/>
            <a:ext cx="491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Maven：common · model · client · user · app · ai · screenshot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891272" y="1755648"/>
            <a:ext cx="3703320" cy="3849624"/>
          </a:xfrm>
          <a:prstGeom prst="roundRect">
            <a:avLst>
              <a:gd name="adj" fmla="val 1975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57032" y="20848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共享基础设施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8257032" y="268833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57032" y="276148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778240" y="272491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Redis · Caffeine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57032" y="3328416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340156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778240" y="336499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LangChain4j · LangGraph4j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57032" y="396849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57032" y="404164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78240" y="40050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· Nacos · Prometheus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57032" y="4608576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57032" y="468172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778240" y="464515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· Selenium · WebDriver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257032" y="5129784"/>
            <a:ext cx="1078992" cy="310896"/>
          </a:xfrm>
          <a:prstGeom prst="roundRect">
            <a:avLst>
              <a:gd name="adj" fmla="val 23529"/>
            </a:avLst>
          </a:prstGeom>
          <a:solidFill>
            <a:srgbClr val="0D5667"/>
          </a:solidFill>
          <a:ln w="12700">
            <a:solidFill>
              <a:srgbClr val="0D566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57032" y="5166360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E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双轨维护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528048" y="517550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B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能力对齐是当前工程化主线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来源：README.md 第 20–46 行；src/main；前端 src/pages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形成“生成—编辑—部署—治理”的闭环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1773936"/>
            <a:ext cx="504748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20574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24942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20299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47088" y="2514600"/>
            <a:ext cx="34381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自然语言需求分析、策略路由、工具调用与 SSE 流式输出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87952" y="2048256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E6F5F2"/>
          </a:solidFill>
          <a:ln w="12700">
            <a:solidFill>
              <a:srgbClr val="E6F5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87952" y="2084832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种生成模式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9632" y="1773936"/>
            <a:ext cx="504748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20574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24942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24928" y="20299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24928" y="2514600"/>
            <a:ext cx="34381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iframe 元素选择，结合 AI 对话快速修改页面并实时预览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765792" y="2048256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E6F5F2"/>
          </a:solidFill>
          <a:ln w="12700">
            <a:solidFill>
              <a:srgbClr val="E6F5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65792" y="2084832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选区 + 对话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" y="3922776"/>
            <a:ext cx="504748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420624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39826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847088" y="41788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部署与分享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847088" y="4663440"/>
            <a:ext cx="34381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云端部署、自动截取封面、分享访问地址与源码下载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187952" y="4197096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E6F5F2"/>
          </a:solidFill>
          <a:ln w="12700">
            <a:solidFill>
              <a:srgbClr val="E6F5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87952" y="4233672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交付闭环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99632" y="3922776"/>
            <a:ext cx="504748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420624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39826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24928" y="41788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424928" y="4663440"/>
            <a:ext cx="34381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 / 应用 / 对话管理，精选应用、限流与指标监控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765792" y="4197096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E6F5F2"/>
          </a:solidFill>
          <a:ln w="12700">
            <a:solidFill>
              <a:srgbClr val="E6F5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65792" y="4233672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治理与可观测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GENERATION FLOW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来源：README.md；CodeGenTypeEnum.java；AppController.java；langgraph4j/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生成主链路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多策略生成已落地，LangGraph4j 工作流仍是独立演示链路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2029968"/>
            <a:ext cx="658368" cy="6583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2128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46504" y="2185416"/>
            <a:ext cx="329184" cy="347472"/>
          </a:xfrm>
          <a:prstGeom prst="chevron">
            <a:avLst/>
          </a:prstGeom>
          <a:solidFill>
            <a:srgbClr val="A8D9D5"/>
          </a:solidFill>
          <a:ln w="12700">
            <a:solidFill>
              <a:srgbClr val="A8D9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292608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需求输入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" y="3300984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42032" y="2029968"/>
            <a:ext cx="658368" cy="6583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2032" y="22128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30168" y="2185416"/>
            <a:ext cx="329184" cy="347472"/>
          </a:xfrm>
          <a:prstGeom prst="chevron">
            <a:avLst/>
          </a:prstGeom>
          <a:solidFill>
            <a:srgbClr val="A8D9D5"/>
          </a:solidFill>
          <a:ln w="12700">
            <a:solidFill>
              <a:srgbClr val="A8D9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292608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类型路由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377440" y="3300984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策略选择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25696" y="2029968"/>
            <a:ext cx="658368" cy="6583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5696" y="22128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13832" y="2185416"/>
            <a:ext cx="329184" cy="347472"/>
          </a:xfrm>
          <a:prstGeom prst="chevron">
            <a:avLst/>
          </a:prstGeom>
          <a:solidFill>
            <a:srgbClr val="A8D9D5"/>
          </a:solidFill>
          <a:ln w="12700">
            <a:solidFill>
              <a:srgbClr val="A8D9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61104" y="292608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61104" y="3300984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工具调用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2029968"/>
            <a:ext cx="658368" cy="6583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2128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97496" y="2185416"/>
            <a:ext cx="329184" cy="347472"/>
          </a:xfrm>
          <a:prstGeom prst="chevron">
            <a:avLst/>
          </a:prstGeom>
          <a:solidFill>
            <a:srgbClr val="A8D9D5"/>
          </a:solidFill>
          <a:ln w="12700">
            <a:solidFill>
              <a:srgbClr val="A8D9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92608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文件构建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144768" y="3300984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 / 保存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93024" y="2029968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22128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281160" y="2185416"/>
            <a:ext cx="329184" cy="347472"/>
          </a:xfrm>
          <a:prstGeom prst="chevron">
            <a:avLst/>
          </a:prstGeom>
          <a:solidFill>
            <a:srgbClr val="A8D9D5"/>
          </a:solidFill>
          <a:ln w="12700">
            <a:solidFill>
              <a:srgbClr val="A8D9D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292608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实时预览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28432" y="3300984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76688" y="2029968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76688" y="22128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912096" y="292608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部署交付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912096" y="3300984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/ ZIP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8368" y="4078224"/>
            <a:ext cx="68580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32688" y="43616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已支持的代码生成模式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32688" y="4882896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DDF4F0"/>
          </a:solidFill>
          <a:ln w="12700">
            <a:solidFill>
              <a:srgbClr val="DDF4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" y="49194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单文件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50592" y="4882896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DCEFF5"/>
          </a:solidFill>
          <a:ln w="12700">
            <a:solidFill>
              <a:srgbClr val="DCEF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50592" y="49194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多文件项目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968496" y="4882896"/>
            <a:ext cx="1115568" cy="310896"/>
          </a:xfrm>
          <a:prstGeom prst="roundRect">
            <a:avLst>
              <a:gd name="adj" fmla="val 23529"/>
            </a:avLst>
          </a:prstGeom>
          <a:solidFill>
            <a:srgbClr val="E5F7F2"/>
          </a:solidFill>
          <a:ln w="12700">
            <a:solidFill>
              <a:srgbClr val="E5F7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68496" y="4919472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工程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23560" y="4919472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同一入口按需求动态路由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18120" y="4078224"/>
            <a:ext cx="3712464" cy="1389888"/>
          </a:xfrm>
          <a:prstGeom prst="roundRect">
            <a:avLst>
              <a:gd name="adj" fmla="val 5263"/>
            </a:avLst>
          </a:prstGeom>
          <a:solidFill>
            <a:srgbClr val="FFF7E8"/>
          </a:solidFill>
          <a:ln w="12700">
            <a:solidFill>
              <a:srgbClr val="F1D9A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19872" y="436168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8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待接入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119872" y="4800600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LangGraph4j 工作流尚未并入主对话链路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来源：git log -10；最近提交 893918c（2025-08-26）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本期没有新增提交；最近可核实进展为第 14 期微服务改造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1773936"/>
            <a:ext cx="3090672" cy="4069080"/>
          </a:xfrm>
          <a:prstGeom prst="roundRect">
            <a:avLst>
              <a:gd name="adj" fmla="val 2367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78408" y="2039112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978408" y="3136392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51560" y="3803904"/>
            <a:ext cx="1938528" cy="0"/>
          </a:xfrm>
          <a:prstGeom prst="line">
            <a:avLst/>
          </a:prstGeom>
          <a:noFill/>
          <a:ln w="12700">
            <a:solidFill>
              <a:srgbClr val="2866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16966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D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昨日（07-18）无提交；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D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今日基于代码库静态快照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490472" y="5175504"/>
            <a:ext cx="1078992" cy="310896"/>
          </a:xfrm>
          <a:prstGeom prst="roundRect">
            <a:avLst>
              <a:gd name="adj" fmla="val 23529"/>
            </a:avLst>
          </a:prstGeom>
          <a:solidFill>
            <a:srgbClr val="0D5667"/>
          </a:solidFill>
          <a:ln w="12700">
            <a:solidFill>
              <a:srgbClr val="0D56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90472" y="5212080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E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研发静默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51960" y="1883664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90872" y="2350008"/>
            <a:ext cx="0" cy="3063240"/>
          </a:xfrm>
          <a:prstGeom prst="line">
            <a:avLst/>
          </a:prstGeom>
          <a:noFill/>
          <a:ln w="38100">
            <a:solidFill>
              <a:srgbClr val="A9DC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5424" y="2359152"/>
            <a:ext cx="310896" cy="31089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23408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模块拆分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166360" y="271576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/ user / app / ai / screenshot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35424" y="3346704"/>
            <a:ext cx="310896" cy="31089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66360" y="33284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跨服务调用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166360" y="370332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串联用户、应用与截图能力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35424" y="4334256"/>
            <a:ext cx="310896" cy="310896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4315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完成态提交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166360" y="4690872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893918c：保留完整单体，同时交付微服务版本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166360" y="5404104"/>
            <a:ext cx="5788152" cy="438912"/>
          </a:xfrm>
          <a:prstGeom prst="roundRect">
            <a:avLst>
              <a:gd name="adj" fmla="val 16667"/>
            </a:avLst>
          </a:prstGeom>
          <a:solidFill>
            <a:srgbClr val="E8F6F5"/>
          </a:solidFill>
          <a:ln w="12700">
            <a:solidFill>
              <a:srgbClr val="BFE6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22392" y="5532120"/>
            <a:ext cx="5266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结论：微服务拆分已完成，但功能对齐与生产化验证尚未闭环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SIGNALS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来源：仓库文件统计；CodeGenTypeEnum.java；sql/create_table.sql；src/test；前端 src/pages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数据与指标要点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仓库级静态指标，用于理解覆盖面；不代表生产运行数据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1773936"/>
            <a:ext cx="33467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" y="1773936"/>
            <a:ext cx="109728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0299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039112" y="2212848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（Maven）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79976" y="1773936"/>
            <a:ext cx="33467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79976" y="1773936"/>
            <a:ext cx="109728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45736" y="20299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797296" y="2212848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代码生成模式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38160" y="1773936"/>
            <a:ext cx="33467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773936"/>
            <a:ext cx="109728" cy="14813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0" y="20299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555480" y="2212848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3675888"/>
            <a:ext cx="33467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675888"/>
            <a:ext cx="109728" cy="1481328"/>
          </a:xfrm>
          <a:prstGeom prst="rect">
            <a:avLst/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393192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2039112" y="4114800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核心数据表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79976" y="3675888"/>
            <a:ext cx="33467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79976" y="3675888"/>
            <a:ext cx="109728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45736" y="393192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5797296" y="4114800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前端页面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138160" y="3675888"/>
            <a:ext cx="3346704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8160" y="3675888"/>
            <a:ext cx="109728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0" y="393192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9555480" y="4114800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可启动微服务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21792" y="5705856"/>
            <a:ext cx="10863072" cy="429768"/>
          </a:xfrm>
          <a:prstGeom prst="roundRect">
            <a:avLst>
              <a:gd name="adj" fmla="val 17021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5824728"/>
            <a:ext cx="10195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运行指标（调用量、成功率、时延、成本）尚无仓库内可核实快照，建议接入监控后补齐趋势图。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来源：主链路与 workflow 控制器对比；微服务目录；Deprecated 标记；前端 env.ts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当前重点不是增加功能，而是消除双轨差异并补齐交付基础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1755648"/>
            <a:ext cx="745236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199339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029968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83080" y="192938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主链路整合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11880" y="1956816"/>
            <a:ext cx="4005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LangGraph4j 工作流从独立接口接入核心生成链路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" y="2788920"/>
            <a:ext cx="745236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0266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06324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29626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微服务能力对齐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611880" y="2990088"/>
            <a:ext cx="4005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补齐工作流、监控与测试，明确单体 / 微服务的维护边界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" y="3822192"/>
            <a:ext cx="745236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6112" y="40599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09651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783080" y="39959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交付基础设施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611880" y="4023360"/>
            <a:ext cx="4005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 Gateway、容器编排与可复现的本地启动方案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" y="4855464"/>
            <a:ext cx="745236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6112" y="509320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5129784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783080" y="50292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遗留收敛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3611880" y="5056632"/>
            <a:ext cx="4005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清理 Deprecated 解析 / 保存类与内嵌源码调试残留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449056" y="1755648"/>
            <a:ext cx="3072384" cy="3895344"/>
          </a:xfrm>
          <a:prstGeom prst="roundRect">
            <a:avLst>
              <a:gd name="adj" fmla="val 2381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805672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完成定义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8805672" y="2743200"/>
            <a:ext cx="265176" cy="2651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05672" y="2798064"/>
            <a:ext cx="265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253728" y="2756916"/>
            <a:ext cx="1755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主流程有自动化验证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805672" y="3364992"/>
            <a:ext cx="265176" cy="2651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05672" y="3419856"/>
            <a:ext cx="265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253728" y="3378708"/>
            <a:ext cx="1755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双轨能力清单可核对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805672" y="3986784"/>
            <a:ext cx="265176" cy="2651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5672" y="4041648"/>
            <a:ext cx="265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9253728" y="4000500"/>
            <a:ext cx="1755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一条命令拉起依赖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805672" y="4608576"/>
            <a:ext cx="265176" cy="2651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05672" y="4663440"/>
            <a:ext cx="265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253728" y="4622292"/>
            <a:ext cx="1755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 / 截图失败可诊断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BLOCKERS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来源：application.yml；pom.xml；单体 / 微服务目录对比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风险与问题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外部依赖与双轨维护是当前最高优先级风险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621792" y="1911096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80944" y="5742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发生可能性  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1560" y="1810512"/>
            <a:ext cx="1965960" cy="1572768"/>
          </a:xfrm>
          <a:prstGeom prst="roundRect">
            <a:avLst>
              <a:gd name="adj" fmla="val 4651"/>
            </a:avLst>
          </a:prstGeom>
          <a:solidFill>
            <a:srgbClr val="FFF6E4"/>
          </a:solidFill>
          <a:ln w="12700">
            <a:solidFill>
              <a:srgbClr val="FF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199339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高影响 / 低可能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52728" y="2423160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17904" y="2368296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依赖 API 变动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1810512"/>
            <a:ext cx="1965960" cy="1572768"/>
          </a:xfrm>
          <a:prstGeom prst="roundRect">
            <a:avLst>
              <a:gd name="adj" fmla="val 4651"/>
            </a:avLst>
          </a:prstGeom>
          <a:solidFill>
            <a:srgbClr val="FCE9E7"/>
          </a:solidFill>
          <a:ln w="12700">
            <a:solidFill>
              <a:srgbClr val="FCE9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99339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高影响 / 高可能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47288" y="2423160"/>
            <a:ext cx="146304" cy="146304"/>
          </a:xfrm>
          <a:prstGeom prst="ellipse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2368296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AI / COS Key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47288" y="2843784"/>
            <a:ext cx="146304" cy="146304"/>
          </a:xfrm>
          <a:prstGeom prst="ellipse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2464" y="2788920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双轨能力漂移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51560" y="3685032"/>
            <a:ext cx="1965960" cy="1572768"/>
          </a:xfrm>
          <a:prstGeom prst="roundRect">
            <a:avLst>
              <a:gd name="adj" fmla="val 4651"/>
            </a:avLst>
          </a:prstGeom>
          <a:solidFill>
            <a:srgbClr val="EDF7F5"/>
          </a:solidFill>
          <a:ln w="12700">
            <a:solidFill>
              <a:srgbClr val="EDF7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386791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低影响 / 低可能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52728" y="4297680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4242816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遗留废弃类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46120" y="3685032"/>
            <a:ext cx="1965960" cy="1572768"/>
          </a:xfrm>
          <a:prstGeom prst="roundRect">
            <a:avLst>
              <a:gd name="adj" fmla="val 4651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86791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低影响 / 高可能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47288" y="4297680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12464" y="4242816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本地依赖复杂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447288" y="4718304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12464" y="4663440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浏览器截图波动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806440" y="1810512"/>
            <a:ext cx="5705856" cy="3447288"/>
          </a:xfrm>
          <a:prstGeom prst="roundRect">
            <a:avLst>
              <a:gd name="adj" fmla="val 2122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199632" y="21305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建议的缓解动作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6199632" y="2724912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99632" y="28117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94576" y="274320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配置基线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101584" y="2743200"/>
            <a:ext cx="2761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8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提供脱敏 env 模板与启动前置检查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99632" y="3282696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336956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94576" y="3300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契约回归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01584" y="3300984"/>
            <a:ext cx="2761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8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覆盖生成、部署、截图三条关键链路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199632" y="384048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99632" y="392734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894576" y="385876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能力清单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01584" y="3858768"/>
            <a:ext cx="2761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8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按模块对照单体与微服务实现差异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199632" y="4398264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99632" y="448513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894576" y="44165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版本治理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01584" y="4416552"/>
            <a:ext cx="2761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8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 LangGraph4j RC 的稳定升级路径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333488" y="5559552"/>
            <a:ext cx="2523744" cy="310896"/>
          </a:xfrm>
          <a:prstGeom prst="roundRect">
            <a:avLst>
              <a:gd name="adj" fmla="val 23529"/>
            </a:avLst>
          </a:prstGeom>
          <a:solidFill>
            <a:srgbClr val="FCE9E7"/>
          </a:solidFill>
          <a:ln w="12700">
            <a:solidFill>
              <a:srgbClr val="FCE9E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33488" y="5596128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首要风险：凭证与依赖可用性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08792" y="-393192"/>
            <a:ext cx="1188720" cy="118872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84280" y="164592"/>
            <a:ext cx="438912" cy="438912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37392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890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建议基于当前代码快照；优先级需由维护团队确认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5836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85216" y="12435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按“可运行 → 可验证 → 可维护 → 可观测”的顺序推进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6656" y="1746504"/>
            <a:ext cx="658368" cy="6583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" y="19202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05840" y="2404872"/>
            <a:ext cx="0" cy="402336"/>
          </a:xfrm>
          <a:prstGeom prst="line">
            <a:avLst/>
          </a:prstGeom>
          <a:noFill/>
          <a:ln w="25400">
            <a:solidFill>
              <a:srgbClr val="9FD5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1682496"/>
            <a:ext cx="717804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920240" y="1837944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建立可复现基线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005072" y="1856232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补齐脱敏配置模板、容器编排与健康检查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82712" y="1837944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DDF4F0"/>
          </a:solidFill>
          <a:ln w="12700">
            <a:solidFill>
              <a:srgbClr val="DDF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82712" y="187452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可运行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" y="2807208"/>
            <a:ext cx="658368" cy="6583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" y="29809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05840" y="3465576"/>
            <a:ext cx="0" cy="402336"/>
          </a:xfrm>
          <a:prstGeom prst="line">
            <a:avLst/>
          </a:prstGeom>
          <a:noFill/>
          <a:ln w="25400">
            <a:solidFill>
              <a:srgbClr val="9FD5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743200"/>
            <a:ext cx="717804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920240" y="2898648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打通关键回归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005072" y="2916936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覆盖生成、可视编辑、部署与截图的端到端路径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82712" y="2898648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DCEFF5"/>
          </a:solidFill>
          <a:ln w="12700">
            <a:solidFill>
              <a:srgbClr val="DCEF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82712" y="293522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可验证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" y="3867912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04164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05840" y="4526280"/>
            <a:ext cx="0" cy="402336"/>
          </a:xfrm>
          <a:prstGeom prst="line">
            <a:avLst/>
          </a:prstGeom>
          <a:noFill/>
          <a:ln w="25400">
            <a:solidFill>
              <a:srgbClr val="9FD5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00200" y="3803904"/>
            <a:ext cx="717804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920240" y="395935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收敛双轨差异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005072" y="3977640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形成能力矩阵，明确主实现与迁移 / 下线策略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82712" y="3959352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DDF4F0"/>
          </a:solidFill>
          <a:ln w="12700">
            <a:solidFill>
              <a:srgbClr val="DDF4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82712" y="399592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可维护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6656" y="4928616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10235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600200" y="4864608"/>
            <a:ext cx="7178040" cy="795528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12700">
            <a:solidFill>
              <a:srgbClr val="CBE4E3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920240" y="5020056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补齐真实指标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005072" y="5038344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沉淀调用量、成功率、P95 时延与单位生成成本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982712" y="5020056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DCEFF5"/>
          </a:solidFill>
          <a:ln w="12700">
            <a:solidFill>
              <a:srgbClr val="DCEF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82712" y="50566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162288" y="1682496"/>
            <a:ext cx="2377440" cy="4261104"/>
          </a:xfrm>
          <a:prstGeom prst="roundRect">
            <a:avLst>
              <a:gd name="adj" fmla="val 3077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  <a:effectLst>
            <a:outerShdw sx="100000" sy="100000" kx="0" ky="0" algn="bl" rotWithShape="0" blurRad="25400" dist="50800" dir="2700000">
              <a:srgbClr val="16424A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528048" y="1993392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决策检查点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9528048" y="268833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939528" y="2688336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主交付形态：单体或微服务？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528048" y="337413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939528" y="3374136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是否进入主生成链路？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528048" y="405993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939528" y="4059936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生产部署目标环境？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528048" y="474573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939528" y="4745736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D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成功指标与告警阈值？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15568" y="4434840"/>
            <a:ext cx="3063240" cy="3063240"/>
          </a:xfrm>
          <a:prstGeom prst="ellipse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-1261872"/>
            <a:ext cx="3200400" cy="3200400"/>
          </a:xfrm>
          <a:prstGeom prst="ellipse">
            <a:avLst/>
          </a:prstGeom>
          <a:solidFill>
            <a:srgbClr val="028090">
              <a:alpha val="7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DE7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CONCLUSION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76656" y="1335024"/>
            <a:ext cx="8046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能力完整，工程化待收口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04088" y="22677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E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近期无新增提交，下一阶段应聚焦可复现、可验证与双轨能力对齐。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4088" y="333756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0A4858"/>
          </a:solidFill>
          <a:ln w="12700">
            <a:solidFill>
              <a:srgbClr val="236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602736"/>
            <a:ext cx="475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3575304"/>
            <a:ext cx="1965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产品闭环已具备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54480" y="4041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生成、编辑、部署、治理四大能力均有实现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07408" y="333756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0C5364"/>
          </a:solidFill>
          <a:ln w="12700">
            <a:solidFill>
              <a:srgbClr val="236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3602736"/>
            <a:ext cx="475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57800" y="3575304"/>
            <a:ext cx="1965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最后进展可追溯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257800" y="4041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 完成微服务拆分的整合提交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10728" y="333756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0A4858"/>
          </a:solidFill>
          <a:ln w="12700">
            <a:solidFill>
              <a:srgbClr val="236A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7616" y="3602736"/>
            <a:ext cx="475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0" y="3575304"/>
            <a:ext cx="1965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风险集中且可治理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961120" y="4041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D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配置依赖、双轨漂移、测试与交付基础是重点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4088" y="5660136"/>
            <a:ext cx="8778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E7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建议首先确认主交付形态，再启动关键链路回归与能力对齐。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8700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2026-07-19</dc:title>
  <dc:subject>每日项目状态汇报</dc:subject>
  <dc:creator>yu-ai-code-mother 项目维护组</dc:creator>
  <cp:lastModifiedBy>yu-ai-code-mother 项目维护组</cp:lastModifiedBy>
  <cp:revision>1</cp:revision>
  <dcterms:created xsi:type="dcterms:W3CDTF">2026-07-19T09:08:54Z</dcterms:created>
  <dcterms:modified xsi:type="dcterms:W3CDTF">2026-07-19T09:08:54Z</dcterms:modified>
</cp:coreProperties>
</file>