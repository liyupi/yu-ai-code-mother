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822960"/>
            <a:ext cx="4114800" cy="4114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3200400"/>
            <a:ext cx="2651760" cy="2651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FEDE6"/>
                </a:solidFill>
                <a:latin typeface="Calibri"/>
              </a:rPr>
              <a:t>AI 零代码应用生成平台 · yu-ai-code-mother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2026-06-10（北京时间）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4480560" cy="1207008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18211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状态基调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93008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FEDE6"/>
                </a:solidFill>
                <a:latin typeface="Calibri"/>
              </a:rPr>
              <a:t>功能完整的教学版稳定态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FEDE6"/>
                </a:solidFill>
                <a:latin typeface="Calibri"/>
              </a:rPr>
              <a:t>近 7 天无业务提交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FEDE6"/>
                </a:solidFill>
                <a:latin typeface="Calibri"/>
              </a:rPr>
              <a:t>生产化短板集中在配置、CI 与依赖环境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617720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9943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FEDE6"/>
                </a:solidFill>
                <a:latin typeface="Calibri"/>
              </a:rPr>
              <a:t>代码轨道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59943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单体 + 微服务 + 前端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120640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0235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FEDE6"/>
                </a:solidFill>
                <a:latin typeface="Calibri"/>
              </a:rPr>
              <a:t>近期提交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10235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7 天内无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623560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60527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FEDE6"/>
                </a:solidFill>
                <a:latin typeface="Calibri"/>
              </a:rPr>
              <a:t>汇报产物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60527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真实 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BFEDE6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面向维护者的全栈资产盘点：从能力、代码轨道到运行依赖。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490472"/>
            <a:ext cx="384048" cy="38404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149047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项目定位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企业级 AI 代码生成平台教学项目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Spring Boot 3 + LangChain4j + Vue 3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生成、编辑、部署、管理闭环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325880"/>
            <a:ext cx="2514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7911" y="1490472"/>
            <a:ext cx="384048" cy="3840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4904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代码轨道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1984248"/>
            <a:ext cx="20025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根目录单体后端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微服务多模块版本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Vue 3 前端工程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1325880"/>
            <a:ext cx="2514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1490472"/>
            <a:ext cx="384048" cy="38404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8896" y="14904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运行基础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84248"/>
            <a:ext cx="20025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MySQL / Redis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Nacos + Dubbo（微服务）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COS / Selenium / 外部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2" y="1325880"/>
            <a:ext cx="2514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90304" y="1490472"/>
            <a:ext cx="384048" cy="384048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49047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状态判断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984248"/>
            <a:ext cx="20025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教学版能力完整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生产化仍需工程治理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近期以维护观察为主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46120"/>
            <a:ext cx="7818120" cy="210312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65A82"/>
                </a:solidFill>
                <a:latin typeface="Georgia"/>
              </a:rPr>
              <a:t>总体判断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77639"/>
            <a:ext cx="69037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323A"/>
                </a:solidFill>
                <a:latin typeface="Calibri"/>
              </a:rPr>
              <a:t>仓库最新主线提交为 2025-08-26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323A"/>
                </a:solidFill>
                <a:latin typeface="Calibri"/>
              </a:rPr>
              <a:t>“第 14 期 - 微服务改造完成”。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323A"/>
                </a:solidFill>
                <a:latin typeface="Calibri"/>
              </a:rPr>
              <a:t>当前分支近 7 天未产生业务提交；系统已呈现完整产品闭环，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6323A"/>
                </a:solidFill>
                <a:latin typeface="Calibri"/>
              </a:rPr>
              <a:t>但运行高度依赖本地密钥、中间件与外部服务配置。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566160"/>
            <a:ext cx="1143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730752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28090"/>
                </a:solidFill>
                <a:latin typeface="Georg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4297680"/>
            <a:ext cx="813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3A"/>
                </a:solidFill>
                <a:latin typeface="Calibri"/>
              </a:rPr>
              <a:t>主要工程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4608576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737B"/>
                </a:solidFill>
                <a:latin typeface="Calibri"/>
              </a:rPr>
              <a:t>后端 / 微服务 / 前端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3566160"/>
            <a:ext cx="1143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3730752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E76F51"/>
                </a:solidFill>
                <a:latin typeface="Georgia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2" y="4297680"/>
            <a:ext cx="813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3A"/>
                </a:solidFill>
                <a:latin typeface="Calibri"/>
              </a:rPr>
              <a:t>近 7 天提交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4608576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737B"/>
                </a:solidFill>
                <a:latin typeface="Calibri"/>
              </a:rPr>
              <a:t>业务路径无变更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README 与前端说明中明确的 4 大产品能力。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64592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810512"/>
            <a:ext cx="201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1848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6323A"/>
                </a:solidFill>
                <a:latin typeface="Calibri"/>
              </a:rPr>
              <a:t>智能代码生成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0824"/>
            <a:ext cx="38404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输入需求描述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AI 路由生成 HTML / 多文件 / Vue 工程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SSE 流式展示执行过程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17320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01968" y="1645920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810512"/>
            <a:ext cx="201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1848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6323A"/>
                </a:solidFill>
                <a:latin typeface="Calibri"/>
              </a:rPr>
              <a:t>可视化编辑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20824"/>
            <a:ext cx="38404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生成应用实时预览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选择页面元素并与 AI 对话修改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面向低代码体验闭环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107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639312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03904"/>
            <a:ext cx="201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1188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6323A"/>
                </a:solidFill>
                <a:latin typeface="Calibri"/>
              </a:rPr>
              <a:t>一键部署分享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14216"/>
            <a:ext cx="38404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部署到云端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自动封面截图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支持源码下载与分享地址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34107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01968" y="3639312"/>
            <a:ext cx="566928" cy="56692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803904"/>
            <a:ext cx="201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1188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6323A"/>
                </a:solidFill>
                <a:latin typeface="Calibri"/>
              </a:rPr>
              <a:t>企业级管理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14216"/>
            <a:ext cx="38404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用户与应用管理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精选应用配置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3A5961"/>
                </a:solidFill>
                <a:latin typeface="Calibri"/>
              </a:rPr>
              <a:t>系统与业务指标监控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技术架构与模块边界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单体、微服务与前端并存，便于教学递进，也带来双轨维护成本。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17320"/>
            <a:ext cx="3099816" cy="14630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28090"/>
                </a:solidFill>
                <a:latin typeface="Georgia"/>
              </a:rPr>
              <a:t>前端体验层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671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B737B"/>
                </a:solidFill>
                <a:latin typeface="Calibri"/>
              </a:rPr>
              <a:t>yu-ai-code-mother-frontend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7004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Vue 3 + TypeScript + Vite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Ant Design Vue / Pinia / Router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主页、对话、编辑、管理后台</a:t>
            </a:r>
          </a:p>
        </p:txBody>
      </p:sp>
      <p:sp>
        <p:nvSpPr>
          <p:cNvPr id="11" name="Oval 10"/>
          <p:cNvSpPr/>
          <p:nvPr/>
        </p:nvSpPr>
        <p:spPr>
          <a:xfrm>
            <a:off x="3044952" y="473659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1256" y="4864608"/>
            <a:ext cx="182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417320"/>
            <a:ext cx="3099816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830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A896"/>
                </a:solidFill>
                <a:latin typeface="Georgia"/>
              </a:rPr>
              <a:t>单体后端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671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B737B"/>
                </a:solidFill>
                <a:latin typeface="Calibri"/>
              </a:rPr>
              <a:t>src/main/java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67004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Spring Boot 3 · 端口 8123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Controller / Service / AI / Workflow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Actuator + Prometheus 指标</a:t>
            </a:r>
          </a:p>
        </p:txBody>
      </p:sp>
      <p:sp>
        <p:nvSpPr>
          <p:cNvPr id="18" name="Oval 17"/>
          <p:cNvSpPr/>
          <p:nvPr/>
        </p:nvSpPr>
        <p:spPr>
          <a:xfrm>
            <a:off x="6793992" y="4736592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0296" y="4864608"/>
            <a:ext cx="182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1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1417320"/>
            <a:ext cx="3099816" cy="146304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1" y="17830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Georgia"/>
              </a:rPr>
              <a:t>微服务改造版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1671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B737B"/>
                </a:solidFill>
                <a:latin typeface="Calibri"/>
              </a:rPr>
              <a:t>yu-ai-code-mother-microservice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67004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common / model / client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user / app / ai / screenshot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6323A"/>
                </a:solidFill>
                <a:latin typeface="Calibri"/>
              </a:rPr>
              <a:t>Dubbo + Nacos 跨服务调用</a:t>
            </a:r>
          </a:p>
        </p:txBody>
      </p:sp>
      <p:sp>
        <p:nvSpPr>
          <p:cNvPr id="25" name="Oval 24"/>
          <p:cNvSpPr/>
          <p:nvPr/>
        </p:nvSpPr>
        <p:spPr>
          <a:xfrm>
            <a:off x="10543031" y="4736592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89335" y="4864608"/>
            <a:ext cx="182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50208" y="3108960"/>
            <a:ext cx="347472" cy="292608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699248" y="3108960"/>
            <a:ext cx="347472" cy="292608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昨日 / 近期变更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近 7 天优先：当前主线无新增业务提交，最近主题是微服务改造收口。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98448"/>
            <a:ext cx="10744200" cy="658368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结论：近期没有代码层面的昨日变更；状态汇报重点转向“现状盘点 + 工程治理缺口”。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71800"/>
            <a:ext cx="9966960" cy="73152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761488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2025-08-26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47872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767328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323A"/>
                </a:solidFill>
                <a:latin typeface="Calibri"/>
              </a:rPr>
              <a:t>微服务改造完成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96512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5B737B"/>
                </a:solidFill>
                <a:latin typeface="Calibri"/>
              </a:rPr>
              <a:t>单体完整代码保留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5B737B"/>
                </a:solidFill>
                <a:latin typeface="Calibri"/>
              </a:rPr>
              <a:t>微服务多模块成型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2761488"/>
            <a:ext cx="502920" cy="50292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6F51"/>
                </a:solidFill>
                <a:latin typeface="Calibri"/>
              </a:rPr>
              <a:t>近 7 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547872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67328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323A"/>
                </a:solidFill>
                <a:latin typeface="Calibri"/>
              </a:rPr>
              <a:t>无业务提交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096512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5B737B"/>
                </a:solidFill>
                <a:latin typeface="Calibri"/>
              </a:rPr>
              <a:t>git log 无输出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5B737B"/>
                </a:solidFill>
                <a:latin typeface="Calibri"/>
              </a:rPr>
              <a:t>当前分支干净</a:t>
            </a:r>
          </a:p>
        </p:txBody>
      </p:sp>
      <p:sp>
        <p:nvSpPr>
          <p:cNvPr id="19" name="Oval 18"/>
          <p:cNvSpPr/>
          <p:nvPr/>
        </p:nvSpPr>
        <p:spPr>
          <a:xfrm>
            <a:off x="8641080" y="2761488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494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今日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547872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3767328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323A"/>
                </a:solidFill>
                <a:latin typeface="Calibri"/>
              </a:rPr>
              <a:t>生成状态汇报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096512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5B737B"/>
                </a:solidFill>
                <a:latin typeface="Calibri"/>
              </a:rPr>
              <a:t>整理能力 / 风险 / 下一步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5B737B"/>
                </a:solidFill>
                <a:latin typeface="Calibri"/>
              </a:rPr>
              <a:t>新增 PPTX 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数据 / 指标要点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基于仓库可核对信息整理；运行时业务指标需接入真实环境后采集。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89888"/>
            <a:ext cx="23042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28090"/>
                </a:solidFill>
                <a:latin typeface="Georgia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3A"/>
                </a:solidFill>
                <a:latin typeface="Calibri"/>
              </a:rPr>
              <a:t>后端测试类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32304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737B"/>
                </a:solidFill>
                <a:latin typeface="Calibri"/>
              </a:rPr>
              <a:t>src/test/java 下可见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389888"/>
            <a:ext cx="23042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A896"/>
                </a:solidFill>
                <a:latin typeface="Georg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12140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3A"/>
                </a:solidFill>
                <a:latin typeface="Calibri"/>
              </a:rPr>
              <a:t>微服务模块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32304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737B"/>
                </a:solidFill>
                <a:latin typeface="Calibri"/>
              </a:rPr>
              <a:t>common/model/client/user/app/ai/screenshot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89888"/>
            <a:ext cx="23042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2C39A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2140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3A"/>
                </a:solidFill>
                <a:latin typeface="Calibri"/>
              </a:rPr>
              <a:t>生成类型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32304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737B"/>
                </a:solidFill>
                <a:latin typeface="Calibri"/>
              </a:rPr>
              <a:t>HTML / 多文件 / Vue 工程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1" y="1389888"/>
            <a:ext cx="23042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1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E76F51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3" y="212140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3A"/>
                </a:solidFill>
                <a:latin typeface="Calibri"/>
              </a:rPr>
              <a:t>CI 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432304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B737B"/>
                </a:solidFill>
                <a:latin typeface="Calibri"/>
              </a:rPr>
              <a:t>未发现 workflows / Jenkins / GitLab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64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323A"/>
                </a:solidFill>
                <a:latin typeface="Georgia"/>
              </a:rPr>
              <a:t>工程化成熟度观察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2219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3A5961"/>
                </a:solidFill>
                <a:latin typeface="Calibri"/>
              </a:rPr>
              <a:t>产品功能闭环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3849624"/>
            <a:ext cx="5303520" cy="146304"/>
          </a:xfrm>
          <a:prstGeom prst="roundRect">
            <a:avLst/>
          </a:prstGeom>
          <a:solidFill>
            <a:srgbClr val="D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80360" y="3849624"/>
            <a:ext cx="4561027" cy="14630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130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028090"/>
                </a:solidFill>
                <a:latin typeface="Calibri"/>
              </a:rPr>
              <a:t>86%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3A5961"/>
                </a:solidFill>
                <a:latin typeface="Calibri"/>
              </a:rPr>
              <a:t>架构演示完整性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288536"/>
            <a:ext cx="5303520" cy="146304"/>
          </a:xfrm>
          <a:prstGeom prst="roundRect">
            <a:avLst/>
          </a:prstGeom>
          <a:solidFill>
            <a:srgbClr val="D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4288536"/>
            <a:ext cx="4242816" cy="14630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25196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00A896"/>
                </a:solidFill>
                <a:latin typeface="Calibri"/>
              </a:rPr>
              <a:t>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3A5961"/>
                </a:solidFill>
                <a:latin typeface="Calibri"/>
              </a:rPr>
              <a:t>自动化测试/CI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727448"/>
            <a:ext cx="5303520" cy="146304"/>
          </a:xfrm>
          <a:prstGeom prst="roundRect">
            <a:avLst/>
          </a:prstGeom>
          <a:solidFill>
            <a:srgbClr val="D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80360" y="4727448"/>
            <a:ext cx="1484985" cy="1463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69087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E76F51"/>
                </a:solidFill>
                <a:latin typeface="Calibri"/>
              </a:rPr>
              <a:t>28%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3892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3A5961"/>
                </a:solidFill>
                <a:latin typeface="Calibri"/>
              </a:rPr>
              <a:t>开箱即用配置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5166359"/>
            <a:ext cx="5303520" cy="146304"/>
          </a:xfrm>
          <a:prstGeom prst="roundRect">
            <a:avLst/>
          </a:prstGeom>
          <a:solidFill>
            <a:srgbClr val="D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80360" y="5166359"/>
            <a:ext cx="1856231" cy="1463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5129783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35%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3337560"/>
            <a:ext cx="2240280" cy="1874519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6118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65A82"/>
                </a:solidFill>
                <a:latin typeface="Calibri"/>
              </a:rPr>
              <a:t>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977639"/>
            <a:ext cx="170078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A5961"/>
                </a:solidFill>
                <a:latin typeface="Calibri"/>
              </a:rPr>
              <a:t>百分比为汇报用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A5961"/>
                </a:solidFill>
                <a:latin typeface="Calibri"/>
              </a:rPr>
              <a:t>成熟度判断，不代表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A5961"/>
                </a:solidFill>
                <a:latin typeface="Calibri"/>
              </a:rPr>
              <a:t>线上真实业务量。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A5961"/>
                </a:solidFill>
                <a:latin typeface="Calibri"/>
              </a:rPr>
              <a:t>建议后续接入 Actuator、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A5961"/>
                </a:solidFill>
                <a:latin typeface="Calibri"/>
              </a:rPr>
              <a:t>Prometheus 与前端埋点。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测试与 CI 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有本地测试入口与监控配置，但自动化流水线仍为空白。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490472"/>
            <a:ext cx="384048" cy="38404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后端测试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84248"/>
            <a:ext cx="291693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Maven + Spring Boot Test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14 个 *Test.java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覆盖 AI、工作流、截图、解析、并发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部分测试依赖真实 AI / 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490472"/>
            <a:ext cx="384048" cy="3840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1490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前端质量入口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1693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npm run build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npm run lint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npm run type-check（经 build 串联）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未发现单元测试框架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66175" y="1490472"/>
            <a:ext cx="384048" cy="38404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149047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CI 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1984248"/>
            <a:ext cx="245973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未发现 .github/workflows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未发现 .gitlab-ci.yml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未发现 Jenkinsfile</a:t>
            </a:r>
          </a:p>
          <a:p>
            <a:pPr algn="l">
              <a:spcAft>
                <a:spcPts val="200"/>
              </a:spcAft>
            </a:pPr>
            <a:r>
              <a:rPr sz="1320">
                <a:solidFill>
                  <a:srgbClr val="3A5961"/>
                </a:solidFill>
                <a:latin typeface="Calibri"/>
              </a:rPr>
              <a:t>需本地手动执行验证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67912"/>
            <a:ext cx="9966960" cy="105156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09651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65A82"/>
                </a:solidFill>
                <a:latin typeface="Georgia"/>
              </a:rPr>
              <a:t>最近状态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014215"/>
            <a:ext cx="7635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 i="0">
                <a:solidFill>
                  <a:srgbClr val="16323A"/>
                </a:solidFill>
                <a:latin typeface="Calibri"/>
              </a:rPr>
              <a:t>本次为文档型变更，仅生成 PPTX。</a:t>
            </a:r>
          </a:p>
          <a:p>
            <a:pPr algn="l">
              <a:spcAft>
                <a:spcPts val="0"/>
              </a:spcAft>
            </a:pPr>
            <a:r>
              <a:rPr sz="1340" b="0" i="0">
                <a:solidFill>
                  <a:srgbClr val="16323A"/>
                </a:solidFill>
                <a:latin typeface="Calibri"/>
              </a:rPr>
              <a:t>已使用 markitdown 对产物进行内容抽取与占位文本检查；</a:t>
            </a:r>
          </a:p>
          <a:p>
            <a:pPr algn="l">
              <a:spcAft>
                <a:spcPts val="0"/>
              </a:spcAft>
            </a:pPr>
            <a:r>
              <a:rPr sz="1340" b="0" i="0">
                <a:solidFill>
                  <a:srgbClr val="16323A"/>
                </a:solidFill>
                <a:latin typeface="Calibri"/>
              </a:rPr>
              <a:t>业务测试未运行，因为没有修改业务代码。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风险与阻塞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生产化推进前需要优先消解的阻塞项。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53312"/>
            <a:ext cx="146304" cy="157276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5819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密钥与本地配置缺失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011680"/>
            <a:ext cx="4251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application.yml 中 DeepSeek、DashScope、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Pexels、COS 仍是示例值；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本地 profile 文件未入库。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3533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353312"/>
            <a:ext cx="146304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15819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外部依赖较重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011680"/>
            <a:ext cx="4251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MySQL、Redis、Nacos、COS、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Selenium 与外部 AI 服务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均需可用环境支撑。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107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410712"/>
            <a:ext cx="146304" cy="1572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6393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单体 / 微服务双轨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069080"/>
            <a:ext cx="4251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两套轨道并存，教学递进清晰；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长期维护容易出现功能漂移。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4107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410712"/>
            <a:ext cx="146304" cy="1572768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36393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23A"/>
                </a:solidFill>
                <a:latin typeface="Calibri"/>
              </a:rPr>
              <a:t>自动化保障不足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4069080"/>
            <a:ext cx="4251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微服务模块未发现测试；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现有测试对密钥和网络敏感，</a:t>
            </a:r>
          </a:p>
          <a:p>
            <a:pPr algn="l">
              <a:spcAft>
                <a:spcPts val="100"/>
              </a:spcAft>
            </a:pPr>
            <a:r>
              <a:rPr sz="1280">
                <a:solidFill>
                  <a:srgbClr val="3A5961"/>
                </a:solidFill>
                <a:latin typeface="Calibri"/>
              </a:rPr>
              <a:t>不适合直接进入 CI。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未完成项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从“能跑 demo”到“可持续维护”还需要补齐的工程资产。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618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19"/>
            <a:ext cx="2194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243584"/>
            <a:ext cx="9555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137160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环境模板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371600"/>
            <a:ext cx="7452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3A5961"/>
                </a:solidFill>
                <a:latin typeface="Calibri"/>
              </a:rPr>
              <a:t>补充 application-local 示例、密钥注入说明与最小运行清单。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1031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2194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084831"/>
            <a:ext cx="9555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221284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自动化流水线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12848"/>
            <a:ext cx="7452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3A5961"/>
                </a:solidFill>
                <a:latin typeface="Calibri"/>
              </a:rPr>
              <a:t>增加后端 fast test、前端 build/type-check/lint 的 CI 门禁。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2944368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99815"/>
            <a:ext cx="2194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926079"/>
            <a:ext cx="9555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305409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微服务测试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054096"/>
            <a:ext cx="7452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3A5961"/>
                </a:solidFill>
                <a:latin typeface="Calibri"/>
              </a:rPr>
              <a:t>为 user/app/ai/screenshot 增加可离线运行的契约或切片测试。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378561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41064"/>
            <a:ext cx="2194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3767328"/>
            <a:ext cx="9555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648" y="389534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部署说明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95344"/>
            <a:ext cx="7452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3A5961"/>
                </a:solidFill>
                <a:latin typeface="Calibri"/>
              </a:rPr>
              <a:t>整理 Nacos、Redis、MySQL、Selenium、对象存储的启动顺序与故障排查。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82312"/>
            <a:ext cx="2194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4608576"/>
            <a:ext cx="9555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55648" y="473659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指标落地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736592"/>
            <a:ext cx="7452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3A5961"/>
                </a:solidFill>
                <a:latin typeface="Calibri"/>
              </a:rPr>
              <a:t>将 Prometheus 配置与业务指标、AI 调用成本、生成成功率建立看板。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6323A"/>
                </a:solidFill>
                <a:latin typeface="Georgia"/>
              </a:rPr>
              <a:t>建议下一步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737B"/>
                </a:solidFill>
                <a:latin typeface="Calibri"/>
              </a:rPr>
              <a:t>优先级围绕“可运行、可验证、可维护”。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8404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252" y="48006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1874519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98448" y="1719072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1920240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收敛每日</a:t>
            </a:r>
          </a:p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状态信号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46120"/>
            <a:ext cx="142646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固定采集 git、测试、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依赖配置、关键目录变化，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形成可复用日报模板。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224" y="1417320"/>
            <a:ext cx="1874519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1719072"/>
            <a:ext cx="658368" cy="65836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542032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补齐可离线</a:t>
            </a:r>
          </a:p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验证链路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246120"/>
            <a:ext cx="142646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拆出不依赖外部 AI 的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单元测试与 mock 契约，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保障 CI 稳定执行。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1417320"/>
            <a:ext cx="1874519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1719072"/>
            <a:ext cx="658368" cy="6583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1920240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542032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落地最小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246120"/>
            <a:ext cx="142646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后端 fast test；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前端 build、type-check、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lint 作为 PR 门禁。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9208" y="1417320"/>
            <a:ext cx="1874519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171907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920240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2542032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完善环境</a:t>
            </a:r>
          </a:p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4" y="3246120"/>
            <a:ext cx="142646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提供 local profile 示例，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说明 Nacos / Redis / MySQL /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COS / Selenium 初始化。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417320"/>
            <a:ext cx="1874519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86416" y="1719072"/>
            <a:ext cx="658368" cy="65836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5016" y="1920240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542032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治理双轨</a:t>
            </a:r>
          </a:p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323A"/>
                </a:solidFill>
                <a:latin typeface="Calibri"/>
              </a:rPr>
              <a:t>代码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3246120"/>
            <a:ext cx="142646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明确单体与微服务的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维护策略，减少同一能力</a:t>
            </a:r>
          </a:p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3A5961"/>
                </a:solidFill>
                <a:latin typeface="Calibri"/>
              </a:rPr>
              <a:t>在两处重复演进。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739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737B"/>
                </a:solidFill>
                <a:latin typeface="Calibri"/>
              </a:rPr>
              <a:t>yu-ai-code-mother · 每日项目状态 · 2026-06-10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73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594360"/>
            <a:ext cx="3108960" cy="3108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2468880"/>
            <a:ext cx="1645920" cy="1645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FEDE6"/>
                </a:solidFill>
                <a:latin typeface="Calibri"/>
              </a:rPr>
              <a:t>当前项目处于“能力完整、工程治理待加强”的维护观察阶段。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43200"/>
            <a:ext cx="2971800" cy="132588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9718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可展示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328416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四大产品能力、AI 工作流、</a:t>
            </a:r>
          </a:p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前端管理页与部署闭环</a:t>
            </a:r>
          </a:p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已具备教学演示价值。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2743200"/>
            <a:ext cx="2971800" cy="132588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9718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需补齐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328416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CI、离线测试、环境模板、</a:t>
            </a:r>
          </a:p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部署说明是进入稳定协作前</a:t>
            </a:r>
          </a:p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的关键缺口。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2743200"/>
            <a:ext cx="2971800" cy="132588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29718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328416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先做可运行与可验证，</a:t>
            </a:r>
          </a:p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再推进生产化监控和</a:t>
            </a:r>
          </a:p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BFEDE6"/>
                </a:solidFill>
                <a:latin typeface="Calibri"/>
              </a:rPr>
              <a:t>双轨代码治理。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25312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报告文件：docs/reports/project-status-2026-06-10.pptx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BFEDE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- yu-ai-code-mother</dc:title>
  <dc:subject>AI 零代码应用生成平台项目状态</dc:subject>
  <dc:creator>Cursor Automation</dc:creator>
  <cp:keywords>yu-ai-code-mother, 项目状态, AI代码生成, 每日报告</cp:keywords>
  <dc:description>Generated on 2026-06-10 Beijing time.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