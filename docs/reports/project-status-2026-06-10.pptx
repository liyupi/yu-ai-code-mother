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114800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822960"/>
            <a:ext cx="4114800" cy="41148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784080" y="3200400"/>
            <a:ext cx="2651760" cy="265176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63093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每日项目状态汇报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47088"/>
            <a:ext cx="5669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FEDE6"/>
                </a:solidFill>
                <a:latin typeface="Calibri"/>
              </a:rPr>
              <a:t>AI 零代码应用生成平台 · yu-ai-code-mother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40280"/>
            <a:ext cx="33832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2026-06-10（北京时间）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971800"/>
            <a:ext cx="4480560" cy="11155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182112"/>
            <a:ext cx="1188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状态基调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93008"/>
            <a:ext cx="39319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功能完整的教学版稳定态；近 7 天无业务提交，生产化短板集中在配置、CI 与依赖环境。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4617720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599432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FEDE6"/>
                </a:solidFill>
                <a:latin typeface="Calibri"/>
              </a:rPr>
              <a:t>代码轨道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599432"/>
            <a:ext cx="3474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单体 + 微服务 + 前端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5120640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102352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FEDE6"/>
                </a:solidFill>
                <a:latin typeface="Calibri"/>
              </a:rPr>
              <a:t>近期提交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5102352"/>
            <a:ext cx="3474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7 天内无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5623560"/>
            <a:ext cx="201168" cy="2011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605272"/>
            <a:ext cx="1051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FEDE6"/>
                </a:solidFill>
                <a:latin typeface="Calibri"/>
              </a:rPr>
              <a:t>汇报产物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5605272"/>
            <a:ext cx="3474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真实 PPTX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BFEDE6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项目概览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面向维护者的全栈资产盘点：从能力、代码轨道到运行依赖。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1490472"/>
            <a:ext cx="384048" cy="38404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6736" y="1490472"/>
            <a:ext cx="19202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项目定位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84248"/>
            <a:ext cx="2340864" cy="6766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企业级 AI 代码生成平台教学项目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Spring Boot 3 + LangChain4j + Vue 3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覆盖生成、编辑、部署、管理闭环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325880"/>
            <a:ext cx="25146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67911" y="1490472"/>
            <a:ext cx="384048" cy="384048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490472"/>
            <a:ext cx="16916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代码轨道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4487" y="1984248"/>
            <a:ext cx="2112264" cy="6766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根目录单体后端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微服务多模块版本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Vue 3 前端工程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1325880"/>
            <a:ext cx="2331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0" y="1490472"/>
            <a:ext cx="384048" cy="384048"/>
          </a:xfrm>
          <a:prstGeom prst="round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8896" y="1490472"/>
            <a:ext cx="150876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运行基础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1984248"/>
            <a:ext cx="1929384" cy="6766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MySQL / Redis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Nacos + Dubbo（微服务）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COS / Selenium / 外部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25712" y="1325880"/>
            <a:ext cx="2331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90304" y="1490472"/>
            <a:ext cx="384048" cy="384048"/>
          </a:xfrm>
          <a:prstGeom prst="round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490472"/>
            <a:ext cx="150876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状态判断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1984248"/>
            <a:ext cx="1929384" cy="6766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教学版能力完整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生产化仍需补齐工程治理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近期以维护观察为主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246120"/>
            <a:ext cx="10789920" cy="2103120"/>
          </a:xfrm>
          <a:prstGeom prst="roundRect">
            <a:avLst/>
          </a:prstGeom>
          <a:solidFill>
            <a:srgbClr val="E7F7F4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520440"/>
            <a:ext cx="19202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65A82"/>
                </a:solidFill>
                <a:latin typeface="Georgia"/>
              </a:rPr>
              <a:t>总体判断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977639"/>
            <a:ext cx="731520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6323A"/>
                </a:solidFill>
                <a:latin typeface="Calibri"/>
              </a:rPr>
              <a:t>仓库最新主线提交为 2025-08-26 的“第 14 期 - 微服务改造完成”，当前分支近 7 天未产生业务提交。系统已经呈现完整产品闭环，但运行高度依赖本地密钥、中间件与外部服务配置。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3566160"/>
            <a:ext cx="1143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3730752"/>
            <a:ext cx="7772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28090"/>
                </a:solidFill>
                <a:latin typeface="Georgia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4297680"/>
            <a:ext cx="81381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6323A"/>
                </a:solidFill>
                <a:latin typeface="Calibri"/>
              </a:rPr>
              <a:t>主要工程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626864"/>
            <a:ext cx="740664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737B"/>
                </a:solidFill>
                <a:latin typeface="Calibri"/>
              </a:rPr>
              <a:t>后端 / 微服务 / 前端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3566160"/>
            <a:ext cx="11430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3730752"/>
            <a:ext cx="7772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E76F51"/>
                </a:solidFill>
                <a:latin typeface="Georgia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8712" y="4297680"/>
            <a:ext cx="81381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6323A"/>
                </a:solidFill>
                <a:latin typeface="Calibri"/>
              </a:rPr>
              <a:t>近 7 天提交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4626864"/>
            <a:ext cx="740664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737B"/>
                </a:solidFill>
                <a:latin typeface="Calibri"/>
              </a:rPr>
              <a:t>业务路径无变更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核心能力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README 与前端说明中明确的 4 大产品能力。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417320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1645920"/>
            <a:ext cx="566928" cy="56692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1810512"/>
            <a:ext cx="20116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618488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6323A"/>
                </a:solidFill>
                <a:latin typeface="Calibri"/>
              </a:rPr>
              <a:t>智能代码生成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20824"/>
            <a:ext cx="384048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输入需求描述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AI 路由生成 HTML / 多文件 / Vue 工程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SSE 流式展示执行过程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417320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01968" y="1645920"/>
            <a:ext cx="566928" cy="56692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1810512"/>
            <a:ext cx="20116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618488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6323A"/>
                </a:solidFill>
                <a:latin typeface="Calibri"/>
              </a:rPr>
              <a:t>可视化编辑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20824"/>
            <a:ext cx="384048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生成应用实时预览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选择页面元素并与 AI 对话修改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面向低代码体验闭环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410712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639312"/>
            <a:ext cx="566928" cy="56692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803904"/>
            <a:ext cx="20116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611880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6323A"/>
                </a:solidFill>
                <a:latin typeface="Calibri"/>
              </a:rPr>
              <a:t>一键部署分享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014216"/>
            <a:ext cx="384048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部署到云端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自动封面截图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支持源码下载与分享地址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410712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01968" y="3639312"/>
            <a:ext cx="566928" cy="566928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3803904"/>
            <a:ext cx="201168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611880"/>
            <a:ext cx="34747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6323A"/>
                </a:solidFill>
                <a:latin typeface="Calibri"/>
              </a:rPr>
              <a:t>企业级管理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014216"/>
            <a:ext cx="3840480" cy="7498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用户与应用管理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精选应用配置</a:t>
            </a:r>
          </a:p>
          <a:p>
            <a:pPr>
              <a:spcAft>
                <a:spcPts val="2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系统与业务指标监控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技术架构与模块边界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单体、微服务与前端并存，便于教学递进，也带来双轨维护成本。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41732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417320"/>
            <a:ext cx="3246120" cy="16459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83080"/>
            <a:ext cx="2651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28090"/>
                </a:solidFill>
                <a:latin typeface="Georgia"/>
              </a:rPr>
              <a:t>前端体验层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167128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5B737B"/>
                </a:solidFill>
                <a:latin typeface="Calibri"/>
              </a:rPr>
              <a:t>yu-ai-code-mother-frontend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670048"/>
            <a:ext cx="269748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Vue 3 + TypeScript + Vite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Ant Design Vue / Pinia / Router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主页、对话、编辑、管理后台</a:t>
            </a:r>
          </a:p>
        </p:txBody>
      </p:sp>
      <p:sp>
        <p:nvSpPr>
          <p:cNvPr id="11" name="Oval 10"/>
          <p:cNvSpPr/>
          <p:nvPr/>
        </p:nvSpPr>
        <p:spPr>
          <a:xfrm>
            <a:off x="3044952" y="4736592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1256" y="4864608"/>
            <a:ext cx="18288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141732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62272" y="1417320"/>
            <a:ext cx="3246120" cy="164592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1783080"/>
            <a:ext cx="2651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0A896"/>
                </a:solidFill>
                <a:latin typeface="Georgia"/>
              </a:rPr>
              <a:t>单体后端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167128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5B737B"/>
                </a:solidFill>
                <a:latin typeface="Calibri"/>
              </a:rPr>
              <a:t>src/main/java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670048"/>
            <a:ext cx="269748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Spring Boot 3 · 端口 8123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Controller / Service / AI / Workflow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Actuator + Prometheus 指标</a:t>
            </a:r>
          </a:p>
        </p:txBody>
      </p:sp>
      <p:sp>
        <p:nvSpPr>
          <p:cNvPr id="18" name="Oval 17"/>
          <p:cNvSpPr/>
          <p:nvPr/>
        </p:nvSpPr>
        <p:spPr>
          <a:xfrm>
            <a:off x="6793992" y="4736592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0296" y="4864608"/>
            <a:ext cx="18288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1311" y="141732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11311" y="1417320"/>
            <a:ext cx="3246120" cy="164592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1" y="1783080"/>
            <a:ext cx="2651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1295C"/>
                </a:solidFill>
                <a:latin typeface="Georgia"/>
              </a:rPr>
              <a:t>微服务改造版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1" y="2167128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5B737B"/>
                </a:solidFill>
                <a:latin typeface="Calibri"/>
              </a:rPr>
              <a:t>yu-ai-code-mother-microservice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9911" y="2670048"/>
            <a:ext cx="269748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common / model / client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user / app / ai / screenshot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6323A"/>
                </a:solidFill>
                <a:latin typeface="Calibri"/>
              </a:rPr>
              <a:t>Dubbo + Nacos 跨服务调用</a:t>
            </a:r>
          </a:p>
        </p:txBody>
      </p:sp>
      <p:sp>
        <p:nvSpPr>
          <p:cNvPr id="25" name="Oval 24"/>
          <p:cNvSpPr/>
          <p:nvPr/>
        </p:nvSpPr>
        <p:spPr>
          <a:xfrm>
            <a:off x="10543031" y="4736592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89335" y="4864608"/>
            <a:ext cx="182880" cy="109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950208" y="3108960"/>
            <a:ext cx="347472" cy="292608"/>
          </a:xfrm>
          <a:prstGeom prst="rightArrow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7699248" y="3108960"/>
            <a:ext cx="347472" cy="292608"/>
          </a:xfrm>
          <a:prstGeom prst="rightArrow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昨日 / 近期变更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近 7 天优先：当前主线无新增业务提交，最近主题是微服务改造收口。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971800"/>
            <a:ext cx="9966960" cy="73152"/>
          </a:xfrm>
          <a:prstGeom prst="rect">
            <a:avLst/>
          </a:prstGeom>
          <a:solidFill>
            <a:srgbClr val="DD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2761488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9424"/>
            <a:ext cx="1143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28090"/>
                </a:solidFill>
                <a:latin typeface="Calibri"/>
              </a:rPr>
              <a:t>2025-08-26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47872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3767328"/>
            <a:ext cx="16002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微服务改造完成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4096512"/>
            <a:ext cx="1627632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150">
                <a:solidFill>
                  <a:srgbClr val="5B737B"/>
                </a:solidFill>
                <a:latin typeface="Calibri"/>
              </a:rPr>
              <a:t>单体完整代码保留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5B737B"/>
                </a:solidFill>
                <a:latin typeface="Calibri"/>
              </a:rPr>
              <a:t>微服务多模块成型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2761488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249424"/>
            <a:ext cx="1143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76F51"/>
                </a:solidFill>
                <a:latin typeface="Calibri"/>
              </a:rPr>
              <a:t>近 7 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3547872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3767328"/>
            <a:ext cx="16002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无业务提交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4096512"/>
            <a:ext cx="1627632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150">
                <a:solidFill>
                  <a:srgbClr val="5B737B"/>
                </a:solidFill>
                <a:latin typeface="Calibri"/>
              </a:rPr>
              <a:t>git log 无输出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5B737B"/>
                </a:solidFill>
                <a:latin typeface="Calibri"/>
              </a:rPr>
              <a:t>当前分支干净</a:t>
            </a:r>
          </a:p>
        </p:txBody>
      </p:sp>
      <p:sp>
        <p:nvSpPr>
          <p:cNvPr id="17" name="Oval 16"/>
          <p:cNvSpPr/>
          <p:nvPr/>
        </p:nvSpPr>
        <p:spPr>
          <a:xfrm>
            <a:off x="8641080" y="2761488"/>
            <a:ext cx="502920" cy="50292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249424"/>
            <a:ext cx="1143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0A896"/>
                </a:solidFill>
                <a:latin typeface="Calibri"/>
              </a:rPr>
              <a:t>今日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547872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1" y="3767328"/>
            <a:ext cx="16002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生成状态汇报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4096512"/>
            <a:ext cx="1627632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150">
                <a:solidFill>
                  <a:srgbClr val="5B737B"/>
                </a:solidFill>
                <a:latin typeface="Calibri"/>
              </a:rPr>
              <a:t>整理能力 / 风险 / 下一步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5B737B"/>
                </a:solidFill>
                <a:latin typeface="Calibri"/>
              </a:rPr>
              <a:t>新增 PPTX 报告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1298448"/>
            <a:ext cx="10744200" cy="658368"/>
          </a:xfrm>
          <a:prstGeom prst="roundRect">
            <a:avLst/>
          </a:prstGeom>
          <a:solidFill>
            <a:srgbClr val="E7F7F4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1481328"/>
            <a:ext cx="98755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结论：近期没有代码层面的昨日变更；状态汇报重点应从“新增功能”转向“现状盘点 + 工程治理缺口”。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数据 / 指标要点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基于仓库可核对信息整理；运行时业务指标需接入真实环境后采集。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389888"/>
            <a:ext cx="230428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1938528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28090"/>
                </a:solidFill>
                <a:latin typeface="Georgi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1975104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6323A"/>
                </a:solidFill>
                <a:latin typeface="Calibri"/>
              </a:rPr>
              <a:t>后端测试类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1"/>
            <a:ext cx="190195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737B"/>
                </a:solidFill>
                <a:latin typeface="Calibri"/>
              </a:rPr>
              <a:t>src/test/java 下可见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1389888"/>
            <a:ext cx="230428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1554480"/>
            <a:ext cx="1938528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0A896"/>
                </a:solidFill>
                <a:latin typeface="Georgia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2121408"/>
            <a:ext cx="1975104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6323A"/>
                </a:solidFill>
                <a:latin typeface="Calibri"/>
              </a:rPr>
              <a:t>微服务模块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450591"/>
            <a:ext cx="190195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737B"/>
                </a:solidFill>
                <a:latin typeface="Calibri"/>
              </a:rPr>
              <a:t>common/model/client/user/app/ai/screenshot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1389888"/>
            <a:ext cx="230428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54480"/>
            <a:ext cx="1938528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02C39A"/>
                </a:solidFill>
                <a:latin typeface="Georg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121408"/>
            <a:ext cx="1975104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6323A"/>
                </a:solidFill>
                <a:latin typeface="Calibri"/>
              </a:rPr>
              <a:t>生成类型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50591"/>
            <a:ext cx="190195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737B"/>
                </a:solidFill>
                <a:latin typeface="Calibri"/>
              </a:rPr>
              <a:t>HTML / 多文件 / Vue 工程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9991" y="1389888"/>
            <a:ext cx="230428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2871" y="1554480"/>
            <a:ext cx="1938528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 i="0">
                <a:solidFill>
                  <a:srgbClr val="E76F51"/>
                </a:solidFill>
                <a:latin typeface="Georgia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4583" y="2121408"/>
            <a:ext cx="1975104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6323A"/>
                </a:solidFill>
                <a:latin typeface="Calibri"/>
              </a:rPr>
              <a:t>CI 流水线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59" y="2450591"/>
            <a:ext cx="190195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737B"/>
                </a:solidFill>
                <a:latin typeface="Calibri"/>
              </a:rPr>
              <a:t>未发现 workflows / Jenkins / GitLab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364992"/>
            <a:ext cx="3291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6323A"/>
                </a:solidFill>
                <a:latin typeface="Georgia"/>
              </a:rPr>
              <a:t>工程化成熟度观察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822191"/>
            <a:ext cx="2011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A5961"/>
                </a:solidFill>
                <a:latin typeface="Calibri"/>
              </a:rPr>
              <a:t>产品功能闭环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80360" y="3849624"/>
            <a:ext cx="5303520" cy="146304"/>
          </a:xfrm>
          <a:prstGeom prst="roundRect">
            <a:avLst/>
          </a:prstGeom>
          <a:solidFill>
            <a:srgbClr val="DD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80360" y="3849624"/>
            <a:ext cx="4561027" cy="146304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813048"/>
            <a:ext cx="502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028090"/>
                </a:solidFill>
                <a:latin typeface="Calibri"/>
              </a:rPr>
              <a:t>86%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61104"/>
            <a:ext cx="2011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A5961"/>
                </a:solidFill>
                <a:latin typeface="Calibri"/>
              </a:rPr>
              <a:t>架构演示完整性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0360" y="4288536"/>
            <a:ext cx="5303520" cy="146304"/>
          </a:xfrm>
          <a:prstGeom prst="roundRect">
            <a:avLst/>
          </a:prstGeom>
          <a:solidFill>
            <a:srgbClr val="DD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80360" y="4288536"/>
            <a:ext cx="4242816" cy="146304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4251960"/>
            <a:ext cx="502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00A896"/>
                </a:solidFill>
                <a:latin typeface="Calibr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700016"/>
            <a:ext cx="2011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A5961"/>
                </a:solidFill>
                <a:latin typeface="Calibri"/>
              </a:rPr>
              <a:t>自动化测试/CI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80360" y="4727448"/>
            <a:ext cx="5303520" cy="146304"/>
          </a:xfrm>
          <a:prstGeom prst="roundRect">
            <a:avLst/>
          </a:prstGeom>
          <a:solidFill>
            <a:srgbClr val="DD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880360" y="4727448"/>
            <a:ext cx="1484985" cy="146304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4690872"/>
            <a:ext cx="502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E76F51"/>
                </a:solidFill>
                <a:latin typeface="Calibri"/>
              </a:rPr>
              <a:t>28%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38927"/>
            <a:ext cx="2011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3A5961"/>
                </a:solidFill>
                <a:latin typeface="Calibri"/>
              </a:rPr>
              <a:t>开箱即用配置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80360" y="5166359"/>
            <a:ext cx="5303520" cy="146304"/>
          </a:xfrm>
          <a:prstGeom prst="roundRect">
            <a:avLst/>
          </a:prstGeom>
          <a:solidFill>
            <a:srgbClr val="DD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880360" y="5166359"/>
            <a:ext cx="1856231" cy="1463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5129783"/>
            <a:ext cx="502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 i="0">
                <a:solidFill>
                  <a:srgbClr val="F59E0B"/>
                </a:solidFill>
                <a:latin typeface="Calibri"/>
              </a:rPr>
              <a:t>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3337560"/>
            <a:ext cx="2240280" cy="1874519"/>
          </a:xfrm>
          <a:prstGeom prst="roundRect">
            <a:avLst/>
          </a:prstGeom>
          <a:solidFill>
            <a:srgbClr val="E7F7F4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3611880"/>
            <a:ext cx="13716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说明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4005072"/>
            <a:ext cx="1691640" cy="8046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3A5961"/>
                </a:solidFill>
                <a:latin typeface="Calibri"/>
              </a:rPr>
              <a:t>百分比为汇报用成熟度判断，不代表线上真实业务量。建议后续用 Actuator、Prometheus 与前端埋点替换为真实指标。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测试与 CI 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有本地测试入口与监控配置，但自动化流水线仍为空白。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325880"/>
            <a:ext cx="34290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" y="1490472"/>
            <a:ext cx="384048" cy="384048"/>
          </a:xfrm>
          <a:prstGeom prst="round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26060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后端测试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84248"/>
            <a:ext cx="3026664" cy="1133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Maven + Spring Boot Test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14 个 *Test.java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覆盖 AI、工作流、截图、解析、并发等主题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部分测试依赖真实 AI / 网络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325880"/>
            <a:ext cx="34290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1490472"/>
            <a:ext cx="384048" cy="384048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65776" y="1490472"/>
            <a:ext cx="26060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前端质量入口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1984248"/>
            <a:ext cx="3026664" cy="1133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npm run build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npm run lint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npm run type-check（经 build 串联）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未发现单元测试框架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325880"/>
            <a:ext cx="29718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66175" y="1490472"/>
            <a:ext cx="384048" cy="384048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9952" y="1490472"/>
            <a:ext cx="214884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CI 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984248"/>
            <a:ext cx="2569464" cy="1133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未发现 .github/workflows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未发现 .gitlab-ci.yml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未发现 Jenkinsfile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3A5961"/>
                </a:solidFill>
                <a:latin typeface="Calibri"/>
              </a:rPr>
              <a:t>需本地手动执行验证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867912"/>
            <a:ext cx="9966960" cy="1051560"/>
          </a:xfrm>
          <a:prstGeom prst="roundRect">
            <a:avLst/>
          </a:prstGeom>
          <a:solidFill>
            <a:srgbClr val="E7F7F4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4096512"/>
            <a:ext cx="1188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65A82"/>
                </a:solidFill>
                <a:latin typeface="Georgia"/>
              </a:rPr>
              <a:t>最近状态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14800"/>
            <a:ext cx="7818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6323A"/>
                </a:solidFill>
                <a:latin typeface="Calibri"/>
              </a:rPr>
              <a:t>本次为文档型变更，仅生成 PPTX。已使用 markitdown 对产物进行内容抽取与占位文本检查；业务测试未运行，因为没有修改业务代码。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风险与阻塞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生产化推进前需要优先消解的阻塞项。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353312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353312"/>
            <a:ext cx="146304" cy="1572768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1581912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密钥与本地配置缺失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011680"/>
            <a:ext cx="43434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3A5961"/>
                </a:solidFill>
                <a:latin typeface="Calibri"/>
              </a:rPr>
              <a:t>application.yml 中 DeepSeek、DashScope、Pexels、COS 仍是示例值；本地 profile 文件未入库。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353312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353312"/>
            <a:ext cx="146304" cy="15727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2824" y="1581912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外部依赖较重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2824" y="2011680"/>
            <a:ext cx="43434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3A5961"/>
                </a:solidFill>
                <a:latin typeface="Calibri"/>
              </a:rPr>
              <a:t>MySQL、Redis、Nacos、COS、Selenium 与外部 AI 服务均需可用环境支撑。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10712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410712"/>
            <a:ext cx="146304" cy="1572768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639312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单体 / 微服务双轨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4069080"/>
            <a:ext cx="43434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3A5961"/>
                </a:solidFill>
                <a:latin typeface="Calibri"/>
              </a:rPr>
              <a:t>两套轨道并存，教学递进清晰，但长期维护容易出现功能漂移。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410712"/>
            <a:ext cx="507492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3410712"/>
            <a:ext cx="146304" cy="1572768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3639312"/>
            <a:ext cx="43891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6323A"/>
                </a:solidFill>
                <a:latin typeface="Calibri"/>
              </a:rPr>
              <a:t>自动化保障不足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2824" y="4069080"/>
            <a:ext cx="43434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3A5961"/>
                </a:solidFill>
                <a:latin typeface="Calibri"/>
              </a:rPr>
              <a:t>微服务模块未发现测试；现有测试对密钥和网络敏感，不适合直接进入 CI。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未完成项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从“能跑 demo”到“可持续维护”还需要补齐的工程资产。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1261872"/>
            <a:ext cx="457200" cy="45720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17319"/>
            <a:ext cx="219456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8760" y="1243584"/>
            <a:ext cx="95554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55648" y="1371600"/>
            <a:ext cx="1554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6323A"/>
                </a:solidFill>
                <a:latin typeface="Calibri"/>
              </a:rPr>
              <a:t>环境模板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371600"/>
            <a:ext cx="7452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80" b="0" i="0">
                <a:solidFill>
                  <a:srgbClr val="3A5961"/>
                </a:solidFill>
                <a:latin typeface="Calibri"/>
              </a:rPr>
              <a:t>补充 application-local 示例、密钥注入说明与最小运行清单。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2103120"/>
            <a:ext cx="457200" cy="45720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219456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2084831"/>
            <a:ext cx="95554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5648" y="2212848"/>
            <a:ext cx="1554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6323A"/>
                </a:solidFill>
                <a:latin typeface="Calibri"/>
              </a:rPr>
              <a:t>自动化流水线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212848"/>
            <a:ext cx="7452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80" b="0" i="0">
                <a:solidFill>
                  <a:srgbClr val="3A5961"/>
                </a:solidFill>
                <a:latin typeface="Calibri"/>
              </a:rPr>
              <a:t>增加后端 fast test、前端 build/type-check/lint 的 CI 门禁。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2944368"/>
            <a:ext cx="457200" cy="45720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099815"/>
            <a:ext cx="219456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08760" y="2926079"/>
            <a:ext cx="95554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55648" y="3054096"/>
            <a:ext cx="1554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6323A"/>
                </a:solidFill>
                <a:latin typeface="Calibri"/>
              </a:rPr>
              <a:t>微服务测试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3054096"/>
            <a:ext cx="7452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80" b="0" i="0">
                <a:solidFill>
                  <a:srgbClr val="3A5961"/>
                </a:solidFill>
                <a:latin typeface="Calibri"/>
              </a:rPr>
              <a:t>为 user/app/ai/screenshot 增加可离线运行的契约或切片测试。</a:t>
            </a:r>
          </a:p>
        </p:txBody>
      </p:sp>
      <p:sp>
        <p:nvSpPr>
          <p:cNvPr id="21" name="Oval 20"/>
          <p:cNvSpPr/>
          <p:nvPr/>
        </p:nvSpPr>
        <p:spPr>
          <a:xfrm>
            <a:off x="841248" y="3785616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941064"/>
            <a:ext cx="219456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08760" y="3767328"/>
            <a:ext cx="95554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55648" y="3895344"/>
            <a:ext cx="1554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6323A"/>
                </a:solidFill>
                <a:latin typeface="Calibri"/>
              </a:rPr>
              <a:t>部署说明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3895344"/>
            <a:ext cx="7452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80" b="0" i="0">
                <a:solidFill>
                  <a:srgbClr val="3A5961"/>
                </a:solidFill>
                <a:latin typeface="Calibri"/>
              </a:rPr>
              <a:t>整理 Nacos、Redis、MySQL、Selenium、对象存储的启动顺序与故障排查。</a:t>
            </a:r>
          </a:p>
        </p:txBody>
      </p:sp>
      <p:sp>
        <p:nvSpPr>
          <p:cNvPr id="26" name="Oval 25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782312"/>
            <a:ext cx="219456" cy="91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08760" y="4608576"/>
            <a:ext cx="95554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55648" y="4736592"/>
            <a:ext cx="15544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6323A"/>
                </a:solidFill>
                <a:latin typeface="Calibri"/>
              </a:rPr>
              <a:t>指标落地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4736592"/>
            <a:ext cx="7452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80" b="0" i="0">
                <a:solidFill>
                  <a:srgbClr val="3A5961"/>
                </a:solidFill>
                <a:latin typeface="Calibri"/>
              </a:rPr>
              <a:t>将 Prometheus 配置与业务指标、AI 调用成本、生成成功率建立看板。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B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84048"/>
            <a:ext cx="813816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16323A"/>
                </a:solidFill>
                <a:latin typeface="Georgia"/>
              </a:rPr>
              <a:t>建议下一步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84124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B737B"/>
                </a:solidFill>
                <a:latin typeface="Calibri"/>
              </a:rPr>
              <a:t>优先级围绕“可运行、可验证、可维护”。</a:t>
            </a:r>
          </a:p>
        </p:txBody>
      </p:sp>
      <p:sp>
        <p:nvSpPr>
          <p:cNvPr id="4" name="Oval 3"/>
          <p:cNvSpPr/>
          <p:nvPr/>
        </p:nvSpPr>
        <p:spPr>
          <a:xfrm>
            <a:off x="11109960" y="38404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60252" y="480060"/>
            <a:ext cx="31089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417320"/>
            <a:ext cx="1874519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98448" y="1719072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192024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148132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收敛每日状态信号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37560"/>
            <a:ext cx="1426464" cy="1170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3A5961"/>
                </a:solidFill>
                <a:latin typeface="Calibri"/>
              </a:rPr>
              <a:t>固定采集 git、测试、依赖配置、关键目录变化，形成可复用日报模板。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35224" y="1417320"/>
            <a:ext cx="1874519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1719072"/>
            <a:ext cx="658368" cy="658368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92024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2606040"/>
            <a:ext cx="148132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补齐可离线验证链路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337560"/>
            <a:ext cx="1426464" cy="1170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3A5961"/>
                </a:solidFill>
                <a:latin typeface="Calibri"/>
              </a:rPr>
              <a:t>拆出不依赖外部 AI 的单元测试与 mock 契约，保障 CI 可稳定执行。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1417320"/>
            <a:ext cx="1874519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42432" y="1719072"/>
            <a:ext cx="658368" cy="65836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71032" y="192024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8384" y="2606040"/>
            <a:ext cx="148132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落地最小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6672" y="3337560"/>
            <a:ext cx="1426464" cy="1170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3A5961"/>
                </a:solidFill>
                <a:latin typeface="Calibri"/>
              </a:rPr>
              <a:t>后端 mvn test -DskipExternalAI、前端 build/type-check/lint 作为 PR 门禁。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79208" y="1417320"/>
            <a:ext cx="1874519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4424" y="171907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3024" y="192024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0376" y="2606040"/>
            <a:ext cx="148132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完善环境文档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98664" y="3337560"/>
            <a:ext cx="1426464" cy="1170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3A5961"/>
                </a:solidFill>
                <a:latin typeface="Calibri"/>
              </a:rPr>
              <a:t>提供 local profile 示例、Nacos/Redis/MySQL/COS/Selenium 初始化说明。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1417320"/>
            <a:ext cx="1874519" cy="4041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86416" y="1719072"/>
            <a:ext cx="658368" cy="658368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15016" y="1920240"/>
            <a:ext cx="18288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2368" y="2606040"/>
            <a:ext cx="1481328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6323A"/>
                </a:solidFill>
                <a:latin typeface="Calibri"/>
              </a:rPr>
              <a:t>治理双轨代码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0656" y="3337560"/>
            <a:ext cx="1426464" cy="11704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3A5961"/>
                </a:solidFill>
                <a:latin typeface="Calibri"/>
              </a:rPr>
              <a:t>明确单体与微服务的维护策略，减少同一能力在两处重复演进。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6473952"/>
            <a:ext cx="45720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B737B"/>
                </a:solidFill>
                <a:latin typeface="Calibri"/>
              </a:rPr>
              <a:t>yu-ai-code-mother · 每日项目状态 · 2026-06-10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1852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B73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72600" y="594360"/>
            <a:ext cx="3108960" cy="3108960"/>
          </a:xfrm>
          <a:prstGeom prst="ellipse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2468880"/>
            <a:ext cx="1645920" cy="1645920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841248"/>
            <a:ext cx="27432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6400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FEDE6"/>
                </a:solidFill>
                <a:latin typeface="Calibri"/>
              </a:rPr>
              <a:t>当前项目处于“能力完整、工程治理待加强”的维护观察阶段。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43200"/>
            <a:ext cx="297180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2971800"/>
            <a:ext cx="11887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Georgia"/>
              </a:rPr>
              <a:t>可展示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3355848"/>
            <a:ext cx="24688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EDE6"/>
                </a:solidFill>
                <a:latin typeface="Calibri"/>
              </a:rPr>
              <a:t>四大产品能力、AI 工作流、前端管理页与部署闭环已具备教学演示价值。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2743200"/>
            <a:ext cx="297180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971800"/>
            <a:ext cx="11887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Georgia"/>
              </a:rPr>
              <a:t>需补齐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3355848"/>
            <a:ext cx="24688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EDE6"/>
                </a:solidFill>
                <a:latin typeface="Calibri"/>
              </a:rPr>
              <a:t>CI、离线测试、环境模板、部署说明是进入稳定协作前的关键缺口。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2743200"/>
            <a:ext cx="297180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19288" y="2971800"/>
            <a:ext cx="118872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Georgia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3355848"/>
            <a:ext cx="2468880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BFEDE6"/>
                </a:solidFill>
                <a:latin typeface="Calibri"/>
              </a:rPr>
              <a:t>先做可运行与可验证，再推进生产化监控和双轨代码治理。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25312"/>
            <a:ext cx="603504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报告文件：docs/reports/project-status-2026-06-10.pptx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64008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BFEDE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- yu-ai-code-mother</dc:title>
  <dc:subject>AI 零代码应用生成平台项目状态</dc:subject>
  <dc:creator>Cursor Automation</dc:creator>
  <cp:keywords>yu-ai-code-mother, 项目状态, AI代码生成, 每日报告</cp:keywords>
  <dc:description>Generated on 2026-06-10 Beijing time.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