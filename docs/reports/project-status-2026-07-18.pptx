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-1280160"/>
            <a:ext cx="5669280" cy="5669280"/>
          </a:xfrm>
          <a:prstGeom prst="ellipse">
            <a:avLst/>
          </a:prstGeom>
          <a:solidFill>
            <a:srgbClr val="065A82">
              <a:alpha val="82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-457200"/>
            <a:ext cx="4023360" cy="4023360"/>
          </a:xfrm>
          <a:prstGeom prst="ellipse">
            <a:avLst/>
          </a:prstGeom>
          <a:solidFill>
            <a:srgbClr val="1C7293">
              <a:alpha val="88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38360" y="457200"/>
            <a:ext cx="2194560" cy="2194560"/>
          </a:xfrm>
          <a:prstGeom prst="ellipse">
            <a:avLst/>
          </a:prstGeom>
          <a:solidFill>
            <a:srgbClr val="02C39A">
              <a:alpha val="97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6949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260" kern="0" dirty="0">
                <a:solidFill>
                  <a:srgbClr val="8E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PROJECT STATUS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76656" y="1298448"/>
            <a:ext cx="6629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04088" y="2011680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C7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04088" y="251460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8ED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yu-ai-code-mother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13232" y="3310128"/>
            <a:ext cx="1481328" cy="329184"/>
          </a:xfrm>
          <a:prstGeom prst="roundRect">
            <a:avLst>
              <a:gd name="adj" fmla="val 22222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3328416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维护者 / 团队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31720" y="3310128"/>
            <a:ext cx="1609344" cy="329184"/>
          </a:xfrm>
          <a:prstGeom prst="roundRect">
            <a:avLst>
              <a:gd name="adj" fmla="val 22222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3328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仓库静态分析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78224" y="3310128"/>
            <a:ext cx="1225296" cy="329184"/>
          </a:xfrm>
          <a:prstGeom prst="roundRect">
            <a:avLst>
              <a:gd name="adj" fmla="val 22222"/>
            </a:avLst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51376" y="332841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北京时间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" y="4114800"/>
            <a:ext cx="3840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· 07 · 18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713232" y="4754880"/>
            <a:ext cx="6903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4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状态判断：能力完整，维护活跃度与工程门禁需优先恢复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848088" y="1252728"/>
            <a:ext cx="658368" cy="658368"/>
          </a:xfrm>
          <a:prstGeom prst="ellipse">
            <a:avLst/>
          </a:prstGeom>
          <a:solidFill>
            <a:srgbClr val="D8FAF2"/>
          </a:solidFill>
          <a:ln w="1524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48088" y="130759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469880" y="2148840"/>
            <a:ext cx="658368" cy="658368"/>
          </a:xfrm>
          <a:prstGeom prst="ellipse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69880" y="220370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55480" y="2907792"/>
            <a:ext cx="658368" cy="658368"/>
          </a:xfrm>
          <a:prstGeom prst="ellipse">
            <a:avLst/>
          </a:prstGeom>
          <a:solidFill>
            <a:srgbClr val="D8FAF2"/>
          </a:solidFill>
          <a:ln w="1524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55480" y="296265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588752" y="3758184"/>
            <a:ext cx="658368" cy="658368"/>
          </a:xfrm>
          <a:prstGeom prst="ellipse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88752" y="3813048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" y="6236208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9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报告范围：README、主要模块、Git 提交与测试/CI 配置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378440" y="623620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B9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-411480"/>
            <a:ext cx="1737360" cy="1737360"/>
          </a:xfrm>
          <a:prstGeom prst="ellipse">
            <a:avLst/>
          </a:prstGeom>
          <a:solidFill>
            <a:srgbClr val="E8F4F7">
              <a:alpha val="92000"/>
            </a:srgbClr>
          </a:solidFill>
          <a:ln w="12700">
            <a:solidFill>
              <a:srgbClr val="E8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91088" y="457200"/>
            <a:ext cx="658368" cy="658368"/>
          </a:xfrm>
          <a:prstGeom prst="ellipse">
            <a:avLst/>
          </a:prstGeom>
          <a:solidFill>
            <a:srgbClr val="1C7293">
              <a:alpha val="95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45952" y="621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389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SNAPSHOT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今日管理摘要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58368" y="1536192"/>
            <a:ext cx="10972800" cy="1078992"/>
          </a:xfrm>
          <a:prstGeom prst="roundRect">
            <a:avLst>
              <a:gd name="adj" fmla="val 6780"/>
            </a:avLst>
          </a:prstGeom>
          <a:solidFill>
            <a:srgbClr val="E5F4F7"/>
          </a:solidFill>
          <a:ln w="12700">
            <a:solidFill>
              <a:srgbClr val="B5DC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773936"/>
            <a:ext cx="475488" cy="47548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79222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72768" y="1719072"/>
            <a:ext cx="9555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仓库能力面已覆盖生成、编辑、部署、监控与微服务；当前主要问题不是“缺功能”，而是维护停滞、无 CI、双架构能力不齐。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658368" y="2926080"/>
            <a:ext cx="24871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  <a:effectLst>
            <a:outerShdw sx="100000" sy="100000" kx="0" ky="0" algn="bl" rotWithShape="0" blurRad="25400" dist="50800" dir="2700000">
              <a:srgbClr val="1932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2926080"/>
            <a:ext cx="64008" cy="21488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191256"/>
            <a:ext cx="128016" cy="128016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56432"/>
            <a:ext cx="1993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14400" y="406908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天提交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49884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5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含昨日：无变更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483864" y="2926080"/>
            <a:ext cx="24871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  <a:effectLst>
            <a:outerShdw sx="100000" sy="100000" kx="0" ky="0" algn="bl" rotWithShape="0" blurRad="25400" dist="50800" dir="2700000">
              <a:srgbClr val="19324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83864" y="2926080"/>
            <a:ext cx="64008" cy="2148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39896" y="3191256"/>
            <a:ext cx="128016" cy="12801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9896" y="3456432"/>
            <a:ext cx="1993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893918c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739896" y="406908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最近提交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39896" y="449884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5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2926080"/>
            <a:ext cx="24871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  <a:effectLst>
            <a:outerShdw sx="100000" sy="100000" kx="0" ky="0" algn="bl" rotWithShape="0" blurRad="25400" dist="50800" dir="2700000">
              <a:srgbClr val="19324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2926080"/>
            <a:ext cx="64008" cy="2148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65392" y="3191256"/>
            <a:ext cx="128016" cy="1280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5392" y="3456432"/>
            <a:ext cx="1993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6565392" y="406908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教程里程碑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565392" y="449884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5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覆盖完整产品链路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134856" y="2926080"/>
            <a:ext cx="24871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  <a:effectLst>
            <a:outerShdw sx="100000" sy="100000" kx="0" ky="0" algn="bl" rotWithShape="0" blurRad="25400" dist="50800" dir="2700000">
              <a:srgbClr val="19324A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134856" y="2926080"/>
            <a:ext cx="64008" cy="2148840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90888" y="3191256"/>
            <a:ext cx="128016" cy="128016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90888" y="3456432"/>
            <a:ext cx="1993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无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9390888" y="4069080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流水线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390888" y="449884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5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状态不可追溯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58368" y="543153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今日判断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737360" y="5376672"/>
            <a:ext cx="9738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建议把下一轮工作聚焦到“可持续维护”：依赖更新 → 测试分层 → CI 门禁 → 微服务能力对齐。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658368" y="6236208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5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依据：git log（2026-07-11 至 2026-07-18）、README、仓库配置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378440" y="623620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5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-411480"/>
            <a:ext cx="1737360" cy="1737360"/>
          </a:xfrm>
          <a:prstGeom prst="ellipse">
            <a:avLst/>
          </a:prstGeom>
          <a:solidFill>
            <a:srgbClr val="E8F4F7">
              <a:alpha val="92000"/>
            </a:srgbClr>
          </a:solidFill>
          <a:ln w="12700">
            <a:solidFill>
              <a:srgbClr val="E8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91088" y="457200"/>
            <a:ext cx="658368" cy="658368"/>
          </a:xfrm>
          <a:prstGeom prst="ellipse">
            <a:avLst/>
          </a:prstGeom>
          <a:solidFill>
            <a:srgbClr val="1C7293">
              <a:alpha val="95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45952" y="621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389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项目概览：双形态全栈架构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58368" y="1389888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一套业务能力，两种交付形态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1847088"/>
            <a:ext cx="459028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975104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17904" y="193852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需求输入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2743200" y="19385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自然语言描述应用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61488" y="2459736"/>
            <a:ext cx="347472" cy="274320"/>
          </a:xfrm>
          <a:prstGeom prst="downArrow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2798064"/>
            <a:ext cx="459028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92608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17904" y="2889504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2743200" y="288950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 · 工具调用 · SSE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761488" y="3410712"/>
            <a:ext cx="347472" cy="274320"/>
          </a:xfrm>
          <a:prstGeom prst="downArrow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749040"/>
            <a:ext cx="459028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877056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17904" y="3840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可视编辑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2743200" y="38404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iframe 点选 · 对话修改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2761488" y="4361688"/>
            <a:ext cx="347472" cy="274320"/>
          </a:xfrm>
          <a:prstGeom prst="downArrow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4700016"/>
            <a:ext cx="459028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4828032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17904" y="479145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部署交付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2743200" y="479145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云端访问 · 截图 · 源码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623560" y="1572768"/>
            <a:ext cx="5989320" cy="4361688"/>
          </a:xfrm>
          <a:prstGeom prst="roundRect">
            <a:avLst>
              <a:gd name="adj" fmla="val 1677"/>
            </a:avLst>
          </a:prstGeom>
          <a:solidFill>
            <a:srgbClr val="EAF6F8"/>
          </a:solidFill>
          <a:ln w="12700">
            <a:solidFill>
              <a:srgbClr val="B7DD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25312" y="1847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交付形态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25312" y="2240280"/>
            <a:ext cx="2505456" cy="2889504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  <a:effectLst>
            <a:outerShdw sx="100000" sy="100000" kx="0" ky="0" algn="bl" rotWithShape="0" blurRad="25400" dist="50800" dir="2700000">
              <a:srgbClr val="19324A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25312" y="2240280"/>
            <a:ext cx="64008" cy="288950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25237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完整单体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6199632" y="3054096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72784" y="307238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3.5.4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99632" y="3584448"/>
            <a:ext cx="18836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+ LangGraph4j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/ Caffeine / MySQL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限流、安全护轨、工作流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796528" y="2240280"/>
            <a:ext cx="2432304" cy="2889504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  <a:effectLst>
            <a:outerShdw sx="100000" sy="100000" kx="0" ky="0" algn="bl" rotWithShape="0" blurRad="25400" dist="50800" dir="2700000">
              <a:srgbClr val="19324A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796528" y="2240280"/>
            <a:ext cx="64008" cy="28895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70848" y="2523744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微服务版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070848" y="3054096"/>
            <a:ext cx="1664208" cy="329184"/>
          </a:xfrm>
          <a:prstGeom prst="roundRect">
            <a:avLst>
              <a:gd name="adj" fmla="val 22222"/>
            </a:avLst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0" y="30723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个业务子模块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070848" y="3584448"/>
            <a:ext cx="179222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+ Nacos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app / ai / screenshot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model / client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独立端口、跨服务调用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5925312" y="540410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差异提醒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67728" y="5358384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工作流、监控、限流尚未完整迁入微服务版。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58368" y="6236208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5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依据：README、根 pom.xml、yu-ai-code-mother-microservice/pom.xml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378440" y="623620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5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-411480"/>
            <a:ext cx="1737360" cy="1737360"/>
          </a:xfrm>
          <a:prstGeom prst="ellipse">
            <a:avLst/>
          </a:prstGeom>
          <a:solidFill>
            <a:srgbClr val="E8F4F7">
              <a:alpha val="92000"/>
            </a:srgbClr>
          </a:solidFill>
          <a:ln w="12700">
            <a:solidFill>
              <a:srgbClr val="E8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91088" y="457200"/>
            <a:ext cx="658368" cy="658368"/>
          </a:xfrm>
          <a:prstGeom prst="ellipse">
            <a:avLst/>
          </a:prstGeom>
          <a:solidFill>
            <a:srgbClr val="1C7293">
              <a:alpha val="95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45952" y="621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389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PORTFOLIO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核心能力：从描述到可分享应用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30352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  <a:effectLst>
            <a:outerShdw sx="100000" sy="100000" kx="0" ky="0" algn="bl" rotWithShape="0" blurRad="25400" dist="50800" dir="2700000">
              <a:srgbClr val="1932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572768"/>
            <a:ext cx="64008" cy="17190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82880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82496" y="179222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0" y="1810512"/>
            <a:ext cx="987552" cy="329184"/>
          </a:xfrm>
          <a:prstGeom prst="roundRect">
            <a:avLst>
              <a:gd name="adj" fmla="val 22222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2880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种模式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78408" y="2404872"/>
            <a:ext cx="45537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原生、多文件原生、Vue 工程；智能路由选择策略，工具调用负责文件读写与修改。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309360" y="1572768"/>
            <a:ext cx="530352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  <a:effectLst>
            <a:outerShdw sx="100000" sy="100000" kx="0" ky="0" algn="bl" rotWithShape="0" blurRad="25400" dist="50800" dir="2700000">
              <a:srgbClr val="19324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572768"/>
            <a:ext cx="64008" cy="17190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182880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333488" y="179222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222992" y="1810512"/>
            <a:ext cx="987552" cy="329184"/>
          </a:xfrm>
          <a:prstGeom prst="roundRect">
            <a:avLst>
              <a:gd name="adj" fmla="val 22222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96144" y="182880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增量迭代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2404872"/>
            <a:ext cx="45537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生成应用实时预览；iframe 内点选元素，继续与 AI 对话完成局部或全量修改。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58368" y="3840480"/>
            <a:ext cx="530352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  <a:effectLst>
            <a:outerShdw sx="100000" sy="100000" kx="0" ky="0" algn="bl" rotWithShape="0" blurRad="25400" dist="50800" dir="2700000">
              <a:srgbClr val="19324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" y="3840480"/>
            <a:ext cx="64008" cy="17190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" y="409651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682496" y="405993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部署与交付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572000" y="4078224"/>
            <a:ext cx="987552" cy="329184"/>
          </a:xfrm>
          <a:prstGeom prst="roundRect">
            <a:avLst>
              <a:gd name="adj" fmla="val 22222"/>
            </a:avLst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409651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闭环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78408" y="4672584"/>
            <a:ext cx="45537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一键部署、自动封面截图、访问地址分享，并支持完整项目源码打包下载。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309360" y="3840480"/>
            <a:ext cx="530352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  <a:effectLst>
            <a:outerShdw sx="100000" sy="100000" kx="0" ky="0" algn="bl" rotWithShape="0" blurRad="25400" dist="50800" dir="2700000">
              <a:srgbClr val="19324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3840480"/>
            <a:ext cx="64008" cy="171907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409651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333488" y="405993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企业级治理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10222992" y="4078224"/>
            <a:ext cx="987552" cy="329184"/>
          </a:xfrm>
          <a:prstGeom prst="roundRect">
            <a:avLst>
              <a:gd name="adj" fmla="val 22222"/>
            </a:avLst>
          </a:prstGeom>
          <a:solidFill>
            <a:srgbClr val="21295C"/>
          </a:solidFill>
          <a:ln w="12700">
            <a:solidFill>
              <a:srgbClr val="21295C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409651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可运营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29400" y="4672584"/>
            <a:ext cx="45537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用户与应用管理；精选审核；Prompt 护轨；限流缓存；AI / 系统监控。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658368" y="5696712"/>
            <a:ext cx="10963656" cy="356616"/>
          </a:xfrm>
          <a:prstGeom prst="roundRect">
            <a:avLst>
              <a:gd name="adj" fmla="val 20513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1832" y="5742432"/>
            <a:ext cx="10378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关键差异化：LangGraph4j 并发工作流 + 代码质检循环 + Prompt 增强，让项目超越基础 CRUD 教学。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58368" y="6236208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5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依据：README、AppChatPage.vue、visualEditor.ts、WorkflowSseController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378440" y="623620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5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-411480"/>
            <a:ext cx="1737360" cy="1737360"/>
          </a:xfrm>
          <a:prstGeom prst="ellipse">
            <a:avLst/>
          </a:prstGeom>
          <a:solidFill>
            <a:srgbClr val="E8F4F7">
              <a:alpha val="92000"/>
            </a:srgbClr>
          </a:solidFill>
          <a:ln w="12700">
            <a:solidFill>
              <a:srgbClr val="E8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91088" y="457200"/>
            <a:ext cx="658368" cy="658368"/>
          </a:xfrm>
          <a:prstGeom prst="ellipse">
            <a:avLst/>
          </a:prstGeom>
          <a:solidFill>
            <a:srgbClr val="1C7293">
              <a:alpha val="95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45952" y="621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389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SIGNALS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 / 指标要点：规模可观，活跃度停滞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2487168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  <a:effectLst>
            <a:outerShdw sx="100000" sy="100000" kx="0" ky="0" algn="bl" rotWithShape="0" blurRad="25400" dist="50800" dir="2700000">
              <a:srgbClr val="1932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572768"/>
            <a:ext cx="64008" cy="16276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856232"/>
            <a:ext cx="78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287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682496" y="189280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源文件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1682496" y="226771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+ 微服务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83864" y="1572768"/>
            <a:ext cx="2487168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  <a:effectLst>
            <a:outerShdw sx="100000" sy="100000" kx="0" ky="0" algn="bl" rotWithShape="0" blurRad="25400" dist="50800" dir="2700000">
              <a:srgbClr val="19324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83864" y="1572768"/>
            <a:ext cx="64008" cy="16276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58184" y="1856232"/>
            <a:ext cx="78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507992" y="189280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/ TS 文件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4507992" y="226771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src 目录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1572768"/>
            <a:ext cx="2487168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  <a:effectLst>
            <a:outerShdw sx="100000" sy="100000" kx="0" ky="0" algn="bl" rotWithShape="0" blurRad="25400" dist="50800" dir="2700000">
              <a:srgbClr val="19324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572768"/>
            <a:ext cx="64008" cy="16276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856232"/>
            <a:ext cx="78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333488" y="189280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微服务子模块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7333488" y="226771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另含 1 个父 POM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34856" y="1572768"/>
            <a:ext cx="2487168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  <a:effectLst>
            <a:outerShdw sx="100000" sy="100000" kx="0" ky="0" algn="bl" rotWithShape="0" blurRad="25400" dist="50800" dir="2700000">
              <a:srgbClr val="19324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34856" y="1572768"/>
            <a:ext cx="64008" cy="162763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09176" y="1856232"/>
            <a:ext cx="78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10158984" y="189280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测试</a:t>
            </a:r>
            <a:endParaRPr lang="en-US" sz="1380" dirty="0"/>
          </a:p>
        </p:txBody>
      </p:sp>
      <p:sp>
        <p:nvSpPr>
          <p:cNvPr id="27" name="Text 25"/>
          <p:cNvSpPr/>
          <p:nvPr/>
        </p:nvSpPr>
        <p:spPr>
          <a:xfrm>
            <a:off x="10158984" y="226771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单体工程为主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" y="3547872"/>
            <a:ext cx="676656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  <a:effectLst>
            <a:outerShdw sx="100000" sy="100000" kx="0" ky="0" algn="bl" rotWithShape="0" blurRad="25400" dist="50800" dir="2700000">
              <a:srgbClr val="19324A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32688" y="380390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提交活跃度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32688" y="44074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 7 天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240280" y="4416552"/>
            <a:ext cx="4498848" cy="256032"/>
          </a:xfrm>
          <a:prstGeom prst="roundRect">
            <a:avLst/>
          </a:prstGeom>
          <a:solidFill>
            <a:srgbClr val="DDE9ED"/>
          </a:solidFill>
          <a:ln w="12700">
            <a:solidFill>
              <a:srgbClr val="DDE9ED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40280" y="4343400"/>
            <a:ext cx="411480" cy="4114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08192" y="4343400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次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32688" y="50109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最近提交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267712" y="5157216"/>
            <a:ext cx="434340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94560" y="5084064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28416" y="5084064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62272" y="5084064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96128" y="5084064"/>
            <a:ext cx="146304" cy="14630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37960" y="5084064"/>
            <a:ext cx="146304" cy="14630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50992" y="5340096"/>
            <a:ext cx="1069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772400" y="3547872"/>
            <a:ext cx="3849624" cy="2212848"/>
          </a:xfrm>
          <a:prstGeom prst="roundRect">
            <a:avLst>
              <a:gd name="adj" fmla="val 3306"/>
            </a:avLst>
          </a:prstGeom>
          <a:solidFill>
            <a:srgbClr val="EAF6F8"/>
          </a:solidFill>
          <a:ln w="12700">
            <a:solidFill>
              <a:srgbClr val="B7DD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65008" y="380390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解读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8010144" y="4169664"/>
            <a:ext cx="33467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规模指标说明内容完整，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但不等于稳定交付。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更关键：自动化验证、依赖新鲜度，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以及双架构差距。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8065008" y="5285232"/>
            <a:ext cx="2212848" cy="329184"/>
          </a:xfrm>
          <a:prstGeom prst="roundRect">
            <a:avLst>
              <a:gd name="adj" fmla="val 22222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38160" y="530352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数据口径：仓库静态扫描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58368" y="6236208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5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统计口径：当前 HEAD（893918c）；文件数不含依赖与构建产物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378440" y="623620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5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-411480"/>
            <a:ext cx="1737360" cy="1737360"/>
          </a:xfrm>
          <a:prstGeom prst="ellipse">
            <a:avLst/>
          </a:prstGeom>
          <a:solidFill>
            <a:srgbClr val="E8F4F7">
              <a:alpha val="92000"/>
            </a:srgbClr>
          </a:solidFill>
          <a:ln w="12700">
            <a:solidFill>
              <a:srgbClr val="E8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91088" y="457200"/>
            <a:ext cx="658368" cy="658368"/>
          </a:xfrm>
          <a:prstGeom prst="ellipse">
            <a:avLst/>
          </a:prstGeom>
          <a:solidFill>
            <a:srgbClr val="1C7293">
              <a:alpha val="95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45952" y="621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389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TIMELINE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近期进展：本周无变更，回看最近里程碑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58368" y="1481328"/>
            <a:ext cx="10963656" cy="658368"/>
          </a:xfrm>
          <a:prstGeom prst="roundRect">
            <a:avLst>
              <a:gd name="adj" fmla="val 11111"/>
            </a:avLst>
          </a:prstGeom>
          <a:solidFill>
            <a:srgbClr val="FFF4E7"/>
          </a:solidFill>
          <a:ln w="12700">
            <a:solidFill>
              <a:srgbClr val="F5D6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1746504"/>
            <a:ext cx="128016" cy="128016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1600200"/>
            <a:ext cx="9921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2026-07-11 至 07-18：0 条提交；2026-07-17（昨日）：无代码变更。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828800" y="3127248"/>
            <a:ext cx="8366760" cy="0"/>
          </a:xfrm>
          <a:prstGeom prst="line">
            <a:avLst/>
          </a:prstGeom>
          <a:noFill/>
          <a:ln w="50800">
            <a:solidFill>
              <a:srgbClr val="CFE2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72768" y="2871216"/>
            <a:ext cx="512064" cy="51206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441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08-12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3639312"/>
            <a:ext cx="22860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84048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10–11 期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23544" y="4242816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高级特性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系统优化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61688" y="2871216"/>
            <a:ext cx="512064" cy="512064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0520" y="2441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08-14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474720" y="3639312"/>
            <a:ext cx="22860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12464" y="384048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12 期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712464" y="4242816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部署上线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生产配置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50608" y="2871216"/>
            <a:ext cx="512064" cy="512064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2441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08-14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63640" y="3639312"/>
            <a:ext cx="22860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01384" y="384048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13 期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01384" y="4242816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/ Prometheus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可观测性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939528" y="2871216"/>
            <a:ext cx="512064" cy="512064"/>
          </a:xfrm>
          <a:prstGeom prst="ellipse">
            <a:avLst/>
          </a:prstGeom>
          <a:solidFill>
            <a:srgbClr val="E76F5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38360" y="2441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08-26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052560" y="3639312"/>
            <a:ext cx="22860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90304" y="384048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期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290304" y="4242816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+ Nacos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微服务改造完成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8368" y="544068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最近提交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627632" y="5394960"/>
            <a:ext cx="8705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893918c  ·  教程第 14 期 — 微服务改造完成（包含完整单体项目代码）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0012680" y="5385816"/>
            <a:ext cx="1298448" cy="329184"/>
          </a:xfrm>
          <a:prstGeom prst="roundRect">
            <a:avLst>
              <a:gd name="adj" fmla="val 22222"/>
            </a:avLst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85832" y="5404104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历史最近里程碑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" y="6236208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5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依据：git log；时间轴日期为 2025 年，报告日为 2026-07-18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378440" y="623620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5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-411480"/>
            <a:ext cx="1737360" cy="1737360"/>
          </a:xfrm>
          <a:prstGeom prst="ellipse">
            <a:avLst/>
          </a:prstGeom>
          <a:solidFill>
            <a:srgbClr val="E8F4F7">
              <a:alpha val="92000"/>
            </a:srgbClr>
          </a:solidFill>
          <a:ln w="12700">
            <a:solidFill>
              <a:srgbClr val="E8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91088" y="457200"/>
            <a:ext cx="658368" cy="658368"/>
          </a:xfrm>
          <a:prstGeom prst="ellipse">
            <a:avLst/>
          </a:prstGeom>
          <a:solidFill>
            <a:srgbClr val="1C7293">
              <a:alpha val="95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45952" y="621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389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/ 测试状态：有测试资产，缺自动门禁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3657600" cy="4315968"/>
          </a:xfrm>
          <a:prstGeom prst="roundRect">
            <a:avLst>
              <a:gd name="adj" fmla="val 20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019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9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工程可验证性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87552" y="239572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需改善</a:t>
            </a:r>
            <a:endParaRPr lang="en-US" sz="3500" dirty="0"/>
          </a:p>
        </p:txBody>
      </p:sp>
      <p:sp>
        <p:nvSpPr>
          <p:cNvPr id="11" name="Text 9"/>
          <p:cNvSpPr/>
          <p:nvPr/>
        </p:nvSpPr>
        <p:spPr>
          <a:xfrm>
            <a:off x="987552" y="3310128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5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测试文件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883664" y="3346704"/>
            <a:ext cx="1143000" cy="146304"/>
          </a:xfrm>
          <a:prstGeom prst="roundRect">
            <a:avLst/>
          </a:prstGeom>
          <a:solidFill>
            <a:srgbClr val="526589"/>
          </a:solidFill>
          <a:ln w="12700">
            <a:solidFill>
              <a:srgbClr val="526589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83664" y="3346704"/>
            <a:ext cx="822960" cy="146304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72384" y="3291840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87552" y="396849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5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配置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883664" y="4005072"/>
            <a:ext cx="1143000" cy="146304"/>
          </a:xfrm>
          <a:prstGeom prst="roundRect">
            <a:avLst/>
          </a:prstGeom>
          <a:solidFill>
            <a:srgbClr val="526589"/>
          </a:solidFill>
          <a:ln w="12700">
            <a:solidFill>
              <a:srgbClr val="526589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83664" y="4005072"/>
            <a:ext cx="109728" cy="146304"/>
          </a:xfrm>
          <a:prstGeom prst="round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72384" y="3950208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87552" y="4626864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5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前端脚本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883664" y="4663440"/>
            <a:ext cx="1143000" cy="146304"/>
          </a:xfrm>
          <a:prstGeom prst="roundRect">
            <a:avLst/>
          </a:prstGeom>
          <a:solidFill>
            <a:srgbClr val="526589"/>
          </a:solidFill>
          <a:ln w="12700">
            <a:solidFill>
              <a:srgbClr val="526589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83664" y="4663440"/>
            <a:ext cx="777240" cy="146304"/>
          </a:xfrm>
          <a:prstGeom prst="round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72384" y="4608576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· build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87552" y="5413248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8D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结论：无可查询的近期 CI 运行记录。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736592" y="1719072"/>
            <a:ext cx="438912" cy="43891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172821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394960" y="1645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仓库未发现 CI 配置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882128" y="1609344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.github/workflows、Jenkinsfile 或 GitLab CI，PR 缺持续验证。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394960" y="2441448"/>
            <a:ext cx="5943600" cy="0"/>
          </a:xfrm>
          <a:prstGeom prst="line">
            <a:avLst/>
          </a:prstGeom>
          <a:noFill/>
          <a:ln w="12700">
            <a:solidFill>
              <a:srgbClr val="CFE2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36592" y="2788920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279806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394960" y="27157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测试共 14 类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7882128" y="267919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覆盖解析、AI 生成、工作流与截图工具，但多数集中于完整单体。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5394960" y="3511296"/>
            <a:ext cx="5943600" cy="0"/>
          </a:xfrm>
          <a:prstGeom prst="line">
            <a:avLst/>
          </a:prstGeom>
          <a:noFill/>
          <a:ln w="12700">
            <a:solidFill>
              <a:srgbClr val="CFE2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36592" y="3858768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386791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394960" y="37856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测试存在外部依赖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7882128" y="37490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AI、图片检索、截图等测试依赖 live API / 浏览器，容易在无密钥环境波动。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5394960" y="4581144"/>
            <a:ext cx="5943600" cy="0"/>
          </a:xfrm>
          <a:prstGeom prst="line">
            <a:avLst/>
          </a:prstGeom>
          <a:noFill/>
          <a:ln w="12700">
            <a:solidFill>
              <a:srgbClr val="CFE2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36592" y="4928616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6592" y="493776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394960" y="48554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前端具备检查脚本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7882128" y="481888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 提供 type-check、lint 与 build，但尚未由 CI 统一触发。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58368" y="6236208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5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依据：测试目录、前端 package.json 与 CI 配置扫描；未宣称测试已通过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378440" y="623620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5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-411480"/>
            <a:ext cx="1737360" cy="1737360"/>
          </a:xfrm>
          <a:prstGeom prst="ellipse">
            <a:avLst/>
          </a:prstGeom>
          <a:solidFill>
            <a:srgbClr val="E8F4F7">
              <a:alpha val="92000"/>
            </a:srgbClr>
          </a:solidFill>
          <a:ln w="12700">
            <a:solidFill>
              <a:srgbClr val="E8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91088" y="457200"/>
            <a:ext cx="658368" cy="658368"/>
          </a:xfrm>
          <a:prstGeom prst="ellipse">
            <a:avLst/>
          </a:prstGeom>
          <a:solidFill>
            <a:srgbClr val="1C7293">
              <a:alpha val="95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45952" y="621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389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GAPS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未完成项：产品能力完整，工程闭环仍有缺口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30352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  <a:effectLst>
            <a:outerShdw sx="100000" sy="100000" kx="0" ky="0" algn="bl" rotWithShape="0" blurRad="25400" dist="50800" dir="2700000">
              <a:srgbClr val="1932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9264" y="1865376"/>
            <a:ext cx="621792" cy="62179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1929384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83080" y="18288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微服务能力未对齐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72000" y="1856232"/>
            <a:ext cx="1069848" cy="329184"/>
          </a:xfrm>
          <a:prstGeom prst="roundRect">
            <a:avLst>
              <a:gd name="adj" fmla="val 22222"/>
            </a:avLst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74520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架构一致性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243230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工作流、监控、限流与完整可观测性仍以单体实现为主。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309360" y="1572768"/>
            <a:ext cx="530352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  <a:effectLst>
            <a:outerShdw sx="100000" sy="100000" kx="0" ky="0" algn="bl" rotWithShape="0" blurRad="25400" dist="50800" dir="2700000">
              <a:srgbClr val="19324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20256" y="1865376"/>
            <a:ext cx="621792" cy="6217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0256" y="1929384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434072" y="18288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缺统一 API Gateway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10222992" y="1856232"/>
            <a:ext cx="1069848" cy="329184"/>
          </a:xfrm>
          <a:prstGeom prst="roundRect">
            <a:avLst>
              <a:gd name="adj" fmla="val 22222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96144" y="1874520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平台入口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34072" y="243230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微服务需分别访问多个端口，入口治理与统一鉴权不足。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58368" y="3803904"/>
            <a:ext cx="530352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  <a:effectLst>
            <a:outerShdw sx="100000" sy="100000" kx="0" ky="0" algn="bl" rotWithShape="0" blurRad="25400" dist="50800" dir="2700000">
              <a:srgbClr val="19324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9264" y="4096512"/>
            <a:ext cx="621792" cy="6217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" y="4160520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783080" y="405993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工作流业务整合未闭环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4572000" y="4087368"/>
            <a:ext cx="1069848" cy="329184"/>
          </a:xfrm>
          <a:prstGeom prst="roundRect">
            <a:avLst>
              <a:gd name="adj" fmla="val 22222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4105656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业务联动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83080" y="466344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CodeGeneratorNode 仍标注固定 appId，需接回正式 App 链路。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309360" y="3803904"/>
            <a:ext cx="530352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  <a:effectLst>
            <a:outerShdw sx="100000" sy="100000" kx="0" ky="0" algn="bl" rotWithShape="0" blurRad="25400" dist="50800" dir="2700000">
              <a:srgbClr val="19324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20256" y="4096512"/>
            <a:ext cx="621792" cy="6217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0256" y="4160520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7434072" y="405993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定制流式代码有技术债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10222992" y="4087368"/>
            <a:ext cx="1069848" cy="329184"/>
          </a:xfrm>
          <a:prstGeom prst="roundRect">
            <a:avLst>
              <a:gd name="adj" fmla="val 22222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4105656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代码健康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34072" y="466344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类保留 TODO 与 OLOLO 调试输出，增加维护与升级风险。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658368" y="5669280"/>
            <a:ext cx="10963656" cy="347472"/>
          </a:xfrm>
          <a:prstGeom prst="roundRect">
            <a:avLst>
              <a:gd name="adj" fmla="val 21053"/>
            </a:avLst>
          </a:prstGeom>
          <a:solidFill>
            <a:srgbClr val="EAF6F8"/>
          </a:solidFill>
          <a:ln w="12700">
            <a:solidFill>
              <a:srgbClr val="B7DD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5715000"/>
            <a:ext cx="10442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文档侧缺口：README 强调“扩展点”，但仓库没有正式 ROADMAP / TODO 文档，贡献优先级不透明。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58368" y="6236208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5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依据：微服务目录、CodeGeneratorNode.java、dev/langchain4j 定制源码、README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378440" y="623620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5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-411480"/>
            <a:ext cx="1737360" cy="1737360"/>
          </a:xfrm>
          <a:prstGeom prst="ellipse">
            <a:avLst/>
          </a:prstGeom>
          <a:solidFill>
            <a:srgbClr val="E8F4F7">
              <a:alpha val="92000"/>
            </a:srgbClr>
          </a:solidFill>
          <a:ln w="12700">
            <a:solidFill>
              <a:srgbClr val="E8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91088" y="457200"/>
            <a:ext cx="658368" cy="658368"/>
          </a:xfrm>
          <a:prstGeom prst="ellipse">
            <a:avLst/>
          </a:prstGeom>
          <a:solidFill>
            <a:srgbClr val="1C7293">
              <a:alpha val="95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45952" y="621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389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LANDSCAPE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风险与阻塞：维护停滞是首要系统性风险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6080760" cy="4407408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792224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5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 ↑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58384" y="5559552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5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发生可能性 →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207008" y="5330952"/>
            <a:ext cx="4919472" cy="0"/>
          </a:xfrm>
          <a:prstGeom prst="line">
            <a:avLst/>
          </a:prstGeom>
          <a:noFill/>
          <a:ln w="19050">
            <a:solidFill>
              <a:srgbClr val="5266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07008" y="2139696"/>
            <a:ext cx="0" cy="3191256"/>
          </a:xfrm>
          <a:prstGeom prst="line">
            <a:avLst/>
          </a:prstGeom>
          <a:noFill/>
          <a:ln w="19050">
            <a:solidFill>
              <a:srgbClr val="5266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66744" y="2139696"/>
            <a:ext cx="0" cy="3191256"/>
          </a:xfrm>
          <a:prstGeom prst="line">
            <a:avLst/>
          </a:prstGeom>
          <a:noFill/>
          <a:ln w="12700">
            <a:solidFill>
              <a:srgbClr val="CFE2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07008" y="3730752"/>
            <a:ext cx="4919472" cy="0"/>
          </a:xfrm>
          <a:prstGeom prst="line">
            <a:avLst/>
          </a:prstGeom>
          <a:noFill/>
          <a:ln w="12700">
            <a:solidFill>
              <a:srgbClr val="CF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22768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重点治理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2532888"/>
            <a:ext cx="475488" cy="475488"/>
          </a:xfrm>
          <a:prstGeom prst="ellipse">
            <a:avLst/>
          </a:prstGeom>
          <a:solidFill>
            <a:srgbClr val="C94C4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50800" dir="2700000">
              <a:srgbClr val="19324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0" y="259689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27448" y="3337560"/>
            <a:ext cx="475488" cy="475488"/>
          </a:xfrm>
          <a:prstGeom prst="ellipse">
            <a:avLst/>
          </a:prstGeom>
          <a:solidFill>
            <a:srgbClr val="E76F51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50800" dir="2700000">
              <a:srgbClr val="19324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27448" y="340156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69080" y="4187952"/>
            <a:ext cx="475488" cy="475488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50800" dir="2700000">
              <a:srgbClr val="19324A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069080" y="4251960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61488" y="3127248"/>
            <a:ext cx="475488" cy="47548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50800" dir="2700000">
              <a:srgbClr val="19324A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61488" y="319125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12848" y="4370832"/>
            <a:ext cx="475488" cy="475488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50800" dir="2700000">
              <a:srgbClr val="19324A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212848" y="4434840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95744" y="1709928"/>
            <a:ext cx="502920" cy="329184"/>
          </a:xfrm>
          <a:prstGeom prst="roundRect">
            <a:avLst>
              <a:gd name="adj" fmla="val 22222"/>
            </a:avLst>
          </a:prstGeom>
          <a:solidFill>
            <a:srgbClr val="C94C4C"/>
          </a:solidFill>
          <a:ln w="12700">
            <a:solidFill>
              <a:srgbClr val="C94C4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68896" y="1728216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90688" y="16459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长期无提交</a:t>
            </a:r>
            <a:endParaRPr lang="en-US" sz="1420" dirty="0"/>
          </a:p>
        </p:txBody>
      </p:sp>
      <p:sp>
        <p:nvSpPr>
          <p:cNvPr id="29" name="Text 27"/>
          <p:cNvSpPr/>
          <p:nvPr/>
        </p:nvSpPr>
        <p:spPr>
          <a:xfrm>
            <a:off x="9125712" y="1636776"/>
            <a:ext cx="21762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依赖老化 / 安全补丁缺失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7095744" y="2560320"/>
            <a:ext cx="502920" cy="329184"/>
          </a:xfrm>
          <a:prstGeom prst="roundRect">
            <a:avLst>
              <a:gd name="adj" fmla="val 22222"/>
            </a:avLst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68896" y="2578608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90688" y="249631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环境依赖复杂</a:t>
            </a:r>
            <a:endParaRPr lang="en-US" sz="1420" dirty="0"/>
          </a:p>
        </p:txBody>
      </p:sp>
      <p:sp>
        <p:nvSpPr>
          <p:cNvPr id="33" name="Text 31"/>
          <p:cNvSpPr/>
          <p:nvPr/>
        </p:nvSpPr>
        <p:spPr>
          <a:xfrm>
            <a:off x="9125712" y="2487168"/>
            <a:ext cx="21762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Redis / Nacos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密钥 / 浏览器</a:t>
            </a:r>
            <a:endParaRPr lang="en-US" sz="1220" dirty="0"/>
          </a:p>
        </p:txBody>
      </p:sp>
      <p:sp>
        <p:nvSpPr>
          <p:cNvPr id="34" name="Shape 32"/>
          <p:cNvSpPr/>
          <p:nvPr/>
        </p:nvSpPr>
        <p:spPr>
          <a:xfrm>
            <a:off x="7095744" y="3410712"/>
            <a:ext cx="502920" cy="329184"/>
          </a:xfrm>
          <a:prstGeom prst="roundRect">
            <a:avLst>
              <a:gd name="adj" fmla="val 22222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68896" y="3429000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90688" y="334670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 API 测试</a:t>
            </a:r>
            <a:endParaRPr lang="en-US" sz="1420" dirty="0"/>
          </a:p>
        </p:txBody>
      </p:sp>
      <p:sp>
        <p:nvSpPr>
          <p:cNvPr id="37" name="Text 35"/>
          <p:cNvSpPr/>
          <p:nvPr/>
        </p:nvSpPr>
        <p:spPr>
          <a:xfrm>
            <a:off x="9125712" y="3337560"/>
            <a:ext cx="21762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PR 环境难以稳定复现</a:t>
            </a:r>
            <a:endParaRPr lang="en-US" sz="1220" dirty="0"/>
          </a:p>
        </p:txBody>
      </p:sp>
      <p:sp>
        <p:nvSpPr>
          <p:cNvPr id="38" name="Shape 36"/>
          <p:cNvSpPr/>
          <p:nvPr/>
        </p:nvSpPr>
        <p:spPr>
          <a:xfrm>
            <a:off x="7095744" y="4261104"/>
            <a:ext cx="502920" cy="329184"/>
          </a:xfrm>
          <a:prstGeom prst="roundRect">
            <a:avLst>
              <a:gd name="adj" fmla="val 22222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68896" y="4279392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90688" y="4197096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双代码库并存</a:t>
            </a:r>
            <a:endParaRPr lang="en-US" sz="1420" dirty="0"/>
          </a:p>
        </p:txBody>
      </p:sp>
      <p:sp>
        <p:nvSpPr>
          <p:cNvPr id="41" name="Text 39"/>
          <p:cNvSpPr/>
          <p:nvPr/>
        </p:nvSpPr>
        <p:spPr>
          <a:xfrm>
            <a:off x="9125712" y="4187952"/>
            <a:ext cx="21762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贡献者难判断推荐部署形态</a:t>
            </a:r>
            <a:endParaRPr lang="en-US" sz="1220" dirty="0"/>
          </a:p>
        </p:txBody>
      </p:sp>
      <p:sp>
        <p:nvSpPr>
          <p:cNvPr id="42" name="Shape 40"/>
          <p:cNvSpPr/>
          <p:nvPr/>
        </p:nvSpPr>
        <p:spPr>
          <a:xfrm>
            <a:off x="7095744" y="5111496"/>
            <a:ext cx="502920" cy="329184"/>
          </a:xfrm>
          <a:prstGeom prst="roundRect">
            <a:avLst>
              <a:gd name="adj" fmla="val 22222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68896" y="5129784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790688" y="504748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无质量门禁</a:t>
            </a:r>
            <a:endParaRPr lang="en-US" sz="1420" dirty="0"/>
          </a:p>
        </p:txBody>
      </p:sp>
      <p:sp>
        <p:nvSpPr>
          <p:cNvPr id="45" name="Text 43"/>
          <p:cNvSpPr/>
          <p:nvPr/>
        </p:nvSpPr>
        <p:spPr>
          <a:xfrm>
            <a:off x="9125712" y="5038344"/>
            <a:ext cx="21762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回归完全依赖手动验证</a:t>
            </a:r>
            <a:endParaRPr lang="en-US" sz="1220" dirty="0"/>
          </a:p>
        </p:txBody>
      </p:sp>
      <p:sp>
        <p:nvSpPr>
          <p:cNvPr id="46" name="Shape 44"/>
          <p:cNvSpPr/>
          <p:nvPr/>
        </p:nvSpPr>
        <p:spPr>
          <a:xfrm>
            <a:off x="7095744" y="5532120"/>
            <a:ext cx="4215384" cy="448056"/>
          </a:xfrm>
          <a:prstGeom prst="roundRect">
            <a:avLst>
              <a:gd name="adj" fmla="val 16327"/>
            </a:avLst>
          </a:prstGeom>
          <a:solidFill>
            <a:srgbClr val="FFF4E7"/>
          </a:solidFill>
          <a:ln w="12700">
            <a:solidFill>
              <a:srgbClr val="F5D6A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96912" y="56052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阻塞本质：缺少可重复、无密钥也能运行的验证路径。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658368" y="6236208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5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风险排序基于仓库证据的定性评估，不代表线上事故数据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378440" y="623620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5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-411480"/>
            <a:ext cx="1737360" cy="1737360"/>
          </a:xfrm>
          <a:prstGeom prst="ellipse">
            <a:avLst/>
          </a:prstGeom>
          <a:solidFill>
            <a:srgbClr val="E8F4F7">
              <a:alpha val="92000"/>
            </a:srgbClr>
          </a:solidFill>
          <a:ln w="12700">
            <a:solidFill>
              <a:srgbClr val="E8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91088" y="457200"/>
            <a:ext cx="658368" cy="658368"/>
          </a:xfrm>
          <a:prstGeom prst="ellipse">
            <a:avLst/>
          </a:prstGeom>
          <a:solidFill>
            <a:srgbClr val="1C7293">
              <a:alpha val="95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45952" y="6217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389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71323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建议下一步：先恢复可维护性，再扩展能力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3438144" cy="434340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  <a:effectLst>
            <a:outerShdw sx="100000" sy="100000" kx="0" ky="0" algn="bl" rotWithShape="0" blurRad="25400" dist="50800" dir="2700000">
              <a:srgbClr val="1932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1572768"/>
            <a:ext cx="64008" cy="4343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892808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1911096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82496" y="18288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建立可信基线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69264" y="2596896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260604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91056" y="2560320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 CI：后端编译/单测 + 前端 type-check/build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969264" y="3529584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353872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91056" y="3493008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 live AI / 截图测试标记为 integration，默认使用 Mock</a:t>
            </a:r>
            <a:endParaRPr lang="en-US" sz="1380" dirty="0"/>
          </a:p>
        </p:txBody>
      </p:sp>
      <p:sp>
        <p:nvSpPr>
          <p:cNvPr id="19" name="Shape 17"/>
          <p:cNvSpPr/>
          <p:nvPr/>
        </p:nvSpPr>
        <p:spPr>
          <a:xfrm>
            <a:off x="969264" y="4462272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447141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91056" y="4425696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 README 推荐运行形态与环境依赖清单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969264" y="540410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立即优先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389120" y="1572768"/>
            <a:ext cx="3438144" cy="434340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  <a:effectLst>
            <a:outerShdw sx="100000" sy="100000" kx="0" ky="0" algn="bl" rotWithShape="0" blurRad="25400" dist="50800" dir="2700000">
              <a:srgbClr val="19324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89120" y="1572768"/>
            <a:ext cx="64008" cy="4343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0016" y="1892808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1911096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13248" y="18288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降低技术债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4700016" y="2596896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0016" y="260604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321808" y="2560320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升级关键依赖并完成安全审计</a:t>
            </a:r>
            <a:endParaRPr lang="en-US" sz="1380" dirty="0"/>
          </a:p>
        </p:txBody>
      </p:sp>
      <p:sp>
        <p:nvSpPr>
          <p:cNvPr id="31" name="Shape 29"/>
          <p:cNvSpPr/>
          <p:nvPr/>
        </p:nvSpPr>
        <p:spPr>
          <a:xfrm>
            <a:off x="4700016" y="3529584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0016" y="353872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321808" y="3493008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移除 OLOLO 调试输出，收敛 fork TODO</a:t>
            </a:r>
            <a:endParaRPr lang="en-US" sz="1380" dirty="0"/>
          </a:p>
        </p:txBody>
      </p:sp>
      <p:sp>
        <p:nvSpPr>
          <p:cNvPr id="34" name="Shape 32"/>
          <p:cNvSpPr/>
          <p:nvPr/>
        </p:nvSpPr>
        <p:spPr>
          <a:xfrm>
            <a:off x="4700016" y="4462272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0016" y="447141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321808" y="4425696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完成固定 appId 到正式 App 业务链路整合</a:t>
            </a:r>
            <a:endParaRPr lang="en-US" sz="1380" dirty="0"/>
          </a:p>
        </p:txBody>
      </p:sp>
      <p:sp>
        <p:nvSpPr>
          <p:cNvPr id="37" name="Text 35"/>
          <p:cNvSpPr/>
          <p:nvPr/>
        </p:nvSpPr>
        <p:spPr>
          <a:xfrm>
            <a:off x="4700016" y="540410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基线后推进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119872" y="1572768"/>
            <a:ext cx="3438144" cy="434340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CFE2E8"/>
            </a:solidFill>
            <a:prstDash val="solid"/>
          </a:ln>
          <a:effectLst>
            <a:outerShdw sx="100000" sy="100000" kx="0" ky="0" algn="bl" rotWithShape="0" blurRad="25400" dist="50800" dir="2700000">
              <a:srgbClr val="19324A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119872" y="1572768"/>
            <a:ext cx="64008" cy="4343400"/>
          </a:xfrm>
          <a:prstGeom prst="rect">
            <a:avLst/>
          </a:prstGeom>
          <a:solidFill>
            <a:srgbClr val="064F70"/>
          </a:solidFill>
          <a:ln w="12700">
            <a:solidFill>
              <a:srgbClr val="064F70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30768" y="1892808"/>
            <a:ext cx="566928" cy="329184"/>
          </a:xfrm>
          <a:prstGeom prst="roundRect">
            <a:avLst>
              <a:gd name="adj" fmla="val 22222"/>
            </a:avLst>
          </a:prstGeom>
          <a:solidFill>
            <a:srgbClr val="064F70"/>
          </a:solidFill>
          <a:ln w="12700">
            <a:solidFill>
              <a:srgbClr val="064F7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1911096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144000" y="18288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对齐平台能力</a:t>
            </a:r>
            <a:endParaRPr lang="en-US" sz="1900" dirty="0"/>
          </a:p>
        </p:txBody>
      </p:sp>
      <p:sp>
        <p:nvSpPr>
          <p:cNvPr id="43" name="Shape 41"/>
          <p:cNvSpPr/>
          <p:nvPr/>
        </p:nvSpPr>
        <p:spPr>
          <a:xfrm>
            <a:off x="8430768" y="2596896"/>
            <a:ext cx="438912" cy="438912"/>
          </a:xfrm>
          <a:prstGeom prst="ellipse">
            <a:avLst/>
          </a:prstGeom>
          <a:solidFill>
            <a:srgbClr val="064F70"/>
          </a:solidFill>
          <a:ln w="12700">
            <a:solidFill>
              <a:srgbClr val="064F7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30768" y="260604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052560" y="2560320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 Spring Cloud Gateway 与统一鉴权</a:t>
            </a:r>
            <a:endParaRPr lang="en-US" sz="1380" dirty="0"/>
          </a:p>
        </p:txBody>
      </p:sp>
      <p:sp>
        <p:nvSpPr>
          <p:cNvPr id="46" name="Shape 44"/>
          <p:cNvSpPr/>
          <p:nvPr/>
        </p:nvSpPr>
        <p:spPr>
          <a:xfrm>
            <a:off x="8430768" y="3529584"/>
            <a:ext cx="438912" cy="438912"/>
          </a:xfrm>
          <a:prstGeom prst="ellipse">
            <a:avLst/>
          </a:prstGeom>
          <a:solidFill>
            <a:srgbClr val="064F70"/>
          </a:solidFill>
          <a:ln w="12700">
            <a:solidFill>
              <a:srgbClr val="064F7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30768" y="353872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9052560" y="3493008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迁移工作流、监控、限流到微服务版</a:t>
            </a:r>
            <a:endParaRPr lang="en-US" sz="1380" dirty="0"/>
          </a:p>
        </p:txBody>
      </p:sp>
      <p:sp>
        <p:nvSpPr>
          <p:cNvPr id="49" name="Shape 47"/>
          <p:cNvSpPr/>
          <p:nvPr/>
        </p:nvSpPr>
        <p:spPr>
          <a:xfrm>
            <a:off x="8430768" y="4462272"/>
            <a:ext cx="438912" cy="438912"/>
          </a:xfrm>
          <a:prstGeom prst="ellipse">
            <a:avLst/>
          </a:prstGeom>
          <a:solidFill>
            <a:srgbClr val="064F70"/>
          </a:solidFill>
          <a:ln w="12700">
            <a:solidFill>
              <a:srgbClr val="064F70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30768" y="447141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9052560" y="4425696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52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补充微服务部署拓扑与可观测性手册</a:t>
            </a:r>
            <a:endParaRPr lang="en-US" sz="1380" dirty="0"/>
          </a:p>
        </p:txBody>
      </p:sp>
      <p:sp>
        <p:nvSpPr>
          <p:cNvPr id="52" name="Text 50"/>
          <p:cNvSpPr/>
          <p:nvPr/>
        </p:nvSpPr>
        <p:spPr>
          <a:xfrm>
            <a:off x="8430768" y="540410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6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能力扩展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58368" y="6236208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5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优先级依据：先恢复可验证性与维护节奏，再处理架构扩展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378440" y="623620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5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34440" y="4169664"/>
            <a:ext cx="4206240" cy="4206240"/>
          </a:xfrm>
          <a:prstGeom prst="ellipse">
            <a:avLst/>
          </a:prstGeom>
          <a:solidFill>
            <a:srgbClr val="065A82">
              <a:alpha val="78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89720" y="-1234440"/>
            <a:ext cx="3840480" cy="3840480"/>
          </a:xfrm>
          <a:prstGeom prst="ellipse">
            <a:avLst/>
          </a:prstGeom>
          <a:solidFill>
            <a:srgbClr val="1C7293">
              <a:alpha val="88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621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spc="230" kern="0" dirty="0">
                <a:solidFill>
                  <a:srgbClr val="8E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94944" y="111556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今日结论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13232" y="1847088"/>
            <a:ext cx="5806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9E7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功能完整 ≠ 工程健康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13232" y="2578608"/>
            <a:ext cx="6601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4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项目已具备从 AI 生成到部署运营的完整教学闭环；下一阶段的最高价值，是用 CI、测试分层和架构对齐把“能运行”升级为“可持续演进”。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13232" y="4224528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334270"/>
          </a:solidFill>
          <a:ln w="12700">
            <a:solidFill>
              <a:srgbClr val="6074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444398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ED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17904" y="4407408"/>
            <a:ext cx="2121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保持优势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9264" y="4882896"/>
            <a:ext cx="27980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6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保留生成 / 编辑 / 部署 / 工作流的完整链路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43984" y="4224528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33427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444398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ED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48656" y="4407408"/>
            <a:ext cx="2121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先补底座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00016" y="4882896"/>
            <a:ext cx="27980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6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恢复依赖更新、无密钥测试与自动质量门禁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74736" y="4224528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334270"/>
          </a:solidFill>
          <a:ln w="12700">
            <a:solidFill>
              <a:srgbClr val="6074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0768" y="444398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ED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79408" y="4407408"/>
            <a:ext cx="2121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再做统一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30768" y="4882896"/>
            <a:ext cx="27980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6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明确单体 / 微服务定位并补齐 Gateway 与能力差距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13232" y="565099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下一份日报应重点观察：是否恢复提交、是否新增 CI、是否形成可重复测试基线。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" y="6236208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9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每日项目状态 · 2026-07-18（北京时间）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378440" y="623620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B9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每日项目状态｜2026-07-18</dc:title>
  <dc:subject>yu-ai-code-mother 每日项目状态</dc:subject>
  <dc:creator>Cursor Automation</dc:creator>
  <cp:lastModifiedBy>Cursor Automation</cp:lastModifiedBy>
  <cp:revision>1</cp:revision>
  <dcterms:created xsi:type="dcterms:W3CDTF">2026-07-18T09:15:09Z</dcterms:created>
  <dcterms:modified xsi:type="dcterms:W3CDTF">2026-07-18T09:15:09Z</dcterms:modified>
</cp:coreProperties>
</file>