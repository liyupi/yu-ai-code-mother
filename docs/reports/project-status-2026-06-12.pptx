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30368"/>
            <a:ext cx="12191695" cy="1627632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594360"/>
            <a:ext cx="1645920" cy="1645920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44200" y="1600200"/>
            <a:ext cx="960120" cy="96012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5400" y="1938528"/>
            <a:ext cx="658368" cy="658368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" y="493776"/>
            <a:ext cx="329184" cy="329184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493776"/>
            <a:ext cx="329184" cy="329184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6464" y="493776"/>
            <a:ext cx="329184" cy="329184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25880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  <a:ea typeface="Microsoft YaHei"/>
              </a:rPr>
              <a:t>每日项目状态汇报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176272"/>
            <a:ext cx="7772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D8F5F8"/>
                </a:solidFill>
                <a:latin typeface="Calibri"/>
                <a:ea typeface="Microsoft YaHei"/>
              </a:rPr>
              <a:t>AI 零代码应用生成平台｜yu-ai-code-mother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3464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0" i="0">
                <a:solidFill>
                  <a:srgbClr val="BFE9EE"/>
                </a:solidFill>
                <a:latin typeface="Calibri"/>
                <a:ea typeface="Microsoft YaHei"/>
              </a:rPr>
              <a:t>生成日期：2026-06-12（北京时间）</a:t>
            </a:r>
          </a:p>
          <a:p>
            <a:pPr algn="l">
              <a:spcAft>
                <a:spcPts val="200"/>
              </a:spcAft>
            </a:pPr>
            <a:r>
              <a:rPr sz="1550" b="0" i="0">
                <a:solidFill>
                  <a:srgbClr val="BFE9EE"/>
                </a:solidFill>
                <a:latin typeface="Calibri"/>
                <a:ea typeface="Microsoft YaHei"/>
              </a:rPr>
              <a:t>受众：项目维护者 / 团队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703320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14600" y="3849624"/>
            <a:ext cx="310896" cy="310896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02C39A"/>
                </a:solidFill>
                <a:latin typeface="Georgia"/>
                <a:ea typeface="Microsoft YaHe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79976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7324D"/>
                </a:solidFill>
                <a:latin typeface="Calibri"/>
                <a:ea typeface="Microsoft YaHei"/>
              </a:rPr>
              <a:t>近 7 天提交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90872"/>
            <a:ext cx="1929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25466"/>
                </a:solidFill>
                <a:latin typeface="Calibri"/>
                <a:ea typeface="Microsoft YaHei"/>
              </a:rPr>
              <a:t>静态仓库分析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3552" y="3703320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74920" y="3849624"/>
            <a:ext cx="310896" cy="310896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822191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00A896"/>
                </a:solidFill>
                <a:latin typeface="Georgia"/>
                <a:ea typeface="Microsoft YaHei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379976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7324D"/>
                </a:solidFill>
                <a:latin typeface="Calibri"/>
                <a:ea typeface="Microsoft YaHei"/>
              </a:rPr>
              <a:t>Java 测试文件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690872"/>
            <a:ext cx="1929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25466"/>
                </a:solidFill>
                <a:latin typeface="Calibri"/>
                <a:ea typeface="Microsoft YaHei"/>
              </a:rPr>
              <a:t>AI / 工作流 / 工具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33872" y="3703320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3849624"/>
            <a:ext cx="310896" cy="310896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822191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C7293"/>
                </a:solidFill>
                <a:latin typeface="Georgia"/>
                <a:ea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379976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7324D"/>
                </a:solidFill>
                <a:latin typeface="Calibri"/>
                <a:ea typeface="Microsoft YaHei"/>
              </a:rPr>
              <a:t>代码生成模式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690872"/>
            <a:ext cx="1929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25466"/>
                </a:solidFill>
                <a:latin typeface="Calibri"/>
                <a:ea typeface="Microsoft YaHei"/>
              </a:rPr>
              <a:t>HTML / 多文件 / Vue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254496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D8F5F8"/>
                </a:solidFill>
                <a:latin typeface="Calibri"/>
                <a:ea typeface="Microsoft YaHei"/>
              </a:rPr>
              <a:t>资料范围：README、主要模块目录、配置文件、最近 git 提交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2920"/>
            <a:ext cx="438912" cy="43891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93192"/>
            <a:ext cx="93268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17324D"/>
                </a:solidFill>
                <a:latin typeface="Georgia"/>
                <a:ea typeface="Microsoft YaHei"/>
              </a:rPr>
              <a:t>项目概览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502920"/>
            <a:ext cx="19019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yu-ai-code-mother 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25466"/>
                </a:solidFill>
                <a:latin typeface="Calibri"/>
                <a:ea typeface="Microsoft YaHei"/>
              </a:rPr>
              <a:t>资料来源：README、主要模块目录、git log、配置文件静态分析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170432"/>
            <a:ext cx="3703320" cy="452628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17904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  <a:ea typeface="Microsoft YaHei"/>
              </a:rPr>
              <a:t>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93392"/>
            <a:ext cx="306324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EAF7F8"/>
                </a:solidFill>
                <a:latin typeface="Calibri"/>
                <a:ea typeface="Microsoft YaHei"/>
              </a:rPr>
              <a:t>基于 Spring Boot 3 + LangChain4j + Vue 3 的企业级 AI 代码生成平台教学项目，强调 AI 智能体、AI 工作流、后端架构设计与全栈落地。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67328"/>
            <a:ext cx="303580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BFE9EE"/>
                </a:solidFill>
                <a:latin typeface="Calibri"/>
                <a:ea typeface="Microsoft YaHei"/>
              </a:rPr>
              <a:t>当前报告基于代码仓库静态分析，运行期业务数据需接入监控后补充。</a:t>
            </a:r>
          </a:p>
        </p:txBody>
      </p:sp>
      <p:sp>
        <p:nvSpPr>
          <p:cNvPr id="13" name="Oval 12"/>
          <p:cNvSpPr/>
          <p:nvPr/>
        </p:nvSpPr>
        <p:spPr>
          <a:xfrm>
            <a:off x="3529584" y="4901184"/>
            <a:ext cx="493776" cy="493776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5020056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170432"/>
            <a:ext cx="20574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36208" y="1316736"/>
            <a:ext cx="310896" cy="310896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1289304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C7293"/>
                </a:solidFill>
                <a:latin typeface="Georgia"/>
                <a:ea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1847088"/>
            <a:ext cx="1655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7324D"/>
                </a:solidFill>
                <a:latin typeface="Calibri"/>
                <a:ea typeface="Microsoft YaHei"/>
              </a:rPr>
              <a:t>核心能力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2157984"/>
            <a:ext cx="1655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25466"/>
                </a:solidFill>
                <a:latin typeface="Calibri"/>
                <a:ea typeface="Microsoft YaHei"/>
              </a:rPr>
              <a:t>生成、编辑、部署、管理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04304" y="1170432"/>
            <a:ext cx="20574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31352" y="1316736"/>
            <a:ext cx="310896" cy="310896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1289304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0A896"/>
                </a:solidFill>
                <a:latin typeface="Georgia"/>
                <a:ea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1847088"/>
            <a:ext cx="1655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7324D"/>
                </a:solidFill>
                <a:latin typeface="Calibri"/>
                <a:ea typeface="Microsoft YaHei"/>
              </a:rPr>
              <a:t>主要工程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157984"/>
            <a:ext cx="1655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25466"/>
                </a:solidFill>
                <a:latin typeface="Calibri"/>
                <a:ea typeface="Microsoft YaHei"/>
              </a:rPr>
              <a:t>后端 / 前端 / 微服务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9448" y="1170432"/>
            <a:ext cx="20574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26496" y="1316736"/>
            <a:ext cx="310896" cy="310896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0616" y="1289304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2C39A"/>
                </a:solidFill>
                <a:latin typeface="Georgia"/>
                <a:ea typeface="Microsoft YaHei"/>
              </a:rPr>
              <a:t>8123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1847088"/>
            <a:ext cx="1655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7324D"/>
                </a:solidFill>
                <a:latin typeface="Calibri"/>
                <a:ea typeface="Microsoft YaHei"/>
              </a:rPr>
              <a:t>单体端口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2157984"/>
            <a:ext cx="1655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25466"/>
                </a:solidFill>
                <a:latin typeface="Calibri"/>
                <a:ea typeface="Microsoft YaHei"/>
              </a:rPr>
              <a:t>API context=/api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2816352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60" y="2816352"/>
            <a:ext cx="109728" cy="1572768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10328" y="2999232"/>
            <a:ext cx="420624" cy="420624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0328" y="310896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BE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2971800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技术主线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46904" y="3493008"/>
            <a:ext cx="2679192" cy="7863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90" b="0" i="0">
                <a:solidFill>
                  <a:srgbClr val="425466"/>
                </a:solidFill>
                <a:latin typeface="Calibri"/>
                <a:ea typeface="Microsoft YaHei"/>
              </a:rPr>
              <a:t>Java 21 / Spring Boot / LangChain4j / MyBatis-Flex / Redis / Selenium / COS / Actuator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2816352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79" y="2816352"/>
            <a:ext cx="109728" cy="1572768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85048" y="2999232"/>
            <a:ext cx="420624" cy="420624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5048" y="310896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FE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2971800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前端主线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1624" y="3493008"/>
            <a:ext cx="2679192" cy="7863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25466"/>
                </a:solidFill>
                <a:latin typeface="Calibri"/>
                <a:ea typeface="Microsoft YaHei"/>
              </a:rPr>
              <a:t>Vue 3 / TypeScript / Ant Design Vue / Pinia / Vue Router / Vite / Axios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09160" y="4754880"/>
            <a:ext cx="6629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09160" y="4754880"/>
            <a:ext cx="109728" cy="91440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910328" y="4937760"/>
            <a:ext cx="420624" cy="420624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10328" y="5047488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58968" y="4910328"/>
            <a:ext cx="5715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20" b="1" i="0">
                <a:solidFill>
                  <a:srgbClr val="17324D"/>
                </a:solidFill>
                <a:latin typeface="Georgia"/>
                <a:ea typeface="Microsoft YaHei"/>
              </a:rPr>
              <a:t>状态判断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46904" y="5431536"/>
            <a:ext cx="6153912" cy="1280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 i="0">
                <a:solidFill>
                  <a:srgbClr val="425466"/>
                </a:solidFill>
                <a:latin typeface="Calibri"/>
                <a:ea typeface="Microsoft YaHei"/>
              </a:rPr>
              <a:t>功能骨架完整，微服务拆分已成型；短板集中在运行环境、密钥配置、CI 自动化和真实业务指标沉淀。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2920"/>
            <a:ext cx="438912" cy="43891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93192"/>
            <a:ext cx="93268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17324D"/>
                </a:solidFill>
                <a:latin typeface="Georgia"/>
                <a:ea typeface="Microsoft YaHei"/>
              </a:rPr>
              <a:t>当前能力：从需求到可访问应用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502920"/>
            <a:ext cx="19019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yu-ai-code-mother 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25466"/>
                </a:solidFill>
                <a:latin typeface="Calibri"/>
                <a:ea typeface="Microsoft YaHei"/>
              </a:rPr>
              <a:t>资料来源：README、主要模块目录、git log、配置文件静态分析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43584"/>
            <a:ext cx="1901952" cy="749808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17320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20" b="1" i="0">
                <a:solidFill>
                  <a:srgbClr val="FFFFFF"/>
                </a:solidFill>
                <a:latin typeface="Calibri"/>
                <a:ea typeface="Microsoft YaHei"/>
              </a:rPr>
              <a:t>输入需求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96896" y="1499616"/>
            <a:ext cx="256032" cy="246888"/>
          </a:xfrm>
          <a:prstGeom prst="rightArrow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79776" y="1243584"/>
            <a:ext cx="1901952" cy="749808"/>
          </a:xfrm>
          <a:prstGeom prst="round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1216" y="1417320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20" b="1" i="0">
                <a:solidFill>
                  <a:srgbClr val="FFFFFF"/>
                </a:solidFill>
                <a:latin typeface="Calibri"/>
                <a:ea typeface="Microsoft YaHei"/>
              </a:rPr>
              <a:t>AI 生成代码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63440" y="1499616"/>
            <a:ext cx="256032" cy="246888"/>
          </a:xfrm>
          <a:prstGeom prst="rightArrow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6320" y="1243584"/>
            <a:ext cx="1901952" cy="749808"/>
          </a:xfrm>
          <a:prstGeom prst="round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417320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20" b="1" i="0">
                <a:solidFill>
                  <a:srgbClr val="FFFFFF"/>
                </a:solidFill>
                <a:latin typeface="Calibri"/>
                <a:ea typeface="Microsoft YaHei"/>
              </a:rPr>
              <a:t>实时预览/编辑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729984" y="1499616"/>
            <a:ext cx="256032" cy="246888"/>
          </a:xfrm>
          <a:prstGeom prst="rightArrow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12864" y="1243584"/>
            <a:ext cx="1901952" cy="749808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4304" y="1417320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20" b="1" i="0">
                <a:solidFill>
                  <a:srgbClr val="FFFFFF"/>
                </a:solidFill>
                <a:latin typeface="Calibri"/>
                <a:ea typeface="Microsoft YaHei"/>
              </a:rPr>
              <a:t>部署分享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6528" y="1499616"/>
            <a:ext cx="256032" cy="246888"/>
          </a:xfrm>
          <a:prstGeom prst="rightArrow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79408" y="1243584"/>
            <a:ext cx="1901952" cy="749808"/>
          </a:xfrm>
          <a:prstGeom prst="round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1417320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20" b="1" i="0">
                <a:solidFill>
                  <a:srgbClr val="FFFFFF"/>
                </a:solidFill>
                <a:latin typeface="Calibri"/>
                <a:ea typeface="Microsoft YaHei"/>
              </a:rPr>
              <a:t>管理监控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395728"/>
            <a:ext cx="2514600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2395728"/>
            <a:ext cx="109728" cy="2615184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2578608"/>
            <a:ext cx="420624" cy="420624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68833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2551176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智能代码生成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3072384"/>
            <a:ext cx="2039112" cy="18288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 i="0">
                <a:solidFill>
                  <a:srgbClr val="425466"/>
                </a:solidFill>
                <a:latin typeface="Calibri"/>
                <a:ea typeface="Microsoft YaHei"/>
              </a:rPr>
              <a:t>用户输入需求后，AI 自动选择生成策略并通过 SSE 流式返回。</a:t>
            </a:r>
          </a:p>
          <a:p>
            <a:pPr algn="l">
              <a:spcAft>
                <a:spcPts val="200"/>
              </a:spcAft>
            </a:pPr>
            <a:r>
              <a:rPr sz="1220" b="0" i="0">
                <a:solidFill>
                  <a:srgbClr val="425466"/>
                </a:solidFill>
                <a:latin typeface="Calibri"/>
                <a:ea typeface="Microsoft YaHei"/>
              </a:rPr>
              <a:t>支持 HTML、多文件、Vue 工程三类模式。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2395728"/>
            <a:ext cx="2514600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2395728"/>
            <a:ext cx="109728" cy="2615184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30168" y="2578608"/>
            <a:ext cx="420624" cy="420624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0168" y="268833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8808" y="2551176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可视化编辑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6744" y="3072384"/>
            <a:ext cx="2039112" cy="18288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 i="0">
                <a:solidFill>
                  <a:srgbClr val="425466"/>
                </a:solidFill>
                <a:latin typeface="Calibri"/>
                <a:ea typeface="Microsoft YaHei"/>
              </a:rPr>
              <a:t>生成应用可实时预览；README 描述支持选中元素后与 AI 对话修改页面。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2395728"/>
            <a:ext cx="2514600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44768" y="2395728"/>
            <a:ext cx="109728" cy="261518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45936" y="2578608"/>
            <a:ext cx="420624" cy="420624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268833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2551176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部署与下载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072384"/>
            <a:ext cx="2039112" cy="18288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 i="0">
                <a:solidFill>
                  <a:srgbClr val="425466"/>
                </a:solidFill>
                <a:latin typeface="Calibri"/>
                <a:ea typeface="Microsoft YaHei"/>
              </a:rPr>
              <a:t>提供部署接口、源码 ZIP 下载能力；Vue 工程生成后会执行构建。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0536" y="2395728"/>
            <a:ext cx="2514600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60536" y="2395728"/>
            <a:ext cx="109728" cy="2615184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61704" y="2578608"/>
            <a:ext cx="420624" cy="420624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268833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10344" y="2551176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管理后台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3072384"/>
            <a:ext cx="2039112" cy="18288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80" b="0" i="0">
                <a:solidFill>
                  <a:srgbClr val="425466"/>
                </a:solidFill>
                <a:latin typeface="Calibri"/>
                <a:ea typeface="Microsoft YaHei"/>
              </a:rPr>
              <a:t>用户/应用管理、精选应用、查询编辑；监控端点暴露 prometheus。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53212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50" b="1" i="0">
                <a:solidFill>
                  <a:srgbClr val="17324D"/>
                </a:solidFill>
                <a:latin typeface="Calibri"/>
                <a:ea typeface="Microsoft YaHei"/>
              </a:rPr>
              <a:t>能力覆盖“创建 → 生成 → 预览 → 部署 → 管理”的闭环，但真实运行仍依赖外部服务配置。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2920"/>
            <a:ext cx="438912" cy="43891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93192"/>
            <a:ext cx="93268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17324D"/>
                </a:solidFill>
                <a:latin typeface="Georgia"/>
                <a:ea typeface="Microsoft YaHei"/>
              </a:rPr>
              <a:t>主要模块与职责边界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502920"/>
            <a:ext cx="19019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yu-ai-code-mother 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25466"/>
                </a:solidFill>
                <a:latin typeface="Calibri"/>
                <a:ea typeface="Microsoft YaHei"/>
              </a:rPr>
              <a:t>资料来源：README、主要模块目录、git log、配置文件静态分析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261872"/>
            <a:ext cx="10744200" cy="4297680"/>
          </a:xfrm>
          <a:prstGeom prst="roundRect">
            <a:avLst/>
          </a:prstGeom>
          <a:solidFill>
            <a:srgbClr val="DFF4F2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93792" y="2359152"/>
            <a:ext cx="1719072" cy="1719072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31536" y="2779776"/>
            <a:ext cx="124358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AI</a:t>
            </a:r>
          </a:p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1536192"/>
            <a:ext cx="3246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1536192"/>
            <a:ext cx="109728" cy="1115568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6" y="1719072"/>
            <a:ext cx="420624" cy="420624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182880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3936" y="1691639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70" b="1" i="0">
                <a:solidFill>
                  <a:srgbClr val="17324D"/>
                </a:solidFill>
                <a:latin typeface="Georgia"/>
                <a:ea typeface="Microsoft YaHei"/>
              </a:rPr>
              <a:t>单体后端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2212848"/>
            <a:ext cx="2770632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90" b="0" i="0">
                <a:solidFill>
                  <a:srgbClr val="425466"/>
                </a:solidFill>
                <a:latin typeface="Calibri"/>
                <a:ea typeface="Microsoft YaHei"/>
              </a:rPr>
              <a:t>Spring Boot 3 / Java 21</a:t>
            </a:r>
          </a:p>
          <a:p>
            <a:pPr algn="l">
              <a:spcAft>
                <a:spcPts val="200"/>
              </a:spcAft>
            </a:pPr>
            <a:r>
              <a:rPr sz="1090" b="0" i="0">
                <a:solidFill>
                  <a:srgbClr val="425466"/>
                </a:solidFill>
                <a:latin typeface="Calibri"/>
                <a:ea typeface="Microsoft YaHei"/>
              </a:rPr>
              <a:t>应用、用户、对话、静态资源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536192"/>
            <a:ext cx="28803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536192"/>
            <a:ext cx="109728" cy="1115568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02168" y="1719072"/>
            <a:ext cx="420624" cy="420624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182880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16916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70" b="1" i="0">
                <a:solidFill>
                  <a:srgbClr val="17324D"/>
                </a:solidFill>
                <a:latin typeface="Georgia"/>
                <a:ea typeface="Microsoft YaHei"/>
              </a:rPr>
              <a:t>Vue 前端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212848"/>
            <a:ext cx="2404872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90" b="0" i="0">
                <a:solidFill>
                  <a:srgbClr val="425466"/>
                </a:solidFill>
                <a:latin typeface="Calibri"/>
                <a:ea typeface="Microsoft YaHei"/>
              </a:rPr>
              <a:t>Vue 3 + TypeScript</a:t>
            </a:r>
          </a:p>
          <a:p>
            <a:pPr algn="l">
              <a:spcAft>
                <a:spcPts val="200"/>
              </a:spcAft>
            </a:pPr>
            <a:r>
              <a:rPr sz="1090" b="0" i="0">
                <a:solidFill>
                  <a:srgbClr val="425466"/>
                </a:solidFill>
                <a:latin typeface="Calibri"/>
                <a:ea typeface="Microsoft YaHei"/>
              </a:rPr>
              <a:t>主页、对话页、管理页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4005072"/>
            <a:ext cx="32461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128" y="4005072"/>
            <a:ext cx="109728" cy="122529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25296" y="4187952"/>
            <a:ext cx="420624" cy="420624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25296" y="42976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3936" y="416052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70" b="1" i="0">
                <a:solidFill>
                  <a:srgbClr val="17324D"/>
                </a:solidFill>
                <a:latin typeface="Georgia"/>
                <a:ea typeface="Microsoft YaHei"/>
              </a:rPr>
              <a:t>微服务工程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4681728"/>
            <a:ext cx="2770632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90" b="0" i="0">
                <a:solidFill>
                  <a:srgbClr val="425466"/>
                </a:solidFill>
                <a:latin typeface="Calibri"/>
                <a:ea typeface="Microsoft YaHei"/>
              </a:rPr>
              <a:t>common/model/client/user/app/ai/screenshot</a:t>
            </a:r>
          </a:p>
          <a:p>
            <a:pPr algn="l">
              <a:spcAft>
                <a:spcPts val="200"/>
              </a:spcAft>
            </a:pPr>
            <a:r>
              <a:rPr sz="1090" b="0" i="0">
                <a:solidFill>
                  <a:srgbClr val="425466"/>
                </a:solidFill>
                <a:latin typeface="Calibri"/>
                <a:ea typeface="Microsoft YaHei"/>
              </a:rPr>
              <a:t>Dubbo + Nacos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4005072"/>
            <a:ext cx="288036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1000" y="4005072"/>
            <a:ext cx="109728" cy="1225296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02168" y="4187952"/>
            <a:ext cx="420624" cy="420624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02168" y="42976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OBS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808" y="416052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70" b="1" i="0">
                <a:solidFill>
                  <a:srgbClr val="17324D"/>
                </a:solidFill>
                <a:latin typeface="Georgia"/>
                <a:ea typeface="Microsoft YaHei"/>
              </a:rPr>
              <a:t>监控与资源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4681728"/>
            <a:ext cx="2404872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90" b="0" i="0">
                <a:solidFill>
                  <a:srgbClr val="425466"/>
                </a:solidFill>
                <a:latin typeface="Calibri"/>
                <a:ea typeface="Microsoft YaHei"/>
              </a:rPr>
              <a:t>Actuator + Prometheus</a:t>
            </a:r>
          </a:p>
          <a:p>
            <a:pPr algn="l">
              <a:spcAft>
                <a:spcPts val="200"/>
              </a:spcAft>
            </a:pPr>
            <a:r>
              <a:rPr sz="1090" b="0" i="0">
                <a:solidFill>
                  <a:srgbClr val="425466"/>
                </a:solidFill>
                <a:latin typeface="Calibri"/>
                <a:ea typeface="Microsoft YaHei"/>
              </a:rPr>
              <a:t>Selenium 截图 / COS 上传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251960" y="2084831"/>
            <a:ext cx="941832" cy="822961"/>
          </a:xfrm>
          <a:prstGeom prst="line">
            <a:avLst/>
          </a:prstGeom>
          <a:ln w="25400">
            <a:solidFill>
              <a:srgbClr val="065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912864" y="2084831"/>
            <a:ext cx="1088136" cy="822961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51960" y="3529584"/>
            <a:ext cx="941832" cy="1088136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6912864" y="3529584"/>
            <a:ext cx="1088136" cy="1088136"/>
          </a:xfrm>
          <a:prstGeom prst="line">
            <a:avLst/>
          </a:prstGeom>
          <a:ln w="25400">
            <a:solidFill>
              <a:srgbClr val="02C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4400" y="5833872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7324D"/>
                </a:solidFill>
                <a:latin typeface="Calibri"/>
                <a:ea typeface="Microsoft YaHei"/>
              </a:rPr>
              <a:t>模块判断：单体项目仍是完整业务入口，微服务目录体现拆分后的演进路线。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2920"/>
            <a:ext cx="438912" cy="43891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93192"/>
            <a:ext cx="93268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17324D"/>
                </a:solidFill>
                <a:latin typeface="Georgia"/>
                <a:ea typeface="Microsoft YaHei"/>
              </a:rPr>
              <a:t>昨日 / 近期变更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502920"/>
            <a:ext cx="19019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yu-ai-code-mother 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25466"/>
                </a:solidFill>
                <a:latin typeface="Calibri"/>
                <a:ea typeface="Microsoft YaHei"/>
              </a:rPr>
              <a:t>资料来源：README、主要模块目录、git log、配置文件静态分析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143000"/>
            <a:ext cx="3337560" cy="484632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72768"/>
            <a:ext cx="2788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  <a:ea typeface="Microsoft YaHei"/>
              </a:rPr>
              <a:t>近 7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02C39A"/>
                </a:solidFill>
                <a:latin typeface="Georgia"/>
                <a:ea typeface="Microsoft YaHei"/>
              </a:rPr>
              <a:t>0 条提交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2"/>
            <a:ext cx="2697480" cy="1170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20" b="0" i="0">
                <a:solidFill>
                  <a:srgbClr val="D8F5F8"/>
                </a:solidFill>
                <a:latin typeface="Calibri"/>
                <a:ea typeface="Microsoft YaHei"/>
              </a:rPr>
              <a:t>截至 2026-06-12，本地 git log --since=2026-06-05 未返回提交。报告中不虚构昨日进展。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09160"/>
            <a:ext cx="2697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0" i="0">
                <a:solidFill>
                  <a:srgbClr val="BFE9EE"/>
                </a:solidFill>
                <a:latin typeface="Calibri"/>
                <a:ea typeface="Microsoft YaHei"/>
              </a:rPr>
              <a:t>当前分支：cursor/bc-68efa04b-99f5-4f7e-97bb-3d6ae2a9f12c-d4f1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170432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7324D"/>
                </a:solidFill>
                <a:latin typeface="Calibri"/>
                <a:ea typeface="Microsoft YaHei"/>
              </a:rPr>
              <a:t>最近可见提交集中在 2025-08-26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1837943"/>
            <a:ext cx="256032" cy="25603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81728" y="2093976"/>
            <a:ext cx="36576" cy="530352"/>
          </a:xfrm>
          <a:prstGeom prst="rect">
            <a:avLst/>
          </a:prstGeom>
          <a:solidFill>
            <a:srgbClr val="B8DDE2"/>
          </a:solidFill>
          <a:ln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1764792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2C39A"/>
                </a:solidFill>
                <a:latin typeface="Georgia"/>
                <a:ea typeface="Microsoft YaHei"/>
              </a:rPr>
              <a:t>893918c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1728216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20" b="1" i="0">
                <a:solidFill>
                  <a:srgbClr val="17324D"/>
                </a:solidFill>
                <a:latin typeface="Calibri"/>
                <a:ea typeface="Microsoft YaHei"/>
              </a:rPr>
              <a:t>微服务改造完成，包含完整单体项目代码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2679192"/>
            <a:ext cx="256032" cy="256032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1728" y="2935224"/>
            <a:ext cx="36576" cy="530352"/>
          </a:xfrm>
          <a:prstGeom prst="rect">
            <a:avLst/>
          </a:prstGeom>
          <a:solidFill>
            <a:srgbClr val="B8DDE2"/>
          </a:solidFill>
          <a:ln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260604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0A896"/>
                </a:solidFill>
                <a:latin typeface="Georgia"/>
                <a:ea typeface="Microsoft YaHei"/>
              </a:rPr>
              <a:t>966b2e5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2569464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20" b="1" i="0">
                <a:solidFill>
                  <a:srgbClr val="17324D"/>
                </a:solidFill>
                <a:latin typeface="Calibri"/>
                <a:ea typeface="Microsoft YaHei"/>
              </a:rPr>
              <a:t>Dubbo + Nacos 跨服务调用中间态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0" y="3520440"/>
            <a:ext cx="256032" cy="256032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81728" y="3776472"/>
            <a:ext cx="36576" cy="530352"/>
          </a:xfrm>
          <a:prstGeom prst="rect">
            <a:avLst/>
          </a:prstGeom>
          <a:solidFill>
            <a:srgbClr val="B8DDE2"/>
          </a:solidFill>
          <a:ln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344728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Georgia"/>
                <a:ea typeface="Microsoft YaHei"/>
              </a:rPr>
              <a:t>0a1acfe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5312" y="3410712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20" b="1" i="0">
                <a:solidFill>
                  <a:srgbClr val="17324D"/>
                </a:solidFill>
                <a:latin typeface="Calibri"/>
                <a:ea typeface="Microsoft YaHei"/>
              </a:rPr>
              <a:t>截图服务拆分中间态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0" y="4361688"/>
            <a:ext cx="256032" cy="256032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81728" y="4617720"/>
            <a:ext cx="36576" cy="530352"/>
          </a:xfrm>
          <a:prstGeom prst="rect">
            <a:avLst/>
          </a:prstGeom>
          <a:solidFill>
            <a:srgbClr val="B8DDE2"/>
          </a:solidFill>
          <a:ln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4288536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65A82"/>
                </a:solidFill>
                <a:latin typeface="Georgia"/>
                <a:ea typeface="Microsoft YaHei"/>
              </a:rPr>
              <a:t>472adc9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4251960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20" b="1" i="0">
                <a:solidFill>
                  <a:srgbClr val="17324D"/>
                </a:solidFill>
                <a:latin typeface="Calibri"/>
                <a:ea typeface="Microsoft YaHei"/>
              </a:rPr>
              <a:t>应用服务拆分中间态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62272" y="4773168"/>
            <a:ext cx="6675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62272" y="4773168"/>
            <a:ext cx="109728" cy="1078992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63440" y="4956048"/>
            <a:ext cx="420624" cy="420624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506577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928616"/>
            <a:ext cx="5760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7324D"/>
                </a:solidFill>
                <a:latin typeface="Georgia"/>
                <a:ea typeface="Microsoft YaHei"/>
              </a:rPr>
              <a:t>解读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5449824"/>
            <a:ext cx="6199631" cy="292607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80" b="0" i="0">
                <a:solidFill>
                  <a:srgbClr val="425466"/>
                </a:solidFill>
                <a:latin typeface="Calibri"/>
                <a:ea typeface="Microsoft YaHei"/>
              </a:rPr>
              <a:t>近期无新增代码活动；项目状态更适合围绕已具备能力、运行化缺口、自动化质量保障推进。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2920"/>
            <a:ext cx="438912" cy="43891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93192"/>
            <a:ext cx="93268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17324D"/>
                </a:solidFill>
                <a:latin typeface="Georgia"/>
                <a:ea typeface="Microsoft YaHei"/>
              </a:rPr>
              <a:t>数据 / 指标要点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502920"/>
            <a:ext cx="19019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yu-ai-code-mother 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25466"/>
                </a:solidFill>
                <a:latin typeface="Calibri"/>
                <a:ea typeface="Microsoft YaHei"/>
              </a:rPr>
              <a:t>资料来源：README、主要模块目录、git log、配置文件静态分析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61872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97480" y="1408175"/>
            <a:ext cx="310896" cy="310896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80743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C7293"/>
                </a:solidFill>
                <a:latin typeface="Georgia"/>
                <a:ea typeface="Microsoft YaHe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2112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7324D"/>
                </a:solidFill>
                <a:latin typeface="Calibri"/>
                <a:ea typeface="Microsoft YaHei"/>
              </a:rPr>
              <a:t>后端测试文件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49424"/>
            <a:ext cx="2112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25466"/>
                </a:solidFill>
                <a:latin typeface="Calibri"/>
                <a:ea typeface="Microsoft YaHei"/>
              </a:rPr>
              <a:t>AI、工作流、工具、截图、解析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1261872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77256" y="1408175"/>
            <a:ext cx="310896" cy="310896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1380743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0A896"/>
                </a:solidFill>
                <a:latin typeface="Georgia"/>
                <a:ea typeface="Microsoft Ya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1938528"/>
            <a:ext cx="2112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7324D"/>
                </a:solidFill>
                <a:latin typeface="Calibri"/>
                <a:ea typeface="Microsoft YaHei"/>
              </a:rPr>
              <a:t>README 核心能力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2249424"/>
            <a:ext cx="2112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25466"/>
                </a:solidFill>
                <a:latin typeface="Calibri"/>
                <a:ea typeface="Microsoft YaHei"/>
              </a:rPr>
              <a:t>生成、编辑、部署、管理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1261872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57031" y="1408175"/>
            <a:ext cx="310896" cy="310896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380743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2C39A"/>
                </a:solidFill>
                <a:latin typeface="Georgia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1938528"/>
            <a:ext cx="2112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7324D"/>
                </a:solidFill>
                <a:latin typeface="Calibri"/>
                <a:ea typeface="Microsoft YaHei"/>
              </a:rPr>
              <a:t>代码生成模式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249424"/>
            <a:ext cx="2112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25466"/>
                </a:solidFill>
                <a:latin typeface="Calibri"/>
                <a:ea typeface="Microsoft YaHei"/>
              </a:rPr>
              <a:t>html / multi_file / vue_project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261872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36808" y="1408175"/>
            <a:ext cx="310896" cy="310896"/>
          </a:xfrm>
          <a:prstGeom prst="ellipse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1380743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76F51"/>
                </a:solidFill>
                <a:latin typeface="Georgia"/>
                <a:ea typeface="Microsoft YaHe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1938528"/>
            <a:ext cx="2112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7324D"/>
                </a:solidFill>
                <a:latin typeface="Calibri"/>
                <a:ea typeface="Microsoft YaHei"/>
              </a:rPr>
              <a:t>CI 工作流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249424"/>
            <a:ext cx="2112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25466"/>
                </a:solidFill>
                <a:latin typeface="Calibri"/>
                <a:ea typeface="Microsoft YaHei"/>
              </a:rPr>
              <a:t>未发现 .github/workflows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310128"/>
            <a:ext cx="516636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3310128"/>
            <a:ext cx="109728" cy="1847088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" y="3493008"/>
            <a:ext cx="420624" cy="420624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60273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465576"/>
            <a:ext cx="4251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已具备的可观测入口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3986784"/>
            <a:ext cx="4690872" cy="10607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40" b="0" i="0">
                <a:solidFill>
                  <a:srgbClr val="425466"/>
                </a:solidFill>
                <a:latin typeface="Calibri"/>
                <a:ea typeface="Microsoft YaHei"/>
              </a:rPr>
              <a:t>Actuator 暴露 health、info、prometheus；仓库包含 prometheus.yml 与 Grafana 配置，可继续接入业务指标面板。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3310128"/>
            <a:ext cx="525780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3310128"/>
            <a:ext cx="109728" cy="1847088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92240" y="3493008"/>
            <a:ext cx="420624" cy="420624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60273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MET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465576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运行数据口径待接入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8816" y="3986784"/>
            <a:ext cx="4782312" cy="10607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40" b="0" i="0">
                <a:solidFill>
                  <a:srgbClr val="425466"/>
                </a:solidFill>
                <a:latin typeface="Calibri"/>
                <a:ea typeface="Microsoft YaHei"/>
              </a:rPr>
              <a:t>当前日报无法从静态信息获得 DAU、AI 调用量、部署成功率、平均生成耗时；建议由埋点与监控面板提供。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96712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7324D"/>
                </a:solidFill>
                <a:latin typeface="Calibri"/>
                <a:ea typeface="Microsoft YaHei"/>
              </a:rPr>
              <a:t>指标结论：代码层已有监控基础，但“项目状态”仍以静态工程信号为主，需补齐真实运行数据闭环。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2920"/>
            <a:ext cx="438912" cy="43891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93192"/>
            <a:ext cx="93268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17324D"/>
                </a:solidFill>
                <a:latin typeface="Georgia"/>
                <a:ea typeface="Microsoft YaHei"/>
              </a:rPr>
              <a:t>测试与 CI 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502920"/>
            <a:ext cx="19019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yu-ai-code-mother 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25466"/>
                </a:solidFill>
                <a:latin typeface="Calibri"/>
                <a:ea typeface="Microsoft YaHei"/>
              </a:rPr>
              <a:t>资料来源：README、主要模块目录、git log、配置文件静态分析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98448"/>
            <a:ext cx="53492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98448"/>
            <a:ext cx="109728" cy="416052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481328"/>
            <a:ext cx="420624" cy="420624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59105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453895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可运行命令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1975104"/>
            <a:ext cx="4873752" cy="33741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0" i="0">
                <a:solidFill>
                  <a:srgbClr val="425466"/>
                </a:solidFill>
                <a:latin typeface="Calibri"/>
                <a:ea typeface="Microsoft YaHei"/>
              </a:rPr>
              <a:t>后端：./mvnw test</a:t>
            </a:r>
          </a:p>
          <a:p>
            <a:pPr algn="l">
              <a:spcAft>
                <a:spcPts val="200"/>
              </a:spcAft>
            </a:pPr>
            <a:r>
              <a:rPr sz="1320" b="0" i="0">
                <a:solidFill>
                  <a:srgbClr val="425466"/>
                </a:solidFill>
                <a:latin typeface="Calibri"/>
                <a:ea typeface="Microsoft YaHei"/>
              </a:rPr>
              <a:t>单体启动：./mvnw spring-boot:run</a:t>
            </a:r>
          </a:p>
          <a:p>
            <a:pPr algn="l">
              <a:spcAft>
                <a:spcPts val="200"/>
              </a:spcAft>
            </a:pPr>
            <a:r>
              <a:rPr sz="1320" b="0" i="0">
                <a:solidFill>
                  <a:srgbClr val="425466"/>
                </a:solidFill>
                <a:latin typeface="Calibri"/>
                <a:ea typeface="Microsoft YaHei"/>
              </a:rPr>
              <a:t>微服务测试：./mvnw -f yu-ai-code-mother-microservice/pom.xml test</a:t>
            </a:r>
          </a:p>
          <a:p>
            <a:pPr algn="l">
              <a:spcAft>
                <a:spcPts val="200"/>
              </a:spcAft>
            </a:pPr>
            <a:r>
              <a:rPr sz="1320" b="0" i="0">
                <a:solidFill>
                  <a:srgbClr val="425466"/>
                </a:solidFill>
                <a:latin typeface="Calibri"/>
                <a:ea typeface="Microsoft YaHei"/>
              </a:rPr>
              <a:t>前端：npm run build / npm run lint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98448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298448"/>
            <a:ext cx="109728" cy="416052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4807" y="1481328"/>
            <a:ext cx="420624" cy="420624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159105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1453895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当前状态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3" y="1975104"/>
            <a:ext cx="4782312" cy="33741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0" i="0">
                <a:solidFill>
                  <a:srgbClr val="425466"/>
                </a:solidFill>
                <a:latin typeface="Calibri"/>
                <a:ea typeface="Microsoft YaHei"/>
              </a:rPr>
              <a:t>未发现 GitHub Actions 工作流</a:t>
            </a:r>
          </a:p>
          <a:p>
            <a:pPr algn="l">
              <a:spcAft>
                <a:spcPts val="200"/>
              </a:spcAft>
            </a:pPr>
            <a:r>
              <a:rPr sz="1320" b="0" i="0">
                <a:solidFill>
                  <a:srgbClr val="425466"/>
                </a:solidFill>
                <a:latin typeface="Calibri"/>
                <a:ea typeface="Microsoft YaHei"/>
              </a:rPr>
              <a:t>根 POM 引入 spring-boot-starter-test</a:t>
            </a:r>
          </a:p>
          <a:p>
            <a:pPr algn="l">
              <a:spcAft>
                <a:spcPts val="200"/>
              </a:spcAft>
            </a:pPr>
            <a:r>
              <a:rPr sz="1320" b="0" i="0">
                <a:solidFill>
                  <a:srgbClr val="425466"/>
                </a:solidFill>
                <a:latin typeface="Calibri"/>
                <a:ea typeface="Microsoft YaHei"/>
              </a:rPr>
              <a:t>前端提供 build、lint、openapi2ts</a:t>
            </a:r>
          </a:p>
          <a:p>
            <a:pPr algn="l">
              <a:spcAft>
                <a:spcPts val="200"/>
              </a:spcAft>
            </a:pPr>
            <a:r>
              <a:rPr sz="1320" b="0" i="0">
                <a:solidFill>
                  <a:srgbClr val="425466"/>
                </a:solidFill>
                <a:latin typeface="Calibri"/>
                <a:ea typeface="Microsoft YaHei"/>
              </a:rPr>
              <a:t>部分测试依赖外部服务，默认稳定性不足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5623560"/>
            <a:ext cx="10058400" cy="457200"/>
          </a:xfrm>
          <a:prstGeom prst="roundRect">
            <a:avLst/>
          </a:prstGeom>
          <a:solidFill>
            <a:srgbClr val="DFF4F2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5760720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20" b="1" i="0">
                <a:solidFill>
                  <a:srgbClr val="17324D"/>
                </a:solidFill>
                <a:latin typeface="Calibri"/>
                <a:ea typeface="Microsoft YaHei"/>
              </a:rPr>
              <a:t>建议：先拆出不依赖外部服务的单元测试门禁，再将 AI / 浏览器 / 网络类测试归入集成测试或手动验收集。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2920"/>
            <a:ext cx="438912" cy="43891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93192"/>
            <a:ext cx="93268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17324D"/>
                </a:solidFill>
                <a:latin typeface="Georgia"/>
                <a:ea typeface="Microsoft YaHei"/>
              </a:rPr>
              <a:t>未完成项：产品化与运行化缺口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502920"/>
            <a:ext cx="19019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yu-ai-code-mother 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25466"/>
                </a:solidFill>
                <a:latin typeface="Calibri"/>
                <a:ea typeface="Microsoft YaHei"/>
              </a:rPr>
              <a:t>资料来源：README、主要模块目录、git log、配置文件静态分析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07008"/>
            <a:ext cx="3063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207008"/>
            <a:ext cx="109728" cy="18288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389888"/>
            <a:ext cx="420624" cy="420624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9961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CFG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36245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30" b="1" i="0">
                <a:solidFill>
                  <a:srgbClr val="17324D"/>
                </a:solidFill>
                <a:latin typeface="Georgia"/>
                <a:ea typeface="Microsoft YaHei"/>
              </a:rPr>
              <a:t>外部配置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883664"/>
            <a:ext cx="2587752" cy="10424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30" b="0" i="0">
                <a:solidFill>
                  <a:srgbClr val="425466"/>
                </a:solidFill>
                <a:latin typeface="Calibri"/>
                <a:ea typeface="Microsoft YaHei"/>
              </a:rPr>
              <a:t>MySQL、Redis、DeepSeek / DashScope、COS、Pexels 等仍需真实环境与密钥。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207008"/>
            <a:ext cx="3063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207008"/>
            <a:ext cx="109728" cy="18288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1688" y="1389888"/>
            <a:ext cx="420624" cy="420624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49961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SVC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136245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30" b="1" i="0">
                <a:solidFill>
                  <a:srgbClr val="17324D"/>
                </a:solidFill>
                <a:latin typeface="Georgia"/>
                <a:ea typeface="Microsoft YaHei"/>
              </a:rPr>
              <a:t>微服务运行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1883664"/>
            <a:ext cx="2587752" cy="10424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30" b="0" i="0">
                <a:solidFill>
                  <a:srgbClr val="425466"/>
                </a:solidFill>
                <a:latin typeface="Calibri"/>
                <a:ea typeface="Microsoft YaHei"/>
              </a:rPr>
              <a:t>用户、应用、截图服务依赖 Nacos / Dubbo 注册与服务发现。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1207008"/>
            <a:ext cx="3063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7808" y="1207008"/>
            <a:ext cx="109728" cy="182880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08976" y="1389888"/>
            <a:ext cx="420624" cy="420624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8976" y="1499616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DEP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136245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30" b="1" i="0">
                <a:solidFill>
                  <a:srgbClr val="17324D"/>
                </a:solidFill>
                <a:latin typeface="Georgia"/>
                <a:ea typeface="Microsoft YaHei"/>
              </a:rPr>
              <a:t>部署链路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1883664"/>
            <a:ext cx="2587752" cy="10424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30" b="0" i="0">
                <a:solidFill>
                  <a:srgbClr val="425466"/>
                </a:solidFill>
                <a:latin typeface="Calibri"/>
                <a:ea typeface="Microsoft YaHei"/>
              </a:rPr>
              <a:t>Vue 构建依赖 Node/npm，截图依赖 Headless Chrome / ChromeDriver。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32304" y="3803904"/>
            <a:ext cx="3063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32304" y="3803904"/>
            <a:ext cx="109728" cy="1828800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633472" y="3986784"/>
            <a:ext cx="420624" cy="420624"/>
          </a:xfrm>
          <a:prstGeom prst="ellipse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33472" y="4096512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QA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2112" y="3959352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30" b="1" i="0">
                <a:solidFill>
                  <a:srgbClr val="17324D"/>
                </a:solidFill>
                <a:latin typeface="Georgia"/>
                <a:ea typeface="Microsoft YaHei"/>
              </a:rPr>
              <a:t>质量门禁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8" y="4480560"/>
            <a:ext cx="2587752" cy="10424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30" b="0" i="0">
                <a:solidFill>
                  <a:srgbClr val="425466"/>
                </a:solidFill>
                <a:latin typeface="Calibri"/>
                <a:ea typeface="Microsoft YaHei"/>
              </a:rPr>
              <a:t>CI 缺失，自动化测试没有稳定分层；部分测试访问外部网络。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3803904"/>
            <a:ext cx="3063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3803904"/>
            <a:ext cx="109728" cy="182880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90488" y="3986784"/>
            <a:ext cx="420624" cy="420624"/>
          </a:xfrm>
          <a:prstGeom prst="ellipse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4096512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TODO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8" y="3959352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30" b="1" i="0">
                <a:solidFill>
                  <a:srgbClr val="17324D"/>
                </a:solidFill>
                <a:latin typeface="Georgia"/>
                <a:ea typeface="Microsoft YaHei"/>
              </a:rPr>
              <a:t>遗留痕迹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7064" y="4480560"/>
            <a:ext cx="2587752" cy="10424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30" b="0" i="0">
                <a:solidFill>
                  <a:srgbClr val="425466"/>
                </a:solidFill>
                <a:latin typeface="Calibri"/>
                <a:ea typeface="Microsoft YaHei"/>
              </a:rPr>
              <a:t>AI 模块存在 LangChain4j TODO 与调试输出线索，需清理或确认来源。</a:t>
            </a:r>
          </a:p>
        </p:txBody>
      </p:sp>
      <p:sp>
        <p:nvSpPr>
          <p:cNvPr id="39" name="Oval 38"/>
          <p:cNvSpPr/>
          <p:nvPr/>
        </p:nvSpPr>
        <p:spPr>
          <a:xfrm>
            <a:off x="5559552" y="2962656"/>
            <a:ext cx="987552" cy="987552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87568" y="3337560"/>
            <a:ext cx="749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Microsoft YaHei"/>
              </a:rPr>
              <a:t>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2920"/>
            <a:ext cx="438912" cy="43891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93192"/>
            <a:ext cx="93268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17324D"/>
                </a:solidFill>
                <a:latin typeface="Georgia"/>
                <a:ea typeface="Microsoft YaHei"/>
              </a:rPr>
              <a:t>风险与阻塞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502920"/>
            <a:ext cx="19019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yu-ai-code-mother 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25466"/>
                </a:solidFill>
                <a:latin typeface="Calibri"/>
                <a:ea typeface="Microsoft YaHei"/>
              </a:rPr>
              <a:t>资料来源：README、主要模块目录、git log、配置文件静态分析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25296"/>
            <a:ext cx="109728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1627632"/>
            <a:ext cx="914400" cy="493776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8308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Microsoft YaHei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164592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7324D"/>
                </a:solidFill>
                <a:latin typeface="Calibri"/>
                <a:ea typeface="Microsoft YaHei"/>
              </a:rPr>
              <a:t>密钥与外部服务缺口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1627632"/>
            <a:ext cx="62362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80" b="0" i="0">
                <a:solidFill>
                  <a:srgbClr val="425466"/>
                </a:solidFill>
                <a:latin typeface="Calibri"/>
                <a:ea typeface="Microsoft YaHei"/>
              </a:rPr>
              <a:t>默认配置含 API Key 占位、COS 占位；没有真实配置时核心 AI / 部署 / 截图链路不可用。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587752"/>
            <a:ext cx="914400" cy="493776"/>
          </a:xfrm>
          <a:prstGeom prst="round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Microsoft YaHei"/>
              </a:rPr>
              <a:t>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984" y="260604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7324D"/>
                </a:solidFill>
                <a:latin typeface="Calibri"/>
                <a:ea typeface="Microsoft YaHei"/>
              </a:rPr>
              <a:t>集成测试稳定性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587752"/>
            <a:ext cx="62362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80" b="0" i="0">
                <a:solidFill>
                  <a:srgbClr val="425466"/>
                </a:solidFill>
                <a:latin typeface="Calibri"/>
                <a:ea typeface="Microsoft YaHei"/>
              </a:rPr>
              <a:t>AI、截图、图片搜索、工作流测试可能依赖网络、浏览器、数据库、Redis。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547872"/>
            <a:ext cx="914400" cy="493776"/>
          </a:xfrm>
          <a:prstGeom prst="round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033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Microsoft YaHei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35661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7324D"/>
                </a:solidFill>
                <a:latin typeface="Calibri"/>
                <a:ea typeface="Microsoft YaHei"/>
              </a:rPr>
              <a:t>微服务环境复杂度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547872"/>
            <a:ext cx="62362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80" b="0" i="0">
                <a:solidFill>
                  <a:srgbClr val="425466"/>
                </a:solidFill>
                <a:latin typeface="Calibri"/>
                <a:ea typeface="Microsoft YaHei"/>
              </a:rPr>
              <a:t>Nacos、Dubbo、各服务端口与配置需要统一启动编排，否则跨服务调用难以验收。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507992"/>
            <a:ext cx="914400" cy="493776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634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Microsoft YaHei"/>
              </a:rPr>
              <a:t>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7984" y="4526279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7324D"/>
                </a:solidFill>
                <a:latin typeface="Calibri"/>
                <a:ea typeface="Microsoft YaHei"/>
              </a:rPr>
              <a:t>CI 缺失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4507992"/>
            <a:ext cx="62362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80" b="0" i="0">
                <a:solidFill>
                  <a:srgbClr val="425466"/>
                </a:solidFill>
                <a:latin typeface="Calibri"/>
                <a:ea typeface="Microsoft YaHei"/>
              </a:rPr>
              <a:t>没有自动化构建/测试门禁，后续多人维护时回归风险较高。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59552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7324D"/>
                </a:solidFill>
                <a:latin typeface="Calibri"/>
                <a:ea typeface="Microsoft YaHei"/>
              </a:rPr>
              <a:t>风险优先级建议：先解决“可运行 + 可验证”，再扩展体验优化和运营指标。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2920"/>
            <a:ext cx="438912" cy="43891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93192"/>
            <a:ext cx="93268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17324D"/>
                </a:solidFill>
                <a:latin typeface="Georgia"/>
                <a:ea typeface="Microsoft YaHei"/>
              </a:rPr>
              <a:t>建议下一步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502920"/>
            <a:ext cx="19019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yu-ai-code-mother 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25466"/>
                </a:solidFill>
                <a:latin typeface="Calibri"/>
                <a:ea typeface="Microsoft YaHei"/>
              </a:rPr>
              <a:t>资料来源：README、主要模块目录、git log、配置文件静态分析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425466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61872"/>
            <a:ext cx="34290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261872"/>
            <a:ext cx="109728" cy="4407408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444751"/>
            <a:ext cx="420624" cy="420624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417319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优先级 A：可运行基线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38528"/>
            <a:ext cx="2953512" cy="36210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25466"/>
                </a:solidFill>
                <a:latin typeface="Calibri"/>
                <a:ea typeface="Microsoft YaHei"/>
              </a:rPr>
              <a:t>1. 补齐本地/测试环境配置说明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25466"/>
                </a:solidFill>
                <a:latin typeface="Calibri"/>
                <a:ea typeface="Microsoft YaHei"/>
              </a:rPr>
              <a:t>2. 提供 MySQL、Redis、Nacos、Chrome 的启动脚本或 compose 替代方案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25466"/>
                </a:solidFill>
                <a:latin typeface="Calibri"/>
                <a:ea typeface="Microsoft YaHei"/>
              </a:rPr>
              <a:t>3. 明确 AI/COS/Pexels 密钥注入方式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261872"/>
            <a:ext cx="34290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1261872"/>
            <a:ext cx="109728" cy="4407408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17720" y="1444751"/>
            <a:ext cx="420624" cy="420624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5544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1417319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优先级 B：质量门禁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1938528"/>
            <a:ext cx="2953512" cy="36210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25466"/>
                </a:solidFill>
                <a:latin typeface="Calibri"/>
                <a:ea typeface="Microsoft YaHei"/>
              </a:rPr>
              <a:t>1. 新增最小 CI：后端编译 + 前端 build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25466"/>
                </a:solidFill>
                <a:latin typeface="Calibri"/>
                <a:ea typeface="Microsoft YaHei"/>
              </a:rPr>
              <a:t>2. 单元测试与集成测试分层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25466"/>
                </a:solidFill>
                <a:latin typeface="Calibri"/>
                <a:ea typeface="Microsoft YaHei"/>
              </a:rPr>
              <a:t>3. 将外部依赖测试设为可选 profile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261872"/>
            <a:ext cx="34290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1261872"/>
            <a:ext cx="109728" cy="4407408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21040" y="1444751"/>
            <a:ext cx="420624" cy="420624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5544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417319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优先级 C：状态指标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1938528"/>
            <a:ext cx="2953512" cy="36210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25466"/>
                </a:solidFill>
                <a:latin typeface="Calibri"/>
                <a:ea typeface="Microsoft YaHei"/>
              </a:rPr>
              <a:t>1. 补齐 AI 调用量、错误率、生成耗时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25466"/>
                </a:solidFill>
                <a:latin typeface="Calibri"/>
                <a:ea typeface="Microsoft YaHei"/>
              </a:rPr>
              <a:t>2. 记录部署成功率与截图成功率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25466"/>
                </a:solidFill>
                <a:latin typeface="Calibri"/>
                <a:ea typeface="Microsoft YaHei"/>
              </a:rPr>
              <a:t>3. 将 Prometheus/Grafana 面板纳入日报数据源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25312"/>
            <a:ext cx="10378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7324D"/>
                </a:solidFill>
                <a:latin typeface="Calibri"/>
                <a:ea typeface="Microsoft YaHei"/>
              </a:rPr>
              <a:t>行动原则：围绕“能跑、能测、能观测”收敛，减少后续功能迭代的不确定性。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502920"/>
            <a:ext cx="438912" cy="43891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393192"/>
            <a:ext cx="93268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  <a:ea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502920"/>
            <a:ext cx="19019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BFE9EE"/>
                </a:solidFill>
                <a:latin typeface="Calibri"/>
                <a:ea typeface="Microsoft YaHei"/>
              </a:rPr>
              <a:t>yu-ai-code-mother 日报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47488"/>
            <a:ext cx="12191695" cy="1810512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559552"/>
            <a:ext cx="12191695" cy="1298448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44752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44752"/>
            <a:ext cx="109728" cy="214884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1627632"/>
            <a:ext cx="420624" cy="420624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73736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160020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项目健康判断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21408"/>
            <a:ext cx="2907792" cy="1362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70" b="0" i="0">
                <a:solidFill>
                  <a:srgbClr val="425466"/>
                </a:solidFill>
                <a:latin typeface="Calibri"/>
                <a:ea typeface="Microsoft YaHei"/>
              </a:rPr>
              <a:t>能力闭环较完整，单体与微服务两条路线并存；当前更像“功能成型、运行化待加强”的阶段。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444752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6552" y="1444752"/>
            <a:ext cx="109728" cy="21488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1627632"/>
            <a:ext cx="420624" cy="420624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3736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GIT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160020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近期事实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121408"/>
            <a:ext cx="2907792" cy="1362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70" b="0" i="0">
                <a:solidFill>
                  <a:srgbClr val="425466"/>
                </a:solidFill>
                <a:latin typeface="Calibri"/>
                <a:ea typeface="Microsoft YaHei"/>
              </a:rPr>
              <a:t>近 7 天无提交；最近可见变更集中于微服务改造完成与各服务拆分中间态。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444752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444752"/>
            <a:ext cx="109728" cy="21488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84464" y="1627632"/>
            <a:ext cx="420624" cy="420624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173736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Calibri"/>
                <a:ea typeface="Microsoft YaHei"/>
              </a:rPr>
              <a:t>NXT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160020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24D"/>
                </a:solidFill>
                <a:latin typeface="Georgia"/>
                <a:ea typeface="Microsoft YaHei"/>
              </a:rPr>
              <a:t>团队关注点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21408"/>
            <a:ext cx="2907792" cy="1362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70" b="0" i="0">
                <a:solidFill>
                  <a:srgbClr val="425466"/>
                </a:solidFill>
                <a:latin typeface="Calibri"/>
                <a:ea typeface="Microsoft YaHei"/>
              </a:rPr>
              <a:t>补齐运行环境、CI 门禁、真实指标来源后，项目状态汇报可从静态分析升级为运营分析。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  <a:ea typeface="Microsoft YaHei"/>
              </a:rPr>
              <a:t>今日结论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53712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  <a:ea typeface="Microsoft YaHei"/>
              </a:rPr>
              <a:t>以“稳定可运行、自动可验证、指标可观察”为下一阶段主线。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54496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D8F5F8"/>
                </a:solidFill>
                <a:latin typeface="Calibri"/>
                <a:ea typeface="Microsoft YaHei"/>
              </a:rPr>
              <a:t>project-status-2026-06-12.pptx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254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D8F5F8"/>
                </a:solidFill>
                <a:latin typeface="Calibr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- yu-ai-code-mother - 2026-06-12</dc:title>
  <dc:subject>AI 零代码应用生成平台每日项目状态</dc:subject>
  <dc:creator>Cursor Automation</dc:creator>
  <cp:keywords>yu-ai-code-mother, project status, report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