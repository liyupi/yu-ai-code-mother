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914400"/>
            <a:ext cx="4572000" cy="4572000"/>
          </a:xfrm>
          <a:prstGeom prst="ellipse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3474720"/>
            <a:ext cx="3383280" cy="3383280"/>
          </a:xfrm>
          <a:prstGeom prst="ellipse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5214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零代码应用生成平台（yu-ai-code-mother）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2487168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587752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0906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团队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9808" y="3694176"/>
            <a:ext cx="52120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96849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本次范围：README、主要模块目录、近 7 天 Git 提交、构建/测试配置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123444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07808" y="1399032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71232" y="20299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07808" y="233172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· 编辑 · 部署 · 管理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16568" y="2496312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79992" y="312724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16568" y="34290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06640" y="342900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07808" y="3593592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71232" y="422452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07808" y="452628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15400" y="452628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16568" y="4690872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079992" y="532180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16568" y="562356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偏集成与工具验证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项目概览：教学型全栈平台，能力面已较完整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07899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078992"/>
            <a:ext cx="109728" cy="4251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130759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13761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307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定位与价值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87552" y="1856232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7922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AI 代码生成与应用发布的实战项目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987552" y="224028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1762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后端覆盖 AI 智能体、工作流、缓存、监控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87552" y="262432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5603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前端提供从创建到部署的完整用户链路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987552" y="3008376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94436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同时保留单体与微服务两套演进形态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4553712" y="1078992"/>
            <a:ext cx="3154680" cy="42519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53712" y="1078992"/>
            <a:ext cx="109728" cy="4251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130759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3761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1307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技术栈快照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828032" y="1856232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792224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/ Java 21 / Maven</a:t>
            </a:r>
            <a:endParaRPr lang="en-US" sz="1210" dirty="0"/>
          </a:p>
        </p:txBody>
      </p:sp>
      <p:sp>
        <p:nvSpPr>
          <p:cNvPr id="29" name="Shape 27"/>
          <p:cNvSpPr/>
          <p:nvPr/>
        </p:nvSpPr>
        <p:spPr>
          <a:xfrm>
            <a:off x="4828032" y="224028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176272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+ LangGraph4j</a:t>
            </a:r>
            <a:endParaRPr lang="en-US" sz="1210" dirty="0"/>
          </a:p>
        </p:txBody>
      </p:sp>
      <p:sp>
        <p:nvSpPr>
          <p:cNvPr id="31" name="Shape 29"/>
          <p:cNvSpPr/>
          <p:nvPr/>
        </p:nvSpPr>
        <p:spPr>
          <a:xfrm>
            <a:off x="4828032" y="2624328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56032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</a:t>
            </a:r>
            <a:endParaRPr lang="en-US" sz="1210" dirty="0"/>
          </a:p>
        </p:txBody>
      </p:sp>
      <p:sp>
        <p:nvSpPr>
          <p:cNvPr id="33" name="Shape 31"/>
          <p:cNvSpPr/>
          <p:nvPr/>
        </p:nvSpPr>
        <p:spPr>
          <a:xfrm>
            <a:off x="4828032" y="300837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94436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Redis / Prometheus / Selenium / COS</a:t>
            </a:r>
            <a:endParaRPr lang="en-US" sz="1210" dirty="0"/>
          </a:p>
        </p:txBody>
      </p:sp>
      <p:sp>
        <p:nvSpPr>
          <p:cNvPr id="35" name="Shape 33"/>
          <p:cNvSpPr/>
          <p:nvPr/>
        </p:nvSpPr>
        <p:spPr>
          <a:xfrm>
            <a:off x="8001000" y="1078992"/>
            <a:ext cx="3401568" cy="4251960"/>
          </a:xfrm>
          <a:prstGeom prst="roundRect">
            <a:avLst>
              <a:gd name="adj" fmla="val 32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339328" y="14081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状态判断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03911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1975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核心业务链路清晰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8339328" y="247802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0496" y="24140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自动化交付链路偏弱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8339328" y="291693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0496" y="2852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运行环境依赖较多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8339328" y="33558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0496" y="3291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近期提交集中在日报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8339328" y="44988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D8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建议把“可本地演示”推进到“可重复验证、可自动发布”。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当前能力：从提示词到部署分享的闭环已成型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0515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051560"/>
            <a:ext cx="109728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128016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1348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280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87552" y="182880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76479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按需求描述选择 html / multi_file / vue_project 生成类型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87552" y="2139696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07568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流式输出执行过程，后端统一解析、保存与构建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36208" y="10515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051560"/>
            <a:ext cx="109728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28016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3487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86016" y="1280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510528" y="182880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176479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前端对话页支持 iframe 预览与编辑模式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510528" y="213969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207568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用户可围绕生成结果继续对话式修改页面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13232" y="27889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2788920"/>
            <a:ext cx="109728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" y="301752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30861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017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987552" y="356616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350215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部署生成 deployKey，复制构建产物并提供静态访问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987552" y="387705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381304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截图服务可生成封面，应用源码支持 ZIP 下载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236208" y="27889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2788920"/>
            <a:ext cx="10972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30175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0861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86016" y="3017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6510528" y="356616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11696" y="350215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用户、应用、精选应用和对话历史查询已有管理页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6510528" y="387705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11696" y="381304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 指标暴露，AI 调用指标有采集类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1920240" y="5074920"/>
            <a:ext cx="8046720" cy="0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48737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5880" y="49423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41832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输入需求</a:t>
            </a:r>
            <a:endParaRPr lang="en-US" sz="1230" dirty="0"/>
          </a:p>
        </p:txBody>
      </p:sp>
      <p:sp>
        <p:nvSpPr>
          <p:cNvPr id="49" name="Shape 47"/>
          <p:cNvSpPr/>
          <p:nvPr/>
        </p:nvSpPr>
        <p:spPr>
          <a:xfrm>
            <a:off x="4069080" y="487375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9080" y="49423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85032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230" dirty="0"/>
          </a:p>
        </p:txBody>
      </p:sp>
      <p:sp>
        <p:nvSpPr>
          <p:cNvPr id="52" name="Shape 50"/>
          <p:cNvSpPr/>
          <p:nvPr/>
        </p:nvSpPr>
        <p:spPr>
          <a:xfrm>
            <a:off x="6812280" y="48737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49423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28232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</a:t>
            </a:r>
            <a:endParaRPr lang="en-US" sz="1230" dirty="0"/>
          </a:p>
        </p:txBody>
      </p:sp>
      <p:sp>
        <p:nvSpPr>
          <p:cNvPr id="55" name="Shape 53"/>
          <p:cNvSpPr/>
          <p:nvPr/>
        </p:nvSpPr>
        <p:spPr>
          <a:xfrm>
            <a:off x="9555480" y="487375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55480" y="49423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71432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230" dirty="0"/>
          </a:p>
        </p:txBody>
      </p:sp>
      <p:sp>
        <p:nvSpPr>
          <p:cNvPr id="58" name="Text 56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架构与模块：单体可演示，微服务版本已拆出边界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024128"/>
            <a:ext cx="516636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 / src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7552" y="189280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2880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用户、应用、聊天历史等核心业务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87552" y="235000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28600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生成、工作流、工具调用、输入护轨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7552" y="280720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74320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静态资源访问、部署、截图、下载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26440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20040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缓存、限流、Actuator 与 Prometheus 指标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401568"/>
            <a:ext cx="841248" cy="0"/>
          </a:xfrm>
          <a:prstGeom prst="line">
            <a:avLst/>
          </a:prstGeom>
          <a:noFill/>
          <a:ln w="3048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59168" y="1024128"/>
            <a:ext cx="4434840" cy="480060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微服务聚合 / yu-ai-code-mother-microservice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7388352" y="1847088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88352" y="1947672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62872" y="1847088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2872" y="1947672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88352" y="2505456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260604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62872" y="2505456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62872" y="260604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88352" y="3163824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3264408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62872" y="3163824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62872" y="3264408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88352" y="3822192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392277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33488" y="46634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i="1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边界提示：ai 模块更像被 app 嵌入的能力库，尚非独立服务。</a:t>
            </a:r>
            <a:endParaRPr lang="en-US" sz="1160" dirty="0"/>
          </a:p>
        </p:txBody>
      </p:sp>
      <p:sp>
        <p:nvSpPr>
          <p:cNvPr id="37" name="Text 35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近期进展：近 7 天以日报沉淀为主，业务代码未见新增提交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051560"/>
            <a:ext cx="1077163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提交观察（最近 7 天）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207008" y="2267712"/>
            <a:ext cx="9418320" cy="0"/>
          </a:xfrm>
          <a:prstGeom prst="line">
            <a:avLst/>
          </a:prstGeom>
          <a:noFill/>
          <a:ln w="3048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0574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259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26151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6968" y="281635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624328" y="20574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1259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59736" y="26151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59736" y="281635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197096" y="20574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096" y="21259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32504" y="26151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32504" y="281635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769864" y="20574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9864" y="21259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05272" y="26151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05272" y="281635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342632" y="20574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21259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78040" y="26151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78040" y="281635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915400" y="205740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21259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50808" y="26151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50808" y="281635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10488168" y="205740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88168" y="21259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23576" y="26151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323576" y="281635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13232" y="37490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" y="3749040"/>
            <a:ext cx="109728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9264" y="397764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" y="404622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463040" y="3977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已完成沉淀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88720" y="446227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连续日报提交覆盖 07-02 至 07-08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987552" y="484632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88720" y="47823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项目能力、风险和建议持续可追踪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4407408" y="37490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07408" y="3749040"/>
            <a:ext cx="109728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9776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404622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57216" y="3977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今日更新重点</a:t>
            </a:r>
            <a:endParaRPr lang="en-US" sz="1550" dirty="0"/>
          </a:p>
        </p:txBody>
      </p:sp>
      <p:sp>
        <p:nvSpPr>
          <p:cNvPr id="54" name="Shape 52"/>
          <p:cNvSpPr/>
          <p:nvPr/>
        </p:nvSpPr>
        <p:spPr>
          <a:xfrm>
            <a:off x="4681728" y="452628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446227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刷新 2026-07-09 状态汇报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4681728" y="484632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47823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CI/测试配置与依赖风险说明</a:t>
            </a:r>
            <a:endParaRPr lang="en-US" sz="1120" dirty="0"/>
          </a:p>
        </p:txBody>
      </p:sp>
      <p:sp>
        <p:nvSpPr>
          <p:cNvPr id="58" name="Shape 56"/>
          <p:cNvSpPr/>
          <p:nvPr/>
        </p:nvSpPr>
        <p:spPr>
          <a:xfrm>
            <a:off x="8101584" y="37490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101584" y="3749040"/>
            <a:ext cx="109728" cy="15544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57616" y="397764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57616" y="404622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851392" y="3977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进展解读</a:t>
            </a:r>
            <a:endParaRPr lang="en-US" sz="1550" dirty="0"/>
          </a:p>
        </p:txBody>
      </p:sp>
      <p:sp>
        <p:nvSpPr>
          <p:cNvPr id="63" name="Shape 61"/>
          <p:cNvSpPr/>
          <p:nvPr/>
        </p:nvSpPr>
        <p:spPr>
          <a:xfrm>
            <a:off x="8375904" y="452628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77072" y="446227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近期没有业务功能提交可归纳</a:t>
            </a:r>
            <a:endParaRPr lang="en-US" sz="1120" dirty="0"/>
          </a:p>
        </p:txBody>
      </p:sp>
      <p:sp>
        <p:nvSpPr>
          <p:cNvPr id="65" name="Shape 63"/>
          <p:cNvSpPr/>
          <p:nvPr/>
        </p:nvSpPr>
        <p:spPr>
          <a:xfrm>
            <a:off x="8375904" y="484632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77072" y="478231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建议后续把日报与自动指标联动</a:t>
            </a:r>
            <a:endParaRPr lang="en-US" sz="1120" dirty="0"/>
          </a:p>
        </p:txBody>
      </p:sp>
      <p:sp>
        <p:nvSpPr>
          <p:cNvPr id="67" name="Text 65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指标要点：已有观测入口，自动化数据仍需接入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097280"/>
            <a:ext cx="20574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0976" y="126187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产品能力线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" y="219456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72384" y="1097280"/>
            <a:ext cx="20574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73552" y="126187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36976" y="189280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73552" y="219456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聚合 POM 已声明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1097280"/>
            <a:ext cx="20574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96128" y="126187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559552" y="189280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96128" y="219456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集中于单体 src/test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17536" y="1097280"/>
            <a:ext cx="20574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18704" y="126187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882128" y="189280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18704" y="219456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40112" y="1097280"/>
            <a:ext cx="1417320" cy="157276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241280" y="1261872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204704" y="189280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监控配置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41280" y="219456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" y="320040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4128" y="3529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当前可读指标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060704" y="404164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39776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/ npm 脚本提供构建与检查入口</a:t>
            </a:r>
            <a:endParaRPr lang="en-US" sz="1210" dirty="0"/>
          </a:p>
        </p:txBody>
      </p:sp>
      <p:sp>
        <p:nvSpPr>
          <p:cNvPr id="33" name="Shape 31"/>
          <p:cNvSpPr/>
          <p:nvPr/>
        </p:nvSpPr>
        <p:spPr>
          <a:xfrm>
            <a:off x="1060704" y="4425696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61872" y="436168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暴露 health、info、prometheus</a:t>
            </a:r>
            <a:endParaRPr lang="en-US" sz="1210" dirty="0"/>
          </a:p>
        </p:txBody>
      </p:sp>
      <p:sp>
        <p:nvSpPr>
          <p:cNvPr id="35" name="Shape 33"/>
          <p:cNvSpPr/>
          <p:nvPr/>
        </p:nvSpPr>
        <p:spPr>
          <a:xfrm>
            <a:off x="1060704" y="480974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61872" y="474573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调用指标采集类已在代码中出现</a:t>
            </a:r>
            <a:endParaRPr lang="en-US" sz="1210" dirty="0"/>
          </a:p>
        </p:txBody>
      </p:sp>
      <p:sp>
        <p:nvSpPr>
          <p:cNvPr id="37" name="Shape 35"/>
          <p:cNvSpPr/>
          <p:nvPr/>
        </p:nvSpPr>
        <p:spPr>
          <a:xfrm>
            <a:off x="6419088" y="320040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93408" y="3529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仍待自动化采集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729984" y="404164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39776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构建通过率、测试通过率与覆盖率</a:t>
            </a:r>
            <a:endParaRPr lang="en-US" sz="1210" dirty="0"/>
          </a:p>
        </p:txBody>
      </p:sp>
      <p:sp>
        <p:nvSpPr>
          <p:cNvPr id="41" name="Shape 39"/>
          <p:cNvSpPr/>
          <p:nvPr/>
        </p:nvSpPr>
        <p:spPr>
          <a:xfrm>
            <a:off x="6729984" y="442569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436168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请求量、Token 成本、错误率与延迟</a:t>
            </a:r>
            <a:endParaRPr lang="en-US" sz="1210" dirty="0"/>
          </a:p>
        </p:txBody>
      </p:sp>
      <p:sp>
        <p:nvSpPr>
          <p:cNvPr id="43" name="Shape 41"/>
          <p:cNvSpPr/>
          <p:nvPr/>
        </p:nvSpPr>
        <p:spPr>
          <a:xfrm>
            <a:off x="6729984" y="48097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474573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部署成功率、截图成功率、活跃应用数</a:t>
            </a:r>
            <a:endParaRPr lang="en-US" sz="1210" dirty="0"/>
          </a:p>
        </p:txBody>
      </p:sp>
      <p:sp>
        <p:nvSpPr>
          <p:cNvPr id="45" name="Text 43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 / CI 状态：入口存在，流水线与前端自动化测试缺口明显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02412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024128"/>
            <a:ext cx="109728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1252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13213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后端测试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87552" y="180136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73736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单体项目有 Spring Boot Test 依赖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" y="224028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17627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 覆盖解析、AI、工作流、截图等场景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7552" y="2679192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61518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多项测试偏集成，可能依赖外部密钥与服务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102412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1024128"/>
            <a:ext cx="109728" cy="4480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125272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3213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前端检查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4663440" y="1801368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73736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 包含 build、type-check、lint、format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24028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17627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Vitest、Jest 或 Playwright 配置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679192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61518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类型生成依赖本地后端文档地址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65008" y="102412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65008" y="1024128"/>
            <a:ext cx="109728" cy="44805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1252728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13213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14816" y="1252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运行状态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339328" y="1801368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0496" y="173736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39328" y="2240280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0496" y="217627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Dockerfile 或 docker-compose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39328" y="2679192"/>
            <a:ext cx="109728" cy="10972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0496" y="261518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抓取配置存在，偏本地部署形态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风险与阻塞：外部依赖与自动化缺口是近期主要不确定性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1078992"/>
            <a:ext cx="10469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1243584"/>
            <a:ext cx="621792" cy="292608"/>
          </a:xfrm>
          <a:prstGeom prst="roundRect">
            <a:avLst>
              <a:gd name="adj" fmla="val 18750"/>
            </a:avLst>
          </a:prstGeom>
          <a:solidFill>
            <a:srgbClr val="D96C75"/>
          </a:solidFill>
          <a:ln w="12700">
            <a:solidFill>
              <a:srgbClr val="D96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325880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12710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运行配置依赖本地与密钥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4983480" y="1289304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MySQL、Redis、AI Key、COS、Pexels、DashScope 均需配置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4672" y="2011680"/>
            <a:ext cx="10469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2176272"/>
            <a:ext cx="621792" cy="292608"/>
          </a:xfrm>
          <a:prstGeom prst="roundRect">
            <a:avLst>
              <a:gd name="adj" fmla="val 18750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258568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22037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单体与微服务版本漂移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Boot、Lombok、MyBatis Flex 等存在版本差异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804672" y="2944368"/>
            <a:ext cx="10469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3108960"/>
            <a:ext cx="621792" cy="292608"/>
          </a:xfrm>
          <a:prstGeom prst="roundRect">
            <a:avLst>
              <a:gd name="adj" fmla="val 18750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191256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74520" y="31363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测试可重复性不足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983480" y="3154680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集成测试可能受外部服务、浏览器与网络影响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804672" y="3877056"/>
            <a:ext cx="10469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5840" y="4041648"/>
            <a:ext cx="62179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123944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74520" y="40690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前端管理能力有缺口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4983480" y="4087368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对话管理删除目前提示需后端接口支撑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804672" y="4809744"/>
            <a:ext cx="10469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5840" y="4974336"/>
            <a:ext cx="621792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056632"/>
            <a:ext cx="6217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74520" y="5001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第三方源码本地改造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4983480" y="5020056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dev/langchain4j 路径中有调试输出与未整理注释</a:t>
            </a:r>
            <a:endParaRPr lang="en-US" sz="1160" dirty="0"/>
          </a:p>
        </p:txBody>
      </p:sp>
      <p:sp>
        <p:nvSpPr>
          <p:cNvPr id="34" name="Text 32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-548640"/>
            <a:ext cx="2103120" cy="2103120"/>
          </a:xfrm>
          <a:prstGeom prst="ellipse">
            <a:avLst/>
          </a:prstGeom>
          <a:solidFill>
            <a:srgbClr val="CFECEF">
              <a:alpha val="95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5120640"/>
            <a:ext cx="1234440" cy="1234440"/>
          </a:xfrm>
          <a:prstGeom prst="ellipse">
            <a:avLst/>
          </a:prstGeom>
          <a:solidFill>
            <a:srgbClr val="CFECEF">
              <a:alpha val="82000"/>
            </a:srgbClr>
          </a:solidFill>
          <a:ln w="12700">
            <a:solidFill>
              <a:srgbClr val="CFEC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建议下一步：先建立可重复验证，再补产品与架构收敛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738360" y="329184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7232" y="41148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 09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060704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24358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交付自动化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07792" y="1344168"/>
            <a:ext cx="658368" cy="0"/>
          </a:xfrm>
          <a:prstGeom prst="line">
            <a:avLst/>
          </a:prstGeom>
          <a:noFill/>
          <a:ln w="22860">
            <a:solidFill>
              <a:srgbClr val="B6DEE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1060704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1234440"/>
            <a:ext cx="6812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GitHub Actions：后端 Maven test、前端 build/type-check/lint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14400" y="2002536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185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配置治理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07792" y="2286000"/>
            <a:ext cx="658368" cy="0"/>
          </a:xfrm>
          <a:prstGeom prst="line">
            <a:avLst/>
          </a:prstGeom>
          <a:noFill/>
          <a:ln w="22860">
            <a:solidFill>
              <a:srgbClr val="B6DEE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03320" y="2002536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2176272"/>
            <a:ext cx="6812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收敛本地默认密钥，完善 prod sample 与启动前检查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914400" y="2944368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127248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测试策略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07792" y="3227832"/>
            <a:ext cx="658368" cy="0"/>
          </a:xfrm>
          <a:prstGeom prst="line">
            <a:avLst/>
          </a:prstGeom>
          <a:noFill/>
          <a:ln w="22860">
            <a:solidFill>
              <a:srgbClr val="B6DEE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03320" y="2944368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0208" y="3118104"/>
            <a:ext cx="6812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区分单元测试与外部集成测试，增加前端关键链路测试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14400" y="388620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06908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产品补齐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07792" y="4169664"/>
            <a:ext cx="658368" cy="0"/>
          </a:xfrm>
          <a:prstGeom prst="line">
            <a:avLst/>
          </a:prstGeom>
          <a:noFill/>
          <a:ln w="22860">
            <a:solidFill>
              <a:srgbClr val="B6DEE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03320" y="3886200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0208" y="4059936"/>
            <a:ext cx="6812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补后端对话删除接口，完善管理入口与错误提示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914400" y="4828032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010912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架构收敛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07792" y="5111496"/>
            <a:ext cx="658368" cy="0"/>
          </a:xfrm>
          <a:prstGeom prst="line">
            <a:avLst/>
          </a:prstGeom>
          <a:noFill/>
          <a:ln w="22860">
            <a:solidFill>
              <a:srgbClr val="B6DEE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03320" y="4828032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F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5001768"/>
            <a:ext cx="6812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明确单体与微服务维护边界，降低版本漂移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932688" y="5897880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i="1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优先级建议：CI 与配置治理优先，因为它们直接影响团队对变更质量和演示稳定性的判断。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71323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 · 2026-07-09（北京时间）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875520" y="6547104"/>
            <a:ext cx="1691640" cy="0"/>
          </a:xfrm>
          <a:prstGeom prst="line">
            <a:avLst/>
          </a:prstGeom>
          <a:noFill/>
          <a:ln w="15240">
            <a:solidFill>
              <a:srgbClr val="B6DEE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914400"/>
            <a:ext cx="4572000" cy="4572000"/>
          </a:xfrm>
          <a:prstGeom prst="ellipse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3474720"/>
            <a:ext cx="3383280" cy="3383280"/>
          </a:xfrm>
          <a:prstGeom prst="ellipse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8046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总结：能力闭环已具备，工程化可信度是下一阶段重点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4434840" cy="1005840"/>
          </a:xfrm>
          <a:prstGeom prst="roundRect">
            <a:avLst>
              <a:gd name="adj" fmla="val 9091"/>
            </a:avLst>
          </a:prstGeom>
          <a:solidFill>
            <a:srgbClr val="1C7293">
              <a:alpha val="9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213969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20827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0574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当前能力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91640" y="235915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9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生成、编辑、部署、管理四条主线完整，前后端协作链路清晰。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4434840" cy="1005840"/>
          </a:xfrm>
          <a:prstGeom prst="roundRect">
            <a:avLst>
              <a:gd name="adj" fmla="val 9091"/>
            </a:avLst>
          </a:prstGeom>
          <a:solidFill>
            <a:srgbClr val="065A82">
              <a:alpha val="9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213969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0827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20574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近期变更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49440" y="235915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9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天提交集中在项目日报，本轮更新继续沉淀状态视图。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3246120"/>
            <a:ext cx="4434840" cy="1005840"/>
          </a:xfrm>
          <a:prstGeom prst="roundRect">
            <a:avLst>
              <a:gd name="adj" fmla="val 9091"/>
            </a:avLst>
          </a:prstGeom>
          <a:solidFill>
            <a:srgbClr val="1C7293">
              <a:alpha val="9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5570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6255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347472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主要风险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691640" y="377647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9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外部服务配置、缺少 CI、测试可重复性与双架构漂移。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172200" y="3246120"/>
            <a:ext cx="4434840" cy="1005840"/>
          </a:xfrm>
          <a:prstGeom prst="roundRect">
            <a:avLst>
              <a:gd name="adj" fmla="val 9091"/>
            </a:avLst>
          </a:prstGeom>
          <a:solidFill>
            <a:srgbClr val="065A82">
              <a:alpha val="9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35570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6255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347472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行动建议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49440" y="377647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9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优先补自动化验证和配置治理，再推进产品缺口与架构边界。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14400" y="5074920"/>
            <a:ext cx="9692640" cy="530352"/>
          </a:xfrm>
          <a:prstGeom prst="roundRect">
            <a:avLst>
              <a:gd name="adj" fmla="val 1724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257800"/>
            <a:ext cx="9235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建议维护者将“每日状态”与后续 CI、Prometheus、部署结果联动，形成可持续项目仪表盘。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9808" y="623620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文件路径：docs/reports/project-status-2026-07-09.pptx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2026-07-09</dc:title>
  <dc:subject>AI 零代码应用生成平台每日项目状态</dc:subject>
  <dc:creator>Cursor Automation</dc:creator>
  <cp:lastModifiedBy>Cursor Automation</cp:lastModifiedBy>
  <cp:revision>1</cp:revision>
  <dcterms:created xsi:type="dcterms:W3CDTF">2026-07-09T09:06:34Z</dcterms:created>
  <dcterms:modified xsi:type="dcterms:W3CDTF">2026-07-09T09:06:34Z</dcterms:modified>
</cp:coreProperties>
</file>