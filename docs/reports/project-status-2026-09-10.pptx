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023E48"/>
          </a:solidFill>
          <a:ln w="12700">
            <a:solidFill>
              <a:srgbClr val="023E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4937760"/>
            <a:ext cx="2377440" cy="2377440"/>
          </a:xfrm>
          <a:prstGeom prst="ellipse">
            <a:avLst/>
          </a:prstGeom>
          <a:solidFill>
            <a:srgbClr val="023640"/>
          </a:solidFill>
          <a:ln w="12700">
            <a:solidFill>
              <a:srgbClr val="023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AI 零代码应用生成平台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面向项目维护者与团队的周内快照：能力盘点、近期变更、开放问题与建议下一步。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0A4F5A"/>
          </a:solidFill>
          <a:ln w="12700">
            <a:solidFill>
              <a:srgbClr val="1A6B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97764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年 9 月 10 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448056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汇报日 · 北京时间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60520" y="379476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0A4F5A"/>
          </a:solidFill>
          <a:ln w="12700">
            <a:solidFill>
              <a:srgbClr val="1A6B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397764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日 0 次业务提交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61688" y="448056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主分支保持 893918c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0" y="379476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0A4F5A"/>
          </a:solidFill>
          <a:ln w="12700">
            <a:solidFill>
              <a:srgbClr val="1A6B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397764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教程第 14 期完成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82128" y="448056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微服务改造已合入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1447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受众：项目维护者 / 核心研发   ·   范围：README · 模块目录 · Git 历史 · 开放 Issue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2026-09-10  ·  北京时间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0" y="647395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内部维护汇报 · 请勿外传敏感配置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754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12A32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15568"/>
            <a:ext cx="9144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2070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04088" y="17739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教程期次已交付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2066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截至微服务改造完成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55848" y="1115568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12A32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1115568"/>
            <a:ext cx="9144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12070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557016" y="17739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57016" y="2066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common 到 screenshot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08776" y="1115568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12A32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115568"/>
            <a:ext cx="9144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2070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09944" y="17739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单体自动化测试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9944" y="2066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微服务侧尚无测试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61704" y="1115568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12A32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61704" y="1115568"/>
            <a:ext cx="91440" cy="141732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62872" y="12070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262872" y="17739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62872" y="2066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1 个生成阻塞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2724912"/>
            <a:ext cx="56692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011" y="3010571"/>
            <a:ext cx="215067" cy="21506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61872" y="29809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产品定位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731520" y="3456432"/>
            <a:ext cx="5212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代码生成平台：用户用自然语言描述需求，平台选择策略并流式生成可预览、可编辑、可部署的网站应用。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仓库同时保留单体（根目录 Spring Boot）与微服务（yu-ai-code-mother-microservice）两套实现，第 14 期提交明确要求勿单独使用中间态。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前端为独立 Vue 3 工程，覆盖对话生成、可视化改稿、部署分享与管理后台。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355080" y="2724912"/>
            <a:ext cx="5303520" cy="3520440"/>
          </a:xfrm>
          <a:prstGeom prst="roundRect">
            <a:avLst>
              <a:gd name="adj" fmla="val 2597"/>
            </a:avLst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83680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171" y="3010571"/>
            <a:ext cx="215067" cy="215067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114032" y="29809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技术栈快照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6583680" y="34564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7680960" y="34564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/ Java 21 / MyBatis-Flex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6583680" y="387705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7680960" y="387705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1.1 + LangGraph4j 1.6-rc2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6583680" y="42976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7680960" y="42976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 · Dubbo 3.3 · Nacos</a:t>
            </a:r>
            <a:endParaRPr lang="en-US" sz="1400" dirty="0"/>
          </a:p>
        </p:txBody>
      </p:sp>
      <p:sp>
        <p:nvSpPr>
          <p:cNvPr id="43" name="Text 39"/>
          <p:cNvSpPr/>
          <p:nvPr/>
        </p:nvSpPr>
        <p:spPr>
          <a:xfrm>
            <a:off x="6583680" y="471830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7680960" y="471830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Redis Session · Redisson 限流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6583680" y="513892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300" dirty="0"/>
          </a:p>
        </p:txBody>
      </p:sp>
      <p:sp>
        <p:nvSpPr>
          <p:cNvPr id="46" name="Text 42"/>
          <p:cNvSpPr/>
          <p:nvPr/>
        </p:nvSpPr>
        <p:spPr>
          <a:xfrm>
            <a:off x="7680960" y="513892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· TypeScript · Ant Design Vue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6583680" y="55595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</a:t>
            </a:r>
            <a:endParaRPr lang="en-US" sz="1300" dirty="0"/>
          </a:p>
        </p:txBody>
      </p:sp>
      <p:sp>
        <p:nvSpPr>
          <p:cNvPr id="48" name="Text 44"/>
          <p:cNvSpPr/>
          <p:nvPr/>
        </p:nvSpPr>
        <p:spPr>
          <a:xfrm>
            <a:off x="7680960" y="55595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 · Prometheus · Grafana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2026-09-10  ·  北京时间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0" y="647395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内部维护汇报 · 请勿外传敏感配置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754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四大核心能力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553212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12A32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40817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06" y="1520830"/>
            <a:ext cx="286756" cy="2867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20640" y="137160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6304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95528" y="216712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按需求自动路由 HTML / 多文件 / Vue 工程策略；工具调用写文件，SSE 流式展示推理与执行过程。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355080" y="1115568"/>
            <a:ext cx="553212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12A32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11112" y="140817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766" y="1520830"/>
            <a:ext cx="286756" cy="2867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972800" y="137160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31520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647688" y="216712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预览页进入编辑模式后可选中 DOM，结合对话做原生全量或工程增量修改，直到满意。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02920" y="3675888"/>
            <a:ext cx="553212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12A32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58952" y="396849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06" y="4081150"/>
            <a:ext cx="286756" cy="2867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20640" y="39319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46304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795528" y="472744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部署到云端并自动截封面，给出可访问地址；支持完整项目打包下载与精选案例展示。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355080" y="3675888"/>
            <a:ext cx="553212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  <a:effectLst>
            <a:outerShdw sx="100000" sy="100000" kx="0" ky="0" algn="bl" rotWithShape="0" blurRad="101600" dist="25400" dir="8100000">
              <a:srgbClr val="012A32">
                <a:alpha val="7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611112" y="396849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766" y="4081150"/>
            <a:ext cx="286756" cy="2867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972800" y="39319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31520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6647688" y="472744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应用 / 对话管理，精选置顶，Prompt 审查与用户级限流，AI 调用与系统指标可观测。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2026-09-10  ·  北京时间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0" y="647395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内部维护汇报 · 请勿外传敏感配置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754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架构与模块地图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3703320" cy="512064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280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723" y="1364651"/>
            <a:ext cx="215067" cy="2150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7008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13232" y="1828800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1828800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41248" y="2048256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 / 用户 / 对话 / 工作流 SSE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3232" y="2414016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241401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tools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1248" y="263347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生成服务、路由、文件工具集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3232" y="2999232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299923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41248" y="321868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个节点：路由、采集、质检、构建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3232" y="3584448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" y="3584448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41248" y="380390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 / 保存 / 构建处理器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13232" y="4169664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1248" y="416966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41248" y="4389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安全输入与输出重试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13232" y="4754880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" y="4754880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ratelimiter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41248" y="4974336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Redisson 用户级限流切面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13232" y="5340096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41248" y="534009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41248" y="555955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请求、错误、Token、耗时指标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389120" y="1097280"/>
            <a:ext cx="3840480" cy="5120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90288" y="1280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779" y="1364651"/>
            <a:ext cx="215067" cy="215067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084064" y="1325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4617720" y="1828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502920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yu-ai-code-common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5029200" y="206654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通用工具与 COS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4617720" y="24140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5029200" y="243230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yu-ai-code-model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5029200" y="26517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 / DTO / 枚举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4617720" y="29992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44" name="Text 40"/>
          <p:cNvSpPr/>
          <p:nvPr/>
        </p:nvSpPr>
        <p:spPr>
          <a:xfrm>
            <a:off x="5029200" y="301752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yu-ai-code-client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5029200" y="323697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跨服务接口定义</a:t>
            </a:r>
            <a:endParaRPr lang="en-US" sz="1300" dirty="0"/>
          </a:p>
        </p:txBody>
      </p:sp>
      <p:sp>
        <p:nvSpPr>
          <p:cNvPr id="46" name="Text 42"/>
          <p:cNvSpPr/>
          <p:nvPr/>
        </p:nvSpPr>
        <p:spPr>
          <a:xfrm>
            <a:off x="4617720" y="35844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5029200" y="360273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</a:t>
            </a:r>
            <a:endParaRPr lang="en-US" sz="1300" dirty="0"/>
          </a:p>
        </p:txBody>
      </p:sp>
      <p:sp>
        <p:nvSpPr>
          <p:cNvPr id="48" name="Text 44"/>
          <p:cNvSpPr/>
          <p:nvPr/>
        </p:nvSpPr>
        <p:spPr>
          <a:xfrm>
            <a:off x="5029200" y="38221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用户与鉴权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4617720" y="41696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5029200" y="418795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yu-ai-code-app</a:t>
            </a:r>
            <a:endParaRPr lang="en-US" sz="1300" dirty="0"/>
          </a:p>
        </p:txBody>
      </p:sp>
      <p:sp>
        <p:nvSpPr>
          <p:cNvPr id="51" name="Text 47"/>
          <p:cNvSpPr/>
          <p:nvPr/>
        </p:nvSpPr>
        <p:spPr>
          <a:xfrm>
            <a:off x="5029200" y="44074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应用编排与限流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4617720" y="4754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53" name="Text 49"/>
          <p:cNvSpPr/>
          <p:nvPr/>
        </p:nvSpPr>
        <p:spPr>
          <a:xfrm>
            <a:off x="5029200" y="47731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yu-ai-code-ai</a:t>
            </a:r>
            <a:endParaRPr lang="en-US" sz="1300" dirty="0"/>
          </a:p>
        </p:txBody>
      </p:sp>
      <p:sp>
        <p:nvSpPr>
          <p:cNvPr id="54" name="Text 50"/>
          <p:cNvSpPr/>
          <p:nvPr/>
        </p:nvSpPr>
        <p:spPr>
          <a:xfrm>
            <a:off x="5029200" y="499262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模型、工具、护栏</a:t>
            </a:r>
            <a:endParaRPr lang="en-US" sz="1300" dirty="0"/>
          </a:p>
        </p:txBody>
      </p:sp>
      <p:sp>
        <p:nvSpPr>
          <p:cNvPr id="55" name="Text 51"/>
          <p:cNvSpPr/>
          <p:nvPr/>
        </p:nvSpPr>
        <p:spPr>
          <a:xfrm>
            <a:off x="4617720" y="5340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56" name="Text 52"/>
          <p:cNvSpPr/>
          <p:nvPr/>
        </p:nvSpPr>
        <p:spPr>
          <a:xfrm>
            <a:off x="5029200" y="53583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yu-ai-code-screenshot</a:t>
            </a:r>
            <a:endParaRPr lang="en-US" sz="1300" dirty="0"/>
          </a:p>
        </p:txBody>
      </p:sp>
      <p:sp>
        <p:nvSpPr>
          <p:cNvPr id="57" name="Text 53"/>
          <p:cNvSpPr/>
          <p:nvPr/>
        </p:nvSpPr>
        <p:spPr>
          <a:xfrm>
            <a:off x="5029200" y="557784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网页截图服务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8412480" y="1097280"/>
            <a:ext cx="3246120" cy="2423160"/>
          </a:xfrm>
          <a:prstGeom prst="roundRect">
            <a:avLst>
              <a:gd name="adj" fmla="val 3774"/>
            </a:avLst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8613648" y="1280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6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139" y="1364651"/>
            <a:ext cx="215067" cy="215067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9107424" y="13350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前端工程</a:t>
            </a:r>
            <a:endParaRPr lang="en-US" sz="1800" dirty="0"/>
          </a:p>
        </p:txBody>
      </p:sp>
      <p:sp>
        <p:nvSpPr>
          <p:cNvPr id="62" name="Text 57"/>
          <p:cNvSpPr/>
          <p:nvPr/>
        </p:nvSpPr>
        <p:spPr>
          <a:xfrm>
            <a:off x="8613648" y="1828800"/>
            <a:ext cx="28529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个 Vue 页面/组件：首页、对话预览、可视化编辑、部署弹窗、应用与用户管理、对话管理。</a:t>
            </a:r>
            <a:endParaRPr lang="en-US" sz="1400" dirty="0"/>
          </a:p>
        </p:txBody>
      </p:sp>
      <p:sp>
        <p:nvSpPr>
          <p:cNvPr id="63" name="Shape 58"/>
          <p:cNvSpPr/>
          <p:nvPr/>
        </p:nvSpPr>
        <p:spPr>
          <a:xfrm>
            <a:off x="8412480" y="3703320"/>
            <a:ext cx="324612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8613648" y="3886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8139" y="3970691"/>
            <a:ext cx="215067" cy="215067"/>
          </a:xfrm>
          <a:prstGeom prst="rect">
            <a:avLst/>
          </a:prstGeom>
        </p:spPr>
      </p:pic>
      <p:sp>
        <p:nvSpPr>
          <p:cNvPr id="66" name="Text 60"/>
          <p:cNvSpPr/>
          <p:nvPr/>
        </p:nvSpPr>
        <p:spPr>
          <a:xfrm>
            <a:off x="9107424" y="39410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配套设施</a:t>
            </a:r>
            <a:endParaRPr lang="en-US" sz="1800" dirty="0"/>
          </a:p>
        </p:txBody>
      </p:sp>
      <p:sp>
        <p:nvSpPr>
          <p:cNvPr id="67" name="Text 61"/>
          <p:cNvSpPr/>
          <p:nvPr/>
        </p:nvSpPr>
        <p:spPr>
          <a:xfrm>
            <a:off x="8613648" y="4434840"/>
            <a:ext cx="285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 建表脚本、prometheus.yml 抓取 /api/actuator/prometheus、grafana/ 提供 AI 模型看板模板。仓库内无业务 GitHub Actions。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2026-09-10  ·  北京时间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0" y="647395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内部维护汇报 · 请勿外传敏感配置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RECENT CHANGES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754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近期进展与变更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3794760" cy="5120640"/>
          </a:xfrm>
          <a:prstGeom prst="roundRect">
            <a:avLst>
              <a:gd name="adj" fmla="val 2410"/>
            </a:avLst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3258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369" y="1422441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35024" y="13898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C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" y="19659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749808" y="2926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次业务代码提交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49808" y="342900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仍为 893918c（2025-08-26，教程第 14 期）。本周仅有自动化每日汇报草稿 PR，无功能或缺陷修复合入 master。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9808" y="51206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最近有效提交距今已超过一年。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80560" y="1097280"/>
            <a:ext cx="7178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138988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178040" y="12070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期 · LangGraph 工作流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120640" y="153619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网站生成图、图片并发收集与高级节点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480560" y="2103120"/>
            <a:ext cx="7178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39572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0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178040" y="2212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期 · 系统优化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120640" y="254203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并发缓存、限流、Prompt 审查、稳定性与成本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480560" y="3108960"/>
            <a:ext cx="7178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63440" y="340156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20640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178040" y="3218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12–13 期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120640" y="35478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部署上线与可观测性（Prometheus / Grafana）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480560" y="4114800"/>
            <a:ext cx="7178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63440" y="440740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2064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178040" y="42245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 · 微服务完成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120640" y="455371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模块拆分 + Dubbo/Nacos；含完整单体代码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480560" y="5120640"/>
            <a:ext cx="7178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63440" y="5413248"/>
            <a:ext cx="310896" cy="310896"/>
          </a:xfrm>
          <a:prstGeom prst="ellipse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20640" y="5230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2026-08-28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178040" y="5230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社区反馈升温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5120640" y="555955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#81 清华 npm 镜像无法解析 @vitejs/plugin-vue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2026-09-10  ·  北京时间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0" y="647395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内部维护汇报 · 请勿外传敏感配置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METRICS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754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2724912" cy="1298448"/>
          </a:xfrm>
          <a:prstGeom prst="roundRect">
            <a:avLst>
              <a:gd name="adj" fmla="val 5634"/>
            </a:avLst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207008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9224" y="18745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Java 源文件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55848" y="1097280"/>
            <a:ext cx="2724912" cy="1298448"/>
          </a:xfrm>
          <a:prstGeom prst="roundRect">
            <a:avLst>
              <a:gd name="adj" fmla="val 563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207008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02152" y="18745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Java 源文件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08776" y="1097280"/>
            <a:ext cx="2724912" cy="1298448"/>
          </a:xfrm>
          <a:prstGeom prst="roundRect">
            <a:avLst>
              <a:gd name="adj" fmla="val 5634"/>
            </a:avLst>
          </a:prstGeom>
          <a:solidFill>
            <a:srgbClr val="012A32"/>
          </a:solidFill>
          <a:ln w="12700">
            <a:solidFill>
              <a:srgbClr val="012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207008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REST 控制器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61704" y="1097280"/>
            <a:ext cx="2724912" cy="1298448"/>
          </a:xfrm>
          <a:prstGeom prst="roundRect">
            <a:avLst>
              <a:gd name="adj" fmla="val 563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8008" y="1207008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208008" y="18745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工作流节点类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2578608"/>
            <a:ext cx="566928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2761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2841955"/>
            <a:ext cx="204826" cy="20482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88720" y="28163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质量与协作门禁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246120"/>
          <a:ext cx="5257800" cy="2697480"/>
        </p:xfrm>
        <a:graphic>
          <a:graphicData uri="http://schemas.openxmlformats.org/drawingml/2006/table">
            <a:tbl>
              <a:tblPr/>
              <a:tblGrid>
                <a:gridCol w="1554480"/>
                <a:gridCol w="1143000"/>
                <a:gridCol w="2560320"/>
              </a:tblGrid>
              <a:tr h="4495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单体单测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工作流、路由、解析、截图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微服务单测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拆分后未同步测试资产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仓库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未配置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仅有 Copilot Agent 工作流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开放 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 / #65 / #81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业务提交（7 日）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冻结于第 14 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6355080" y="2578608"/>
            <a:ext cx="530352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565392" y="2761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2841955"/>
            <a:ext cx="204826" cy="20482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40880" y="2816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运行时指标口径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6565392" y="324612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代码已埋点 ai_model_requests_total、错误计数、Token 与响应耗时，并提供 Grafana 看板模板。本汇报环境无法连接生产 Prometheus，下列业务数暂无实测值，需运维导出后回填：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601968" y="44805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858000" y="44074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应用生成成功率 / 失败原因分布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601968" y="48463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858000" y="4773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日均 Token 消耗与单次生成时延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6601968" y="52120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858000" y="5138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部署成功次数与封面截图成功率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6601968" y="557784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858000" y="5504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限流触发次数与护栏拦截次数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2026-09-10  ·  北京时间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0" y="647395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内部维护汇报 · 请勿外传敏感配置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RISKS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754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553212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716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8E0DE"/>
          </a:solidFill>
          <a:ln w="12700">
            <a:solidFill>
              <a:srgbClr val="F8E0D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057" y="1464137"/>
            <a:ext cx="235549" cy="23554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937760" y="1389888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F8E0DE"/>
          </a:solidFill>
          <a:ln w="12700">
            <a:solidFill>
              <a:srgbClr val="F8E0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3898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07592" y="14081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工程生成协议不兼容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8952" y="1984248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#5：DeepSeek 工具调用缺少 reasoning_content，生成 Vue 项目会直接失败。学习路径核心场景受阻。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355080" y="1115568"/>
            <a:ext cx="553212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0" y="13716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8E8DC"/>
          </a:solidFill>
          <a:ln w="12700">
            <a:solidFill>
              <a:srgbClr val="F8E8D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217" y="1464137"/>
            <a:ext cx="235549" cy="235549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0789920" y="1389888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F8E8DC"/>
          </a:solidFill>
          <a:ln w="12700">
            <a:solidFill>
              <a:srgbClr val="F8E8D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789920" y="13898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159752" y="14081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前端依赖安装失败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611112" y="1984248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#81：清华 npm 镜像 404 @vitejs/plugin-vue。新人按教程改 registry 后无法 npm i，体验入口断裂。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02920" y="3675888"/>
            <a:ext cx="553212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393192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8E8DC"/>
          </a:solidFill>
          <a:ln w="12700">
            <a:solidFill>
              <a:srgbClr val="F8E8D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4024457"/>
            <a:ext cx="235549" cy="235549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937760" y="3950208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F8E8DC"/>
          </a:solidFill>
          <a:ln w="12700">
            <a:solidFill>
              <a:srgbClr val="F8E8D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937760" y="39502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1307592" y="39684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双轨代码与中间态风险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58952" y="4544568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期多次中间提交曾污染单体。新人若 checkout 中间 SHA 会得到不完整系统。文档警示需更醒目。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355080" y="3675888"/>
            <a:ext cx="553212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583680" y="393192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217" y="4024457"/>
            <a:ext cx="235549" cy="235549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10789920" y="3950208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0789920" y="39502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159752" y="39684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质量门禁缺失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6611112" y="4544568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无测试 CI；微服务 0 单测。回归依赖人工。LangChain4j 内仍有调试输出与上游 TODO。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2026-09-10  ·  北京时间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0" y="647395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内部维护汇报 · 请勿外传敏感配置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OPEN 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754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未完成项盘点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11155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35024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350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2070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兼容 DeepSeek thinking + tool-call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155448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assistant 消息 reasoning_content，恢复 Vue 工程生成主路径。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084832"/>
            <a:ext cx="11155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322576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32257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2194560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前端安装文档纠偏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254203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写明官方 registry 或可用镜像，并锁定 Vite 插件版本，避免 404。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072384"/>
            <a:ext cx="11155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310128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1012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3182112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联网搜索工具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20240" y="35295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按现有 BaseTool 规范新增可选搜索，仅对 VUE_PROJECT 开放。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059936"/>
            <a:ext cx="11155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297680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9768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20240" y="4169664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微服务测试与 CI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920240" y="451713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至少覆盖健康检查、用户登录、应用创建的冒烟，并挂到 PR。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5047488"/>
            <a:ext cx="11155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5285232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D5F5EE"/>
          </a:solidFill>
          <a:ln w="12700">
            <a:solidFill>
              <a:srgbClr val="D5F5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8523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920240" y="5157216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清理上游调试残留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920240" y="550468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OpenAiStreamingResponseBuilder 仍有调试打印，不宜出现在教学主干。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2026-09-10  ·  北京时间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0" y="647395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内部维护汇报 · 请勿外传敏感配置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NEXT STEPS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754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11155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097280"/>
            <a:ext cx="1051560" cy="877824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0"/>
            <a:ext cx="1051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120700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 #5 生成阻塞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155448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优先对齐 DeepSeek thinking 模式下的消息结构，补回归用例覆盖 Vue 工程流。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084832"/>
            <a:ext cx="11155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84832"/>
            <a:ext cx="1051560" cy="877824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84832"/>
            <a:ext cx="1051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83080" y="219456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降低安装摩擦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25420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更新前端 README：推荐官方源或已验证镜像，补充 yarn 备选与常见 404 处理。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3072384"/>
            <a:ext cx="11155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72384"/>
            <a:ext cx="1051560" cy="877824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72384"/>
            <a:ext cx="1051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83080" y="318211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评估 #65 搜索工具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83080" y="352958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若要增强时效性，按 ImageSearchTool 模式接入；需单独配置密钥，默认关闭。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920" y="4059936"/>
            <a:ext cx="11155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059936"/>
            <a:ext cx="1051560" cy="877824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59936"/>
            <a:ext cx="1051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783080" y="416966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补齐最小 CI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83080" y="451713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单体跑现有 14 个测试；微服务加 2–3 个冒烟。无密钥的单测先绿。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5047488"/>
            <a:ext cx="11155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5047488"/>
            <a:ext cx="1051560" cy="877824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047488"/>
            <a:ext cx="1051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783080" y="515721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冻结双轨说明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783080" y="550468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README 置顶：学习用最终 893918c；不要检出标注为中间态的提交。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120640"/>
            <a:ext cx="2560320" cy="2560320"/>
          </a:xfrm>
          <a:prstGeom prst="ellipse">
            <a:avLst/>
          </a:prstGeom>
          <a:solidFill>
            <a:srgbClr val="023640"/>
          </a:solidFill>
          <a:ln w="12700">
            <a:solidFill>
              <a:srgbClr val="0236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0B5560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556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41" y="1852209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3591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能力面已经闭环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生成、可视化改稿、部署下载、管理与观测均在第 14 期到位，足以支撑教学主线。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70832" y="155448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0B5560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99432" y="17556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993" y="1852209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9432" y="23591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本周代码面静止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99432" y="30632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日无业务提交。维护重心应转向学习者阻塞与工程卫生，而不是新功能。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01584" y="155448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0B5560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30184" y="17556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745" y="1852209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0184" y="23591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先打通主路径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30184" y="30632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#5 与安装文档后，再评估搜索工具和微服务 CI，投入产出更清晰。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" y="61447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下一汇报窗口：2026-09-11  ·  关注 #5 / #81 是否有新评论或修复分支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2026-09-10</dc:title>
  <dc:subject>AI 零代码应用生成平台项目状态</dc:subject>
  <dc:creator>yu-ai-code-mother 维护自动化</dc:creator>
  <cp:lastModifiedBy>yu-ai-code-mother 维护自动化</cp:lastModifiedBy>
  <cp:revision>1</cp:revision>
  <dcterms:created xsi:type="dcterms:W3CDTF">2026-09-10T09:13:03Z</dcterms:created>
  <dcterms:modified xsi:type="dcterms:W3CDTF">2026-09-10T09:13:03Z</dcterms:modified>
</cp:coreProperties>
</file>