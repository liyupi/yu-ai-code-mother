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79" y="-228600"/>
            <a:ext cx="4937760" cy="7315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0" y="502920"/>
            <a:ext cx="3474720" cy="228600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0" y="1234440"/>
            <a:ext cx="868680" cy="8686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49840" y="2148840"/>
            <a:ext cx="1143000" cy="11430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18320" y="3794760"/>
            <a:ext cx="1554480" cy="15544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09960" y="4800600"/>
            <a:ext cx="822960" cy="8229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225296"/>
            <a:ext cx="7040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2C39A"/>
                </a:solidFill>
                <a:latin typeface="Calibri"/>
              </a:rPr>
              <a:t>AI 零代码应用生成平台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874519"/>
            <a:ext cx="7223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Georgia"/>
              </a:rPr>
              <a:t>每日项目状态汇报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779776"/>
            <a:ext cx="67665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C9E7E5"/>
                </a:solidFill>
                <a:latin typeface="Calibri"/>
              </a:rPr>
              <a:t>yu-ai-code-mother · 面向项目维护者 / 团队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803904"/>
            <a:ext cx="4297680" cy="960120"/>
          </a:xfrm>
          <a:prstGeom prst="roundRect">
            <a:avLst/>
          </a:prstGeom>
          <a:solidFill>
            <a:srgbClr val="065A82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00507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9E7E5"/>
                </a:solidFill>
                <a:latin typeface="Calibri"/>
              </a:rPr>
              <a:t>报告日期（北京时间）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297680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2026-06-05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144768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9E7E5"/>
                </a:solidFill>
                <a:latin typeface="Calibri"/>
              </a:rPr>
              <a:t>基于 README、模块目录、git 近期提交、测试与监控配置生成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5897880"/>
            <a:ext cx="2103120" cy="402336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8592" y="5998464"/>
            <a:ext cx="17922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21295C"/>
                </a:solidFill>
                <a:latin typeface="Calibri"/>
              </a:rPr>
              <a:t>Ocean Gradient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64592" cy="64739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0352" y="658368"/>
            <a:ext cx="420624" cy="420624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3" y="740664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85216"/>
            <a:ext cx="8046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7324D"/>
                </a:solidFill>
                <a:latin typeface="Georgia"/>
              </a:rPr>
              <a:t>项目概览：教学型企业级 AI 代码生成平台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74980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5C7184"/>
                </a:solidFill>
                <a:latin typeface="Calibri"/>
              </a:rPr>
              <a:t>每日项目状态 · 2026-06-05 · 02/10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53312"/>
            <a:ext cx="5166360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28090"/>
                </a:solidFill>
                <a:latin typeface="Calibri"/>
              </a:rPr>
              <a:t>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57400"/>
            <a:ext cx="44074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7324D"/>
                </a:solidFill>
                <a:latin typeface="Calibri"/>
              </a:rPr>
              <a:t>项目以 Spring Boot 3 + LangChain4j + LangGraph4j + Vue 3 为核心，演示从需求描述到应用生成、编辑、部署和后台管理的完整链路。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163824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28090"/>
                </a:solidFill>
                <a:latin typeface="Calibri"/>
              </a:rPr>
              <a:t>维护视角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593592"/>
            <a:ext cx="440740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7324D"/>
                </a:solidFill>
                <a:latin typeface="Calibri"/>
              </a:rPr>
              <a:t>当前仓库同时保留单体后端与微服务后端形态，适合教学、架构演进演示和后续服务化改造复盘。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64515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28090"/>
                </a:solidFill>
                <a:latin typeface="Calibri"/>
              </a:rPr>
              <a:t>当前基线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5074920"/>
            <a:ext cx="4407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5C7184"/>
                </a:solidFill>
                <a:latin typeface="Calibri"/>
              </a:rPr>
              <a:t>主干可见最新业务里程碑为 2025-08-26 的“教程第 14 期 - 微服务改造完成”。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353312"/>
            <a:ext cx="242316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59" y="1517904"/>
            <a:ext cx="128016" cy="124358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79" y="1536192"/>
            <a:ext cx="1828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028090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21762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7324D"/>
                </a:solidFill>
                <a:latin typeface="Calibri"/>
              </a:rPr>
              <a:t>核心产品能力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2487168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C7184"/>
                </a:solidFill>
                <a:latin typeface="Calibri"/>
              </a:rPr>
              <a:t>生成、编辑、部署、管理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1353312"/>
            <a:ext cx="242316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34272" y="1517904"/>
            <a:ext cx="128016" cy="124358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8592" y="1536192"/>
            <a:ext cx="1828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1C7293"/>
                </a:solidFill>
                <a:latin typeface="Georg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1762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7324D"/>
                </a:solidFill>
                <a:latin typeface="Calibri"/>
              </a:rPr>
              <a:t>后端运行形态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487168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C7184"/>
                </a:solidFill>
                <a:latin typeface="Calibri"/>
              </a:rPr>
              <a:t>单体版 + 微服务版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4768" y="3337560"/>
            <a:ext cx="242316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59" y="3502152"/>
            <a:ext cx="128016" cy="124358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79" y="3520440"/>
            <a:ext cx="1828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00A896"/>
                </a:solidFill>
                <a:latin typeface="Georgia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4160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7324D"/>
                </a:solidFill>
                <a:latin typeface="Calibri"/>
              </a:rPr>
              <a:t>微服务子模块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8" y="4471416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C7184"/>
                </a:solidFill>
                <a:latin typeface="Calibri"/>
              </a:rPr>
              <a:t>common/model/client/user/app/ai/screenshot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69680" y="3337560"/>
            <a:ext cx="242316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34272" y="3502152"/>
            <a:ext cx="128016" cy="124358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08592" y="3520440"/>
            <a:ext cx="1828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02C39A"/>
                </a:solidFill>
                <a:latin typeface="Georgia"/>
              </a:rPr>
              <a:t>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4160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7324D"/>
                </a:solidFill>
                <a:latin typeface="Calibri"/>
              </a:rPr>
              <a:t>后端测试类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4471416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C7184"/>
                </a:solidFill>
                <a:latin typeface="Calibri"/>
              </a:rPr>
              <a:t>集中在单体 src/test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63056" y="5559552"/>
            <a:ext cx="5074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C7184"/>
                </a:solidFill>
                <a:latin typeface="Calibri"/>
              </a:rPr>
              <a:t>数据来源：README、pom.xml、目录结构、git log、Prometheus 配置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64592" cy="64739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0352" y="658368"/>
            <a:ext cx="420624" cy="420624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3" y="740664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85216"/>
            <a:ext cx="8046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7324D"/>
                </a:solidFill>
                <a:latin typeface="Georgia"/>
              </a:rPr>
              <a:t>当前核心能力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74980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5C7184"/>
                </a:solidFill>
                <a:latin typeface="Calibri"/>
              </a:rPr>
              <a:t>每日项目状态 · 2026-06-05 · 03/10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335024"/>
            <a:ext cx="52120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335024"/>
            <a:ext cx="109728" cy="13258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9264" y="1563624"/>
            <a:ext cx="457200" cy="457200"/>
          </a:xfrm>
          <a:prstGeom prst="roundRect">
            <a:avLst/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165506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28090"/>
                </a:solidFill>
                <a:latin typeface="Calibri"/>
              </a:rPr>
              <a:t>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1536192"/>
            <a:ext cx="41696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7324D"/>
                </a:solidFill>
                <a:latin typeface="Calibri"/>
              </a:rPr>
              <a:t>智能代码生成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1956816"/>
            <a:ext cx="41696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C7184"/>
                </a:solidFill>
                <a:latin typeface="Calibri"/>
              </a:rPr>
              <a:t>需求描述输入后，AI 分析并选择生成策略，通过工具调用创建代码文件；SSE 流式输出执行过程。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35024"/>
            <a:ext cx="52120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335024"/>
            <a:ext cx="109728" cy="13258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19672" y="1563624"/>
            <a:ext cx="457200" cy="457200"/>
          </a:xfrm>
          <a:prstGeom prst="roundRect">
            <a:avLst/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165506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0A896"/>
                </a:solidFill>
                <a:latin typeface="Calibri"/>
              </a:rPr>
              <a:t>VIS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3175" y="1536192"/>
            <a:ext cx="41696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7324D"/>
                </a:solidFill>
                <a:latin typeface="Calibri"/>
              </a:rPr>
              <a:t>可视化编辑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23175" y="1956816"/>
            <a:ext cx="41696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C7184"/>
                </a:solidFill>
                <a:latin typeface="Calibri"/>
              </a:rPr>
              <a:t>生成应用实时预览，进入编辑模式后可选中页面元素，并通过对话持续修改页面。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035808"/>
            <a:ext cx="52120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035808"/>
            <a:ext cx="109728" cy="13258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9264" y="3264408"/>
            <a:ext cx="457200" cy="457200"/>
          </a:xfrm>
          <a:prstGeom prst="roundRect">
            <a:avLst/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33558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C7293"/>
                </a:solidFill>
                <a:latin typeface="Calibri"/>
              </a:rPr>
              <a:t>DEP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3236976"/>
            <a:ext cx="41696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7324D"/>
                </a:solidFill>
                <a:latin typeface="Calibri"/>
              </a:rPr>
              <a:t>一键部署分享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3657600"/>
            <a:ext cx="41696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C7184"/>
                </a:solidFill>
                <a:latin typeface="Calibri"/>
              </a:rPr>
              <a:t>支持云端部署、自动截图封面、生成可访问 URL，并提供完整项目源码下载。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035808"/>
            <a:ext cx="52120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035808"/>
            <a:ext cx="109728" cy="13258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19672" y="3264408"/>
            <a:ext cx="457200" cy="457200"/>
          </a:xfrm>
          <a:prstGeom prst="roundRect">
            <a:avLst/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9672" y="33558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2C39A"/>
                </a:solidFill>
                <a:latin typeface="Calibri"/>
              </a:rPr>
              <a:t>OPS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23175" y="3236976"/>
            <a:ext cx="41696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7324D"/>
                </a:solidFill>
                <a:latin typeface="Calibri"/>
              </a:rPr>
              <a:t>企业级管理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23175" y="3657600"/>
            <a:ext cx="41696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C7184"/>
                </a:solidFill>
                <a:latin typeface="Calibri"/>
              </a:rPr>
              <a:t>后台覆盖用户、应用、聊天历史、精选应用与系统/业务指标监控能力。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4919472"/>
            <a:ext cx="10332720" cy="777240"/>
          </a:xfrm>
          <a:prstGeom prst="roundRect">
            <a:avLst/>
          </a:prstGeom>
          <a:solidFill>
            <a:srgbClr val="DCEFF5"/>
          </a:solidFill>
          <a:ln w="12700">
            <a:solidFill>
              <a:srgbClr val="C9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33856" y="5138928"/>
            <a:ext cx="9921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065A82"/>
                </a:solidFill>
                <a:latin typeface="Calibri"/>
              </a:rPr>
              <a:t>维护重点：</a:t>
            </a:r>
            <a:r>
              <a:rPr sz="1500" b="0" i="0">
                <a:solidFill>
                  <a:srgbClr val="17324D"/>
                </a:solidFill>
                <a:latin typeface="Calibri"/>
              </a:rPr>
              <a:t> 这些能力跨越 AI 编排、文件生成、静态资源预览、部署与管理后台，后续改动应优先保护端到端链路。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64592" cy="64739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0352" y="658368"/>
            <a:ext cx="420624" cy="420624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3" y="740664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85216"/>
            <a:ext cx="8046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7324D"/>
                </a:solidFill>
                <a:latin typeface="Georgia"/>
              </a:rPr>
              <a:t>架构与模块地图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74980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5C7184"/>
                </a:solidFill>
                <a:latin typeface="Calibri"/>
              </a:rPr>
              <a:t>每日项目状态 · 2026-06-05 · 04/10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325880"/>
            <a:ext cx="3346704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1325880"/>
            <a:ext cx="3346704" cy="50292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46304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单体后端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99339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65A82"/>
                </a:solidFill>
                <a:latin typeface="Calibri"/>
              </a:rPr>
              <a:t>src/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331720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C7184"/>
                </a:solidFill>
                <a:latin typeface="Calibri"/>
              </a:rPr>
              <a:t>Spring Boot 3.5.4 · Java 21 · 端口 8123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2935224"/>
            <a:ext cx="164592" cy="164592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2907792"/>
            <a:ext cx="24323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controller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" y="3282696"/>
            <a:ext cx="164592" cy="164592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3255264"/>
            <a:ext cx="24323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ai / langgraph4j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" y="3630168"/>
            <a:ext cx="164592" cy="164592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3602736"/>
            <a:ext cx="24323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core / service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" y="3977640"/>
            <a:ext cx="164592" cy="164592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61872" y="3950208"/>
            <a:ext cx="24323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monitor / ratelimter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25696" y="1325880"/>
            <a:ext cx="3346704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25696" y="1325880"/>
            <a:ext cx="3346704" cy="50292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5152" y="146304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微服务后端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2" y="199339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28090"/>
                </a:solidFill>
                <a:latin typeface="Calibri"/>
              </a:rPr>
              <a:t>yu-ai-code-mother-microservice/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2331720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C7184"/>
                </a:solidFill>
                <a:latin typeface="Calibri"/>
              </a:rPr>
              <a:t>Dubbo 3.3 + Nacos · Spring Cloud Alibaba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2935224"/>
            <a:ext cx="164592" cy="164592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74336" y="2907792"/>
            <a:ext cx="24323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common/model/client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3282696"/>
            <a:ext cx="164592" cy="164592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74336" y="3255264"/>
            <a:ext cx="24323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user/app/ai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3630168"/>
            <a:ext cx="164592" cy="164592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74336" y="3602736"/>
            <a:ext cx="24323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screenshot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63440" y="3977640"/>
            <a:ext cx="164592" cy="164592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74336" y="3950208"/>
            <a:ext cx="24323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服务间 RPC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1325880"/>
            <a:ext cx="3346704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138160" y="1325880"/>
            <a:ext cx="3346704" cy="50292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57616" y="146304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前端应用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57616" y="199339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0A896"/>
                </a:solidFill>
                <a:latin typeface="Calibri"/>
              </a:rPr>
              <a:t>yu-ai-code-mother-frontend/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57616" y="2331720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C7184"/>
                </a:solidFill>
                <a:latin typeface="Calibri"/>
              </a:rPr>
              <a:t>Vue 3 + TypeScript + Ant Design Vue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75904" y="2935224"/>
            <a:ext cx="164592" cy="164592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0" y="2907792"/>
            <a:ext cx="24323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HomePage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75904" y="3282696"/>
            <a:ext cx="164592" cy="164592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0" y="3255264"/>
            <a:ext cx="24323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AppChatPage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75904" y="3630168"/>
            <a:ext cx="164592" cy="164592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0" y="3602736"/>
            <a:ext cx="24323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Admin pages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75904" y="3977640"/>
            <a:ext cx="164592" cy="164592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0" y="3950208"/>
            <a:ext cx="24323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OpenAPI API 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" y="4800600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7324D"/>
                </a:solidFill>
                <a:latin typeface="Calibri"/>
              </a:rPr>
              <a:t>微服务 7 模块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267712" y="4754880"/>
            <a:ext cx="960120" cy="329184"/>
          </a:xfrm>
          <a:prstGeom prst="roundRect">
            <a:avLst/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40864" y="4832604"/>
            <a:ext cx="813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9" b="1" i="0">
                <a:solidFill>
                  <a:srgbClr val="065A82"/>
                </a:solidFill>
                <a:latin typeface="Calibri"/>
              </a:rPr>
              <a:t>common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502152" y="4754880"/>
            <a:ext cx="960120" cy="329184"/>
          </a:xfrm>
          <a:prstGeom prst="roundRect">
            <a:avLst/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75304" y="4832604"/>
            <a:ext cx="813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9" b="1" i="0">
                <a:solidFill>
                  <a:srgbClr val="065A82"/>
                </a:solidFill>
                <a:latin typeface="Calibri"/>
              </a:rPr>
              <a:t>model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736592" y="4754880"/>
            <a:ext cx="960120" cy="329184"/>
          </a:xfrm>
          <a:prstGeom prst="roundRect">
            <a:avLst/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09744" y="4832604"/>
            <a:ext cx="813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9" b="1" i="0">
                <a:solidFill>
                  <a:srgbClr val="065A82"/>
                </a:solidFill>
                <a:latin typeface="Calibri"/>
              </a:rPr>
              <a:t>client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971032" y="4754880"/>
            <a:ext cx="960120" cy="329184"/>
          </a:xfrm>
          <a:prstGeom prst="roundRect">
            <a:avLst/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44184" y="4832604"/>
            <a:ext cx="813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9" b="1" i="0">
                <a:solidFill>
                  <a:srgbClr val="065A82"/>
                </a:solidFill>
                <a:latin typeface="Calibri"/>
              </a:rPr>
              <a:t>user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205472" y="4754880"/>
            <a:ext cx="960120" cy="329184"/>
          </a:xfrm>
          <a:prstGeom prst="roundRect">
            <a:avLst/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78624" y="4832604"/>
            <a:ext cx="813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9" b="1" i="0">
                <a:solidFill>
                  <a:srgbClr val="065A82"/>
                </a:solidFill>
                <a:latin typeface="Calibri"/>
              </a:rPr>
              <a:t>app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439912" y="4754880"/>
            <a:ext cx="960120" cy="329184"/>
          </a:xfrm>
          <a:prstGeom prst="roundRect">
            <a:avLst/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13064" y="4832604"/>
            <a:ext cx="813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9" b="1" i="0">
                <a:solidFill>
                  <a:srgbClr val="065A82"/>
                </a:solidFill>
                <a:latin typeface="Calibri"/>
              </a:rPr>
              <a:t>ai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674352" y="4754880"/>
            <a:ext cx="960120" cy="329184"/>
          </a:xfrm>
          <a:prstGeom prst="roundRect">
            <a:avLst/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47504" y="4832604"/>
            <a:ext cx="813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9" b="1" i="0">
                <a:solidFill>
                  <a:srgbClr val="065A82"/>
                </a:solidFill>
                <a:latin typeface="Calibri"/>
              </a:rPr>
              <a:t>screenshot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14400" y="5541264"/>
            <a:ext cx="103327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33856" y="5705856"/>
            <a:ext cx="99120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C7184"/>
                </a:solidFill>
                <a:latin typeface="Calibri"/>
              </a:rPr>
              <a:t>架构含义：单体保留完整项目代码，微服务目录承接服务化拆分；前端通过 API 层与应用/用户/聊天等后端接口协作。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64592" cy="64739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0352" y="658368"/>
            <a:ext cx="420624" cy="420624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3" y="740664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85216"/>
            <a:ext cx="8046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7324D"/>
                </a:solidFill>
                <a:latin typeface="Georgia"/>
              </a:rPr>
              <a:t>业务与 AI 工作流主线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74980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5C7184"/>
                </a:solidFill>
                <a:latin typeface="Calibri"/>
              </a:rPr>
              <a:t>每日项目状态 · 2026-06-05 · 05/10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" y="1600200"/>
            <a:ext cx="2249424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27631" y="1170432"/>
            <a:ext cx="713232" cy="71323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1" y="1353312"/>
            <a:ext cx="7132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1856231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7324D"/>
                </a:solidFill>
                <a:latin typeface="Calibri"/>
              </a:rPr>
              <a:t>需求输入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286000"/>
            <a:ext cx="17830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30" b="0" i="0">
                <a:solidFill>
                  <a:srgbClr val="5C7184"/>
                </a:solidFill>
                <a:latin typeface="Calibri"/>
              </a:rPr>
              <a:t>用户在首页输入应用需求并创建应用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63824" y="2505456"/>
            <a:ext cx="475488" cy="0"/>
          </a:xfrm>
          <a:prstGeom prst="line">
            <a:avLst/>
          </a:prstGeom>
          <a:ln w="254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666744" y="1600200"/>
            <a:ext cx="2249424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16552" y="1170432"/>
            <a:ext cx="713232" cy="71323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353312"/>
            <a:ext cx="7132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04487" y="1856231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7324D"/>
                </a:solidFill>
                <a:latin typeface="Calibri"/>
              </a:rPr>
              <a:t>AI 路由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04487" y="2286000"/>
            <a:ext cx="17830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30" b="0" i="0">
                <a:solidFill>
                  <a:srgbClr val="5C7184"/>
                </a:solidFill>
                <a:latin typeface="Calibri"/>
              </a:rPr>
              <a:t>根据场景选择 HTML / 多文件 / Vue 项目生成策略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52744" y="2505456"/>
            <a:ext cx="475487" cy="0"/>
          </a:xfrm>
          <a:prstGeom prst="line">
            <a:avLst/>
          </a:prstGeom>
          <a:ln w="254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55664" y="1600200"/>
            <a:ext cx="2249424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205472" y="1170432"/>
            <a:ext cx="713232" cy="71323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5472" y="1353312"/>
            <a:ext cx="7132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3407" y="1856231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7324D"/>
                </a:solidFill>
                <a:latin typeface="Calibri"/>
              </a:rPr>
              <a:t>工具执行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7" y="2286000"/>
            <a:ext cx="17830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30" b="0" i="0">
                <a:solidFill>
                  <a:srgbClr val="5C7184"/>
                </a:solidFill>
                <a:latin typeface="Calibri"/>
              </a:rPr>
              <a:t>读写/修改/删除文件，图片/Logo/Mermaid 等工具增强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41663" y="2505456"/>
            <a:ext cx="475489" cy="0"/>
          </a:xfrm>
          <a:prstGeom prst="line">
            <a:avLst/>
          </a:prstGeom>
          <a:ln w="254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244584" y="1600200"/>
            <a:ext cx="2249424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94392" y="1170432"/>
            <a:ext cx="713232" cy="71323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94392" y="1353312"/>
            <a:ext cx="7132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82328" y="1856231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7324D"/>
                </a:solidFill>
                <a:latin typeface="Calibri"/>
              </a:rPr>
              <a:t>预览部署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82328" y="2286000"/>
            <a:ext cx="17830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30" b="0" i="0">
                <a:solidFill>
                  <a:srgbClr val="5C7184"/>
                </a:solidFill>
                <a:latin typeface="Calibri"/>
              </a:rPr>
              <a:t>实时预览、可视化编辑、一键部署与源码下载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4096512"/>
            <a:ext cx="5074920" cy="1133856"/>
          </a:xfrm>
          <a:prstGeom prst="roundRect">
            <a:avLst/>
          </a:prstGeom>
          <a:solidFill>
            <a:srgbClr val="DCEFF5"/>
          </a:solidFill>
          <a:ln w="12700">
            <a:solidFill>
              <a:srgbClr val="C9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33856" y="431596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libri"/>
              </a:rPr>
              <a:t>关键工程点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" y="4681728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17324D"/>
                </a:solidFill>
                <a:latin typeface="Calibri"/>
              </a:rPr>
              <a:t>SSE 流式输出、LangGraph 工作流、AI 工具调用、静态资源服务和部署截图共同构成端到端体验。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4096512"/>
            <a:ext cx="5074920" cy="1133856"/>
          </a:xfrm>
          <a:prstGeom prst="roundRect">
            <a:avLst/>
          </a:prstGeom>
          <a:solidFill>
            <a:srgbClr val="DDF5F1"/>
          </a:solidFill>
          <a:ln w="12700">
            <a:solidFill>
              <a:srgbClr val="C9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431596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28090"/>
                </a:solidFill>
                <a:latin typeface="Calibri"/>
              </a:rPr>
              <a:t>维护关注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8" y="4681728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17324D"/>
                </a:solidFill>
                <a:latin typeface="Calibri"/>
              </a:rPr>
              <a:t>任何 AI 生成策略或预览部署改动，都需要同步验证前端对话页、后端流式接口与静态资源访问。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64592" cy="64739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0352" y="658368"/>
            <a:ext cx="420624" cy="420624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3" y="740664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85216"/>
            <a:ext cx="8046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7324D"/>
                </a:solidFill>
                <a:latin typeface="Georgia"/>
              </a:rPr>
              <a:t>昨日 / 近期变更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74980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5C7184"/>
                </a:solidFill>
                <a:latin typeface="Calibri"/>
              </a:rPr>
              <a:t>每日项目状态 · 2026-06-05 · 06/10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298448"/>
            <a:ext cx="106527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554480"/>
            <a:ext cx="10012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065A82"/>
                </a:solidFill>
                <a:latin typeface="Calibri"/>
              </a:rPr>
              <a:t>近 7 日仓库活动：</a:t>
            </a:r>
            <a:r>
              <a:rPr sz="1500" b="0" i="0">
                <a:solidFill>
                  <a:srgbClr val="17324D"/>
                </a:solidFill>
                <a:latin typeface="Calibri"/>
              </a:rPr>
              <a:t>以日报文档自动化与版式修复为主；另有远端分支提交 refactor(frontend): 重构前端架构，提取 composables 与组件拆分。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84831" y="2807208"/>
            <a:ext cx="0" cy="2112264"/>
          </a:xfrm>
          <a:prstGeom prst="line">
            <a:avLst/>
          </a:prstGeom>
          <a:ln w="25400">
            <a:solidFill>
              <a:srgbClr val="C9E7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60120" y="2651760"/>
            <a:ext cx="786384" cy="310896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734056"/>
            <a:ext cx="7315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06-02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93392" y="2752344"/>
            <a:ext cx="182880" cy="182880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40" y="2633472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日报生成与版式调整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633472"/>
            <a:ext cx="58064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C7184"/>
                </a:solidFill>
                <a:latin typeface="Calibri"/>
              </a:rPr>
              <a:t>新增 2026-06-02 状态汇报；调整项目状态汇报版式。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3337560"/>
            <a:ext cx="786384" cy="310896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419856"/>
            <a:ext cx="7315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06-02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93392" y="3438144"/>
            <a:ext cx="182880" cy="182880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3319272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前端重构分支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319272"/>
            <a:ext cx="58064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C7184"/>
                </a:solidFill>
                <a:latin typeface="Calibri"/>
              </a:rPr>
              <a:t>远端分支出现 composables 与组件拆分方向的前端架构重构提交。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4023359"/>
            <a:ext cx="786384" cy="310896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4105656"/>
            <a:ext cx="7315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06-03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93392" y="4123944"/>
            <a:ext cx="182880" cy="182880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40" y="4005072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报告质量修复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005072"/>
            <a:ext cx="58064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C7184"/>
                </a:solidFill>
                <a:latin typeface="Calibri"/>
              </a:rPr>
              <a:t>恢复封面标题、清理文本层、优化日报版式。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" y="4709159"/>
            <a:ext cx="786384" cy="310896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4791456"/>
            <a:ext cx="7315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06-04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93392" y="4809744"/>
            <a:ext cx="182880" cy="182880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77440" y="4690872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昨日日报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4690872"/>
            <a:ext cx="58064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C7184"/>
                </a:solidFill>
                <a:latin typeface="Calibri"/>
              </a:rPr>
              <a:t>新增 2026-06-04 日报并修复时间线布局。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" y="5559552"/>
            <a:ext cx="10515600" cy="502920"/>
          </a:xfrm>
          <a:prstGeom prst="roundRect">
            <a:avLst/>
          </a:prstGeom>
          <a:solidFill>
            <a:srgbClr val="DCEFF5"/>
          </a:solidFill>
          <a:ln w="12700">
            <a:solidFill>
              <a:srgbClr val="C9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0704" y="5724144"/>
            <a:ext cx="101041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 i="0">
                <a:solidFill>
                  <a:srgbClr val="5C7184"/>
                </a:solidFill>
                <a:latin typeface="Calibri"/>
              </a:rPr>
              <a:t>代码基线提示：当前检出主线最新业务提交仍为 893918c（2025-08-26，微服务改造完成）；近 7 日活动主要来自自动化报告分支与一个前端重构分支。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64592" cy="64739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0352" y="658368"/>
            <a:ext cx="420624" cy="420624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3" y="740664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85216"/>
            <a:ext cx="8046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7324D"/>
                </a:solidFill>
                <a:latin typeface="Georgia"/>
              </a:rPr>
              <a:t>数据 / 指标要点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74980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5C7184"/>
                </a:solidFill>
                <a:latin typeface="Calibri"/>
              </a:rPr>
              <a:t>每日项目状态 · 2026-06-05 · 07/10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" y="1316736"/>
            <a:ext cx="50749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2688" y="1481328"/>
            <a:ext cx="128016" cy="7498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7" y="1499616"/>
            <a:ext cx="44805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028090"/>
                </a:solidFill>
                <a:latin typeface="Georgia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5" y="2139696"/>
            <a:ext cx="448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7324D"/>
                </a:solidFill>
                <a:latin typeface="Calibri"/>
              </a:rPr>
              <a:t>后端测试类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5" y="2450591"/>
            <a:ext cx="44805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C7184"/>
                </a:solidFill>
                <a:latin typeface="Calibri"/>
              </a:rPr>
              <a:t>单体 src/test 覆盖 AI、解析、工作流、工具与截图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0216" y="1316736"/>
            <a:ext cx="50749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64807" y="1481328"/>
            <a:ext cx="128016" cy="74980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9127" y="1499616"/>
            <a:ext cx="44805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1C7293"/>
                </a:solidFill>
                <a:latin typeface="Georgia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7416" y="2139696"/>
            <a:ext cx="448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7324D"/>
                </a:solidFill>
                <a:latin typeface="Calibri"/>
              </a:rPr>
              <a:t>微服务模块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7416" y="2450591"/>
            <a:ext cx="44805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C7184"/>
                </a:solidFill>
                <a:latin typeface="Calibri"/>
              </a:rPr>
              <a:t>common/model/client/user/app/ai/screenshot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" y="2761488"/>
            <a:ext cx="50749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2688" y="2926080"/>
            <a:ext cx="128016" cy="74980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7007" y="2944368"/>
            <a:ext cx="44805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00A896"/>
                </a:solidFill>
                <a:latin typeface="Georg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5295" y="3584448"/>
            <a:ext cx="448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7324D"/>
                </a:solidFill>
                <a:latin typeface="Calibri"/>
              </a:rPr>
              <a:t>核心能力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5" y="3895344"/>
            <a:ext cx="44805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C7184"/>
                </a:solidFill>
                <a:latin typeface="Calibri"/>
              </a:rPr>
              <a:t>生成、编辑、部署、管理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0216" y="2761488"/>
            <a:ext cx="50749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64807" y="2926080"/>
            <a:ext cx="128016" cy="7498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39127" y="2944368"/>
            <a:ext cx="44805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F59E0B"/>
                </a:solidFill>
                <a:latin typeface="Georgia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57416" y="3584448"/>
            <a:ext cx="448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7324D"/>
                </a:solidFill>
                <a:latin typeface="Calibri"/>
              </a:rPr>
              <a:t>发现的 CI 工作流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57416" y="3895344"/>
            <a:ext cx="44805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C7184"/>
                </a:solidFill>
                <a:latin typeface="Calibri"/>
              </a:rPr>
              <a:t>未发现 .github/workflows 等自动化流水线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462272"/>
            <a:ext cx="10561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" y="4700016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指标接入成熟度（维护者视角）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45902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9" b="0" i="0">
                <a:solidFill>
                  <a:srgbClr val="5C7184"/>
                </a:solidFill>
                <a:latin typeface="Calibri"/>
              </a:rPr>
              <a:t>代码结构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06240" y="4882896"/>
            <a:ext cx="640080" cy="402336"/>
          </a:xfrm>
          <a:prstGeom prst="roundRect">
            <a:avLst/>
          </a:prstGeom>
          <a:solidFill>
            <a:srgbClr val="DC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206240" y="4955316"/>
            <a:ext cx="640080" cy="329915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45902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9" b="0" i="0">
                <a:solidFill>
                  <a:srgbClr val="5C7184"/>
                </a:solidFill>
                <a:latin typeface="Calibri"/>
              </a:rPr>
              <a:t>测试入口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89320" y="4882896"/>
            <a:ext cx="640080" cy="402336"/>
          </a:xfrm>
          <a:prstGeom prst="roundRect">
            <a:avLst/>
          </a:prstGeom>
          <a:solidFill>
            <a:srgbClr val="DC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989320" y="5076017"/>
            <a:ext cx="640080" cy="209214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52360" y="45902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9" b="0" i="0">
                <a:solidFill>
                  <a:srgbClr val="5C7184"/>
                </a:solidFill>
                <a:latin typeface="Calibri"/>
              </a:rPr>
              <a:t>线上业务指标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0" y="4882896"/>
            <a:ext cx="640080" cy="402336"/>
          </a:xfrm>
          <a:prstGeom prst="roundRect">
            <a:avLst/>
          </a:prstGeom>
          <a:solidFill>
            <a:srgbClr val="DC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772400" y="5196718"/>
            <a:ext cx="640080" cy="88513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440" y="45902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9" b="0" i="0">
                <a:solidFill>
                  <a:srgbClr val="5C7184"/>
                </a:solidFill>
                <a:latin typeface="Calibri"/>
              </a:rPr>
              <a:t>CI 自动化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55480" y="4882896"/>
            <a:ext cx="640080" cy="402336"/>
          </a:xfrm>
          <a:prstGeom prst="roundRect">
            <a:avLst/>
          </a:prstGeom>
          <a:solidFill>
            <a:srgbClr val="DC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555480" y="5253045"/>
            <a:ext cx="640080" cy="32186"/>
          </a:xfrm>
          <a:prstGeom prst="roundRect">
            <a:avLst/>
          </a:prstGeom>
          <a:solidFill>
            <a:srgbClr val="D8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78992" y="5925312"/>
            <a:ext cx="9966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40" b="0" i="0">
                <a:solidFill>
                  <a:srgbClr val="5C7184"/>
                </a:solidFill>
                <a:latin typeface="Calibri"/>
              </a:rPr>
              <a:t>业务/AI 调用量、部署量、活跃用户等线上指标尚需接入真实数据源后持续沉淀。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64592" cy="64739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0352" y="658368"/>
            <a:ext cx="420624" cy="420624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3" y="740664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85216"/>
            <a:ext cx="8046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7324D"/>
                </a:solidFill>
                <a:latin typeface="Georgia"/>
              </a:rPr>
              <a:t>测试 / CI / 可观测性状态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74980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5C7184"/>
                </a:solidFill>
                <a:latin typeface="Calibri"/>
              </a:rPr>
              <a:t>每日项目状态 · 2026-06-05 · 08/10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298448"/>
            <a:ext cx="5157216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298448"/>
            <a:ext cx="109728" cy="1188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5840" y="1527048"/>
            <a:ext cx="457200" cy="457200"/>
          </a:xfrm>
          <a:prstGeom prst="roundRect">
            <a:avLst/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1848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28090"/>
                </a:solidFill>
                <a:latin typeface="Calibri"/>
              </a:rPr>
              <a:t>TST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9343" y="1499616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7324D"/>
                </a:solidFill>
                <a:latin typeface="Calibri"/>
              </a:rPr>
              <a:t>后端单体测试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9343" y="192024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C7184"/>
                </a:solidFill>
                <a:latin typeface="Calibri"/>
              </a:rPr>
              <a:t>根目录 Maven 配置 spring-boot-starter-test；src/test 下 15 个 JUnit 测试类，覆盖 AI、核心解析、LangGraph 工作流与工具。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1298448"/>
            <a:ext cx="5157216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4496" y="1298448"/>
            <a:ext cx="109728" cy="11887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10528" y="1527048"/>
            <a:ext cx="457200" cy="457200"/>
          </a:xfrm>
          <a:prstGeom prst="roundRect">
            <a:avLst/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161848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C7293"/>
                </a:solidFill>
                <a:latin typeface="Calibri"/>
              </a:rPr>
              <a:t>WEB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499616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7324D"/>
                </a:solidFill>
                <a:latin typeface="Calibri"/>
              </a:rPr>
              <a:t>前端质量门禁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4031" y="192024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C7184"/>
                </a:solidFill>
                <a:latin typeface="Calibri"/>
              </a:rPr>
              <a:t>package.json 提供 npm run lint、npm run build（vue-tsc + Vite），但未发现前端单测框架配置。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2889504"/>
            <a:ext cx="5157216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2889504"/>
            <a:ext cx="109728" cy="1188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05840" y="3118104"/>
            <a:ext cx="457200" cy="457200"/>
          </a:xfrm>
          <a:prstGeom prst="roundRect">
            <a:avLst/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20954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0A896"/>
                </a:solidFill>
                <a:latin typeface="Calibri"/>
              </a:rPr>
              <a:t>OBS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9343" y="3090672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7324D"/>
                </a:solidFill>
                <a:latin typeface="Calibri"/>
              </a:rPr>
              <a:t>可观测性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9343" y="3511296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C7184"/>
                </a:solidFill>
                <a:latin typeface="Calibri"/>
              </a:rPr>
              <a:t>prometheus.yml 抓取 /api/actuator/prometheus；后端配置暴露 health、info、prometheus 端点。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54496" y="2889504"/>
            <a:ext cx="5157216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54496" y="2889504"/>
            <a:ext cx="109728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10528" y="3118104"/>
            <a:ext cx="457200" cy="457200"/>
          </a:xfrm>
          <a:prstGeom prst="roundRect">
            <a:avLst/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320954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  <a:latin typeface="Calibri"/>
              </a:rPr>
              <a:t>CI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090672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7324D"/>
                </a:solidFill>
                <a:latin typeface="Calibri"/>
              </a:rPr>
              <a:t>CI 状态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4031" y="3511296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C7184"/>
                </a:solidFill>
                <a:latin typeface="Calibri"/>
              </a:rPr>
              <a:t>未发现 .github/workflows、GitLab CI、Jenkinsfile、Dockerfile 或 compose 等流水线/容器编排配置。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824" y="4809744"/>
            <a:ext cx="10287000" cy="658368"/>
          </a:xfrm>
          <a:prstGeom prst="roundRect">
            <a:avLst/>
          </a:prstGeom>
          <a:solidFill>
            <a:srgbClr val="DDF5F1"/>
          </a:solidFill>
          <a:ln w="12700">
            <a:solidFill>
              <a:srgbClr val="C9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001768"/>
            <a:ext cx="1389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80" b="1" i="0">
                <a:solidFill>
                  <a:srgbClr val="065A82"/>
                </a:solidFill>
                <a:latin typeface="Calibri"/>
              </a:rPr>
              <a:t>最近状态说明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5001768"/>
            <a:ext cx="81838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80" b="0" i="0">
                <a:solidFill>
                  <a:srgbClr val="17324D"/>
                </a:solidFill>
                <a:latin typeface="Calibri"/>
              </a:rPr>
              <a:t>本次任务仅生成日报 PPT，未修改业务代码；由于无 CI 配置，最近流水线状态无法从仓库配置中读取。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64592" cy="64739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0352" y="658368"/>
            <a:ext cx="420624" cy="420624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3" y="740664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85216"/>
            <a:ext cx="8046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7324D"/>
                </a:solidFill>
                <a:latin typeface="Georgia"/>
              </a:rPr>
              <a:t>未完成项、风险与阻塞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74980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5C7184"/>
                </a:solidFill>
                <a:latin typeface="Calibri"/>
              </a:rPr>
              <a:t>每日项目状态 · 2026-06-05 · 09/10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298448"/>
            <a:ext cx="539496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554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  <a:latin typeface="Calibri"/>
              </a:rPr>
              <a:t>未完成项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" y="2039112"/>
            <a:ext cx="164592" cy="164592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35024" y="2011680"/>
            <a:ext cx="43982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CI/CD 自动化未落地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5024" y="2286000"/>
            <a:ext cx="43982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60" b="0" i="0">
                <a:solidFill>
                  <a:srgbClr val="5C7184"/>
                </a:solidFill>
                <a:latin typeface="Calibri"/>
              </a:rPr>
              <a:t>缺少 Pull Request 自动构建、测试和制品检查。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2679192"/>
            <a:ext cx="164592" cy="164592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35024" y="2651760"/>
            <a:ext cx="43982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微服务模块测试空白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" y="2926080"/>
            <a:ext cx="43982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60" b="0" i="0">
                <a:solidFill>
                  <a:srgbClr val="5C7184"/>
                </a:solidFill>
                <a:latin typeface="Calibri"/>
              </a:rPr>
              <a:t>微服务目录暂无测试代码，服务拆分后回归信号不足。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3319272"/>
            <a:ext cx="164592" cy="164592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35024" y="3291840"/>
            <a:ext cx="43982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线上业务指标未固化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5024" y="3566160"/>
            <a:ext cx="43982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60" b="0" i="0">
                <a:solidFill>
                  <a:srgbClr val="5C7184"/>
                </a:solidFill>
                <a:latin typeface="Calibri"/>
              </a:rPr>
              <a:t>AI 调用量、部署成功率、活跃用户等仍需接入数据面板。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3959352"/>
            <a:ext cx="164592" cy="164592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35024" y="3931920"/>
            <a:ext cx="43982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部署依赖需环境化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4206240"/>
            <a:ext cx="43982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60" b="0" i="0">
                <a:solidFill>
                  <a:srgbClr val="5C7184"/>
                </a:solidFill>
                <a:latin typeface="Calibri"/>
              </a:rPr>
              <a:t>Nacos、Redis、MySQL、COS、AI Key 等配置对运行成功影响大。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4599432"/>
            <a:ext cx="164592" cy="164592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35024" y="4572000"/>
            <a:ext cx="43982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近期业务主干无新增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5024" y="4846320"/>
            <a:ext cx="43982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60" b="0" i="0">
                <a:solidFill>
                  <a:srgbClr val="5C7184"/>
                </a:solidFill>
                <a:latin typeface="Calibri"/>
              </a:rPr>
              <a:t>主线最新业务里程碑停留在微服务改造完成。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73952" y="1298448"/>
            <a:ext cx="4864608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48272" y="1554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D85A4B"/>
                </a:solidFill>
                <a:latin typeface="Calibri"/>
              </a:rPr>
              <a:t>风险热区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9712" y="210312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 i="0">
                <a:solidFill>
                  <a:srgbClr val="17324D"/>
                </a:solidFill>
                <a:latin typeface="Calibri"/>
              </a:rPr>
              <a:t>自动化缺失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9680" y="2084831"/>
            <a:ext cx="1005840" cy="274320"/>
          </a:xfrm>
          <a:prstGeom prst="roundRect">
            <a:avLst/>
          </a:prstGeom>
          <a:solidFill>
            <a:srgbClr val="D8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79408" y="2153412"/>
            <a:ext cx="786384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1" i="0">
                <a:solidFill>
                  <a:srgbClr val="FFFFFF"/>
                </a:solidFill>
                <a:latin typeface="Calibri"/>
              </a:rPr>
              <a:t>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0" y="2139696"/>
            <a:ext cx="685800" cy="109728"/>
          </a:xfrm>
          <a:prstGeom prst="roundRect">
            <a:avLst/>
          </a:prstGeom>
          <a:solidFill>
            <a:srgbClr val="D8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39712" y="2761487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 i="0">
                <a:solidFill>
                  <a:srgbClr val="17324D"/>
                </a:solidFill>
                <a:latin typeface="Calibri"/>
              </a:rPr>
              <a:t>外部服务配置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69680" y="2743199"/>
            <a:ext cx="100584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79408" y="2811779"/>
            <a:ext cx="786384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1" i="0">
                <a:solidFill>
                  <a:srgbClr val="FFFFFF"/>
                </a:solidFill>
                <a:latin typeface="Calibri"/>
              </a:rPr>
              <a:t>中高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58400" y="2798063"/>
            <a:ext cx="502920" cy="1097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39712" y="34198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 i="0">
                <a:solidFill>
                  <a:srgbClr val="17324D"/>
                </a:solidFill>
                <a:latin typeface="Calibri"/>
              </a:rPr>
              <a:t>AI 成本与稳定性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69680" y="3401568"/>
            <a:ext cx="1005840" cy="27432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79408" y="3470148"/>
            <a:ext cx="786384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1" i="0">
                <a:solidFill>
                  <a:srgbClr val="FFFFFF"/>
                </a:solidFill>
                <a:latin typeface="Calibri"/>
              </a:rPr>
              <a:t>中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58400" y="3456432"/>
            <a:ext cx="365760" cy="109728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39712" y="407822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 i="0">
                <a:solidFill>
                  <a:srgbClr val="17324D"/>
                </a:solidFill>
                <a:latin typeface="Calibri"/>
              </a:rPr>
              <a:t>服务拆分回归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69680" y="4059936"/>
            <a:ext cx="1005840" cy="27432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79408" y="4128515"/>
            <a:ext cx="786384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1" i="0">
                <a:solidFill>
                  <a:srgbClr val="FFFFFF"/>
                </a:solidFill>
                <a:latin typeface="Calibri"/>
              </a:rPr>
              <a:t>中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058400" y="4114800"/>
            <a:ext cx="365760" cy="109728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84848" y="5010912"/>
            <a:ext cx="40050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80" b="0" i="0">
                <a:solidFill>
                  <a:srgbClr val="5C7184"/>
                </a:solidFill>
                <a:latin typeface="Calibri"/>
              </a:rPr>
              <a:t>阻塞判断：当前未发现代码层面硬阻塞；主要阻塞来自自动化验证与真实运行环境依赖不足。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64592" cy="64739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0352" y="658368"/>
            <a:ext cx="420624" cy="420624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3" y="740664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85216"/>
            <a:ext cx="8046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7324D"/>
                </a:solidFill>
                <a:latin typeface="Georgia"/>
              </a:rPr>
              <a:t>建议下一步与今日结论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74980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5C7184"/>
                </a:solidFill>
                <a:latin typeface="Calibri"/>
              </a:rPr>
              <a:t>每日项目状态 · 2026-06-05 · 10/10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298448"/>
            <a:ext cx="6446520" cy="45354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572768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  <a:latin typeface="Calibri"/>
              </a:rPr>
              <a:t>建议下一步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0704" y="2057400"/>
            <a:ext cx="164592" cy="164592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029968"/>
            <a:ext cx="53126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补齐最小 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53126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60" b="0" i="0">
                <a:solidFill>
                  <a:srgbClr val="5C7184"/>
                </a:solidFill>
                <a:latin typeface="Calibri"/>
              </a:rPr>
              <a:t>PR 触发后端 mvn test、前端 lint/build，先建立基础质量门禁。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60704" y="2697479"/>
            <a:ext cx="164592" cy="164592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2670048"/>
            <a:ext cx="53126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拆分端到端冒烟脚本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44368"/>
            <a:ext cx="53126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60" b="0" i="0">
                <a:solidFill>
                  <a:srgbClr val="5C7184"/>
                </a:solidFill>
                <a:latin typeface="Calibri"/>
              </a:rPr>
              <a:t>覆盖创建应用、AI 对话流式输出、预览静态资源、部署入口。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0704" y="3337560"/>
            <a:ext cx="164592" cy="164592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310128"/>
            <a:ext cx="53126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推进微服务回归覆盖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84448"/>
            <a:ext cx="53126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60" b="0" i="0">
                <a:solidFill>
                  <a:srgbClr val="5C7184"/>
                </a:solidFill>
                <a:latin typeface="Calibri"/>
              </a:rPr>
              <a:t>优先为 user/app/screenshot 服务增加接口与 Dubbo 调用测试。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60704" y="3977640"/>
            <a:ext cx="164592" cy="164592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53126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完善指标看板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224528"/>
            <a:ext cx="53126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60" b="0" i="0">
                <a:solidFill>
                  <a:srgbClr val="5C7184"/>
                </a:solidFill>
                <a:latin typeface="Calibri"/>
              </a:rPr>
              <a:t>将 AI 调用成功率、平均耗时、部署成功率接入 Prometheus/Grafana。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0704" y="4617720"/>
            <a:ext cx="164592" cy="164592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4590288"/>
            <a:ext cx="53126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梳理配置与启动文档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864607"/>
            <a:ext cx="53126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60" b="0" i="0">
                <a:solidFill>
                  <a:srgbClr val="5C7184"/>
                </a:solidFill>
                <a:latin typeface="Calibri"/>
              </a:rPr>
              <a:t>沉淀 Nacos/Redis/MySQL/COS/AI Key 的本地与测试环境运行说明。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34656" y="1298448"/>
            <a:ext cx="3840480" cy="1874519"/>
          </a:xfrm>
          <a:prstGeom prst="roundRect">
            <a:avLst/>
          </a:prstGeom>
          <a:solidFill>
            <a:srgbClr val="065A82"/>
          </a:solidFill>
          <a:ln w="127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18120" y="162763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今日结论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2066543"/>
            <a:ext cx="3108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项目核心能力与双轨后端结构清晰，当前主要工作重心应从“功能存在”转向“验证自动化、服务化回归与线上指标闭环”。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34656" y="3529584"/>
            <a:ext cx="3840480" cy="2304288"/>
          </a:xfrm>
          <a:prstGeom prst="roundRect">
            <a:avLst/>
          </a:prstGeom>
          <a:solidFill>
            <a:srgbClr val="DDF5F1"/>
          </a:solidFill>
          <a:ln w="12700">
            <a:solidFill>
              <a:srgbClr val="C9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20" y="3803904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本日报覆盖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27264" y="4224528"/>
            <a:ext cx="3017520" cy="329184"/>
          </a:xfrm>
          <a:prstGeom prst="roundRect">
            <a:avLst/>
          </a:prstGeom>
          <a:solidFill>
            <a:srgbClr val="DC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0416" y="4302252"/>
            <a:ext cx="287121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9" b="1" i="0">
                <a:solidFill>
                  <a:srgbClr val="17324D"/>
                </a:solidFill>
                <a:latin typeface="Calibri"/>
              </a:rPr>
              <a:t>README 与前端说明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27264" y="4535424"/>
            <a:ext cx="3017520" cy="329184"/>
          </a:xfrm>
          <a:prstGeom prst="roundRect">
            <a:avLst/>
          </a:prstGeom>
          <a:solidFill>
            <a:srgbClr val="DC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0416" y="4613148"/>
            <a:ext cx="287121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9" b="1" i="0">
                <a:solidFill>
                  <a:srgbClr val="17324D"/>
                </a:solidFill>
                <a:latin typeface="Calibri"/>
              </a:rPr>
              <a:t>主要模块目录与技术栈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27264" y="4846320"/>
            <a:ext cx="3017520" cy="329184"/>
          </a:xfrm>
          <a:prstGeom prst="roundRect">
            <a:avLst/>
          </a:prstGeom>
          <a:solidFill>
            <a:srgbClr val="DC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00416" y="4924044"/>
            <a:ext cx="287121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9" b="1" i="0">
                <a:solidFill>
                  <a:srgbClr val="17324D"/>
                </a:solidFill>
                <a:latin typeface="Calibri"/>
              </a:rPr>
              <a:t>近 7 日 git 活动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27264" y="5157216"/>
            <a:ext cx="3017520" cy="329184"/>
          </a:xfrm>
          <a:prstGeom prst="roundRect">
            <a:avLst/>
          </a:prstGeom>
          <a:solidFill>
            <a:srgbClr val="DC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00416" y="5234940"/>
            <a:ext cx="287121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9" b="1" i="0">
                <a:solidFill>
                  <a:srgbClr val="17324D"/>
                </a:solidFill>
                <a:latin typeface="Calibri"/>
              </a:rPr>
              <a:t>测试 / CI / 监控配置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27264" y="5468112"/>
            <a:ext cx="3017520" cy="329184"/>
          </a:xfrm>
          <a:prstGeom prst="roundRect">
            <a:avLst/>
          </a:prstGeom>
          <a:solidFill>
            <a:srgbClr val="DC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00416" y="5545836"/>
            <a:ext cx="287121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9" b="1" i="0">
                <a:solidFill>
                  <a:srgbClr val="17324D"/>
                </a:solidFill>
                <a:latin typeface="Calibri"/>
              </a:rPr>
              <a:t>风险与行动建议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" y="6144768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C7184"/>
                </a:solidFill>
                <a:latin typeface="Calibri"/>
              </a:rPr>
              <a:t>生成文件：docs/reports/project-status-2026-06-05.pptx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2026-06-05</dc:title>
  <dc:subject>yu-ai-code-mother 项目状态日报</dc:subject>
  <dc:creator>Cursor Automation</dc:creator>
  <cp:keywords>project status, yu-ai-code-mother, daily report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