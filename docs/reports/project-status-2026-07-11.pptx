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5A82">
              <a:alpha val="62000"/>
            </a:srgbClr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522720" y="0"/>
            <a:ext cx="5669280" cy="5669280"/>
          </a:xfrm>
          <a:prstGeom prst="arc">
            <a:avLst/>
          </a:prstGeom>
          <a:solidFill>
            <a:srgbClr val="028090">
              <a:alpha val="90000"/>
            </a:srgbClr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778240" y="2011680"/>
            <a:ext cx="3108960" cy="3108960"/>
          </a:xfrm>
          <a:prstGeom prst="arc">
            <a:avLst/>
          </a:prstGeom>
          <a:solidFill>
            <a:srgbClr val="00A896">
              <a:alpha val="75000"/>
            </a:srgbClr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58368" y="530352"/>
            <a:ext cx="1828800" cy="32918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9808" y="5943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零代码应用生成平台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13232" y="1673352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每日项目状态汇报</a:t>
            </a:r>
            <a:endParaRPr lang="en-US" sz="4500" dirty="0"/>
          </a:p>
        </p:txBody>
      </p:sp>
      <p:sp>
        <p:nvSpPr>
          <p:cNvPr id="9" name="Text 7"/>
          <p:cNvSpPr/>
          <p:nvPr/>
        </p:nvSpPr>
        <p:spPr>
          <a:xfrm>
            <a:off x="749808" y="2514600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F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2026-07-11（北京时间）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49808" y="3154680"/>
            <a:ext cx="5486400" cy="1097280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00A896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24128" y="3429000"/>
            <a:ext cx="507492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面向项目维护者/团队：聚焦当前能力、近期变更、测试与 CI 状态、风险阻塞和下一步建议。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49808" y="4663440"/>
            <a:ext cx="1188720" cy="960120"/>
          </a:xfrm>
          <a:prstGeom prst="roundRect">
            <a:avLst>
              <a:gd name="adj" fmla="val 7619"/>
            </a:avLst>
          </a:prstGeom>
          <a:solidFill>
            <a:srgbClr val="FFFFFF">
              <a:alpha val="18000"/>
            </a:srgbClr>
          </a:solidFill>
          <a:ln w="12700">
            <a:solidFill>
              <a:srgbClr val="02C39A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49808" y="4773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822960" y="521208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核心产品能力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231136" y="4663440"/>
            <a:ext cx="1188720" cy="960120"/>
          </a:xfrm>
          <a:prstGeom prst="roundRect">
            <a:avLst>
              <a:gd name="adj" fmla="val 7619"/>
            </a:avLst>
          </a:prstGeom>
          <a:solidFill>
            <a:srgbClr val="FFFFFF">
              <a:alpha val="18000"/>
            </a:srgbClr>
          </a:solidFill>
          <a:ln w="12700">
            <a:solidFill>
              <a:srgbClr val="02C39A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2231136" y="4773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304288" y="521208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微服务模块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712464" y="4663440"/>
            <a:ext cx="1188720" cy="960120"/>
          </a:xfrm>
          <a:prstGeom prst="roundRect">
            <a:avLst>
              <a:gd name="adj" fmla="val 7619"/>
            </a:avLst>
          </a:prstGeom>
          <a:solidFill>
            <a:srgbClr val="FFFFFF">
              <a:alpha val="18000"/>
            </a:srgbClr>
          </a:solidFill>
          <a:ln w="12700">
            <a:solidFill>
              <a:srgbClr val="02C39A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712464" y="4773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3785616" y="521208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后端测试文件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193792" y="4663440"/>
            <a:ext cx="1188720" cy="960120"/>
          </a:xfrm>
          <a:prstGeom prst="roundRect">
            <a:avLst>
              <a:gd name="adj" fmla="val 7619"/>
            </a:avLst>
          </a:prstGeom>
          <a:solidFill>
            <a:srgbClr val="FFFFFF">
              <a:alpha val="18000"/>
            </a:srgbClr>
          </a:solidFill>
          <a:ln w="12700">
            <a:solidFill>
              <a:srgbClr val="02C39A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193792" y="4773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5266944" y="521208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7 天提交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412480" y="614476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F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Ocean Gradient / Teal Trust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6032"/>
            <a:ext cx="12191695" cy="731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083040" y="0"/>
            <a:ext cx="3108960" cy="3108960"/>
          </a:xfrm>
          <a:prstGeom prst="arc">
            <a:avLst/>
          </a:prstGeom>
          <a:solidFill>
            <a:srgbClr val="E1F7F3">
              <a:alpha val="90000"/>
            </a:srgbClr>
          </a:solidFill>
          <a:ln w="12700">
            <a:solidFill>
              <a:srgbClr val="E1F7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02920" y="6428232"/>
            <a:ext cx="11201400" cy="9144"/>
          </a:xfrm>
          <a:prstGeom prst="rect">
            <a:avLst/>
          </a:prstGeom>
          <a:solidFill>
            <a:srgbClr val="CDEDEA"/>
          </a:solidFill>
          <a:ln w="12700">
            <a:solidFill>
              <a:srgbClr val="CDEDE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每日项目状态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55680" y="647395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566928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30936" y="690372"/>
            <a:ext cx="2834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OVR</a:t>
            </a:r>
            <a:endParaRPr lang="en-US" sz="550" dirty="0"/>
          </a:p>
        </p:txBody>
      </p:sp>
      <p:sp>
        <p:nvSpPr>
          <p:cNvPr id="10" name="Text 8"/>
          <p:cNvSpPr/>
          <p:nvPr/>
        </p:nvSpPr>
        <p:spPr>
          <a:xfrm>
            <a:off x="1069848" y="4846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12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项目概览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097280" y="103327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定位：企业级 AI 代码生成 / 零代码应用生成平台，前后端与部署链路并重。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85800" y="1572768"/>
            <a:ext cx="333756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DED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85800" y="1572768"/>
            <a:ext cx="100584" cy="14173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05256" y="1773936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5256" y="1883664"/>
            <a:ext cx="420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435608" y="1773936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产品目标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35608" y="2139696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用户输入需求后，系统自动生成网页/应用代码，并提供实时预览、持续对话修改、部署分享与源码下载。</a:t>
            </a:r>
            <a:endParaRPr lang="en-US" sz="1270" dirty="0"/>
          </a:p>
        </p:txBody>
      </p:sp>
      <p:sp>
        <p:nvSpPr>
          <p:cNvPr id="18" name="Shape 16"/>
          <p:cNvSpPr/>
          <p:nvPr/>
        </p:nvSpPr>
        <p:spPr>
          <a:xfrm>
            <a:off x="4251960" y="1572768"/>
            <a:ext cx="333756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DED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251960" y="1572768"/>
            <a:ext cx="100584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471416" y="1773936"/>
            <a:ext cx="420624" cy="42062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471416" y="1883664"/>
            <a:ext cx="420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5001768" y="1773936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技术底座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001768" y="2139696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 + LangChain4j/LangGraph4j + Vue 3；结合 Redis、MySQL、COS、Prometheus 等工程能力。</a:t>
            </a:r>
            <a:endParaRPr lang="en-US" sz="1270" dirty="0"/>
          </a:p>
        </p:txBody>
      </p:sp>
      <p:sp>
        <p:nvSpPr>
          <p:cNvPr id="24" name="Shape 22"/>
          <p:cNvSpPr/>
          <p:nvPr/>
        </p:nvSpPr>
        <p:spPr>
          <a:xfrm>
            <a:off x="7818120" y="1572768"/>
            <a:ext cx="333756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DED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7818120" y="1572768"/>
            <a:ext cx="100584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037576" y="1773936"/>
            <a:ext cx="420624" cy="42062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037576" y="1883664"/>
            <a:ext cx="420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8567928" y="1773936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当前形态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567928" y="2139696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单体版功能闭环更完整；微服务版已拆出 user/app/screenshot/ai/model/common/client 等模块。</a:t>
            </a:r>
            <a:endParaRPr lang="en-US" sz="1270" dirty="0"/>
          </a:p>
        </p:txBody>
      </p:sp>
      <p:sp>
        <p:nvSpPr>
          <p:cNvPr id="30" name="Shape 28"/>
          <p:cNvSpPr/>
          <p:nvPr/>
        </p:nvSpPr>
        <p:spPr>
          <a:xfrm>
            <a:off x="731520" y="3474720"/>
            <a:ext cx="10698480" cy="1417320"/>
          </a:xfrm>
          <a:prstGeom prst="roundRect">
            <a:avLst>
              <a:gd name="adj" fmla="val 6452"/>
            </a:avLst>
          </a:prstGeom>
          <a:solidFill>
            <a:srgbClr val="E8F8F6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14400" y="3785616"/>
            <a:ext cx="585216" cy="58521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FFFFFF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914400" y="3941064"/>
            <a:ext cx="585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627632" y="373075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需求输入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1627632" y="401421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2542032" y="3886200"/>
            <a:ext cx="292608" cy="237744"/>
          </a:xfrm>
          <a:prstGeom prst="chevron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2971800" y="3785616"/>
            <a:ext cx="585216" cy="58521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FFFFFF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2971800" y="3941064"/>
            <a:ext cx="585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85032" y="373075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路由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3685032" y="401421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生成类型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599432" y="3886200"/>
            <a:ext cx="292608" cy="237744"/>
          </a:xfrm>
          <a:prstGeom prst="chevron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5029200" y="3785616"/>
            <a:ext cx="585216" cy="58521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FFFFFF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5029200" y="3941064"/>
            <a:ext cx="585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742432" y="373075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代码生成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5742432" y="401421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HTML/多文件/Vue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656832" y="3886200"/>
            <a:ext cx="292608" cy="237744"/>
          </a:xfrm>
          <a:prstGeom prst="chevron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7086600" y="3785616"/>
            <a:ext cx="585216" cy="58521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FFFFFF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7086600" y="3941064"/>
            <a:ext cx="585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7799832" y="373075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预览编辑</a:t>
            </a:r>
            <a:endParaRPr lang="en-US" sz="1350" dirty="0"/>
          </a:p>
        </p:txBody>
      </p:sp>
      <p:sp>
        <p:nvSpPr>
          <p:cNvPr id="49" name="Text 47"/>
          <p:cNvSpPr/>
          <p:nvPr/>
        </p:nvSpPr>
        <p:spPr>
          <a:xfrm>
            <a:off x="7799832" y="401421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+ iframe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8714232" y="3886200"/>
            <a:ext cx="292608" cy="237744"/>
          </a:xfrm>
          <a:prstGeom prst="chevron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9144000" y="3785616"/>
            <a:ext cx="585216" cy="58521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FFFFFF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9144000" y="3941064"/>
            <a:ext cx="585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9857232" y="373075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部署分享</a:t>
            </a:r>
            <a:endParaRPr lang="en-US" sz="1350" dirty="0"/>
          </a:p>
        </p:txBody>
      </p:sp>
      <p:sp>
        <p:nvSpPr>
          <p:cNvPr id="54" name="Text 52"/>
          <p:cNvSpPr/>
          <p:nvPr/>
        </p:nvSpPr>
        <p:spPr>
          <a:xfrm>
            <a:off x="9857232" y="401421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+ 封面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914400" y="5257800"/>
            <a:ext cx="996696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状态判断：核心链路已具备演示与教学价值；工程化交付仍需要 CI、容器化、环境编排和微服务入口治理。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6032"/>
            <a:ext cx="12191695" cy="731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083040" y="0"/>
            <a:ext cx="3108960" cy="3108960"/>
          </a:xfrm>
          <a:prstGeom prst="arc">
            <a:avLst/>
          </a:prstGeom>
          <a:solidFill>
            <a:srgbClr val="E1F7F3">
              <a:alpha val="90000"/>
            </a:srgbClr>
          </a:solidFill>
          <a:ln w="12700">
            <a:solidFill>
              <a:srgbClr val="E1F7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02920" y="6428232"/>
            <a:ext cx="11201400" cy="9144"/>
          </a:xfrm>
          <a:prstGeom prst="rect">
            <a:avLst/>
          </a:prstGeom>
          <a:solidFill>
            <a:srgbClr val="CDEDEA"/>
          </a:solidFill>
          <a:ln w="12700">
            <a:solidFill>
              <a:srgbClr val="CDEDE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每日项目状态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55680" y="647395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566928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30936" y="690372"/>
            <a:ext cx="2834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</a:t>
            </a:r>
            <a:endParaRPr lang="en-US" sz="550" dirty="0"/>
          </a:p>
        </p:txBody>
      </p:sp>
      <p:sp>
        <p:nvSpPr>
          <p:cNvPr id="10" name="Text 8"/>
          <p:cNvSpPr/>
          <p:nvPr/>
        </p:nvSpPr>
        <p:spPr>
          <a:xfrm>
            <a:off x="1069848" y="4846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12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当前核心能力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097280" y="103327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围绕“生成 → 编辑 → 部署 → 管理”形成产品闭环。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777240" y="1554480"/>
            <a:ext cx="498348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DED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77240" y="1554480"/>
            <a:ext cx="100584" cy="14173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96696" y="1755648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96696" y="1865376"/>
            <a:ext cx="420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527048" y="1755648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智能代码生成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27048" y="2121408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根据用户需求自动选择生成策略，支持 HTML、多文件网站、Vue 工程，并通过工具调用写入代码文件。</a:t>
            </a:r>
            <a:endParaRPr lang="en-US" sz="1270" dirty="0"/>
          </a:p>
        </p:txBody>
      </p:sp>
      <p:sp>
        <p:nvSpPr>
          <p:cNvPr id="18" name="Shape 16"/>
          <p:cNvSpPr/>
          <p:nvPr/>
        </p:nvSpPr>
        <p:spPr>
          <a:xfrm>
            <a:off x="6263640" y="1554480"/>
            <a:ext cx="498348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DED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263640" y="1554480"/>
            <a:ext cx="100584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483096" y="1755648"/>
            <a:ext cx="420624" cy="42062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83096" y="1865376"/>
            <a:ext cx="420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7013448" y="1755648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实时对话预览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013448" y="2121408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流式输出生成过程；前端在对话页展示生成内容，并通过 iframe 实时预览应用效果。</a:t>
            </a:r>
            <a:endParaRPr lang="en-US" sz="1270" dirty="0"/>
          </a:p>
        </p:txBody>
      </p:sp>
      <p:sp>
        <p:nvSpPr>
          <p:cNvPr id="24" name="Shape 22"/>
          <p:cNvSpPr/>
          <p:nvPr/>
        </p:nvSpPr>
        <p:spPr>
          <a:xfrm>
            <a:off x="777240" y="3383280"/>
            <a:ext cx="498348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DED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777240" y="3383280"/>
            <a:ext cx="100584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996696" y="3584448"/>
            <a:ext cx="420624" cy="42062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96696" y="3694176"/>
            <a:ext cx="420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527048" y="3584448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可视化编辑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527048" y="3950208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用户可进入编辑模式点选页面元素，与 AI 对话完成局部修改，降低二次调整门槛。</a:t>
            </a:r>
            <a:endParaRPr lang="en-US" sz="1270" dirty="0"/>
          </a:p>
        </p:txBody>
      </p:sp>
      <p:sp>
        <p:nvSpPr>
          <p:cNvPr id="30" name="Shape 28"/>
          <p:cNvSpPr/>
          <p:nvPr/>
        </p:nvSpPr>
        <p:spPr>
          <a:xfrm>
            <a:off x="6263640" y="3383280"/>
            <a:ext cx="498348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DED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6263640" y="3383280"/>
            <a:ext cx="100584" cy="14173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483096" y="3584448"/>
            <a:ext cx="420624" cy="420624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483096" y="3694176"/>
            <a:ext cx="420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7013448" y="3584448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部署与管理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013448" y="3950208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支持部署到可访问地址、封面截图、源码下载；后台提供应用、用户、对话等管理入口。</a:t>
            </a:r>
            <a:endParaRPr lang="en-US" sz="1270" dirty="0"/>
          </a:p>
        </p:txBody>
      </p:sp>
      <p:sp>
        <p:nvSpPr>
          <p:cNvPr id="36" name="Shape 34"/>
          <p:cNvSpPr/>
          <p:nvPr/>
        </p:nvSpPr>
        <p:spPr>
          <a:xfrm>
            <a:off x="822960" y="5440680"/>
            <a:ext cx="10515600" cy="502920"/>
          </a:xfrm>
          <a:prstGeom prst="roundRect">
            <a:avLst>
              <a:gd name="adj" fmla="val 10909"/>
            </a:avLst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051560" y="5596128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能力边界：单体后端覆盖最完整；微服务版仍需补齐网关、统一会话、监控与前端联调入口。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6032"/>
            <a:ext cx="12191695" cy="731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083040" y="0"/>
            <a:ext cx="3108960" cy="3108960"/>
          </a:xfrm>
          <a:prstGeom prst="arc">
            <a:avLst/>
          </a:prstGeom>
          <a:solidFill>
            <a:srgbClr val="E1F7F3">
              <a:alpha val="90000"/>
            </a:srgbClr>
          </a:solidFill>
          <a:ln w="12700">
            <a:solidFill>
              <a:srgbClr val="E1F7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02920" y="6428232"/>
            <a:ext cx="11201400" cy="9144"/>
          </a:xfrm>
          <a:prstGeom prst="rect">
            <a:avLst/>
          </a:prstGeom>
          <a:solidFill>
            <a:srgbClr val="CDEDEA"/>
          </a:solidFill>
          <a:ln w="12700">
            <a:solidFill>
              <a:srgbClr val="CDEDE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每日项目状态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55680" y="647395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566928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30936" y="690372"/>
            <a:ext cx="2834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</a:t>
            </a:r>
            <a:endParaRPr lang="en-US" sz="550" dirty="0"/>
          </a:p>
        </p:txBody>
      </p:sp>
      <p:sp>
        <p:nvSpPr>
          <p:cNvPr id="10" name="Text 8"/>
          <p:cNvSpPr/>
          <p:nvPr/>
        </p:nvSpPr>
        <p:spPr>
          <a:xfrm>
            <a:off x="1069848" y="4846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12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模块与架构地图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097280" y="103327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仓库同时保留单体与微服务两条实现路径，需关注双轨一致性。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749808" y="1554480"/>
            <a:ext cx="3154680" cy="411480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024128" y="178308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单体后端 src/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1024128" y="2331720"/>
            <a:ext cx="2331720" cy="329184"/>
          </a:xfrm>
          <a:prstGeom prst="roundRect">
            <a:avLst>
              <a:gd name="adj" fmla="val 33333"/>
            </a:avLst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97280" y="2418588"/>
            <a:ext cx="21854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App/User/Chat API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024128" y="2907792"/>
            <a:ext cx="2331720" cy="329184"/>
          </a:xfrm>
          <a:prstGeom prst="roundRect">
            <a:avLst>
              <a:gd name="adj" fmla="val 33333"/>
            </a:avLst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97280" y="2994660"/>
            <a:ext cx="21854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生成与工具调用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024128" y="3483864"/>
            <a:ext cx="2331720" cy="329184"/>
          </a:xfrm>
          <a:prstGeom prst="roundRect">
            <a:avLst>
              <a:gd name="adj" fmla="val 33333"/>
            </a:avLst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097280" y="3570732"/>
            <a:ext cx="21854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工作流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024128" y="4059936"/>
            <a:ext cx="2331720" cy="329184"/>
          </a:xfrm>
          <a:prstGeom prst="roundRect">
            <a:avLst>
              <a:gd name="adj" fmla="val 33333"/>
            </a:avLst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97280" y="4146804"/>
            <a:ext cx="21854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Actuator + Prometheus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15968" y="1554480"/>
            <a:ext cx="3611880" cy="411480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590288" y="178308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微服务拆分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4617720" y="2331720"/>
            <a:ext cx="1325880" cy="384048"/>
          </a:xfrm>
          <a:prstGeom prst="roundRect">
            <a:avLst>
              <a:gd name="adj" fmla="val 19048"/>
            </a:avLst>
          </a:prstGeom>
          <a:solidFill>
            <a:srgbClr val="EEF4F7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617720" y="2441448"/>
            <a:ext cx="1325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17920" y="2331720"/>
            <a:ext cx="1325880" cy="384048"/>
          </a:xfrm>
          <a:prstGeom prst="roundRect">
            <a:avLst>
              <a:gd name="adj" fmla="val 19048"/>
            </a:avLst>
          </a:prstGeom>
          <a:solidFill>
            <a:srgbClr val="EEF4F7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217920" y="2441448"/>
            <a:ext cx="1325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17720" y="2898648"/>
            <a:ext cx="1325880" cy="384048"/>
          </a:xfrm>
          <a:prstGeom prst="roundRect">
            <a:avLst>
              <a:gd name="adj" fmla="val 19048"/>
            </a:avLst>
          </a:prstGeom>
          <a:solidFill>
            <a:srgbClr val="EEF4F7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617720" y="3008376"/>
            <a:ext cx="1325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217920" y="2898648"/>
            <a:ext cx="1325880" cy="384048"/>
          </a:xfrm>
          <a:prstGeom prst="roundRect">
            <a:avLst>
              <a:gd name="adj" fmla="val 19048"/>
            </a:avLst>
          </a:prstGeom>
          <a:solidFill>
            <a:srgbClr val="E1F7F3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217920" y="3008376"/>
            <a:ext cx="1325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617720" y="3465576"/>
            <a:ext cx="1325880" cy="384048"/>
          </a:xfrm>
          <a:prstGeom prst="roundRect">
            <a:avLst>
              <a:gd name="adj" fmla="val 19048"/>
            </a:avLst>
          </a:prstGeom>
          <a:solidFill>
            <a:srgbClr val="E1F7F3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617720" y="3575304"/>
            <a:ext cx="1325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17920" y="3465576"/>
            <a:ext cx="1325880" cy="384048"/>
          </a:xfrm>
          <a:prstGeom prst="roundRect">
            <a:avLst>
              <a:gd name="adj" fmla="val 19048"/>
            </a:avLst>
          </a:prstGeom>
          <a:solidFill>
            <a:srgbClr val="E1F7F3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6217920" y="3575304"/>
            <a:ext cx="1325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617720" y="4032504"/>
            <a:ext cx="1325880" cy="384048"/>
          </a:xfrm>
          <a:prstGeom prst="roundRect">
            <a:avLst>
              <a:gd name="adj" fmla="val 19048"/>
            </a:avLst>
          </a:prstGeom>
          <a:solidFill>
            <a:srgbClr val="E1F7F3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4617720" y="4142232"/>
            <a:ext cx="1325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617720" y="48920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Dubbo + Nacos；可运行服务：user/app/screenshot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321040" y="1554480"/>
            <a:ext cx="3063240" cy="411480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8595360" y="178308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前端 yu-ai-code-mother-frontend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8613648" y="2331720"/>
            <a:ext cx="233172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CDED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8613648" y="2331720"/>
            <a:ext cx="100584" cy="47548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9363456" y="2532888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3 + Vite + Ant Design Vue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9363456" y="2898648"/>
            <a:ext cx="1417320" cy="-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270" dirty="0"/>
          </a:p>
        </p:txBody>
      </p:sp>
      <p:sp>
        <p:nvSpPr>
          <p:cNvPr id="45" name="Shape 43"/>
          <p:cNvSpPr/>
          <p:nvPr/>
        </p:nvSpPr>
        <p:spPr>
          <a:xfrm>
            <a:off x="8613648" y="2990088"/>
            <a:ext cx="233172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CDED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8613648" y="2990088"/>
            <a:ext cx="100584" cy="47548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9363456" y="3191256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首页 / 对话页 / 管理后台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9363456" y="3557016"/>
            <a:ext cx="1417320" cy="-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270" dirty="0"/>
          </a:p>
        </p:txBody>
      </p:sp>
      <p:sp>
        <p:nvSpPr>
          <p:cNvPr id="49" name="Shape 47"/>
          <p:cNvSpPr/>
          <p:nvPr/>
        </p:nvSpPr>
        <p:spPr>
          <a:xfrm>
            <a:off x="8613648" y="3648456"/>
            <a:ext cx="233172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CDED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8613648" y="3648456"/>
            <a:ext cx="100584" cy="47548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9363456" y="3849624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自动生成 TS 客户端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9363456" y="4215384"/>
            <a:ext cx="1417320" cy="-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270" dirty="0"/>
          </a:p>
        </p:txBody>
      </p:sp>
      <p:sp>
        <p:nvSpPr>
          <p:cNvPr id="53" name="Shape 51"/>
          <p:cNvSpPr/>
          <p:nvPr/>
        </p:nvSpPr>
        <p:spPr>
          <a:xfrm>
            <a:off x="8613648" y="4306824"/>
            <a:ext cx="233172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CDED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8613648" y="4306824"/>
            <a:ext cx="100584" cy="475488"/>
          </a:xfrm>
          <a:prstGeom prst="rect">
            <a:avLst/>
          </a:prstGeom>
          <a:solidFill>
            <a:srgbClr val="D48806"/>
          </a:solidFill>
          <a:ln w="12700">
            <a:solidFill>
              <a:srgbClr val="D4880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9363456" y="4507992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默认代理 localhost:8123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9363456" y="4873752"/>
            <a:ext cx="1417320" cy="-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27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6032"/>
            <a:ext cx="12191695" cy="731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083040" y="0"/>
            <a:ext cx="3108960" cy="3108960"/>
          </a:xfrm>
          <a:prstGeom prst="arc">
            <a:avLst/>
          </a:prstGeom>
          <a:solidFill>
            <a:srgbClr val="E1F7F3">
              <a:alpha val="90000"/>
            </a:srgbClr>
          </a:solidFill>
          <a:ln w="12700">
            <a:solidFill>
              <a:srgbClr val="E1F7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02920" y="6428232"/>
            <a:ext cx="11201400" cy="9144"/>
          </a:xfrm>
          <a:prstGeom prst="rect">
            <a:avLst/>
          </a:prstGeom>
          <a:solidFill>
            <a:srgbClr val="CDEDEA"/>
          </a:solidFill>
          <a:ln w="12700">
            <a:solidFill>
              <a:srgbClr val="CDEDE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每日项目状态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55680" y="647395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566928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30936" y="690372"/>
            <a:ext cx="2834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550" dirty="0"/>
          </a:p>
        </p:txBody>
      </p:sp>
      <p:sp>
        <p:nvSpPr>
          <p:cNvPr id="10" name="Text 8"/>
          <p:cNvSpPr/>
          <p:nvPr/>
        </p:nvSpPr>
        <p:spPr>
          <a:xfrm>
            <a:off x="1069848" y="4846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12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昨日/近期变更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097280" y="103327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7 天 git log 无新增提交；以下为仓库最近历史提交反映的阶段性进展。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1097280" y="2880360"/>
            <a:ext cx="978408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1737360" y="2624328"/>
            <a:ext cx="512064" cy="51206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FFFFFF">
                <a:alpha val="9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737360" y="2761488"/>
            <a:ext cx="51206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68680" y="3337560"/>
            <a:ext cx="233172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DEDE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033272" y="352958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2025-08-26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033272" y="379476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微服务改造完成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033272" y="4160520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新增 common/model/client/user/app/ai/screenshot 模块，Dubbo + Nacos 跨服务调用落地。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4480560" y="2624328"/>
            <a:ext cx="512064" cy="51206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FFFFFF">
                <a:alpha val="9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480560" y="2761488"/>
            <a:ext cx="51206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11880" y="3337560"/>
            <a:ext cx="233172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DEDE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776472" y="352958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2025-08-14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776472" y="379476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可观测性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3776472" y="4160520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引入 Actuator、Prometheus 配置和 AI 调用指标，覆盖请求数、Token、耗时等维度。</a:t>
            </a:r>
            <a:endParaRPr lang="en-US" sz="1020" dirty="0"/>
          </a:p>
        </p:txBody>
      </p:sp>
      <p:sp>
        <p:nvSpPr>
          <p:cNvPr id="25" name="Shape 23"/>
          <p:cNvSpPr/>
          <p:nvPr/>
        </p:nvSpPr>
        <p:spPr>
          <a:xfrm>
            <a:off x="7223760" y="2624328"/>
            <a:ext cx="512064" cy="51206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FFFFFF">
                <a:alpha val="9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223760" y="2761488"/>
            <a:ext cx="51206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55080" y="3337560"/>
            <a:ext cx="233172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DEDE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519672" y="352958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2025-08-14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519672" y="379476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部署上线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519672" y="4160520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完善应用部署、静态资源访问、封面截图和分享路径等上线相关能力。</a:t>
            </a:r>
            <a:endParaRPr lang="en-US" sz="1020" dirty="0"/>
          </a:p>
        </p:txBody>
      </p:sp>
      <p:sp>
        <p:nvSpPr>
          <p:cNvPr id="31" name="Shape 29"/>
          <p:cNvSpPr/>
          <p:nvPr/>
        </p:nvSpPr>
        <p:spPr>
          <a:xfrm>
            <a:off x="9966960" y="2624328"/>
            <a:ext cx="512064" cy="512064"/>
          </a:xfrm>
          <a:prstGeom prst="ellipse">
            <a:avLst/>
          </a:prstGeom>
          <a:solidFill>
            <a:srgbClr val="02C39A"/>
          </a:solidFill>
          <a:ln w="12700">
            <a:solidFill>
              <a:srgbClr val="FFFFFF">
                <a:alpha val="9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9966960" y="2761488"/>
            <a:ext cx="51206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098280" y="3337560"/>
            <a:ext cx="233172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DEDE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9262872" y="352958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2025-08-13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262872" y="379476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系统优化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9262872" y="4160520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围绕并发、实时性、安全限流、Prompt 审查、稳定性和成本进行多轮优化。</a:t>
            </a:r>
            <a:endParaRPr lang="en-US" sz="1020" dirty="0"/>
          </a:p>
        </p:txBody>
      </p:sp>
      <p:sp>
        <p:nvSpPr>
          <p:cNvPr id="37" name="Shape 35"/>
          <p:cNvSpPr/>
          <p:nvPr/>
        </p:nvSpPr>
        <p:spPr>
          <a:xfrm>
            <a:off x="868680" y="1554480"/>
            <a:ext cx="10469880" cy="713232"/>
          </a:xfrm>
          <a:prstGeom prst="roundRect">
            <a:avLst>
              <a:gd name="adj" fmla="val 10256"/>
            </a:avLst>
          </a:prstGeom>
          <a:solidFill>
            <a:srgbClr val="EAF8F5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1115568" y="1792224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昨日状态：未发现 2026-07-10 至 2026-07-11 的仓库提交；本日报告基于 README、主要模块与最近 20 条历史提交生成。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6032"/>
            <a:ext cx="12191695" cy="731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083040" y="0"/>
            <a:ext cx="3108960" cy="3108960"/>
          </a:xfrm>
          <a:prstGeom prst="arc">
            <a:avLst/>
          </a:prstGeom>
          <a:solidFill>
            <a:srgbClr val="E1F7F3">
              <a:alpha val="90000"/>
            </a:srgbClr>
          </a:solidFill>
          <a:ln w="12700">
            <a:solidFill>
              <a:srgbClr val="E1F7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02920" y="6428232"/>
            <a:ext cx="11201400" cy="9144"/>
          </a:xfrm>
          <a:prstGeom prst="rect">
            <a:avLst/>
          </a:prstGeom>
          <a:solidFill>
            <a:srgbClr val="CDEDEA"/>
          </a:solidFill>
          <a:ln w="12700">
            <a:solidFill>
              <a:srgbClr val="CDEDE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每日项目状态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55680" y="647395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566928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30936" y="690372"/>
            <a:ext cx="2834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</a:t>
            </a:r>
            <a:endParaRPr lang="en-US" sz="550" dirty="0"/>
          </a:p>
        </p:txBody>
      </p:sp>
      <p:sp>
        <p:nvSpPr>
          <p:cNvPr id="10" name="Text 8"/>
          <p:cNvSpPr/>
          <p:nvPr/>
        </p:nvSpPr>
        <p:spPr>
          <a:xfrm>
            <a:off x="1069848" y="4846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12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数据 / 指标要点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097280" y="103327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生产运行指标尚未接入本次自动汇报；以下为仓库静态指标与配置事实。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22960" y="1600200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CDEDE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87552" y="1764792"/>
            <a:ext cx="2002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88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987552" y="2258568"/>
            <a:ext cx="20025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7 天提交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024128" y="2532888"/>
            <a:ext cx="1929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log 无新增记录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401568" y="1600200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CDEDE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566160" y="1764792"/>
            <a:ext cx="2002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3566160" y="2258568"/>
            <a:ext cx="20025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微服务模块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602736" y="2532888"/>
            <a:ext cx="1929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common/model/client/user/app/ai/screenshot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980176" y="1600200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CDEDE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144768" y="1764792"/>
            <a:ext cx="2002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144768" y="2258568"/>
            <a:ext cx="20025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后端测试文件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181344" y="2532888"/>
            <a:ext cx="1929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集中在单体 src/test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558784" y="1600200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CDEDE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723376" y="1764792"/>
            <a:ext cx="2002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43E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8723376" y="2258568"/>
            <a:ext cx="20025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配置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759952" y="2532888"/>
            <a:ext cx="1929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未发现 workflows/Jenkins/GitLab CI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14400" y="3429000"/>
            <a:ext cx="103784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234440" y="367588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需要持续跟踪的工程指标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1261872" y="4133088"/>
            <a:ext cx="2377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调用量/Token/耗时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794760" y="4114800"/>
            <a:ext cx="6217920" cy="128016"/>
          </a:xfrm>
          <a:prstGeom prst="roundRect">
            <a:avLst>
              <a:gd name="adj" fmla="val 28571"/>
            </a:avLst>
          </a:prstGeom>
          <a:solidFill>
            <a:srgbClr val="E3EEEE"/>
          </a:solidFill>
          <a:ln w="12700">
            <a:solidFill>
              <a:srgbClr val="E3EEEE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3794760" y="4114800"/>
            <a:ext cx="4476902" cy="128016"/>
          </a:xfrm>
          <a:prstGeom prst="roundRect">
            <a:avLst>
              <a:gd name="adj" fmla="val 28571"/>
            </a:avLst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1261872" y="4407408"/>
            <a:ext cx="2377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生成成功率与失败类型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794760" y="4389120"/>
            <a:ext cx="6217920" cy="128016"/>
          </a:xfrm>
          <a:prstGeom prst="roundRect">
            <a:avLst>
              <a:gd name="adj" fmla="val 28571"/>
            </a:avLst>
          </a:prstGeom>
          <a:solidFill>
            <a:srgbClr val="E3EEEE"/>
          </a:solidFill>
          <a:ln w="12700">
            <a:solidFill>
              <a:srgbClr val="E3EEEE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3794760" y="4389120"/>
            <a:ext cx="3419856" cy="128016"/>
          </a:xfrm>
          <a:prstGeom prst="roundRect">
            <a:avLst>
              <a:gd name="adj" fmla="val 28571"/>
            </a:avLst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1261872" y="4681728"/>
            <a:ext cx="2377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部署成功率与截图耗时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794760" y="4663440"/>
            <a:ext cx="6217920" cy="128016"/>
          </a:xfrm>
          <a:prstGeom prst="roundRect">
            <a:avLst>
              <a:gd name="adj" fmla="val 28571"/>
            </a:avLst>
          </a:prstGeom>
          <a:solidFill>
            <a:srgbClr val="E3EEEE"/>
          </a:solidFill>
          <a:ln w="12700">
            <a:solidFill>
              <a:srgbClr val="E3EEEE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3794760" y="4663440"/>
            <a:ext cx="2860243" cy="128016"/>
          </a:xfrm>
          <a:prstGeom prst="roundRect">
            <a:avLst>
              <a:gd name="adj" fmla="val 28571"/>
            </a:avLst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261872" y="4956048"/>
            <a:ext cx="2377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前后端构建与测试结果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794760" y="4937760"/>
            <a:ext cx="6217920" cy="128016"/>
          </a:xfrm>
          <a:prstGeom prst="roundRect">
            <a:avLst>
              <a:gd name="adj" fmla="val 28571"/>
            </a:avLst>
          </a:prstGeom>
          <a:solidFill>
            <a:srgbClr val="E3EEEE"/>
          </a:solidFill>
          <a:ln w="12700">
            <a:solidFill>
              <a:srgbClr val="E3EEEE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3794760" y="4937760"/>
            <a:ext cx="2362810" cy="128016"/>
          </a:xfrm>
          <a:prstGeom prst="roundRect">
            <a:avLst>
              <a:gd name="adj" fmla="val 28571"/>
            </a:avLst>
          </a:prstGeom>
          <a:solidFill>
            <a:srgbClr val="D48806"/>
          </a:solidFill>
          <a:ln w="12700">
            <a:solidFill>
              <a:srgbClr val="D4880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1234440" y="539496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建议：将这些指标纳入 Prometheus/Grafana 或定期产物，替代静态仓库扫描。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6032"/>
            <a:ext cx="12191695" cy="731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083040" y="0"/>
            <a:ext cx="3108960" cy="3108960"/>
          </a:xfrm>
          <a:prstGeom prst="arc">
            <a:avLst/>
          </a:prstGeom>
          <a:solidFill>
            <a:srgbClr val="E1F7F3">
              <a:alpha val="90000"/>
            </a:srgbClr>
          </a:solidFill>
          <a:ln w="12700">
            <a:solidFill>
              <a:srgbClr val="E1F7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02920" y="6428232"/>
            <a:ext cx="11201400" cy="9144"/>
          </a:xfrm>
          <a:prstGeom prst="rect">
            <a:avLst/>
          </a:prstGeom>
          <a:solidFill>
            <a:srgbClr val="CDEDEA"/>
          </a:solidFill>
          <a:ln w="12700">
            <a:solidFill>
              <a:srgbClr val="CDEDE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每日项目状态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55680" y="647395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566928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30936" y="690372"/>
            <a:ext cx="2834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550" dirty="0"/>
          </a:p>
        </p:txBody>
      </p:sp>
      <p:sp>
        <p:nvSpPr>
          <p:cNvPr id="10" name="Text 8"/>
          <p:cNvSpPr/>
          <p:nvPr/>
        </p:nvSpPr>
        <p:spPr>
          <a:xfrm>
            <a:off x="1069848" y="4846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12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测试与 CI 状态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097280" y="103327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仓库存在本地测试/构建脚本，但未发现自动化流水线配置。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22960" y="160020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DED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1600200"/>
            <a:ext cx="100584" cy="13716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1042416" y="1801368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42416" y="1911096"/>
            <a:ext cx="420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572768" y="1801368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后端测试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72768" y="216712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 src/test 包含 AI、LangGraph、工具、截图与上下文加载测试；多数依赖真实外部服务或凭据。</a:t>
            </a:r>
            <a:endParaRPr lang="en-US" sz="1270" dirty="0"/>
          </a:p>
        </p:txBody>
      </p:sp>
      <p:sp>
        <p:nvSpPr>
          <p:cNvPr id="18" name="Shape 16"/>
          <p:cNvSpPr/>
          <p:nvPr/>
        </p:nvSpPr>
        <p:spPr>
          <a:xfrm>
            <a:off x="4434840" y="160020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DED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434840" y="1600200"/>
            <a:ext cx="100584" cy="13716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654296" y="1801368"/>
            <a:ext cx="420624" cy="42062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654296" y="1911096"/>
            <a:ext cx="420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5184648" y="1801368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前端脚本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184648" y="216712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package.json 提供 build、type-check、lint、format、openapi2ts；未见 Vitest/Playwright/Cypress 配置。</a:t>
            </a:r>
            <a:endParaRPr lang="en-US" sz="1270" dirty="0"/>
          </a:p>
        </p:txBody>
      </p:sp>
      <p:sp>
        <p:nvSpPr>
          <p:cNvPr id="24" name="Shape 22"/>
          <p:cNvSpPr/>
          <p:nvPr/>
        </p:nvSpPr>
        <p:spPr>
          <a:xfrm>
            <a:off x="8046720" y="160020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DED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046720" y="1600200"/>
            <a:ext cx="100584" cy="1371600"/>
          </a:xfrm>
          <a:prstGeom prst="rect">
            <a:avLst/>
          </a:prstGeom>
          <a:solidFill>
            <a:srgbClr val="B43E4A"/>
          </a:solidFill>
          <a:ln w="12700">
            <a:solidFill>
              <a:srgbClr val="B43E4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266176" y="1801368"/>
            <a:ext cx="420624" cy="420624"/>
          </a:xfrm>
          <a:prstGeom prst="ellipse">
            <a:avLst/>
          </a:prstGeom>
          <a:solidFill>
            <a:srgbClr val="B43E4A"/>
          </a:solidFill>
          <a:ln w="12700">
            <a:solidFill>
              <a:srgbClr val="B43E4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266176" y="1911096"/>
            <a:ext cx="420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8796528" y="1801368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796528" y="216712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未发现 .github/workflows、GitLab CI、Jenkinsfile、Dockerfile 或 docker-compose 配置。</a:t>
            </a:r>
            <a:endParaRPr lang="en-US" sz="1270" dirty="0"/>
          </a:p>
        </p:txBody>
      </p:sp>
      <p:sp>
        <p:nvSpPr>
          <p:cNvPr id="30" name="Shape 28"/>
          <p:cNvSpPr/>
          <p:nvPr/>
        </p:nvSpPr>
        <p:spPr>
          <a:xfrm>
            <a:off x="914400" y="3520440"/>
            <a:ext cx="10287000" cy="1783080"/>
          </a:xfrm>
          <a:prstGeom prst="roundRect">
            <a:avLst>
              <a:gd name="adj" fmla="val 5128"/>
            </a:avLst>
          </a:prstGeom>
          <a:solidFill>
            <a:srgbClr val="EAF8F5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1234440" y="376732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最近状态说明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1325880" y="4187952"/>
            <a:ext cx="146304" cy="14630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1600200" y="4133088"/>
            <a:ext cx="8961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本次仅为报告生成任务，未修改业务代码，也未执行全量业务测试。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1325880" y="4507992"/>
            <a:ext cx="146304" cy="14630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1600200" y="4453128"/>
            <a:ext cx="8961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报告文件已使用 PPT 文本抽取方式检查占位文本；后续建议新增流水线进行自动化验证。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1325880" y="4828032"/>
            <a:ext cx="146304" cy="146304"/>
          </a:xfrm>
          <a:prstGeom prst="ellipse">
            <a:avLst/>
          </a:prstGeom>
          <a:solidFill>
            <a:srgbClr val="D48806"/>
          </a:solidFill>
          <a:ln w="12700">
            <a:solidFill>
              <a:srgbClr val="D48806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600200" y="4773168"/>
            <a:ext cx="8961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后端集成测试若进入 CI，需要先剥离外部 AI/图片/COS/浏览器依赖或提供稳定测试替身。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6032"/>
            <a:ext cx="12191695" cy="731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083040" y="0"/>
            <a:ext cx="3108960" cy="3108960"/>
          </a:xfrm>
          <a:prstGeom prst="arc">
            <a:avLst/>
          </a:prstGeom>
          <a:solidFill>
            <a:srgbClr val="E1F7F3">
              <a:alpha val="90000"/>
            </a:srgbClr>
          </a:solidFill>
          <a:ln w="12700">
            <a:solidFill>
              <a:srgbClr val="E1F7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02920" y="6428232"/>
            <a:ext cx="11201400" cy="9144"/>
          </a:xfrm>
          <a:prstGeom prst="rect">
            <a:avLst/>
          </a:prstGeom>
          <a:solidFill>
            <a:srgbClr val="CDEDEA"/>
          </a:solidFill>
          <a:ln w="12700">
            <a:solidFill>
              <a:srgbClr val="CDEDE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每日项目状态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55680" y="647395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566928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30936" y="690372"/>
            <a:ext cx="2834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550" dirty="0"/>
          </a:p>
        </p:txBody>
      </p:sp>
      <p:sp>
        <p:nvSpPr>
          <p:cNvPr id="10" name="Text 8"/>
          <p:cNvSpPr/>
          <p:nvPr/>
        </p:nvSpPr>
        <p:spPr>
          <a:xfrm>
            <a:off x="1069848" y="4846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sz="3600" b="1">
                <a:solidFill>
                  <a:srgbClr val="12323A"/>
                </a:solidFill>
                <a:latin typeface="Georgia"/>
              </a:rPr>
              <a:t>未完成项 / 风险与阻塞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097280" y="103327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当前主要风险集中在双轨架构、外部依赖、自动化门禁和上线编排。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22960" y="1600200"/>
            <a:ext cx="502920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CDED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1600200"/>
            <a:ext cx="100584" cy="1143000"/>
          </a:xfrm>
          <a:prstGeom prst="rect">
            <a:avLst/>
          </a:prstGeom>
          <a:solidFill>
            <a:srgbClr val="D48806"/>
          </a:solidFill>
          <a:ln w="12700">
            <a:solidFill>
              <a:srgbClr val="D4880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1042416" y="1801368"/>
            <a:ext cx="420624" cy="420624"/>
          </a:xfrm>
          <a:prstGeom prst="ellipse">
            <a:avLst/>
          </a:prstGeom>
          <a:solidFill>
            <a:srgbClr val="D48806"/>
          </a:solidFill>
          <a:ln w="12700">
            <a:solidFill>
              <a:srgbClr val="D4880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42416" y="1911096"/>
            <a:ext cx="420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572768" y="1801368"/>
            <a:ext cx="4087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双轨维护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72768" y="216712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单体与微服务代码并存，能力覆盖不完全一致，后续变更容易产生漂移。</a:t>
            </a:r>
            <a:endParaRPr lang="en-US" sz="1270" dirty="0"/>
          </a:p>
        </p:txBody>
      </p:sp>
      <p:sp>
        <p:nvSpPr>
          <p:cNvPr id="18" name="Shape 16"/>
          <p:cNvSpPr/>
          <p:nvPr/>
        </p:nvSpPr>
        <p:spPr>
          <a:xfrm>
            <a:off x="6355080" y="1600200"/>
            <a:ext cx="502920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CDED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355080" y="1600200"/>
            <a:ext cx="100584" cy="1143000"/>
          </a:xfrm>
          <a:prstGeom prst="rect">
            <a:avLst/>
          </a:prstGeom>
          <a:solidFill>
            <a:srgbClr val="B43E4A"/>
          </a:solidFill>
          <a:ln w="12700">
            <a:solidFill>
              <a:srgbClr val="B43E4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574536" y="1801368"/>
            <a:ext cx="420624" cy="420624"/>
          </a:xfrm>
          <a:prstGeom prst="ellipse">
            <a:avLst/>
          </a:prstGeom>
          <a:solidFill>
            <a:srgbClr val="B43E4A"/>
          </a:solidFill>
          <a:ln w="12700">
            <a:solidFill>
              <a:srgbClr val="B43E4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574536" y="1911096"/>
            <a:ext cx="420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7104888" y="1801368"/>
            <a:ext cx="4087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环境依赖重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04888" y="216712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MySQL、Redis、Nacos、AI Key、COS、Pexels、Chrome/Selenium 均可能影响本地与部署稳定性。</a:t>
            </a:r>
            <a:endParaRPr lang="en-US" sz="1270" dirty="0"/>
          </a:p>
        </p:txBody>
      </p:sp>
      <p:sp>
        <p:nvSpPr>
          <p:cNvPr id="24" name="Shape 22"/>
          <p:cNvSpPr/>
          <p:nvPr/>
        </p:nvSpPr>
        <p:spPr>
          <a:xfrm>
            <a:off x="822960" y="3200400"/>
            <a:ext cx="502920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CDED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22960" y="3200400"/>
            <a:ext cx="100584" cy="1143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1042416" y="3401568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042416" y="3511296"/>
            <a:ext cx="420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572768" y="3401568"/>
            <a:ext cx="4087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微服务入口缺口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572768" y="376732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前端仍默认代理单体 8123；微服务缺 API Gateway、统一会话和完整监控链路。</a:t>
            </a:r>
            <a:endParaRPr lang="en-US" sz="1270" dirty="0"/>
          </a:p>
        </p:txBody>
      </p:sp>
      <p:sp>
        <p:nvSpPr>
          <p:cNvPr id="30" name="Shape 28"/>
          <p:cNvSpPr/>
          <p:nvPr/>
        </p:nvSpPr>
        <p:spPr>
          <a:xfrm>
            <a:off x="6355080" y="3200400"/>
            <a:ext cx="502920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CDED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6355080" y="3200400"/>
            <a:ext cx="100584" cy="11430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574536" y="3401568"/>
            <a:ext cx="420624" cy="42062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574536" y="3511296"/>
            <a:ext cx="420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7104888" y="3401568"/>
            <a:ext cx="4087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测试自动化不足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104888" y="376732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 CI；集成测试依赖真实外部服务，难以作为稳定回归门禁。</a:t>
            </a:r>
            <a:endParaRPr lang="en-US" sz="1270" dirty="0"/>
          </a:p>
        </p:txBody>
      </p:sp>
      <p:sp>
        <p:nvSpPr>
          <p:cNvPr id="36" name="Shape 34"/>
          <p:cNvSpPr/>
          <p:nvPr/>
        </p:nvSpPr>
        <p:spPr>
          <a:xfrm>
            <a:off x="960120" y="5166360"/>
            <a:ext cx="10149840" cy="640080"/>
          </a:xfrm>
          <a:prstGeom prst="roundRect">
            <a:avLst>
              <a:gd name="adj" fmla="val 11429"/>
            </a:avLst>
          </a:prstGeom>
          <a:solidFill>
            <a:srgbClr val="21295C"/>
          </a:solidFill>
          <a:ln w="12700">
            <a:solidFill>
              <a:srgbClr val="21295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234440" y="5385816"/>
            <a:ext cx="9555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优先级建议：先固化交付链路与自动化验证，再扩大微服务化范围和工作流产品化。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6032"/>
            <a:ext cx="12191695" cy="731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083040" y="0"/>
            <a:ext cx="3108960" cy="3108960"/>
          </a:xfrm>
          <a:prstGeom prst="arc">
            <a:avLst/>
          </a:prstGeom>
          <a:solidFill>
            <a:srgbClr val="E1F7F3">
              <a:alpha val="90000"/>
            </a:srgbClr>
          </a:solidFill>
          <a:ln w="12700">
            <a:solidFill>
              <a:srgbClr val="E1F7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02920" y="6428232"/>
            <a:ext cx="11201400" cy="9144"/>
          </a:xfrm>
          <a:prstGeom prst="rect">
            <a:avLst/>
          </a:prstGeom>
          <a:solidFill>
            <a:srgbClr val="CDEDEA"/>
          </a:solidFill>
          <a:ln w="12700">
            <a:solidFill>
              <a:srgbClr val="CDEDE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每日项目状态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55680" y="647395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566928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30936" y="690372"/>
            <a:ext cx="2834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550" dirty="0"/>
          </a:p>
        </p:txBody>
      </p:sp>
      <p:sp>
        <p:nvSpPr>
          <p:cNvPr id="10" name="Text 8"/>
          <p:cNvSpPr/>
          <p:nvPr/>
        </p:nvSpPr>
        <p:spPr>
          <a:xfrm>
            <a:off x="1069848" y="4846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12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建议的下一步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097280" y="103327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聚焦能降低交付风险、提升可维护性的短闭环动作。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914400" y="1508760"/>
            <a:ext cx="512064" cy="51206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14400" y="1655064"/>
            <a:ext cx="5120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664208" y="1463040"/>
            <a:ext cx="946404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938528" y="158191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补齐交付门禁</a:t>
            </a:r>
            <a:endParaRPr lang="en-US" sz="1380" dirty="0"/>
          </a:p>
        </p:txBody>
      </p:sp>
      <p:sp>
        <p:nvSpPr>
          <p:cNvPr id="16" name="Text 14"/>
          <p:cNvSpPr/>
          <p:nvPr/>
        </p:nvSpPr>
        <p:spPr>
          <a:xfrm>
            <a:off x="3977640" y="1581912"/>
            <a:ext cx="6812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新增 CI：后端单元测试、前端 type-check/build/lint，并区分外部依赖集成测试。</a:t>
            </a:r>
            <a:endParaRPr lang="en-US" sz="1240" dirty="0"/>
          </a:p>
        </p:txBody>
      </p:sp>
      <p:sp>
        <p:nvSpPr>
          <p:cNvPr id="17" name="Shape 15"/>
          <p:cNvSpPr/>
          <p:nvPr/>
        </p:nvSpPr>
        <p:spPr>
          <a:xfrm>
            <a:off x="914400" y="2331720"/>
            <a:ext cx="512064" cy="51206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14400" y="2478024"/>
            <a:ext cx="5120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664208" y="2286000"/>
            <a:ext cx="946404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938528" y="240487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统一运行入口</a:t>
            </a:r>
            <a:endParaRPr lang="en-US" sz="1380" dirty="0"/>
          </a:p>
        </p:txBody>
      </p:sp>
      <p:sp>
        <p:nvSpPr>
          <p:cNvPr id="21" name="Text 19"/>
          <p:cNvSpPr/>
          <p:nvPr/>
        </p:nvSpPr>
        <p:spPr>
          <a:xfrm>
            <a:off x="3977640" y="2404872"/>
            <a:ext cx="6812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为微服务补 API Gateway/统一鉴权/会话策略，前端通过环境变量切换后端入口。</a:t>
            </a:r>
            <a:endParaRPr lang="en-US" sz="1240" dirty="0"/>
          </a:p>
        </p:txBody>
      </p:sp>
      <p:sp>
        <p:nvSpPr>
          <p:cNvPr id="22" name="Shape 20"/>
          <p:cNvSpPr/>
          <p:nvPr/>
        </p:nvSpPr>
        <p:spPr>
          <a:xfrm>
            <a:off x="914400" y="3154680"/>
            <a:ext cx="512064" cy="51206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14400" y="3300984"/>
            <a:ext cx="5120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664208" y="3108960"/>
            <a:ext cx="946404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938528" y="322783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容器化与环境编排</a:t>
            </a:r>
            <a:endParaRPr lang="en-US" sz="1380" dirty="0"/>
          </a:p>
        </p:txBody>
      </p:sp>
      <p:sp>
        <p:nvSpPr>
          <p:cNvPr id="26" name="Text 24"/>
          <p:cNvSpPr/>
          <p:nvPr/>
        </p:nvSpPr>
        <p:spPr>
          <a:xfrm>
            <a:off x="3977640" y="3227832"/>
            <a:ext cx="6812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提供 Dockerfile、compose 或脚本拉起 MySQL/Redis/Nacos/浏览器截图依赖。</a:t>
            </a:r>
            <a:endParaRPr lang="en-US" sz="1240" dirty="0"/>
          </a:p>
        </p:txBody>
      </p:sp>
      <p:sp>
        <p:nvSpPr>
          <p:cNvPr id="27" name="Shape 25"/>
          <p:cNvSpPr/>
          <p:nvPr/>
        </p:nvSpPr>
        <p:spPr>
          <a:xfrm>
            <a:off x="914400" y="3977640"/>
            <a:ext cx="512064" cy="512064"/>
          </a:xfrm>
          <a:prstGeom prst="ellipse">
            <a:avLst/>
          </a:prstGeom>
          <a:solidFill>
            <a:srgbClr val="02C39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914400" y="4123944"/>
            <a:ext cx="5120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664208" y="3931920"/>
            <a:ext cx="946404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1938528" y="405079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打通监控指标</a:t>
            </a:r>
            <a:endParaRPr lang="en-US" sz="1380" dirty="0"/>
          </a:p>
        </p:txBody>
      </p:sp>
      <p:sp>
        <p:nvSpPr>
          <p:cNvPr id="31" name="Text 29"/>
          <p:cNvSpPr/>
          <p:nvPr/>
        </p:nvSpPr>
        <p:spPr>
          <a:xfrm>
            <a:off x="3977640" y="4050792"/>
            <a:ext cx="6812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将 AI 调用、生成成功率、部署耗时、截图失败率纳入 Prometheus/Grafana。</a:t>
            </a:r>
            <a:endParaRPr lang="en-US" sz="1240" dirty="0"/>
          </a:p>
        </p:txBody>
      </p:sp>
      <p:sp>
        <p:nvSpPr>
          <p:cNvPr id="32" name="Shape 30"/>
          <p:cNvSpPr/>
          <p:nvPr/>
        </p:nvSpPr>
        <p:spPr>
          <a:xfrm>
            <a:off x="914400" y="4800600"/>
            <a:ext cx="512064" cy="512064"/>
          </a:xfrm>
          <a:prstGeom prst="ellipse">
            <a:avLst/>
          </a:prstGeom>
          <a:solidFill>
            <a:srgbClr val="D48806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914400" y="4946904"/>
            <a:ext cx="5120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664208" y="4754880"/>
            <a:ext cx="946404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1938528" y="487375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明确工作流路线</a:t>
            </a:r>
            <a:endParaRPr lang="en-US" sz="1380" dirty="0"/>
          </a:p>
        </p:txBody>
      </p:sp>
      <p:sp>
        <p:nvSpPr>
          <p:cNvPr id="36" name="Text 34"/>
          <p:cNvSpPr/>
          <p:nvPr/>
        </p:nvSpPr>
        <p:spPr>
          <a:xfrm>
            <a:off x="3977640" y="4873752"/>
            <a:ext cx="6812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将 LangGraph 接入主生成链路，或标注为实验模块并降低主链路耦合。</a:t>
            </a:r>
            <a:endParaRPr lang="en-US" sz="1240" dirty="0"/>
          </a:p>
        </p:txBody>
      </p:sp>
      <p:sp>
        <p:nvSpPr>
          <p:cNvPr id="37" name="Shape 35"/>
          <p:cNvSpPr/>
          <p:nvPr/>
        </p:nvSpPr>
        <p:spPr>
          <a:xfrm>
            <a:off x="1161288" y="2020824"/>
            <a:ext cx="36576" cy="3246120"/>
          </a:xfrm>
          <a:prstGeom prst="rect">
            <a:avLst/>
          </a:prstGeom>
          <a:solidFill>
            <a:srgbClr val="CDEDEA"/>
          </a:solidFill>
          <a:ln w="12700">
            <a:solidFill>
              <a:srgbClr val="CDEDEA">
                <a:alpha val="0"/>
              </a:srgbClr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6032"/>
            <a:ext cx="12191695" cy="731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083040" y="0"/>
            <a:ext cx="3108960" cy="3108960"/>
          </a:xfrm>
          <a:prstGeom prst="arc">
            <a:avLst/>
          </a:prstGeom>
          <a:solidFill>
            <a:srgbClr val="E1F7F3">
              <a:alpha val="90000"/>
            </a:srgbClr>
          </a:solidFill>
          <a:ln w="12700">
            <a:solidFill>
              <a:srgbClr val="E1F7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02920" y="6428232"/>
            <a:ext cx="11201400" cy="9144"/>
          </a:xfrm>
          <a:prstGeom prst="rect">
            <a:avLst/>
          </a:prstGeom>
          <a:solidFill>
            <a:srgbClr val="CDEDEA"/>
          </a:solidFill>
          <a:ln w="12700">
            <a:solidFill>
              <a:srgbClr val="CDEDE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每日项目状态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55680" y="647395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566928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30936" y="690372"/>
            <a:ext cx="2834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</a:t>
            </a:r>
            <a:endParaRPr lang="en-US" sz="550" dirty="0"/>
          </a:p>
        </p:txBody>
      </p:sp>
      <p:sp>
        <p:nvSpPr>
          <p:cNvPr id="10" name="Text 8"/>
          <p:cNvSpPr/>
          <p:nvPr/>
        </p:nvSpPr>
        <p:spPr>
          <a:xfrm>
            <a:off x="1069848" y="4846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12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总结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097280" y="103327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项目已具备完整教学与演示价值，下一阶段重点是工程化稳定交付。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68680" y="1554480"/>
            <a:ext cx="10469880" cy="29718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DEDE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2194560" y="1874520"/>
            <a:ext cx="685800" cy="6858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2194560" y="207568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保持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43000" y="2788920"/>
            <a:ext cx="278892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生成、可视化编辑、部署分享、后台管理四大核心能力已形成闭环。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23560" y="1874520"/>
            <a:ext cx="685800" cy="685800"/>
          </a:xfrm>
          <a:prstGeom prst="ellipse">
            <a:avLst/>
          </a:prstGeom>
          <a:solidFill>
            <a:srgbClr val="D48806"/>
          </a:solidFill>
          <a:ln w="12700">
            <a:solidFill>
              <a:srgbClr val="D48806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623560" y="207568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补齐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0" y="2788920"/>
            <a:ext cx="278892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CI、容器化、微服务入口、稳定测试替身与生产配置管理仍需完善。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052560" y="1874520"/>
            <a:ext cx="685800" cy="6858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052560" y="207568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推进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001000" y="2788920"/>
            <a:ext cx="278892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以单体稳定能力为基线，逐步拉齐微服务、监控与 LangGraph 主链路。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143000" y="4983480"/>
            <a:ext cx="9921240" cy="621792"/>
          </a:xfrm>
          <a:prstGeom prst="roundRect">
            <a:avLst>
              <a:gd name="adj" fmla="val 11765"/>
            </a:avLst>
          </a:prstGeom>
          <a:solidFill>
            <a:srgbClr val="E7F8F5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417320" y="5193792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本次交付文件：docs/reports/project-status-2026-07-11.pptx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yu-ai-code-mother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每日项目状态汇报 2026-07-11</dc:title>
  <dc:subject>项目维护者/团队</dc:subject>
  <dc:creator>Cursor Automation</dc:creator>
  <cp:lastModifiedBy>Cursor Automation</cp:lastModifiedBy>
  <cp:revision>1</cp:revision>
  <dcterms:created xsi:type="dcterms:W3CDTF">2026-07-11T09:06:02Z</dcterms:created>
  <dcterms:modified xsi:type="dcterms:W3CDTF">2026-07-11T09:06:02Z</dcterms:modified>
</cp:coreProperties>
</file>