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3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43"/>
          </a:solidFill>
          <a:ln w="12700">
            <a:solidFill>
              <a:srgbClr val="063B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-1371600"/>
            <a:ext cx="4937760" cy="4937760"/>
          </a:xfrm>
          <a:prstGeom prst="ellipse">
            <a:avLst/>
          </a:prstGeom>
          <a:solidFill>
            <a:srgbClr val="028090">
              <a:alpha val="92000"/>
            </a:srgbClr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35440" y="3291840"/>
            <a:ext cx="3291840" cy="3291840"/>
          </a:xfrm>
          <a:prstGeom prst="ellipse">
            <a:avLst/>
          </a:prstGeom>
          <a:solidFill>
            <a:srgbClr val="02C39A">
              <a:alpha val="82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080760"/>
            <a:ext cx="12191695" cy="777240"/>
          </a:xfrm>
          <a:prstGeom prst="rect">
            <a:avLst/>
          </a:prstGeom>
          <a:solidFill>
            <a:srgbClr val="032B32"/>
          </a:solidFill>
          <a:ln w="12700">
            <a:solidFill>
              <a:srgbClr val="032B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9418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零代码应用生成平台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76656" y="1417320"/>
            <a:ext cx="7406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每日项目状态汇报</a:t>
            </a:r>
            <a:endParaRPr lang="en-US" sz="4500" dirty="0"/>
          </a:p>
        </p:txBody>
      </p:sp>
      <p:sp>
        <p:nvSpPr>
          <p:cNvPr id="8" name="Text 6"/>
          <p:cNvSpPr/>
          <p:nvPr/>
        </p:nvSpPr>
        <p:spPr>
          <a:xfrm>
            <a:off x="713232" y="222199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13232" y="2880360"/>
            <a:ext cx="3749040" cy="621792"/>
          </a:xfrm>
          <a:prstGeom prst="round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2C39A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3072384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报告日期（北京时间）  2026-06-17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31520" y="3950208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D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分析范围：README、主要模块目录、近 7 天 git 提交、测试/CI 配置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699248" y="1097280"/>
            <a:ext cx="3520440" cy="3977640"/>
          </a:xfrm>
          <a:prstGeom prst="round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2C39A">
                <a:alpha val="6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58200" y="1581912"/>
            <a:ext cx="2011680" cy="2011680"/>
          </a:xfrm>
          <a:prstGeom prst="ellipse">
            <a:avLst/>
          </a:prstGeom>
          <a:solidFill>
            <a:srgbClr val="00A896">
              <a:alpha val="95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88552" y="2112264"/>
            <a:ext cx="960120" cy="960120"/>
          </a:xfrm>
          <a:prstGeom prst="ellipse">
            <a:avLst/>
          </a:prstGeom>
          <a:solidFill>
            <a:srgbClr val="063B43"/>
          </a:solidFill>
          <a:ln w="12700">
            <a:solidFill>
              <a:srgbClr val="063B4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33688" y="2395728"/>
            <a:ext cx="10789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183880" y="3886200"/>
            <a:ext cx="256032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19872" y="4187952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dirty="0">
                <a:solidFill>
                  <a:srgbClr val="E9F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 -&gt; 预览 -&gt; 部署 -&gt; 管理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713232" y="63093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面向项目维护者 / 团队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AF7"/>
          </a:solidFill>
          <a:ln w="12700">
            <a:solidFill>
              <a:srgbClr val="EFFA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0" y="-502920"/>
            <a:ext cx="1737360" cy="1737360"/>
          </a:xfrm>
          <a:prstGeom prst="ellipse">
            <a:avLst/>
          </a:prstGeom>
          <a:solidFill>
            <a:srgbClr val="DDF4EF"/>
          </a:solidFill>
          <a:ln w="12700">
            <a:solidFill>
              <a:srgbClr val="DDF4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3840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66928" y="62179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2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项目概览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732520" y="6382512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F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2026-06-17  |  yu-ai-code-mother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1686032" y="6327648"/>
            <a:ext cx="256032" cy="25603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686032" y="6368796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566928" y="1417320"/>
            <a:ext cx="470916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DED8">
                <a:alpha val="8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1719072"/>
            <a:ext cx="1051560" cy="256032"/>
          </a:xfrm>
          <a:prstGeom prst="round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1778508"/>
            <a:ext cx="10515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定位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68680" y="2084832"/>
            <a:ext cx="3968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企业级 AI 代码生成与应用发布平台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868680" y="2788920"/>
            <a:ext cx="3886200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F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 Spring Boot 3 + LangChain4j + Vue 3，覆盖从自然语言需求到网站应用生成、预览、部署、管理的闭环。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96112" y="3749040"/>
            <a:ext cx="182880" cy="1828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07008" y="3712464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主后端：Java 21 / Spring Boot / MyBatis-Flex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896112" y="4178808"/>
            <a:ext cx="182880" cy="1828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07008" y="414223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前端：Vue 3 / TypeScript / Vite / Ant Design Vue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896112" y="4608576"/>
            <a:ext cx="182880" cy="1828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07008" y="457200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微服务拆分：Spring Cloud Alibaba / Dubbo / Nacos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896112" y="5038344"/>
            <a:ext cx="182880" cy="1828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07008" y="500176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基础设施：Redis、COS、Prometheus、Selenium 截图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5623560" y="1417320"/>
            <a:ext cx="1444752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DED8">
                <a:alpha val="8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01384" y="1581912"/>
            <a:ext cx="329184" cy="3291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24728" y="1618488"/>
            <a:ext cx="941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5843016" y="2258568"/>
            <a:ext cx="1033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核心能力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843016" y="2532888"/>
            <a:ext cx="1033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生成、编辑、部署、管理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296912" y="1417320"/>
            <a:ext cx="1444752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DED8">
                <a:alpha val="8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74736" y="1581912"/>
            <a:ext cx="329184" cy="32918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0" y="1618488"/>
            <a:ext cx="941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400" dirty="0"/>
          </a:p>
        </p:txBody>
      </p:sp>
      <p:sp>
        <p:nvSpPr>
          <p:cNvPr id="31" name="Text 29"/>
          <p:cNvSpPr/>
          <p:nvPr/>
        </p:nvSpPr>
        <p:spPr>
          <a:xfrm>
            <a:off x="7516368" y="2258568"/>
            <a:ext cx="1033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微服务模块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7516368" y="2532888"/>
            <a:ext cx="1033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common/model/client/user/app/ai/screenshot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970264" y="1417320"/>
            <a:ext cx="1444752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DED8">
                <a:alpha val="8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848088" y="1581912"/>
            <a:ext cx="329184" cy="32918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71432" y="1618488"/>
            <a:ext cx="941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3400" dirty="0"/>
          </a:p>
        </p:txBody>
      </p:sp>
      <p:sp>
        <p:nvSpPr>
          <p:cNvPr id="36" name="Text 34"/>
          <p:cNvSpPr/>
          <p:nvPr/>
        </p:nvSpPr>
        <p:spPr>
          <a:xfrm>
            <a:off x="9189720" y="2258568"/>
            <a:ext cx="1033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前端页面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9189720" y="2532888"/>
            <a:ext cx="1033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首页、生成、编辑、后台等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0643616" y="1417320"/>
            <a:ext cx="1078992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DED8">
                <a:alpha val="8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155680" y="1581912"/>
            <a:ext cx="329184" cy="3291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844784" y="1618488"/>
            <a:ext cx="576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400" dirty="0"/>
          </a:p>
        </p:txBody>
      </p:sp>
      <p:sp>
        <p:nvSpPr>
          <p:cNvPr id="41" name="Text 39"/>
          <p:cNvSpPr/>
          <p:nvPr/>
        </p:nvSpPr>
        <p:spPr>
          <a:xfrm>
            <a:off x="10863072" y="2258568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主接口层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10863072" y="2532888"/>
            <a:ext cx="667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文件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623560" y="3383280"/>
            <a:ext cx="6108192" cy="2340864"/>
          </a:xfrm>
          <a:prstGeom prst="roundRect">
            <a:avLst/>
          </a:prstGeom>
          <a:solidFill>
            <a:srgbClr val="DDF4EF"/>
          </a:solidFill>
          <a:ln w="12700">
            <a:solidFill>
              <a:srgbClr val="B8DED8">
                <a:alpha val="8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61888" y="36758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状态判断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961888" y="4096512"/>
            <a:ext cx="5074920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主链路能力完整，架构与演示价值突出；当前近期提交以报告文档为主，业务代码无明显新增。项目后续重点应放在自动化验证、配置治理与线上可观测闭环。</a:t>
            </a:r>
            <a:endParaRPr lang="en-US" sz="1520" dirty="0"/>
          </a:p>
        </p:txBody>
      </p:sp>
      <p:sp>
        <p:nvSpPr>
          <p:cNvPr id="46" name="Shape 44"/>
          <p:cNvSpPr/>
          <p:nvPr/>
        </p:nvSpPr>
        <p:spPr>
          <a:xfrm>
            <a:off x="10881360" y="3840480"/>
            <a:ext cx="566928" cy="5669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881360" y="405079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9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AF7"/>
          </a:solidFill>
          <a:ln w="12700">
            <a:solidFill>
              <a:srgbClr val="EFFA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0" y="-502920"/>
            <a:ext cx="1737360" cy="1737360"/>
          </a:xfrm>
          <a:prstGeom prst="ellipse">
            <a:avLst/>
          </a:prstGeom>
          <a:solidFill>
            <a:srgbClr val="DDF4EF"/>
          </a:solidFill>
          <a:ln w="12700">
            <a:solidFill>
              <a:srgbClr val="DDF4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3840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66928" y="62179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2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核心能力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732520" y="6382512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F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2026-06-17  |  yu-ai-code-mother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1686032" y="6327648"/>
            <a:ext cx="256032" cy="25603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686032" y="6368796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566928" y="1417320"/>
            <a:ext cx="5349240" cy="1078992"/>
          </a:xfrm>
          <a:prstGeom prst="roundRect">
            <a:avLst>
              <a:gd name="adj" fmla="val 6780"/>
            </a:avLst>
          </a:prstGeom>
          <a:solidFill>
            <a:srgbClr val="F7FCFB"/>
          </a:solidFill>
          <a:ln w="12700">
            <a:solidFill>
              <a:srgbClr val="B8DED8">
                <a:alpha val="8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1417320"/>
            <a:ext cx="91440" cy="10789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1618488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170078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252728" y="158191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智能代码生成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52728" y="1947672"/>
            <a:ext cx="44805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F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用户输入需求后，AI 自动分析生成类型，通过工具调用产出代码文件，并以 SSE/流式方式展示执行过程。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6263640" y="1417320"/>
            <a:ext cx="5349240" cy="1078992"/>
          </a:xfrm>
          <a:prstGeom prst="roundRect">
            <a:avLst>
              <a:gd name="adj" fmla="val 6780"/>
            </a:avLst>
          </a:prstGeom>
          <a:solidFill>
            <a:srgbClr val="F7FCFB"/>
          </a:solidFill>
          <a:ln w="12700">
            <a:solidFill>
              <a:srgbClr val="B8DED8">
                <a:alpha val="8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1417320"/>
            <a:ext cx="91440" cy="10789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64808" y="1618488"/>
            <a:ext cx="384048" cy="38404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64808" y="170078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949440" y="158191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可视化编辑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949440" y="1947672"/>
            <a:ext cx="44805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F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生成应用可实时预览，进入编辑模式后选择页面元素，并通过 AI 对话进行迭代修改。</a:t>
            </a:r>
            <a:endParaRPr lang="en-US" sz="1320" dirty="0"/>
          </a:p>
        </p:txBody>
      </p:sp>
      <p:sp>
        <p:nvSpPr>
          <p:cNvPr id="22" name="Shape 20"/>
          <p:cNvSpPr/>
          <p:nvPr/>
        </p:nvSpPr>
        <p:spPr>
          <a:xfrm>
            <a:off x="566928" y="2816352"/>
            <a:ext cx="5349240" cy="1078992"/>
          </a:xfrm>
          <a:prstGeom prst="roundRect">
            <a:avLst>
              <a:gd name="adj" fmla="val 6780"/>
            </a:avLst>
          </a:prstGeom>
          <a:solidFill>
            <a:srgbClr val="F7FCFB"/>
          </a:solidFill>
          <a:ln w="12700">
            <a:solidFill>
              <a:srgbClr val="B8DED8">
                <a:alpha val="8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" y="2816352"/>
            <a:ext cx="91440" cy="10789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8096" y="3017520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8096" y="309981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252728" y="298094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一键部署与分享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252728" y="3346704"/>
            <a:ext cx="44805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F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支持应用部署、封面截图、静态资源访问与完整源码下载，形成从生成到交付的闭环。</a:t>
            </a:r>
            <a:endParaRPr lang="en-US" sz="1320" dirty="0"/>
          </a:p>
        </p:txBody>
      </p:sp>
      <p:sp>
        <p:nvSpPr>
          <p:cNvPr id="28" name="Shape 26"/>
          <p:cNvSpPr/>
          <p:nvPr/>
        </p:nvSpPr>
        <p:spPr>
          <a:xfrm>
            <a:off x="6263640" y="2816352"/>
            <a:ext cx="5349240" cy="1078992"/>
          </a:xfrm>
          <a:prstGeom prst="roundRect">
            <a:avLst>
              <a:gd name="adj" fmla="val 6780"/>
            </a:avLst>
          </a:prstGeom>
          <a:solidFill>
            <a:srgbClr val="F7FCFB"/>
          </a:solidFill>
          <a:ln w="12700">
            <a:solidFill>
              <a:srgbClr val="B8DED8">
                <a:alpha val="8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63640" y="2816352"/>
            <a:ext cx="91440" cy="10789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64808" y="3017520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64808" y="309981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949440" y="298094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企业级管理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6949440" y="3346704"/>
            <a:ext cx="44805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F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覆盖用户、应用、对话历史、精选应用、管理员操作、限流、监控与业务指标基础。</a:t>
            </a:r>
            <a:endParaRPr lang="en-US" sz="1320" dirty="0"/>
          </a:p>
        </p:txBody>
      </p:sp>
      <p:sp>
        <p:nvSpPr>
          <p:cNvPr id="34" name="Shape 32"/>
          <p:cNvSpPr/>
          <p:nvPr/>
        </p:nvSpPr>
        <p:spPr>
          <a:xfrm>
            <a:off x="566928" y="4617720"/>
            <a:ext cx="11045952" cy="1078992"/>
          </a:xfrm>
          <a:prstGeom prst="roundRect">
            <a:avLst/>
          </a:prstGeom>
          <a:solidFill>
            <a:srgbClr val="063B43"/>
          </a:solidFill>
          <a:ln w="12700">
            <a:solidFill>
              <a:srgbClr val="063B4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6112" y="498348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能力闭环</a:t>
            </a:r>
            <a:endParaRPr lang="en-US" sz="1450" dirty="0"/>
          </a:p>
        </p:txBody>
      </p:sp>
      <p:sp>
        <p:nvSpPr>
          <p:cNvPr id="36" name="Shape 34"/>
          <p:cNvSpPr/>
          <p:nvPr/>
        </p:nvSpPr>
        <p:spPr>
          <a:xfrm>
            <a:off x="2148840" y="4873752"/>
            <a:ext cx="438912" cy="43891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48840" y="5029200"/>
            <a:ext cx="4389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874520" y="539496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需求输入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2651760" y="5093208"/>
            <a:ext cx="932688" cy="0"/>
          </a:xfrm>
          <a:prstGeom prst="line">
            <a:avLst/>
          </a:prstGeom>
          <a:noFill/>
          <a:ln w="25400">
            <a:solidFill>
              <a:srgbClr val="9EE8DA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3813048" y="4873752"/>
            <a:ext cx="438912" cy="43891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13048" y="5029200"/>
            <a:ext cx="4389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538728" y="539496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工作流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4315968" y="5093208"/>
            <a:ext cx="932688" cy="0"/>
          </a:xfrm>
          <a:prstGeom prst="line">
            <a:avLst/>
          </a:prstGeom>
          <a:noFill/>
          <a:ln w="25400">
            <a:solidFill>
              <a:srgbClr val="9EE8DA"/>
            </a:solidFill>
            <a:prstDash val="solid"/>
            <a:headEnd type="none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5477256" y="4873752"/>
            <a:ext cx="438912" cy="43891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77256" y="5029200"/>
            <a:ext cx="4389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202936" y="539496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代码产物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5980176" y="5093208"/>
            <a:ext cx="932688" cy="0"/>
          </a:xfrm>
          <a:prstGeom prst="line">
            <a:avLst/>
          </a:prstGeom>
          <a:noFill/>
          <a:ln w="25400">
            <a:solidFill>
              <a:srgbClr val="9EE8DA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7141464" y="4873752"/>
            <a:ext cx="438912" cy="43891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141464" y="5029200"/>
            <a:ext cx="4389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867144" y="539496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预览编辑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7644384" y="5093208"/>
            <a:ext cx="932688" cy="0"/>
          </a:xfrm>
          <a:prstGeom prst="line">
            <a:avLst/>
          </a:prstGeom>
          <a:noFill/>
          <a:ln w="25400">
            <a:solidFill>
              <a:srgbClr val="9EE8DA"/>
            </a:solidFill>
            <a:prstDash val="solid"/>
            <a:headEnd type="none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8805672" y="4873752"/>
            <a:ext cx="438912" cy="43891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805672" y="5029200"/>
            <a:ext cx="4389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8531352" y="539496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部署分享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AF7"/>
          </a:solidFill>
          <a:ln w="12700">
            <a:solidFill>
              <a:srgbClr val="EFFA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0" y="-502920"/>
            <a:ext cx="1737360" cy="1737360"/>
          </a:xfrm>
          <a:prstGeom prst="ellipse">
            <a:avLst/>
          </a:prstGeom>
          <a:solidFill>
            <a:srgbClr val="DDF4EF"/>
          </a:solidFill>
          <a:ln w="12700">
            <a:solidFill>
              <a:srgbClr val="DDF4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3840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MAP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66928" y="62179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2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模块与架构视图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732520" y="6382512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F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2026-06-17  |  yu-ai-code-mother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1686032" y="6327648"/>
            <a:ext cx="256032" cy="25603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686032" y="6368796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566928" y="1417320"/>
            <a:ext cx="3182112" cy="4279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DED8">
                <a:alpha val="8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1417320"/>
            <a:ext cx="3182112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62763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单体后端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59536" y="2359152"/>
            <a:ext cx="2615184" cy="384048"/>
          </a:xfrm>
          <a:prstGeom prst="roundRect">
            <a:avLst/>
          </a:prstGeom>
          <a:solidFill>
            <a:srgbClr val="DDF4EF"/>
          </a:solidFill>
          <a:ln w="12700">
            <a:solidFill>
              <a:srgbClr val="DDF4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482596"/>
            <a:ext cx="22860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/ service / mapper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859536" y="3026664"/>
            <a:ext cx="2615184" cy="384048"/>
          </a:xfrm>
          <a:prstGeom prst="roundRect">
            <a:avLst/>
          </a:prstGeom>
          <a:solidFill>
            <a:srgbClr val="DDF4EF"/>
          </a:solidFill>
          <a:ln w="12700">
            <a:solidFill>
              <a:srgbClr val="DDF4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3150108"/>
            <a:ext cx="22860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core / langgraph4j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859536" y="3694176"/>
            <a:ext cx="2615184" cy="384048"/>
          </a:xfrm>
          <a:prstGeom prst="roundRect">
            <a:avLst/>
          </a:prstGeom>
          <a:solidFill>
            <a:srgbClr val="DDF4EF"/>
          </a:solidFill>
          <a:ln w="12700">
            <a:solidFill>
              <a:srgbClr val="DDF4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817620"/>
            <a:ext cx="22860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/ monitor / ratelimiter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859536" y="4361688"/>
            <a:ext cx="2615184" cy="384048"/>
          </a:xfrm>
          <a:prstGeom prst="roundRect">
            <a:avLst/>
          </a:prstGeom>
          <a:solidFill>
            <a:srgbClr val="DDF4EF"/>
          </a:solidFill>
          <a:ln w="12700">
            <a:solidFill>
              <a:srgbClr val="DDF4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4485132"/>
            <a:ext cx="22860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application.yml 与 prod sample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4279392" y="1417320"/>
            <a:ext cx="3182112" cy="4279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DED8">
                <a:alpha val="8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79392" y="1417320"/>
            <a:ext cx="3182112" cy="5943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35424" y="162763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前端应用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4572000" y="2359152"/>
            <a:ext cx="2615184" cy="384048"/>
          </a:xfrm>
          <a:prstGeom prst="roundRect">
            <a:avLst/>
          </a:prstGeom>
          <a:solidFill>
            <a:srgbClr val="DDF4EF"/>
          </a:solidFill>
          <a:ln w="12700">
            <a:solidFill>
              <a:srgbClr val="DDF4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18304" y="2482596"/>
            <a:ext cx="22860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pages：首页/对话/编辑/后台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4572000" y="3026664"/>
            <a:ext cx="2615184" cy="384048"/>
          </a:xfrm>
          <a:prstGeom prst="roundRect">
            <a:avLst/>
          </a:prstGeom>
          <a:solidFill>
            <a:srgbClr val="DDF4EF"/>
          </a:solidFill>
          <a:ln w="12700">
            <a:solidFill>
              <a:srgbClr val="DDF4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18304" y="3150108"/>
            <a:ext cx="22860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api：用户与应用接口定义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4572000" y="3694176"/>
            <a:ext cx="2615184" cy="384048"/>
          </a:xfrm>
          <a:prstGeom prst="roundRect">
            <a:avLst/>
          </a:prstGeom>
          <a:solidFill>
            <a:srgbClr val="DDF4EF"/>
          </a:solidFill>
          <a:ln w="12700">
            <a:solidFill>
              <a:srgbClr val="DDF4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18304" y="3817620"/>
            <a:ext cx="22860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/ router / layouts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4572000" y="4361688"/>
            <a:ext cx="2615184" cy="384048"/>
          </a:xfrm>
          <a:prstGeom prst="roundRect">
            <a:avLst/>
          </a:prstGeom>
          <a:solidFill>
            <a:srgbClr val="DDF4EF"/>
          </a:solidFill>
          <a:ln w="12700">
            <a:solidFill>
              <a:srgbClr val="DDF4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18304" y="4485132"/>
            <a:ext cx="22860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+ TypeScript + Ant Design Vue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7991856" y="1417320"/>
            <a:ext cx="3182112" cy="4279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DED8">
                <a:alpha val="8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991856" y="1417320"/>
            <a:ext cx="3182112" cy="594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47888" y="162763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微服务版本</a:t>
            </a:r>
            <a:endParaRPr lang="en-US" sz="1550" dirty="0"/>
          </a:p>
        </p:txBody>
      </p:sp>
      <p:sp>
        <p:nvSpPr>
          <p:cNvPr id="35" name="Shape 33"/>
          <p:cNvSpPr/>
          <p:nvPr/>
        </p:nvSpPr>
        <p:spPr>
          <a:xfrm>
            <a:off x="8284464" y="2359152"/>
            <a:ext cx="2615184" cy="384048"/>
          </a:xfrm>
          <a:prstGeom prst="roundRect">
            <a:avLst/>
          </a:prstGeom>
          <a:solidFill>
            <a:srgbClr val="DDF4EF"/>
          </a:solidFill>
          <a:ln w="12700">
            <a:solidFill>
              <a:srgbClr val="DDF4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30768" y="2482596"/>
            <a:ext cx="22860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yu-ai-code-common / model / client</a:t>
            </a:r>
            <a:endParaRPr lang="en-US" sz="1080" dirty="0"/>
          </a:p>
        </p:txBody>
      </p:sp>
      <p:sp>
        <p:nvSpPr>
          <p:cNvPr id="37" name="Shape 35"/>
          <p:cNvSpPr/>
          <p:nvPr/>
        </p:nvSpPr>
        <p:spPr>
          <a:xfrm>
            <a:off x="8284464" y="3026664"/>
            <a:ext cx="2615184" cy="384048"/>
          </a:xfrm>
          <a:prstGeom prst="roundRect">
            <a:avLst/>
          </a:prstGeom>
          <a:solidFill>
            <a:srgbClr val="DDF4EF"/>
          </a:solidFill>
          <a:ln w="12700">
            <a:solidFill>
              <a:srgbClr val="DDF4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30768" y="3150108"/>
            <a:ext cx="22860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yu-ai-code-user / app / ai</a:t>
            </a:r>
            <a:endParaRPr lang="en-US" sz="1080" dirty="0"/>
          </a:p>
        </p:txBody>
      </p:sp>
      <p:sp>
        <p:nvSpPr>
          <p:cNvPr id="39" name="Shape 37"/>
          <p:cNvSpPr/>
          <p:nvPr/>
        </p:nvSpPr>
        <p:spPr>
          <a:xfrm>
            <a:off x="8284464" y="3694176"/>
            <a:ext cx="2615184" cy="384048"/>
          </a:xfrm>
          <a:prstGeom prst="roundRect">
            <a:avLst/>
          </a:prstGeom>
          <a:solidFill>
            <a:srgbClr val="DDF4EF"/>
          </a:solidFill>
          <a:ln w="12700">
            <a:solidFill>
              <a:srgbClr val="DDF4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30768" y="3817620"/>
            <a:ext cx="22860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yu-ai-code-screenshot</a:t>
            </a:r>
            <a:endParaRPr lang="en-US" sz="1080" dirty="0"/>
          </a:p>
        </p:txBody>
      </p:sp>
      <p:sp>
        <p:nvSpPr>
          <p:cNvPr id="41" name="Shape 39"/>
          <p:cNvSpPr/>
          <p:nvPr/>
        </p:nvSpPr>
        <p:spPr>
          <a:xfrm>
            <a:off x="8284464" y="4361688"/>
            <a:ext cx="2615184" cy="384048"/>
          </a:xfrm>
          <a:prstGeom prst="roundRect">
            <a:avLst/>
          </a:prstGeom>
          <a:solidFill>
            <a:srgbClr val="DDF4EF"/>
          </a:solidFill>
          <a:ln w="12700">
            <a:solidFill>
              <a:srgbClr val="DDF4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30768" y="4485132"/>
            <a:ext cx="22860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Cloud Alibaba + Dubbo</a:t>
            </a:r>
            <a:endParaRPr lang="en-US" sz="1080" dirty="0"/>
          </a:p>
        </p:txBody>
      </p:sp>
      <p:sp>
        <p:nvSpPr>
          <p:cNvPr id="43" name="Shape 41"/>
          <p:cNvSpPr/>
          <p:nvPr/>
        </p:nvSpPr>
        <p:spPr>
          <a:xfrm>
            <a:off x="3767328" y="3566160"/>
            <a:ext cx="41148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7479792" y="3566160"/>
            <a:ext cx="41148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45" name="Text 43"/>
          <p:cNvSpPr/>
          <p:nvPr/>
        </p:nvSpPr>
        <p:spPr>
          <a:xfrm>
            <a:off x="932688" y="5989320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0" dirty="0">
                <a:solidFill>
                  <a:srgbClr val="5F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主线：单体后端仍承担核心业务；前端负责用户工作台与管理台；微服务目录体现拆分与演进方向。</a:t>
            </a:r>
            <a:endParaRPr lang="en-US" sz="13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AF7"/>
          </a:solidFill>
          <a:ln w="12700">
            <a:solidFill>
              <a:srgbClr val="EFFA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0" y="-502920"/>
            <a:ext cx="1737360" cy="1737360"/>
          </a:xfrm>
          <a:prstGeom prst="ellipse">
            <a:avLst/>
          </a:prstGeom>
          <a:solidFill>
            <a:srgbClr val="DDF4EF"/>
          </a:solidFill>
          <a:ln w="12700">
            <a:solidFill>
              <a:srgbClr val="DDF4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3840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CHANGES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66928" y="62179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2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昨日 / 近期变更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732520" y="6382512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F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2026-06-17  |  yu-ai-code-mother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1686032" y="6327648"/>
            <a:ext cx="256032" cy="25603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686032" y="6368796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566928" y="1389888"/>
            <a:ext cx="2971800" cy="4553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DED8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173736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天提交观察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59536" y="2240280"/>
            <a:ext cx="208483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DED8">
                <a:alpha val="8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77440" y="2404872"/>
            <a:ext cx="329184" cy="3291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2441448"/>
            <a:ext cx="1581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1078992" y="3081528"/>
            <a:ext cx="1673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报告/文档提交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078992" y="3355848"/>
            <a:ext cx="1673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6/10 至 6/15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59536" y="3822192"/>
            <a:ext cx="208483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DED8">
                <a:alpha val="8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0" y="3986784"/>
            <a:ext cx="329184" cy="329184"/>
          </a:xfrm>
          <a:prstGeom prst="ellipse">
            <a:avLst/>
          </a:prstGeom>
          <a:solidFill>
            <a:srgbClr val="E59F2A"/>
          </a:solidFill>
          <a:ln w="12700">
            <a:solidFill>
              <a:srgbClr val="E59F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60704" y="4023360"/>
            <a:ext cx="1581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E59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1078992" y="4663440"/>
            <a:ext cx="1673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业务代码提交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078992" y="4937760"/>
            <a:ext cx="1673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从提交标题观察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950208" y="1417320"/>
            <a:ext cx="7662672" cy="4526280"/>
          </a:xfrm>
          <a:prstGeom prst="roundRect">
            <a:avLst/>
          </a:prstGeom>
          <a:solidFill>
            <a:srgbClr val="DDF4EF"/>
          </a:solidFill>
          <a:ln w="12700">
            <a:solidFill>
              <a:srgbClr val="B8DED8">
                <a:alpha val="7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43400" y="1828800"/>
            <a:ext cx="256032" cy="25603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71416" y="2084832"/>
            <a:ext cx="0" cy="347472"/>
          </a:xfrm>
          <a:prstGeom prst="line">
            <a:avLst/>
          </a:prstGeom>
          <a:noFill/>
          <a:ln w="15240">
            <a:solidFill>
              <a:srgbClr val="B8DE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3168" y="1847088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06-10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5623560" y="1828800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7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新增并修复日报版式</a:t>
            </a:r>
            <a:endParaRPr lang="en-US" sz="1370" dirty="0"/>
          </a:p>
        </p:txBody>
      </p:sp>
      <p:sp>
        <p:nvSpPr>
          <p:cNvPr id="27" name="Shape 25"/>
          <p:cNvSpPr/>
          <p:nvPr/>
        </p:nvSpPr>
        <p:spPr>
          <a:xfrm>
            <a:off x="4343400" y="2432304"/>
            <a:ext cx="256032" cy="25603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71416" y="2688336"/>
            <a:ext cx="0" cy="347472"/>
          </a:xfrm>
          <a:prstGeom prst="line">
            <a:avLst/>
          </a:prstGeom>
          <a:noFill/>
          <a:ln w="15240">
            <a:solidFill>
              <a:srgbClr val="B8DE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73168" y="2450592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06-11</a:t>
            </a:r>
            <a:endParaRPr lang="en-US" sz="1220" dirty="0"/>
          </a:p>
        </p:txBody>
      </p:sp>
      <p:sp>
        <p:nvSpPr>
          <p:cNvPr id="30" name="Text 28"/>
          <p:cNvSpPr/>
          <p:nvPr/>
        </p:nvSpPr>
        <p:spPr>
          <a:xfrm>
            <a:off x="5623560" y="2432304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7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新增每日项目状态报告</a:t>
            </a:r>
            <a:endParaRPr lang="en-US" sz="1370" dirty="0"/>
          </a:p>
        </p:txBody>
      </p:sp>
      <p:sp>
        <p:nvSpPr>
          <p:cNvPr id="31" name="Shape 29"/>
          <p:cNvSpPr/>
          <p:nvPr/>
        </p:nvSpPr>
        <p:spPr>
          <a:xfrm>
            <a:off x="4343400" y="3035808"/>
            <a:ext cx="256032" cy="25603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471416" y="3291840"/>
            <a:ext cx="0" cy="347472"/>
          </a:xfrm>
          <a:prstGeom prst="line">
            <a:avLst/>
          </a:prstGeom>
          <a:noFill/>
          <a:ln w="15240">
            <a:solidFill>
              <a:srgbClr val="B8DE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73168" y="3054096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06-12</a:t>
            </a:r>
            <a:endParaRPr lang="en-US" sz="1220" dirty="0"/>
          </a:p>
        </p:txBody>
      </p:sp>
      <p:sp>
        <p:nvSpPr>
          <p:cNvPr id="34" name="Text 32"/>
          <p:cNvSpPr/>
          <p:nvPr/>
        </p:nvSpPr>
        <p:spPr>
          <a:xfrm>
            <a:off x="5623560" y="3035808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7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新增每日项目状态报告</a:t>
            </a:r>
            <a:endParaRPr lang="en-US" sz="1370" dirty="0"/>
          </a:p>
        </p:txBody>
      </p:sp>
      <p:sp>
        <p:nvSpPr>
          <p:cNvPr id="35" name="Shape 33"/>
          <p:cNvSpPr/>
          <p:nvPr/>
        </p:nvSpPr>
        <p:spPr>
          <a:xfrm>
            <a:off x="4343400" y="3639312"/>
            <a:ext cx="256032" cy="25603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71416" y="3895344"/>
            <a:ext cx="0" cy="347472"/>
          </a:xfrm>
          <a:prstGeom prst="line">
            <a:avLst/>
          </a:prstGeom>
          <a:noFill/>
          <a:ln w="15240">
            <a:solidFill>
              <a:srgbClr val="B8DE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73168" y="3657600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06-13/14</a:t>
            </a:r>
            <a:endParaRPr lang="en-US" sz="1220" dirty="0"/>
          </a:p>
        </p:txBody>
      </p:sp>
      <p:sp>
        <p:nvSpPr>
          <p:cNvPr id="38" name="Text 36"/>
          <p:cNvSpPr/>
          <p:nvPr/>
        </p:nvSpPr>
        <p:spPr>
          <a:xfrm>
            <a:off x="5623560" y="3639312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7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优化报告视觉与可读性</a:t>
            </a:r>
            <a:endParaRPr lang="en-US" sz="1370" dirty="0"/>
          </a:p>
        </p:txBody>
      </p:sp>
      <p:sp>
        <p:nvSpPr>
          <p:cNvPr id="39" name="Shape 37"/>
          <p:cNvSpPr/>
          <p:nvPr/>
        </p:nvSpPr>
        <p:spPr>
          <a:xfrm>
            <a:off x="4343400" y="4242816"/>
            <a:ext cx="256032" cy="25603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71416" y="4498848"/>
            <a:ext cx="0" cy="347472"/>
          </a:xfrm>
          <a:prstGeom prst="line">
            <a:avLst/>
          </a:prstGeom>
          <a:noFill/>
          <a:ln w="15240">
            <a:solidFill>
              <a:srgbClr val="B8DE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73168" y="4261104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06-15</a:t>
            </a:r>
            <a:endParaRPr lang="en-US" sz="1220" dirty="0"/>
          </a:p>
        </p:txBody>
      </p:sp>
      <p:sp>
        <p:nvSpPr>
          <p:cNvPr id="42" name="Text 40"/>
          <p:cNvSpPr/>
          <p:nvPr/>
        </p:nvSpPr>
        <p:spPr>
          <a:xfrm>
            <a:off x="5623560" y="4242816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7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新增每日项目状态报告</a:t>
            </a:r>
            <a:endParaRPr lang="en-US" sz="1370" dirty="0"/>
          </a:p>
        </p:txBody>
      </p:sp>
      <p:sp>
        <p:nvSpPr>
          <p:cNvPr id="43" name="Shape 41"/>
          <p:cNvSpPr/>
          <p:nvPr/>
        </p:nvSpPr>
        <p:spPr>
          <a:xfrm>
            <a:off x="4343400" y="4846320"/>
            <a:ext cx="256032" cy="256032"/>
          </a:xfrm>
          <a:prstGeom prst="ellipse">
            <a:avLst/>
          </a:prstGeom>
          <a:solidFill>
            <a:srgbClr val="E59F2A"/>
          </a:solidFill>
          <a:ln w="12700">
            <a:solidFill>
              <a:srgbClr val="E59F2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73168" y="4864608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06-16</a:t>
            </a:r>
            <a:endParaRPr lang="en-US" sz="1220" dirty="0"/>
          </a:p>
        </p:txBody>
      </p:sp>
      <p:sp>
        <p:nvSpPr>
          <p:cNvPr id="45" name="Text 43"/>
          <p:cNvSpPr/>
          <p:nvPr/>
        </p:nvSpPr>
        <p:spPr>
          <a:xfrm>
            <a:off x="5623560" y="4846320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7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未见仓库提交记录</a:t>
            </a:r>
            <a:endParaRPr lang="en-US" sz="1370" dirty="0"/>
          </a:p>
        </p:txBody>
      </p:sp>
      <p:sp>
        <p:nvSpPr>
          <p:cNvPr id="46" name="Text 44"/>
          <p:cNvSpPr/>
          <p:nvPr/>
        </p:nvSpPr>
        <p:spPr>
          <a:xfrm>
            <a:off x="4343400" y="5468112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结论：近期维护活动集中在状态汇报产物，未观察到核心能力、接口或前端体验的业务变更。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AF7"/>
          </a:solidFill>
          <a:ln w="12700">
            <a:solidFill>
              <a:srgbClr val="EFFA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0" y="-502920"/>
            <a:ext cx="1737360" cy="1737360"/>
          </a:xfrm>
          <a:prstGeom prst="ellipse">
            <a:avLst/>
          </a:prstGeom>
          <a:solidFill>
            <a:srgbClr val="DDF4EF"/>
          </a:solidFill>
          <a:ln w="12700">
            <a:solidFill>
              <a:srgbClr val="DDF4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3840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66928" y="62179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2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 / 指标要点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732520" y="6382512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F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2026-06-17  |  yu-ai-code-mother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1686032" y="6327648"/>
            <a:ext cx="256032" cy="25603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686032" y="6368796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566928" y="1417320"/>
            <a:ext cx="221284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DED8">
                <a:alpha val="8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12848" y="1581912"/>
            <a:ext cx="329184" cy="3291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1618488"/>
            <a:ext cx="1709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786384" y="2258568"/>
            <a:ext cx="1801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后端测试文件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86384" y="2532888"/>
            <a:ext cx="1801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 AI、core、workflow、工具类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063240" y="1417320"/>
            <a:ext cx="221284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DED8">
                <a:alpha val="8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9160" y="1581912"/>
            <a:ext cx="329184" cy="32918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64408" y="1618488"/>
            <a:ext cx="1709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3282696" y="2258568"/>
            <a:ext cx="1801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LangGraph4j 文件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282696" y="2532888"/>
            <a:ext cx="1801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工作流、节点、工具、状态模型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559552" y="1417320"/>
            <a:ext cx="221284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DED8">
                <a:alpha val="8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05472" y="1581912"/>
            <a:ext cx="329184" cy="32918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0" y="1618488"/>
            <a:ext cx="1709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5779008" y="2258568"/>
            <a:ext cx="1801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前端页面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779008" y="2532888"/>
            <a:ext cx="1801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用户、应用、后台管理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055864" y="1417320"/>
            <a:ext cx="221284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DED8">
                <a:alpha val="8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701784" y="1581912"/>
            <a:ext cx="329184" cy="329184"/>
          </a:xfrm>
          <a:prstGeom prst="ellipse">
            <a:avLst/>
          </a:prstGeom>
          <a:solidFill>
            <a:srgbClr val="E59F2A"/>
          </a:solidFill>
          <a:ln w="12700">
            <a:solidFill>
              <a:srgbClr val="E59F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57032" y="1618488"/>
            <a:ext cx="1709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E59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8275320" y="2258568"/>
            <a:ext cx="1801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显式 CI 工作流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275320" y="2532888"/>
            <a:ext cx="1801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.github/GitLab/Jenkins 未发现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66928" y="3493008"/>
            <a:ext cx="53492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DED8">
                <a:alpha val="8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6112" y="379476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可观测与运维基础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914400" y="4242816"/>
            <a:ext cx="182880" cy="1828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25296" y="420624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 + Prometheus 指标配置已存在</a:t>
            </a:r>
            <a:endParaRPr lang="en-US" sz="1450" dirty="0"/>
          </a:p>
        </p:txBody>
      </p:sp>
      <p:sp>
        <p:nvSpPr>
          <p:cNvPr id="34" name="Shape 32"/>
          <p:cNvSpPr/>
          <p:nvPr/>
        </p:nvSpPr>
        <p:spPr>
          <a:xfrm>
            <a:off x="914400" y="4645152"/>
            <a:ext cx="182880" cy="1828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25296" y="4608576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Session / Redisson 限流作为运行支撑</a:t>
            </a:r>
            <a:endParaRPr lang="en-US" sz="1450" dirty="0"/>
          </a:p>
        </p:txBody>
      </p:sp>
      <p:sp>
        <p:nvSpPr>
          <p:cNvPr id="36" name="Shape 34"/>
          <p:cNvSpPr/>
          <p:nvPr/>
        </p:nvSpPr>
        <p:spPr>
          <a:xfrm>
            <a:off x="914400" y="5047488"/>
            <a:ext cx="182880" cy="1828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225296" y="501091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与 prometheus.yml 提供监控落地方向</a:t>
            </a:r>
            <a:endParaRPr lang="en-US" sz="1450" dirty="0"/>
          </a:p>
        </p:txBody>
      </p:sp>
      <p:sp>
        <p:nvSpPr>
          <p:cNvPr id="38" name="Shape 36"/>
          <p:cNvSpPr/>
          <p:nvPr/>
        </p:nvSpPr>
        <p:spPr>
          <a:xfrm>
            <a:off x="6263640" y="3493008"/>
            <a:ext cx="5349240" cy="2148840"/>
          </a:xfrm>
          <a:prstGeom prst="roundRect">
            <a:avLst/>
          </a:prstGeom>
          <a:solidFill>
            <a:srgbClr val="063B43"/>
          </a:solidFill>
          <a:ln w="12700">
            <a:solidFill>
              <a:srgbClr val="063B4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83680" y="37947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指标缺口</a:t>
            </a:r>
            <a:endParaRPr lang="en-US" sz="1650" dirty="0"/>
          </a:p>
        </p:txBody>
      </p:sp>
      <p:sp>
        <p:nvSpPr>
          <p:cNvPr id="40" name="Text 38"/>
          <p:cNvSpPr/>
          <p:nvPr/>
        </p:nvSpPr>
        <p:spPr>
          <a:xfrm>
            <a:off x="6583680" y="4242816"/>
            <a:ext cx="434340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E9F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本次为静态仓库分析，未接入真实线上调用量、成功率、响应耗时、成本与用户留存数据。建议后续将监控面板关键数字固化为日报输入。</a:t>
            </a:r>
            <a:endParaRPr lang="en-US" sz="1480" dirty="0"/>
          </a:p>
        </p:txBody>
      </p:sp>
      <p:sp>
        <p:nvSpPr>
          <p:cNvPr id="41" name="Shape 39"/>
          <p:cNvSpPr/>
          <p:nvPr/>
        </p:nvSpPr>
        <p:spPr>
          <a:xfrm>
            <a:off x="10561320" y="3886200"/>
            <a:ext cx="621792" cy="621792"/>
          </a:xfrm>
          <a:prstGeom prst="ellipse">
            <a:avLst/>
          </a:prstGeom>
          <a:solidFill>
            <a:srgbClr val="E59F2A"/>
          </a:solidFill>
          <a:ln w="12700">
            <a:solidFill>
              <a:srgbClr val="E59F2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561320" y="4087368"/>
            <a:ext cx="621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AF7"/>
          </a:solidFill>
          <a:ln w="12700">
            <a:solidFill>
              <a:srgbClr val="EFFA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0" y="-502920"/>
            <a:ext cx="1737360" cy="1737360"/>
          </a:xfrm>
          <a:prstGeom prst="ellipse">
            <a:avLst/>
          </a:prstGeom>
          <a:solidFill>
            <a:srgbClr val="DDF4EF"/>
          </a:solidFill>
          <a:ln w="12700">
            <a:solidFill>
              <a:srgbClr val="DDF4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3840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BLOCKERS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66928" y="62179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2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风险与问题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732520" y="6382512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F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2026-06-17  |  yu-ai-code-mother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1686032" y="6327648"/>
            <a:ext cx="256032" cy="25603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686032" y="6368796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566928" y="1353312"/>
            <a:ext cx="1104595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DED8">
                <a:alpha val="8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6112" y="1719072"/>
            <a:ext cx="594360" cy="292608"/>
          </a:xfrm>
          <a:prstGeom prst="roundRect">
            <a:avLst/>
          </a:prstGeom>
          <a:solidFill>
            <a:srgbClr val="D14B57"/>
          </a:solidFill>
          <a:ln w="12700">
            <a:solidFill>
              <a:srgbClr val="D14B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1815084"/>
            <a:ext cx="5943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737360" y="175564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缺失</a:t>
            </a:r>
            <a:endParaRPr lang="en-US" sz="1460" dirty="0"/>
          </a:p>
        </p:txBody>
      </p:sp>
      <p:sp>
        <p:nvSpPr>
          <p:cNvPr id="14" name="Text 12"/>
          <p:cNvSpPr/>
          <p:nvPr/>
        </p:nvSpPr>
        <p:spPr>
          <a:xfrm>
            <a:off x="3703320" y="1737360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F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仓库未发现 GitHub Actions / GitLab CI / Jenkins，回归验证依赖本地执行。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896112" y="2249424"/>
            <a:ext cx="10351008" cy="0"/>
          </a:xfrm>
          <a:prstGeom prst="line">
            <a:avLst/>
          </a:prstGeom>
          <a:noFill/>
          <a:ln w="10160">
            <a:solidFill>
              <a:srgbClr val="B8DED8">
                <a:alpha val="7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6112" y="2468880"/>
            <a:ext cx="594360" cy="292608"/>
          </a:xfrm>
          <a:prstGeom prst="roundRect">
            <a:avLst/>
          </a:prstGeom>
          <a:solidFill>
            <a:srgbClr val="E59F2A"/>
          </a:solidFill>
          <a:ln w="12700">
            <a:solidFill>
              <a:srgbClr val="E59F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2564892"/>
            <a:ext cx="5943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737360" y="250545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外部依赖多</a:t>
            </a:r>
            <a:endParaRPr lang="en-US" sz="1460" dirty="0"/>
          </a:p>
        </p:txBody>
      </p:sp>
      <p:sp>
        <p:nvSpPr>
          <p:cNvPr id="19" name="Text 17"/>
          <p:cNvSpPr/>
          <p:nvPr/>
        </p:nvSpPr>
        <p:spPr>
          <a:xfrm>
            <a:off x="3703320" y="2487168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F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DeepSeek、DashScope、Pexels、COS、MySQL、Redis、Selenium 等均可能影响稳定性。</a:t>
            </a:r>
            <a:endParaRPr lang="en-US" sz="1320" dirty="0"/>
          </a:p>
        </p:txBody>
      </p:sp>
      <p:sp>
        <p:nvSpPr>
          <p:cNvPr id="20" name="Shape 18"/>
          <p:cNvSpPr/>
          <p:nvPr/>
        </p:nvSpPr>
        <p:spPr>
          <a:xfrm>
            <a:off x="896112" y="2999232"/>
            <a:ext cx="10351008" cy="0"/>
          </a:xfrm>
          <a:prstGeom prst="line">
            <a:avLst/>
          </a:prstGeom>
          <a:noFill/>
          <a:ln w="10160">
            <a:solidFill>
              <a:srgbClr val="B8DED8">
                <a:alpha val="7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6112" y="3218688"/>
            <a:ext cx="594360" cy="292608"/>
          </a:xfrm>
          <a:prstGeom prst="roundRect">
            <a:avLst/>
          </a:prstGeom>
          <a:solidFill>
            <a:srgbClr val="E59F2A"/>
          </a:solidFill>
          <a:ln w="12700">
            <a:solidFill>
              <a:srgbClr val="E59F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" y="3314700"/>
            <a:ext cx="5943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737360" y="325526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配置与密钥治理</a:t>
            </a:r>
            <a:endParaRPr lang="en-US" sz="1460" dirty="0"/>
          </a:p>
        </p:txBody>
      </p:sp>
      <p:sp>
        <p:nvSpPr>
          <p:cNvPr id="24" name="Text 22"/>
          <p:cNvSpPr/>
          <p:nvPr/>
        </p:nvSpPr>
        <p:spPr>
          <a:xfrm>
            <a:off x="3703320" y="3236976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F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 sample 已存在，但多环境启动仍依赖人工配置，需明确校验与文档。</a:t>
            </a:r>
            <a:endParaRPr lang="en-US" sz="1320" dirty="0"/>
          </a:p>
        </p:txBody>
      </p:sp>
      <p:sp>
        <p:nvSpPr>
          <p:cNvPr id="25" name="Shape 23"/>
          <p:cNvSpPr/>
          <p:nvPr/>
        </p:nvSpPr>
        <p:spPr>
          <a:xfrm>
            <a:off x="896112" y="3749040"/>
            <a:ext cx="10351008" cy="0"/>
          </a:xfrm>
          <a:prstGeom prst="line">
            <a:avLst/>
          </a:prstGeom>
          <a:noFill/>
          <a:ln w="10160">
            <a:solidFill>
              <a:srgbClr val="B8DED8">
                <a:alpha val="7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96112" y="3968496"/>
            <a:ext cx="594360" cy="292608"/>
          </a:xfrm>
          <a:prstGeom prst="round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6112" y="4064508"/>
            <a:ext cx="5943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737360" y="400507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双轨架构一致性</a:t>
            </a:r>
            <a:endParaRPr lang="en-US" sz="1460" dirty="0"/>
          </a:p>
        </p:txBody>
      </p:sp>
      <p:sp>
        <p:nvSpPr>
          <p:cNvPr id="29" name="Text 27"/>
          <p:cNvSpPr/>
          <p:nvPr/>
        </p:nvSpPr>
        <p:spPr>
          <a:xfrm>
            <a:off x="3703320" y="3986784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F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单体与微服务目录并存，接口、模型和部署方式需要持续同步。</a:t>
            </a:r>
            <a:endParaRPr lang="en-US" sz="1320" dirty="0"/>
          </a:p>
        </p:txBody>
      </p:sp>
      <p:sp>
        <p:nvSpPr>
          <p:cNvPr id="30" name="Shape 28"/>
          <p:cNvSpPr/>
          <p:nvPr/>
        </p:nvSpPr>
        <p:spPr>
          <a:xfrm>
            <a:off x="896112" y="4498848"/>
            <a:ext cx="10351008" cy="0"/>
          </a:xfrm>
          <a:prstGeom prst="line">
            <a:avLst/>
          </a:prstGeom>
          <a:noFill/>
          <a:ln w="10160">
            <a:solidFill>
              <a:srgbClr val="B8DED8">
                <a:alpha val="7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96112" y="4718304"/>
            <a:ext cx="594360" cy="292608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96112" y="4814316"/>
            <a:ext cx="5943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737360" y="475488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运营指标缺口</a:t>
            </a:r>
            <a:endParaRPr lang="en-US" sz="1460" dirty="0"/>
          </a:p>
        </p:txBody>
      </p:sp>
      <p:sp>
        <p:nvSpPr>
          <p:cNvPr id="34" name="Text 32"/>
          <p:cNvSpPr/>
          <p:nvPr/>
        </p:nvSpPr>
        <p:spPr>
          <a:xfrm>
            <a:off x="3703320" y="4736592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F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日报暂缺真实产品指标，难以量化业务健康度和 AI 成本变化。</a:t>
            </a:r>
            <a:endParaRPr lang="en-US" sz="1320" dirty="0"/>
          </a:p>
        </p:txBody>
      </p:sp>
      <p:sp>
        <p:nvSpPr>
          <p:cNvPr id="35" name="Text 33"/>
          <p:cNvSpPr/>
          <p:nvPr/>
        </p:nvSpPr>
        <p:spPr>
          <a:xfrm>
            <a:off x="877824" y="6053328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阻塞判断：未发现代码层面的新阻塞；主要阻塞来自自动化验证与依赖环境的不确定性。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AF7"/>
          </a:solidFill>
          <a:ln w="12700">
            <a:solidFill>
              <a:srgbClr val="EFFA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0" y="-502920"/>
            <a:ext cx="1737360" cy="1737360"/>
          </a:xfrm>
          <a:prstGeom prst="ellipse">
            <a:avLst/>
          </a:prstGeom>
          <a:solidFill>
            <a:srgbClr val="DDF4EF"/>
          </a:solidFill>
          <a:ln w="12700">
            <a:solidFill>
              <a:srgbClr val="DDF4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3840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66928" y="62179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2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建议的下一步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732520" y="6382512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F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2026-06-17  |  yu-ai-code-mother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1686032" y="6327648"/>
            <a:ext cx="256032" cy="25603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686032" y="6368796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658368" y="1481328"/>
            <a:ext cx="187452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DED8">
                <a:alpha val="8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25296" y="1783080"/>
            <a:ext cx="713232" cy="7132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25296" y="2020824"/>
            <a:ext cx="713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86968" y="277063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补齐 CI 基线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77824" y="3410712"/>
            <a:ext cx="1444752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70" dirty="0">
                <a:solidFill>
                  <a:srgbClr val="5F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新增后端 Maven test、前端 type-check/lint/build，形成 PR 级自动反馈。</a:t>
            </a:r>
            <a:endParaRPr lang="en-US" sz="1170" dirty="0"/>
          </a:p>
        </p:txBody>
      </p:sp>
      <p:sp>
        <p:nvSpPr>
          <p:cNvPr id="15" name="Shape 13"/>
          <p:cNvSpPr/>
          <p:nvPr/>
        </p:nvSpPr>
        <p:spPr>
          <a:xfrm>
            <a:off x="2916936" y="1481328"/>
            <a:ext cx="1874520" cy="4069080"/>
          </a:xfrm>
          <a:prstGeom prst="roundRect">
            <a:avLst/>
          </a:prstGeom>
          <a:solidFill>
            <a:srgbClr val="DDF4EF"/>
          </a:solidFill>
          <a:ln w="12700">
            <a:solidFill>
              <a:srgbClr val="B8DED8">
                <a:alpha val="8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83864" y="1783080"/>
            <a:ext cx="713232" cy="71323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83864" y="2020824"/>
            <a:ext cx="713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145536" y="277063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沉淀运行配置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136392" y="3410712"/>
            <a:ext cx="1444752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70" dirty="0">
                <a:solidFill>
                  <a:srgbClr val="5F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梳理 MySQL、Redis、AI Key、COS、Nacos 等依赖的启动校验与示例。</a:t>
            </a:r>
            <a:endParaRPr lang="en-US" sz="1170" dirty="0"/>
          </a:p>
        </p:txBody>
      </p:sp>
      <p:sp>
        <p:nvSpPr>
          <p:cNvPr id="20" name="Shape 18"/>
          <p:cNvSpPr/>
          <p:nvPr/>
        </p:nvSpPr>
        <p:spPr>
          <a:xfrm>
            <a:off x="5175504" y="1481328"/>
            <a:ext cx="187452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DED8">
                <a:alpha val="8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42432" y="1783080"/>
            <a:ext cx="713232" cy="7132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42432" y="2020824"/>
            <a:ext cx="713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04104" y="277063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强化生成链路测试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394960" y="3410712"/>
            <a:ext cx="1444752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70" dirty="0">
                <a:solidFill>
                  <a:srgbClr val="5F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围绕代码生成、路由、质量检查、部署下载补充稳定的集成/契约测试。</a:t>
            </a:r>
            <a:endParaRPr lang="en-US" sz="1170" dirty="0"/>
          </a:p>
        </p:txBody>
      </p:sp>
      <p:sp>
        <p:nvSpPr>
          <p:cNvPr id="25" name="Shape 23"/>
          <p:cNvSpPr/>
          <p:nvPr/>
        </p:nvSpPr>
        <p:spPr>
          <a:xfrm>
            <a:off x="7434072" y="1481328"/>
            <a:ext cx="1874520" cy="4069080"/>
          </a:xfrm>
          <a:prstGeom prst="roundRect">
            <a:avLst/>
          </a:prstGeom>
          <a:solidFill>
            <a:srgbClr val="DDF4EF"/>
          </a:solidFill>
          <a:ln w="12700">
            <a:solidFill>
              <a:srgbClr val="B8DED8">
                <a:alpha val="8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01000" y="1783080"/>
            <a:ext cx="713232" cy="7132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01000" y="2020824"/>
            <a:ext cx="713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662672" y="277063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接入日报真实指标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653528" y="3410712"/>
            <a:ext cx="1444752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70" dirty="0">
                <a:solidFill>
                  <a:srgbClr val="5F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 Prometheus/Grafana 或业务表中提取调用量、成功率、耗时与成本趋势。</a:t>
            </a:r>
            <a:endParaRPr lang="en-US" sz="1170" dirty="0"/>
          </a:p>
        </p:txBody>
      </p:sp>
      <p:sp>
        <p:nvSpPr>
          <p:cNvPr id="30" name="Shape 28"/>
          <p:cNvSpPr/>
          <p:nvPr/>
        </p:nvSpPr>
        <p:spPr>
          <a:xfrm>
            <a:off x="9692640" y="1481328"/>
            <a:ext cx="187452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DED8">
                <a:alpha val="8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259568" y="1783080"/>
            <a:ext cx="713232" cy="71323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259568" y="2020824"/>
            <a:ext cx="713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921240" y="277063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治理单体与微服务边界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912096" y="3410712"/>
            <a:ext cx="1444752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70" dirty="0">
                <a:solidFill>
                  <a:srgbClr val="5F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明确当前推荐部署形态，减少模型、接口和配置的双份漂移。</a:t>
            </a:r>
            <a:endParaRPr lang="en-US" sz="1170" dirty="0"/>
          </a:p>
        </p:txBody>
      </p:sp>
      <p:sp>
        <p:nvSpPr>
          <p:cNvPr id="35" name="Text 33"/>
          <p:cNvSpPr/>
          <p:nvPr/>
        </p:nvSpPr>
        <p:spPr>
          <a:xfrm>
            <a:off x="1005840" y="598932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F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优先级建议：先建立自动化验证，再把监控指标纳入日报输入，最后推进架构边界治理。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AF7"/>
          </a:solidFill>
          <a:ln w="12700">
            <a:solidFill>
              <a:srgbClr val="EFFA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0" y="-502920"/>
            <a:ext cx="1737360" cy="1737360"/>
          </a:xfrm>
          <a:prstGeom prst="ellipse">
            <a:avLst/>
          </a:prstGeom>
          <a:solidFill>
            <a:srgbClr val="DDF4EF"/>
          </a:solidFill>
          <a:ln w="12700">
            <a:solidFill>
              <a:srgbClr val="DDF4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3840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66928" y="62179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2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总结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732520" y="6382512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F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2026-06-17  |  yu-ai-code-mother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1686032" y="6327648"/>
            <a:ext cx="256032" cy="25603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686032" y="6368796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566928" y="1444752"/>
            <a:ext cx="5257800" cy="4224528"/>
          </a:xfrm>
          <a:prstGeom prst="roundRect">
            <a:avLst/>
          </a:prstGeom>
          <a:solidFill>
            <a:srgbClr val="063B43"/>
          </a:solidFill>
          <a:ln w="12700">
            <a:solidFill>
              <a:srgbClr val="063B4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81051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总体判断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14400" y="2304288"/>
            <a:ext cx="425196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9F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项目核心能力闭环清晰，适合作为 AI 代码生成平台的教学与演示底座。当前近期变更以日报文档为主，产品/工程质量的下一阶段重点是自动化验证与运行指标闭环。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406908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维护建议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14400" y="4507992"/>
            <a:ext cx="425196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DD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保持报告节奏的同时，将 CI、配置校验、关键指标采集纳入下一批工程化任务。</a:t>
            </a:r>
            <a:endParaRPr lang="en-US" sz="1480" dirty="0"/>
          </a:p>
        </p:txBody>
      </p:sp>
      <p:sp>
        <p:nvSpPr>
          <p:cNvPr id="15" name="Shape 13"/>
          <p:cNvSpPr/>
          <p:nvPr/>
        </p:nvSpPr>
        <p:spPr>
          <a:xfrm>
            <a:off x="6199632" y="1444752"/>
            <a:ext cx="5047488" cy="987552"/>
          </a:xfrm>
          <a:prstGeom prst="roundRect">
            <a:avLst>
              <a:gd name="adj" fmla="val 7407"/>
            </a:avLst>
          </a:prstGeom>
          <a:solidFill>
            <a:srgbClr val="F7FCFB"/>
          </a:solidFill>
          <a:ln w="12700">
            <a:solidFill>
              <a:srgbClr val="B8DED8">
                <a:alpha val="8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99632" y="1444752"/>
            <a:ext cx="91440" cy="9875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1645920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172821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885432" y="1609344"/>
            <a:ext cx="4178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当前能力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885432" y="1975104"/>
            <a:ext cx="4178808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F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生成、编辑、部署、管理四大能力已在 README 与模块结构中体现。</a:t>
            </a:r>
            <a:endParaRPr lang="en-US" sz="1320" dirty="0"/>
          </a:p>
        </p:txBody>
      </p:sp>
      <p:sp>
        <p:nvSpPr>
          <p:cNvPr id="21" name="Shape 19"/>
          <p:cNvSpPr/>
          <p:nvPr/>
        </p:nvSpPr>
        <p:spPr>
          <a:xfrm>
            <a:off x="6199632" y="2706624"/>
            <a:ext cx="5047488" cy="987552"/>
          </a:xfrm>
          <a:prstGeom prst="roundRect">
            <a:avLst>
              <a:gd name="adj" fmla="val 7407"/>
            </a:avLst>
          </a:prstGeom>
          <a:solidFill>
            <a:srgbClr val="F7FCFB"/>
          </a:solidFill>
          <a:ln w="12700">
            <a:solidFill>
              <a:srgbClr val="B8DED8">
                <a:alpha val="8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99632" y="2706624"/>
            <a:ext cx="91440" cy="9875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0" y="2907792"/>
            <a:ext cx="384048" cy="38404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299008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885432" y="2871216"/>
            <a:ext cx="4178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近期进展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885432" y="3236976"/>
            <a:ext cx="4178808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F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天主要是每日状态报告新增与视觉/可读性优化。</a:t>
            </a:r>
            <a:endParaRPr lang="en-US" sz="1320" dirty="0"/>
          </a:p>
        </p:txBody>
      </p:sp>
      <p:sp>
        <p:nvSpPr>
          <p:cNvPr id="27" name="Shape 25"/>
          <p:cNvSpPr/>
          <p:nvPr/>
        </p:nvSpPr>
        <p:spPr>
          <a:xfrm>
            <a:off x="6199632" y="3968496"/>
            <a:ext cx="5047488" cy="987552"/>
          </a:xfrm>
          <a:prstGeom prst="roundRect">
            <a:avLst>
              <a:gd name="adj" fmla="val 7407"/>
            </a:avLst>
          </a:prstGeom>
          <a:solidFill>
            <a:srgbClr val="F7FCFB"/>
          </a:solidFill>
          <a:ln w="12700">
            <a:solidFill>
              <a:srgbClr val="B8DED8">
                <a:alpha val="8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99632" y="3968496"/>
            <a:ext cx="91440" cy="987552"/>
          </a:xfrm>
          <a:prstGeom prst="rect">
            <a:avLst/>
          </a:prstGeom>
          <a:solidFill>
            <a:srgbClr val="E59F2A"/>
          </a:solidFill>
          <a:ln w="12700">
            <a:solidFill>
              <a:srgbClr val="E59F2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0" y="4169664"/>
            <a:ext cx="384048" cy="384048"/>
          </a:xfrm>
          <a:prstGeom prst="ellipse">
            <a:avLst/>
          </a:prstGeom>
          <a:solidFill>
            <a:srgbClr val="E59F2A"/>
          </a:solidFill>
          <a:ln w="12700">
            <a:solidFill>
              <a:srgbClr val="E59F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425196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885432" y="4133088"/>
            <a:ext cx="4178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关键风险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6885432" y="4498848"/>
            <a:ext cx="4178808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F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无显式 CI、外部服务依赖多、真实运营指标尚未纳入日报。</a:t>
            </a:r>
            <a:endParaRPr lang="en-US" sz="1320" dirty="0"/>
          </a:p>
        </p:txBody>
      </p:sp>
      <p:sp>
        <p:nvSpPr>
          <p:cNvPr id="33" name="Shape 31"/>
          <p:cNvSpPr/>
          <p:nvPr/>
        </p:nvSpPr>
        <p:spPr>
          <a:xfrm>
            <a:off x="7498080" y="5623560"/>
            <a:ext cx="2468880" cy="402336"/>
          </a:xfrm>
          <a:prstGeom prst="round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5774436"/>
            <a:ext cx="2468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建议进入工程化增强阶段</a:t>
            </a:r>
            <a:endParaRPr lang="en-US" sz="10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yu-ai-code-mother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每日项目状态汇报 2026-06-17</dc:title>
  <dc:subject>AI 零代码应用生成平台每日状态</dc:subject>
  <dc:creator>Cursor Agent</dc:creator>
  <cp:lastModifiedBy>Cursor Agent</cp:lastModifiedBy>
  <cp:revision>1</cp:revision>
  <dcterms:created xsi:type="dcterms:W3CDTF">2026-06-17T09:08:29Z</dcterms:created>
  <dcterms:modified xsi:type="dcterms:W3CDTF">2026-06-17T09:08:29Z</dcterms:modified>
</cp:coreProperties>
</file>