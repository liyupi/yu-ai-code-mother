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230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23047"/>
          </a:solidFill>
          <a:ln w="12700">
            <a:solidFill>
              <a:srgbClr val="023047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1200000">
            <a:off x="9509760" y="-320040"/>
            <a:ext cx="3383280" cy="3383280"/>
          </a:xfrm>
          <a:prstGeom prst="arc">
            <a:avLst/>
          </a:prstGeom>
          <a:noFill/>
          <a:ln w="38100">
            <a:solidFill>
              <a:srgbClr val="00A896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424160" y="502920"/>
            <a:ext cx="1097280" cy="1097280"/>
          </a:xfrm>
          <a:prstGeom prst="ellipse">
            <a:avLst/>
          </a:prstGeom>
          <a:solidFill>
            <a:srgbClr val="02C39A">
              <a:alpha val="28000"/>
            </a:srgbClr>
          </a:solidFill>
          <a:ln w="12700">
            <a:solidFill>
              <a:srgbClr val="02C39A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20040" y="5577840"/>
            <a:ext cx="1005840" cy="1005840"/>
          </a:xfrm>
          <a:prstGeom prst="ellipse">
            <a:avLst/>
          </a:prstGeom>
          <a:solidFill>
            <a:srgbClr val="028090">
              <a:alpha val="20000"/>
            </a:srgbClr>
          </a:solidFill>
          <a:ln w="12700">
            <a:solidFill>
              <a:srgbClr val="028090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23047"/>
          </a:solidFill>
          <a:ln w="12700">
            <a:solidFill>
              <a:srgbClr val="023047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589520" y="-731520"/>
            <a:ext cx="5212080" cy="5212080"/>
          </a:xfrm>
          <a:prstGeom prst="ellipse">
            <a:avLst/>
          </a:prstGeom>
          <a:solidFill>
            <a:srgbClr val="028090">
              <a:alpha val="88000"/>
            </a:srgbClr>
          </a:solidFill>
          <a:ln w="12700">
            <a:solidFill>
              <a:srgbClr val="028090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961120" y="1005840"/>
            <a:ext cx="2743200" cy="2743200"/>
          </a:xfrm>
          <a:prstGeom prst="ellipse">
            <a:avLst/>
          </a:prstGeom>
          <a:solidFill>
            <a:srgbClr val="02C39A">
              <a:alpha val="64000"/>
            </a:srgbClr>
          </a:solidFill>
          <a:ln w="12700">
            <a:solidFill>
              <a:srgbClr val="02C39A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640080"/>
            <a:ext cx="2331720" cy="292608"/>
          </a:xfrm>
          <a:prstGeom prst="roundRect">
            <a:avLst>
              <a:gd name="adj" fmla="val 37500"/>
            </a:avLst>
          </a:prstGeom>
          <a:solidFill>
            <a:srgbClr val="028090"/>
          </a:solidFill>
          <a:ln w="12700">
            <a:solidFill>
              <a:srgbClr val="028090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8096" y="704088"/>
            <a:ext cx="211226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维护者 / 团队汇报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58368" y="1874520"/>
            <a:ext cx="75895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每日项目状态汇报</a:t>
            </a:r>
            <a:endParaRPr lang="en-US" sz="4600" dirty="0"/>
          </a:p>
        </p:txBody>
      </p:sp>
      <p:sp>
        <p:nvSpPr>
          <p:cNvPr id="12" name="Text 10"/>
          <p:cNvSpPr/>
          <p:nvPr/>
        </p:nvSpPr>
        <p:spPr>
          <a:xfrm>
            <a:off x="694944" y="2743200"/>
            <a:ext cx="7223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DF7F4"/>
                </a:solidFill>
              </a:rPr>
              <a:t>AI 零代码应用生成平台（yu-ai-code-mother）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94944" y="318211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C39A"/>
                </a:solidFill>
              </a:rPr>
              <a:t>2026-06-22 · 北京时间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7635240" y="4782312"/>
            <a:ext cx="3703320" cy="1097280"/>
          </a:xfrm>
          <a:prstGeom prst="roundRect">
            <a:avLst>
              <a:gd name="adj" fmla="val 6667"/>
            </a:avLst>
          </a:prstGeom>
          <a:solidFill>
            <a:srgbClr val="083D50">
              <a:alpha val="92000"/>
            </a:srgbClr>
          </a:solidFill>
          <a:ln w="12700">
            <a:solidFill>
              <a:srgbClr val="177E89">
                <a:alpha val="70000"/>
              </a:srgbClr>
            </a:solidFill>
            <a:prstDash val="solid"/>
          </a:ln>
          <a:effectLst>
            <a:outerShdw sx="100000" sy="100000" kx="0" ky="0" algn="bl" rotWithShape="0" blurRad="25400" dist="50800" dir="2700000">
              <a:srgbClr val="76A9A5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7882128" y="4983480"/>
            <a:ext cx="3182112" cy="420624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本次范围：README、主要模块、近 7 天提交、测试/CI 配置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7882128" y="5513832"/>
            <a:ext cx="315468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BFEDE8"/>
                </a:solidFill>
              </a:rPr>
              <a:t>目标：帮助维护者快速判断能力状态、风险与下一步优先级</a:t>
            </a:r>
            <a:endParaRPr lang="en-US" sz="108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C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CFB"/>
          </a:solidFill>
          <a:ln w="12700">
            <a:solidFill>
              <a:srgbClr val="F5FCF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1200000">
            <a:off x="9509760" y="-320040"/>
            <a:ext cx="3383280" cy="3383280"/>
          </a:xfrm>
          <a:prstGeom prst="arc">
            <a:avLst/>
          </a:prstGeom>
          <a:noFill/>
          <a:ln w="38100">
            <a:solidFill>
              <a:srgbClr val="B7E5E1">
                <a:alpha val="6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424160" y="502920"/>
            <a:ext cx="1097280" cy="1097280"/>
          </a:xfrm>
          <a:prstGeom prst="ellipse">
            <a:avLst/>
          </a:prstGeom>
          <a:solidFill>
            <a:srgbClr val="EAF8F7">
              <a:alpha val="90000"/>
            </a:srgbClr>
          </a:solidFill>
          <a:ln w="12700">
            <a:solidFill>
              <a:srgbClr val="EAF8F7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20040" y="5577840"/>
            <a:ext cx="1005840" cy="1005840"/>
          </a:xfrm>
          <a:prstGeom prst="ellipse">
            <a:avLst/>
          </a:prstGeom>
          <a:solidFill>
            <a:srgbClr val="02C39A">
              <a:alpha val="65000"/>
            </a:srgbClr>
          </a:solidFill>
          <a:ln w="12700">
            <a:solidFill>
              <a:srgbClr val="02C39A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384048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0230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项目概览</a:t>
            </a:r>
            <a:endParaRPr lang="en-US" sz="3700" dirty="0"/>
          </a:p>
        </p:txBody>
      </p:sp>
      <p:sp>
        <p:nvSpPr>
          <p:cNvPr id="7" name="Text 5"/>
          <p:cNvSpPr/>
          <p:nvPr/>
        </p:nvSpPr>
        <p:spPr>
          <a:xfrm>
            <a:off x="594360" y="960120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7478"/>
                </a:solidFill>
              </a:rPr>
              <a:t>定位：面向用户提示词的 AI 应用生成、预览、编辑、部署与管理平台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58368" y="1417320"/>
            <a:ext cx="118872" cy="502920"/>
          </a:xfrm>
          <a:prstGeom prst="roundRect">
            <a:avLst>
              <a:gd name="adj" fmla="val 23077"/>
            </a:avLst>
          </a:prstGeom>
          <a:solidFill>
            <a:srgbClr val="028090"/>
          </a:solidFill>
          <a:ln w="12700">
            <a:solidFill>
              <a:srgbClr val="028090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77824" y="146304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323A"/>
                </a:solidFill>
              </a:rPr>
              <a:t>一句话状态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658368" y="2011680"/>
            <a:ext cx="4983480" cy="265176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D7EFEC"/>
            </a:solidFill>
            <a:prstDash val="solid"/>
          </a:ln>
          <a:effectLst>
            <a:outerShdw sx="100000" sy="100000" kx="0" ky="0" algn="bl" rotWithShape="0" blurRad="25400" dist="50800" dir="2700000">
              <a:srgbClr val="76A9A5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960120" y="2331720"/>
            <a:ext cx="4370832" cy="10515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15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项目主体能力已覆盖“从需求描述到可访问应用”的闭环：用户创建应用后，AI 自动选择生成策略并流式输出，前端实时预览，后端支持部署、截图、源码下载与后台管理。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969264" y="3703320"/>
            <a:ext cx="1417320" cy="329184"/>
          </a:xfrm>
          <a:prstGeom prst="roundRect">
            <a:avLst>
              <a:gd name="adj" fmla="val 22222"/>
            </a:avLst>
          </a:prstGeom>
          <a:solidFill>
            <a:srgbClr val="028090">
              <a:alpha val="94000"/>
            </a:srgbClr>
          </a:solidFill>
          <a:ln w="12700">
            <a:solidFill>
              <a:srgbClr val="028090">
                <a:alpha val="2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42416" y="3785616"/>
            <a:ext cx="126187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</a:rPr>
              <a:t>Spring Boot 3</a:t>
            </a:r>
            <a:endParaRPr lang="en-US" sz="920" dirty="0"/>
          </a:p>
        </p:txBody>
      </p:sp>
      <p:sp>
        <p:nvSpPr>
          <p:cNvPr id="14" name="Shape 12"/>
          <p:cNvSpPr/>
          <p:nvPr/>
        </p:nvSpPr>
        <p:spPr>
          <a:xfrm>
            <a:off x="2487168" y="3703320"/>
            <a:ext cx="1417320" cy="329184"/>
          </a:xfrm>
          <a:prstGeom prst="roundRect">
            <a:avLst>
              <a:gd name="adj" fmla="val 22222"/>
            </a:avLst>
          </a:prstGeom>
          <a:solidFill>
            <a:srgbClr val="028090">
              <a:alpha val="94000"/>
            </a:srgbClr>
          </a:solidFill>
          <a:ln w="12700">
            <a:solidFill>
              <a:srgbClr val="028090">
                <a:alpha val="2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560320" y="3785616"/>
            <a:ext cx="126187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</a:rPr>
              <a:t>LangChain4j</a:t>
            </a:r>
            <a:endParaRPr lang="en-US" sz="920" dirty="0"/>
          </a:p>
        </p:txBody>
      </p:sp>
      <p:sp>
        <p:nvSpPr>
          <p:cNvPr id="16" name="Shape 14"/>
          <p:cNvSpPr/>
          <p:nvPr/>
        </p:nvSpPr>
        <p:spPr>
          <a:xfrm>
            <a:off x="4005072" y="3703320"/>
            <a:ext cx="1417320" cy="329184"/>
          </a:xfrm>
          <a:prstGeom prst="roundRect">
            <a:avLst>
              <a:gd name="adj" fmla="val 22222"/>
            </a:avLst>
          </a:prstGeom>
          <a:solidFill>
            <a:srgbClr val="028090">
              <a:alpha val="94000"/>
            </a:srgbClr>
          </a:solidFill>
          <a:ln w="12700">
            <a:solidFill>
              <a:srgbClr val="028090">
                <a:alpha val="2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078224" y="3785616"/>
            <a:ext cx="126187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</a:rPr>
              <a:t>Vue 3</a:t>
            </a:r>
            <a:endParaRPr lang="en-US" sz="920" dirty="0"/>
          </a:p>
        </p:txBody>
      </p:sp>
      <p:sp>
        <p:nvSpPr>
          <p:cNvPr id="18" name="Shape 16"/>
          <p:cNvSpPr/>
          <p:nvPr/>
        </p:nvSpPr>
        <p:spPr>
          <a:xfrm>
            <a:off x="969264" y="4160520"/>
            <a:ext cx="1417320" cy="329184"/>
          </a:xfrm>
          <a:prstGeom prst="roundRect">
            <a:avLst>
              <a:gd name="adj" fmla="val 22222"/>
            </a:avLst>
          </a:prstGeom>
          <a:solidFill>
            <a:srgbClr val="028090">
              <a:alpha val="94000"/>
            </a:srgbClr>
          </a:solidFill>
          <a:ln w="12700">
            <a:solidFill>
              <a:srgbClr val="028090">
                <a:alpha val="2000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42416" y="4242816"/>
            <a:ext cx="126187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</a:rPr>
              <a:t>SSE 流式</a:t>
            </a:r>
            <a:endParaRPr lang="en-US" sz="920" dirty="0"/>
          </a:p>
        </p:txBody>
      </p:sp>
      <p:sp>
        <p:nvSpPr>
          <p:cNvPr id="20" name="Shape 18"/>
          <p:cNvSpPr/>
          <p:nvPr/>
        </p:nvSpPr>
        <p:spPr>
          <a:xfrm>
            <a:off x="2487168" y="4160520"/>
            <a:ext cx="1417320" cy="329184"/>
          </a:xfrm>
          <a:prstGeom prst="roundRect">
            <a:avLst>
              <a:gd name="adj" fmla="val 22222"/>
            </a:avLst>
          </a:prstGeom>
          <a:solidFill>
            <a:srgbClr val="028090">
              <a:alpha val="94000"/>
            </a:srgbClr>
          </a:solidFill>
          <a:ln w="12700">
            <a:solidFill>
              <a:srgbClr val="028090">
                <a:alpha val="2000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560320" y="4242816"/>
            <a:ext cx="126187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</a:rPr>
              <a:t>部署分享</a:t>
            </a:r>
            <a:endParaRPr lang="en-US" sz="920" dirty="0"/>
          </a:p>
        </p:txBody>
      </p:sp>
      <p:sp>
        <p:nvSpPr>
          <p:cNvPr id="22" name="Shape 20"/>
          <p:cNvSpPr/>
          <p:nvPr/>
        </p:nvSpPr>
        <p:spPr>
          <a:xfrm>
            <a:off x="4005072" y="4160520"/>
            <a:ext cx="1417320" cy="329184"/>
          </a:xfrm>
          <a:prstGeom prst="roundRect">
            <a:avLst>
              <a:gd name="adj" fmla="val 22222"/>
            </a:avLst>
          </a:prstGeom>
          <a:solidFill>
            <a:srgbClr val="028090">
              <a:alpha val="94000"/>
            </a:srgbClr>
          </a:solidFill>
          <a:ln w="12700">
            <a:solidFill>
              <a:srgbClr val="028090">
                <a:alpha val="2000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078224" y="4242816"/>
            <a:ext cx="126187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</a:rPr>
              <a:t>后台管理</a:t>
            </a:r>
            <a:endParaRPr lang="en-US" sz="920" dirty="0"/>
          </a:p>
        </p:txBody>
      </p:sp>
      <p:sp>
        <p:nvSpPr>
          <p:cNvPr id="24" name="Shape 22"/>
          <p:cNvSpPr/>
          <p:nvPr/>
        </p:nvSpPr>
        <p:spPr>
          <a:xfrm>
            <a:off x="6172200" y="1572768"/>
            <a:ext cx="2331720" cy="1225296"/>
          </a:xfrm>
          <a:prstGeom prst="roundRect">
            <a:avLst>
              <a:gd name="adj" fmla="val 5970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25400" dist="50800" dir="2700000">
              <a:srgbClr val="76A9A5">
                <a:alpha val="12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336792" y="1691640"/>
            <a:ext cx="7863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3</a:t>
            </a:r>
            <a:endParaRPr lang="en-US" sz="3400" dirty="0"/>
          </a:p>
        </p:txBody>
      </p:sp>
      <p:sp>
        <p:nvSpPr>
          <p:cNvPr id="26" name="Text 24"/>
          <p:cNvSpPr/>
          <p:nvPr/>
        </p:nvSpPr>
        <p:spPr>
          <a:xfrm>
            <a:off x="7132320" y="1764792"/>
            <a:ext cx="1143000" cy="29260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代码生成模式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355080" y="2350008"/>
            <a:ext cx="1938528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920" dirty="0">
                <a:solidFill>
                  <a:srgbClr val="DDF7F4"/>
                </a:solidFill>
              </a:rPr>
              <a:t>HTML / 多文件 / Vue 工程</a:t>
            </a:r>
            <a:endParaRPr lang="en-US" sz="920" dirty="0"/>
          </a:p>
        </p:txBody>
      </p:sp>
      <p:sp>
        <p:nvSpPr>
          <p:cNvPr id="28" name="Shape 26"/>
          <p:cNvSpPr/>
          <p:nvPr/>
        </p:nvSpPr>
        <p:spPr>
          <a:xfrm>
            <a:off x="8823960" y="1572768"/>
            <a:ext cx="2331720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7EFEC"/>
            </a:solidFill>
            <a:prstDash val="solid"/>
          </a:ln>
          <a:effectLst>
            <a:outerShdw sx="100000" sy="100000" kx="0" ky="0" algn="bl" rotWithShape="0" blurRad="25400" dist="50800" dir="2700000">
              <a:srgbClr val="76A9A5">
                <a:alpha val="12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8988552" y="1691640"/>
            <a:ext cx="7863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28090"/>
                </a:solidFill>
              </a:rPr>
              <a:t>7</a:t>
            </a:r>
            <a:endParaRPr lang="en-US" sz="3400" dirty="0"/>
          </a:p>
        </p:txBody>
      </p:sp>
      <p:sp>
        <p:nvSpPr>
          <p:cNvPr id="30" name="Text 28"/>
          <p:cNvSpPr/>
          <p:nvPr/>
        </p:nvSpPr>
        <p:spPr>
          <a:xfrm>
            <a:off x="9784080" y="1764792"/>
            <a:ext cx="1143000" cy="29260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5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微服务模块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9006840" y="2350008"/>
            <a:ext cx="1938528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920" dirty="0">
                <a:solidFill>
                  <a:srgbClr val="5A7478"/>
                </a:solidFill>
              </a:rPr>
              <a:t>common/model/client/user/app/ai/screenshot</a:t>
            </a:r>
            <a:endParaRPr lang="en-US" sz="920" dirty="0"/>
          </a:p>
        </p:txBody>
      </p:sp>
      <p:sp>
        <p:nvSpPr>
          <p:cNvPr id="32" name="Shape 30"/>
          <p:cNvSpPr/>
          <p:nvPr/>
        </p:nvSpPr>
        <p:spPr>
          <a:xfrm>
            <a:off x="6172200" y="3172968"/>
            <a:ext cx="2331720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7EFEC"/>
            </a:solidFill>
            <a:prstDash val="solid"/>
          </a:ln>
          <a:effectLst>
            <a:outerShdw sx="100000" sy="100000" kx="0" ky="0" algn="bl" rotWithShape="0" blurRad="25400" dist="50800" dir="2700000">
              <a:srgbClr val="76A9A5">
                <a:alpha val="12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6336792" y="3291840"/>
            <a:ext cx="7863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28090"/>
                </a:solidFill>
              </a:rPr>
              <a:t>14</a:t>
            </a:r>
            <a:endParaRPr lang="en-US" sz="3400" dirty="0"/>
          </a:p>
        </p:txBody>
      </p:sp>
      <p:sp>
        <p:nvSpPr>
          <p:cNvPr id="34" name="Text 32"/>
          <p:cNvSpPr/>
          <p:nvPr/>
        </p:nvSpPr>
        <p:spPr>
          <a:xfrm>
            <a:off x="7132320" y="3364992"/>
            <a:ext cx="1143000" cy="29260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5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测试文件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6355080" y="3950208"/>
            <a:ext cx="1938528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920" dirty="0">
                <a:solidFill>
                  <a:srgbClr val="5A7478"/>
                </a:solidFill>
              </a:rPr>
              <a:t>覆盖 AI、工作流、工具与截图</a:t>
            </a:r>
            <a:endParaRPr lang="en-US" sz="920" dirty="0"/>
          </a:p>
        </p:txBody>
      </p:sp>
      <p:sp>
        <p:nvSpPr>
          <p:cNvPr id="36" name="Shape 34"/>
          <p:cNvSpPr/>
          <p:nvPr/>
        </p:nvSpPr>
        <p:spPr>
          <a:xfrm>
            <a:off x="8823960" y="3172968"/>
            <a:ext cx="2331720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7EFEC"/>
            </a:solidFill>
            <a:prstDash val="solid"/>
          </a:ln>
          <a:effectLst>
            <a:outerShdw sx="100000" sy="100000" kx="0" ky="0" algn="bl" rotWithShape="0" blurRad="25400" dist="50800" dir="2700000">
              <a:srgbClr val="76A9A5">
                <a:alpha val="12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8988552" y="3291840"/>
            <a:ext cx="7863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28090"/>
                </a:solidFill>
              </a:rPr>
              <a:t>0</a:t>
            </a:r>
            <a:endParaRPr lang="en-US" sz="3400" dirty="0"/>
          </a:p>
        </p:txBody>
      </p:sp>
      <p:sp>
        <p:nvSpPr>
          <p:cNvPr id="38" name="Text 36"/>
          <p:cNvSpPr/>
          <p:nvPr/>
        </p:nvSpPr>
        <p:spPr>
          <a:xfrm>
            <a:off x="9784080" y="3364992"/>
            <a:ext cx="1143000" cy="29260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5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workflow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9006840" y="3950208"/>
            <a:ext cx="1938528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920" dirty="0">
                <a:solidFill>
                  <a:srgbClr val="5A7478"/>
                </a:solidFill>
              </a:rPr>
              <a:t>.github/workflows 未发现</a:t>
            </a:r>
            <a:endParaRPr lang="en-US" sz="920" dirty="0"/>
          </a:p>
        </p:txBody>
      </p:sp>
      <p:sp>
        <p:nvSpPr>
          <p:cNvPr id="40" name="Text 38"/>
          <p:cNvSpPr/>
          <p:nvPr/>
        </p:nvSpPr>
        <p:spPr>
          <a:xfrm>
            <a:off x="566928" y="6455664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7478"/>
                </a:solidFill>
              </a:rPr>
              <a:t>yu-ai-code-mother · 每日项目状态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11109960" y="6400800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28090"/>
                </a:solidFill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C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CFB"/>
          </a:solidFill>
          <a:ln w="12700">
            <a:solidFill>
              <a:srgbClr val="F5FCF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1200000">
            <a:off x="9509760" y="-320040"/>
            <a:ext cx="3383280" cy="3383280"/>
          </a:xfrm>
          <a:prstGeom prst="arc">
            <a:avLst/>
          </a:prstGeom>
          <a:noFill/>
          <a:ln w="38100">
            <a:solidFill>
              <a:srgbClr val="B7E5E1">
                <a:alpha val="6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424160" y="502920"/>
            <a:ext cx="1097280" cy="1097280"/>
          </a:xfrm>
          <a:prstGeom prst="ellipse">
            <a:avLst/>
          </a:prstGeom>
          <a:solidFill>
            <a:srgbClr val="EAF8F7">
              <a:alpha val="90000"/>
            </a:srgbClr>
          </a:solidFill>
          <a:ln w="12700">
            <a:solidFill>
              <a:srgbClr val="EAF8F7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20040" y="5577840"/>
            <a:ext cx="1005840" cy="1005840"/>
          </a:xfrm>
          <a:prstGeom prst="ellipse">
            <a:avLst/>
          </a:prstGeom>
          <a:solidFill>
            <a:srgbClr val="02C39A">
              <a:alpha val="65000"/>
            </a:srgbClr>
          </a:solidFill>
          <a:ln w="12700">
            <a:solidFill>
              <a:srgbClr val="02C39A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384048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0230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核心能力矩阵</a:t>
            </a:r>
            <a:endParaRPr lang="en-US" sz="3700" dirty="0"/>
          </a:p>
        </p:txBody>
      </p:sp>
      <p:sp>
        <p:nvSpPr>
          <p:cNvPr id="7" name="Text 5"/>
          <p:cNvSpPr/>
          <p:nvPr/>
        </p:nvSpPr>
        <p:spPr>
          <a:xfrm>
            <a:off x="594360" y="960120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7478"/>
                </a:solidFill>
              </a:rPr>
              <a:t>以用户应用生命周期为主线，能力已覆盖生成、编辑、交付和治理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58368" y="1444752"/>
            <a:ext cx="3291840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7EFEC"/>
            </a:solidFill>
            <a:prstDash val="solid"/>
          </a:ln>
          <a:effectLst>
            <a:outerShdw sx="100000" sy="100000" kx="0" ky="0" algn="bl" rotWithShape="0" blurRad="25400" dist="50800" dir="2700000">
              <a:srgbClr val="76A9A5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86968" y="1645920"/>
            <a:ext cx="384048" cy="384048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86968" y="1700784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A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408176" y="1673352"/>
            <a:ext cx="2148840" cy="24688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15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智能代码生成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914400" y="2157984"/>
            <a:ext cx="2788920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30" dirty="0">
                <a:solidFill>
                  <a:srgbClr val="15323A"/>
                </a:solidFill>
              </a:rPr>
              <a:t>AI 根据提示词路由到 HTML、多文件或 Vue 工程模式，支持结构化解析、保存与构建。</a:t>
            </a:r>
            <a:endParaRPr lang="en-US" sz="1130" dirty="0"/>
          </a:p>
        </p:txBody>
      </p:sp>
      <p:sp>
        <p:nvSpPr>
          <p:cNvPr id="13" name="Shape 11"/>
          <p:cNvSpPr/>
          <p:nvPr/>
        </p:nvSpPr>
        <p:spPr>
          <a:xfrm>
            <a:off x="4361688" y="1444752"/>
            <a:ext cx="3291840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7EFEC"/>
            </a:solidFill>
            <a:prstDash val="solid"/>
          </a:ln>
          <a:effectLst>
            <a:outerShdw sx="100000" sy="100000" kx="0" ky="0" algn="bl" rotWithShape="0" blurRad="25400" dist="50800" dir="2700000">
              <a:srgbClr val="76A9A5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90288" y="1645920"/>
            <a:ext cx="384048" cy="38404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90288" y="1700784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B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111496" y="1673352"/>
            <a:ext cx="2148840" cy="24688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15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流式交互体验</a:t>
            </a:r>
            <a:endParaRPr lang="en-US" sz="1550" dirty="0"/>
          </a:p>
        </p:txBody>
      </p:sp>
      <p:sp>
        <p:nvSpPr>
          <p:cNvPr id="17" name="Text 15"/>
          <p:cNvSpPr/>
          <p:nvPr/>
        </p:nvSpPr>
        <p:spPr>
          <a:xfrm>
            <a:off x="4617720" y="2157984"/>
            <a:ext cx="2788920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30" dirty="0">
                <a:solidFill>
                  <a:srgbClr val="15323A"/>
                </a:solidFill>
              </a:rPr>
              <a:t>后端通过 SSE/Flux 返回生成进度，前端对话区同步展示 AI 输出与工具执行信息。</a:t>
            </a:r>
            <a:endParaRPr lang="en-US" sz="1130" dirty="0"/>
          </a:p>
        </p:txBody>
      </p:sp>
      <p:sp>
        <p:nvSpPr>
          <p:cNvPr id="18" name="Shape 16"/>
          <p:cNvSpPr/>
          <p:nvPr/>
        </p:nvSpPr>
        <p:spPr>
          <a:xfrm>
            <a:off x="8065008" y="1444752"/>
            <a:ext cx="3291840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7EFEC"/>
            </a:solidFill>
            <a:prstDash val="solid"/>
          </a:ln>
          <a:effectLst>
            <a:outerShdw sx="100000" sy="100000" kx="0" ky="0" algn="bl" rotWithShape="0" blurRad="25400" dist="50800" dir="2700000">
              <a:srgbClr val="76A9A5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293608" y="1645920"/>
            <a:ext cx="384048" cy="384048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93608" y="1700784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C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814816" y="1673352"/>
            <a:ext cx="2148840" cy="24688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15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可视化编辑</a:t>
            </a:r>
            <a:endParaRPr lang="en-US" sz="1550" dirty="0"/>
          </a:p>
        </p:txBody>
      </p:sp>
      <p:sp>
        <p:nvSpPr>
          <p:cNvPr id="22" name="Text 20"/>
          <p:cNvSpPr/>
          <p:nvPr/>
        </p:nvSpPr>
        <p:spPr>
          <a:xfrm>
            <a:off x="8321040" y="2157984"/>
            <a:ext cx="2788920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30" dirty="0">
                <a:solidFill>
                  <a:srgbClr val="15323A"/>
                </a:solidFill>
              </a:rPr>
              <a:t>预览 iframe 中可选择页面元素，并把选择器、文本、路径带回对话，支持针对页面元素迭代修改。</a:t>
            </a:r>
            <a:endParaRPr lang="en-US" sz="1130" dirty="0"/>
          </a:p>
        </p:txBody>
      </p:sp>
      <p:sp>
        <p:nvSpPr>
          <p:cNvPr id="23" name="Shape 21"/>
          <p:cNvSpPr/>
          <p:nvPr/>
        </p:nvSpPr>
        <p:spPr>
          <a:xfrm>
            <a:off x="658368" y="3456432"/>
            <a:ext cx="3291840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7EFEC"/>
            </a:solidFill>
            <a:prstDash val="solid"/>
          </a:ln>
          <a:effectLst>
            <a:outerShdw sx="100000" sy="100000" kx="0" ky="0" algn="bl" rotWithShape="0" blurRad="25400" dist="50800" dir="2700000">
              <a:srgbClr val="76A9A5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886968" y="3657600"/>
            <a:ext cx="384048" cy="38404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86968" y="3712464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D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408176" y="3685032"/>
            <a:ext cx="2148840" cy="24688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15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部署与分享</a:t>
            </a:r>
            <a:endParaRPr lang="en-US" sz="1550" dirty="0"/>
          </a:p>
        </p:txBody>
      </p:sp>
      <p:sp>
        <p:nvSpPr>
          <p:cNvPr id="27" name="Text 25"/>
          <p:cNvSpPr/>
          <p:nvPr/>
        </p:nvSpPr>
        <p:spPr>
          <a:xfrm>
            <a:off x="914400" y="4169664"/>
            <a:ext cx="2788920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30" dirty="0">
                <a:solidFill>
                  <a:srgbClr val="15323A"/>
                </a:solidFill>
              </a:rPr>
              <a:t>应用代码可复制到部署目录，Vue 工程先构建 dist；部署后异步生成截图封面。</a:t>
            </a:r>
            <a:endParaRPr lang="en-US" sz="1130" dirty="0"/>
          </a:p>
        </p:txBody>
      </p:sp>
      <p:sp>
        <p:nvSpPr>
          <p:cNvPr id="28" name="Shape 26"/>
          <p:cNvSpPr/>
          <p:nvPr/>
        </p:nvSpPr>
        <p:spPr>
          <a:xfrm>
            <a:off x="4361688" y="3456432"/>
            <a:ext cx="3291840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7EFEC"/>
            </a:solidFill>
            <a:prstDash val="solid"/>
          </a:ln>
          <a:effectLst>
            <a:outerShdw sx="100000" sy="100000" kx="0" ky="0" algn="bl" rotWithShape="0" blurRad="25400" dist="50800" dir="2700000">
              <a:srgbClr val="76A9A5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590288" y="3657600"/>
            <a:ext cx="384048" cy="384048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>
                <a:alpha val="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590288" y="3712464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E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111496" y="3685032"/>
            <a:ext cx="2148840" cy="24688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15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企业级管理</a:t>
            </a:r>
            <a:endParaRPr lang="en-US" sz="1550" dirty="0"/>
          </a:p>
        </p:txBody>
      </p:sp>
      <p:sp>
        <p:nvSpPr>
          <p:cNvPr id="32" name="Text 30"/>
          <p:cNvSpPr/>
          <p:nvPr/>
        </p:nvSpPr>
        <p:spPr>
          <a:xfrm>
            <a:off x="4617720" y="4169664"/>
            <a:ext cx="2788920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30" dirty="0">
                <a:solidFill>
                  <a:srgbClr val="15323A"/>
                </a:solidFill>
              </a:rPr>
              <a:t>提供用户、应用、聊天历史等后台页面，支持精选应用、权限校验和分页查询。</a:t>
            </a:r>
            <a:endParaRPr lang="en-US" sz="1130" dirty="0"/>
          </a:p>
        </p:txBody>
      </p:sp>
      <p:sp>
        <p:nvSpPr>
          <p:cNvPr id="33" name="Shape 31"/>
          <p:cNvSpPr/>
          <p:nvPr/>
        </p:nvSpPr>
        <p:spPr>
          <a:xfrm>
            <a:off x="8065008" y="3456432"/>
            <a:ext cx="3291840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7EFEC"/>
            </a:solidFill>
            <a:prstDash val="solid"/>
          </a:ln>
          <a:effectLst>
            <a:outerShdw sx="100000" sy="100000" kx="0" ky="0" algn="bl" rotWithShape="0" blurRad="25400" dist="50800" dir="2700000">
              <a:srgbClr val="76A9A5">
                <a:alpha val="12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8293608" y="3657600"/>
            <a:ext cx="384048" cy="38404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>
                <a:alpha val="0"/>
              </a:srgbClr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293608" y="3712464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F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8814816" y="3685032"/>
            <a:ext cx="2148840" cy="24688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15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治理基础</a:t>
            </a:r>
            <a:endParaRPr lang="en-US" sz="1550" dirty="0"/>
          </a:p>
        </p:txBody>
      </p:sp>
      <p:sp>
        <p:nvSpPr>
          <p:cNvPr id="37" name="Text 35"/>
          <p:cNvSpPr/>
          <p:nvPr/>
        </p:nvSpPr>
        <p:spPr>
          <a:xfrm>
            <a:off x="8321040" y="4169664"/>
            <a:ext cx="2788920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30" dirty="0">
                <a:solidFill>
                  <a:srgbClr val="15323A"/>
                </a:solidFill>
              </a:rPr>
              <a:t>Redisson 用户级限流、Actuator/Prometheus 依赖、监控上下文传递和测试样例已具备。</a:t>
            </a:r>
            <a:endParaRPr lang="en-US" sz="1130" dirty="0"/>
          </a:p>
        </p:txBody>
      </p:sp>
      <p:sp>
        <p:nvSpPr>
          <p:cNvPr id="38" name="Text 36"/>
          <p:cNvSpPr/>
          <p:nvPr/>
        </p:nvSpPr>
        <p:spPr>
          <a:xfrm>
            <a:off x="566928" y="6455664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7478"/>
                </a:solidFill>
              </a:rPr>
              <a:t>yu-ai-code-mother · 每日项目状态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109960" y="6400800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28090"/>
                </a:solidFill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C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CFB"/>
          </a:solidFill>
          <a:ln w="12700">
            <a:solidFill>
              <a:srgbClr val="F5FCF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1200000">
            <a:off x="9509760" y="-320040"/>
            <a:ext cx="3383280" cy="3383280"/>
          </a:xfrm>
          <a:prstGeom prst="arc">
            <a:avLst/>
          </a:prstGeom>
          <a:noFill/>
          <a:ln w="38100">
            <a:solidFill>
              <a:srgbClr val="B7E5E1">
                <a:alpha val="6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424160" y="502920"/>
            <a:ext cx="1097280" cy="1097280"/>
          </a:xfrm>
          <a:prstGeom prst="ellipse">
            <a:avLst/>
          </a:prstGeom>
          <a:solidFill>
            <a:srgbClr val="EAF8F7">
              <a:alpha val="90000"/>
            </a:srgbClr>
          </a:solidFill>
          <a:ln w="12700">
            <a:solidFill>
              <a:srgbClr val="EAF8F7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20040" y="5577840"/>
            <a:ext cx="1005840" cy="1005840"/>
          </a:xfrm>
          <a:prstGeom prst="ellipse">
            <a:avLst/>
          </a:prstGeom>
          <a:solidFill>
            <a:srgbClr val="02C39A">
              <a:alpha val="65000"/>
            </a:srgbClr>
          </a:solidFill>
          <a:ln w="12700">
            <a:solidFill>
              <a:srgbClr val="02C39A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384048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0230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架构与模块视图</a:t>
            </a:r>
            <a:endParaRPr lang="en-US" sz="3700" dirty="0"/>
          </a:p>
        </p:txBody>
      </p:sp>
      <p:sp>
        <p:nvSpPr>
          <p:cNvPr id="7" name="Text 5"/>
          <p:cNvSpPr/>
          <p:nvPr/>
        </p:nvSpPr>
        <p:spPr>
          <a:xfrm>
            <a:off x="594360" y="960120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7478"/>
                </a:solidFill>
              </a:rPr>
              <a:t>单体主应用与微服务演进目录并存，核心链路围绕 App / AI / Frontend 展开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31520" y="1609344"/>
            <a:ext cx="2423160" cy="3246120"/>
          </a:xfrm>
          <a:prstGeom prst="roundRect">
            <a:avLst>
              <a:gd name="adj" fmla="val 3019"/>
            </a:avLst>
          </a:prstGeom>
          <a:solidFill>
            <a:srgbClr val="FFFFFF"/>
          </a:solidFill>
          <a:ln w="12700">
            <a:solidFill>
              <a:srgbClr val="D7EFEC"/>
            </a:solidFill>
            <a:prstDash val="solid"/>
          </a:ln>
          <a:effectLst>
            <a:outerShdw sx="100000" sy="100000" kx="0" ky="0" algn="bl" rotWithShape="0" blurRad="25400" dist="50800" dir="2700000">
              <a:srgbClr val="76A9A5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96112" y="1874520"/>
            <a:ext cx="384048" cy="384048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96112" y="1929384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389888" y="1911096"/>
            <a:ext cx="1508760" cy="237744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520" b="1" dirty="0">
                <a:solidFill>
                  <a:srgbClr val="15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前端体验层</a:t>
            </a:r>
            <a:endParaRPr lang="en-US" sz="1520" dirty="0"/>
          </a:p>
        </p:txBody>
      </p:sp>
      <p:sp>
        <p:nvSpPr>
          <p:cNvPr id="12" name="Text 10"/>
          <p:cNvSpPr/>
          <p:nvPr/>
        </p:nvSpPr>
        <p:spPr>
          <a:xfrm>
            <a:off x="987552" y="2542032"/>
            <a:ext cx="1901952" cy="1508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20" dirty="0">
                <a:solidFill>
                  <a:srgbClr val="15323A"/>
                </a:solidFill>
              </a:rPr>
              <a:t>Vue 3 + TypeScript</a:t>
            </a:r>
            <a:endParaRPr lang="en-US" sz="1120" dirty="0"/>
          </a:p>
          <a:p>
            <a:pPr algn="l" indent="0" marL="0">
              <a:buNone/>
            </a:pPr>
            <a:r>
              <a:rPr lang="en-US" sz="1120" dirty="0">
                <a:solidFill>
                  <a:srgbClr val="15323A"/>
                </a:solidFill>
              </a:rPr>
              <a:t>Ant Design Vue / Pinia / Router</a:t>
            </a:r>
            <a:endParaRPr lang="en-US" sz="1120" dirty="0"/>
          </a:p>
          <a:p>
            <a:pPr algn="l" indent="0" marL="0">
              <a:buNone/>
            </a:pPr>
            <a:r>
              <a:rPr lang="en-US" sz="1120" dirty="0">
                <a:solidFill>
                  <a:srgbClr val="15323A"/>
                </a:solidFill>
              </a:rPr>
              <a:t>应用创建、对话、预览、编辑、管理</a:t>
            </a:r>
            <a:endParaRPr lang="en-US" sz="1120" dirty="0"/>
          </a:p>
        </p:txBody>
      </p:sp>
      <p:sp>
        <p:nvSpPr>
          <p:cNvPr id="13" name="Shape 11"/>
          <p:cNvSpPr/>
          <p:nvPr/>
        </p:nvSpPr>
        <p:spPr>
          <a:xfrm>
            <a:off x="3163824" y="2871216"/>
            <a:ext cx="411480" cy="365760"/>
          </a:xfrm>
          <a:prstGeom prst="rightArrow">
            <a:avLst/>
          </a:prstGeom>
          <a:solidFill>
            <a:srgbClr val="00A896">
              <a:alpha val="90000"/>
            </a:srgbClr>
          </a:solidFill>
          <a:ln w="12700">
            <a:solidFill>
              <a:srgbClr val="00A896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547872" y="1609344"/>
            <a:ext cx="2423160" cy="3246120"/>
          </a:xfrm>
          <a:prstGeom prst="roundRect">
            <a:avLst>
              <a:gd name="adj" fmla="val 3019"/>
            </a:avLst>
          </a:prstGeom>
          <a:solidFill>
            <a:srgbClr val="EAF8F7"/>
          </a:solidFill>
          <a:ln w="12700">
            <a:solidFill>
              <a:srgbClr val="D7EFEC"/>
            </a:solidFill>
            <a:prstDash val="solid"/>
          </a:ln>
          <a:effectLst>
            <a:outerShdw sx="100000" sy="100000" kx="0" ky="0" algn="bl" rotWithShape="0" blurRad="25400" dist="50800" dir="2700000">
              <a:srgbClr val="76A9A5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712464" y="1874520"/>
            <a:ext cx="384048" cy="38404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712464" y="1929384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206240" y="1911096"/>
            <a:ext cx="1508760" cy="237744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520" b="1" dirty="0">
                <a:solidFill>
                  <a:srgbClr val="15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业务 API 层</a:t>
            </a:r>
            <a:endParaRPr lang="en-US" sz="1520" dirty="0"/>
          </a:p>
        </p:txBody>
      </p:sp>
      <p:sp>
        <p:nvSpPr>
          <p:cNvPr id="18" name="Text 16"/>
          <p:cNvSpPr/>
          <p:nvPr/>
        </p:nvSpPr>
        <p:spPr>
          <a:xfrm>
            <a:off x="3803904" y="2542032"/>
            <a:ext cx="1901952" cy="1508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20" dirty="0">
                <a:solidFill>
                  <a:srgbClr val="15323A"/>
                </a:solidFill>
              </a:rPr>
              <a:t>Spring Boot 3 控制器</a:t>
            </a:r>
            <a:endParaRPr lang="en-US" sz="1120" dirty="0"/>
          </a:p>
          <a:p>
            <a:pPr algn="l" indent="0" marL="0">
              <a:buNone/>
            </a:pPr>
            <a:r>
              <a:rPr lang="en-US" sz="1120" dirty="0">
                <a:solidFill>
                  <a:srgbClr val="15323A"/>
                </a:solidFill>
              </a:rPr>
              <a:t>App / User / ChatHistory / Workflow SSE</a:t>
            </a:r>
            <a:endParaRPr lang="en-US" sz="1120" dirty="0"/>
          </a:p>
          <a:p>
            <a:pPr algn="l" indent="0" marL="0">
              <a:buNone/>
            </a:pPr>
            <a:r>
              <a:rPr lang="en-US" sz="1120" dirty="0">
                <a:solidFill>
                  <a:srgbClr val="15323A"/>
                </a:solidFill>
              </a:rPr>
              <a:t>权限校验、分页、缓存、下载</a:t>
            </a:r>
            <a:endParaRPr lang="en-US" sz="1120" dirty="0"/>
          </a:p>
        </p:txBody>
      </p:sp>
      <p:sp>
        <p:nvSpPr>
          <p:cNvPr id="19" name="Shape 17"/>
          <p:cNvSpPr/>
          <p:nvPr/>
        </p:nvSpPr>
        <p:spPr>
          <a:xfrm>
            <a:off x="5980176" y="2871216"/>
            <a:ext cx="411480" cy="365760"/>
          </a:xfrm>
          <a:prstGeom prst="rightArrow">
            <a:avLst/>
          </a:prstGeom>
          <a:solidFill>
            <a:srgbClr val="00A896">
              <a:alpha val="90000"/>
            </a:srgbClr>
          </a:solidFill>
          <a:ln w="12700">
            <a:solidFill>
              <a:srgbClr val="00A896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64224" y="1609344"/>
            <a:ext cx="2423160" cy="3246120"/>
          </a:xfrm>
          <a:prstGeom prst="roundRect">
            <a:avLst>
              <a:gd name="adj" fmla="val 3019"/>
            </a:avLst>
          </a:prstGeom>
          <a:solidFill>
            <a:srgbClr val="FFFFFF"/>
          </a:solidFill>
          <a:ln w="12700">
            <a:solidFill>
              <a:srgbClr val="D7EFEC"/>
            </a:solidFill>
            <a:prstDash val="solid"/>
          </a:ln>
          <a:effectLst>
            <a:outerShdw sx="100000" sy="100000" kx="0" ky="0" algn="bl" rotWithShape="0" blurRad="25400" dist="50800" dir="2700000">
              <a:srgbClr val="76A9A5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528816" y="1874520"/>
            <a:ext cx="384048" cy="38404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528816" y="1929384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022592" y="1911096"/>
            <a:ext cx="1508760" cy="237744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520" b="1" dirty="0">
                <a:solidFill>
                  <a:srgbClr val="15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编排层</a:t>
            </a:r>
            <a:endParaRPr lang="en-US" sz="1520" dirty="0"/>
          </a:p>
        </p:txBody>
      </p:sp>
      <p:sp>
        <p:nvSpPr>
          <p:cNvPr id="24" name="Text 22"/>
          <p:cNvSpPr/>
          <p:nvPr/>
        </p:nvSpPr>
        <p:spPr>
          <a:xfrm>
            <a:off x="6620256" y="2542032"/>
            <a:ext cx="1901952" cy="1508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20" dirty="0">
                <a:solidFill>
                  <a:srgbClr val="15323A"/>
                </a:solidFill>
              </a:rPr>
              <a:t>LangChain4j + LangGraph4j</a:t>
            </a:r>
            <a:endParaRPr lang="en-US" sz="1120" dirty="0"/>
          </a:p>
          <a:p>
            <a:pPr algn="l" indent="0" marL="0">
              <a:buNone/>
            </a:pPr>
            <a:r>
              <a:rPr lang="en-US" sz="1120" dirty="0">
                <a:solidFill>
                  <a:srgbClr val="15323A"/>
                </a:solidFill>
              </a:rPr>
              <a:t>路由、生成、质检、工具调用、项目构建</a:t>
            </a:r>
            <a:endParaRPr lang="en-US" sz="1120" dirty="0"/>
          </a:p>
          <a:p>
            <a:pPr algn="l" indent="0" marL="0">
              <a:buNone/>
            </a:pPr>
            <a:r>
              <a:rPr lang="en-US" sz="1120" dirty="0">
                <a:solidFill>
                  <a:srgbClr val="15323A"/>
                </a:solidFill>
              </a:rPr>
              <a:t>TokenStream 转 Flux</a:t>
            </a:r>
            <a:endParaRPr lang="en-US" sz="1120" dirty="0"/>
          </a:p>
        </p:txBody>
      </p:sp>
      <p:sp>
        <p:nvSpPr>
          <p:cNvPr id="25" name="Shape 23"/>
          <p:cNvSpPr/>
          <p:nvPr/>
        </p:nvSpPr>
        <p:spPr>
          <a:xfrm>
            <a:off x="8796528" y="2871216"/>
            <a:ext cx="411480" cy="365760"/>
          </a:xfrm>
          <a:prstGeom prst="rightArrow">
            <a:avLst/>
          </a:prstGeom>
          <a:solidFill>
            <a:srgbClr val="00A896">
              <a:alpha val="90000"/>
            </a:srgbClr>
          </a:solidFill>
          <a:ln w="12700">
            <a:solidFill>
              <a:srgbClr val="00A896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180576" y="1609344"/>
            <a:ext cx="2423160" cy="3246120"/>
          </a:xfrm>
          <a:prstGeom prst="roundRect">
            <a:avLst>
              <a:gd name="adj" fmla="val 3019"/>
            </a:avLst>
          </a:prstGeom>
          <a:solidFill>
            <a:srgbClr val="FFFFFF"/>
          </a:solidFill>
          <a:ln w="12700">
            <a:solidFill>
              <a:srgbClr val="D7EFEC"/>
            </a:solidFill>
            <a:prstDash val="solid"/>
          </a:ln>
          <a:effectLst>
            <a:outerShdw sx="100000" sy="100000" kx="0" ky="0" algn="bl" rotWithShape="0" blurRad="25400" dist="50800" dir="2700000">
              <a:srgbClr val="76A9A5">
                <a:alpha val="1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9345168" y="1874520"/>
            <a:ext cx="384048" cy="384048"/>
          </a:xfrm>
          <a:prstGeom prst="ellipse">
            <a:avLst/>
          </a:prstGeom>
          <a:solidFill>
            <a:srgbClr val="023047"/>
          </a:solidFill>
          <a:ln w="12700">
            <a:solidFill>
              <a:srgbClr val="023047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345168" y="1929384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9838944" y="1911096"/>
            <a:ext cx="1508760" cy="237744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520" b="1" dirty="0">
                <a:solidFill>
                  <a:srgbClr val="15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交付与治理层</a:t>
            </a:r>
            <a:endParaRPr lang="en-US" sz="1520" dirty="0"/>
          </a:p>
        </p:txBody>
      </p:sp>
      <p:sp>
        <p:nvSpPr>
          <p:cNvPr id="30" name="Text 28"/>
          <p:cNvSpPr/>
          <p:nvPr/>
        </p:nvSpPr>
        <p:spPr>
          <a:xfrm>
            <a:off x="9436608" y="2542032"/>
            <a:ext cx="1901952" cy="1508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20" dirty="0">
                <a:solidFill>
                  <a:srgbClr val="15323A"/>
                </a:solidFill>
              </a:rPr>
              <a:t>文件保存 / 部署目录 / 截图服务</a:t>
            </a:r>
            <a:endParaRPr lang="en-US" sz="1120" dirty="0"/>
          </a:p>
          <a:p>
            <a:pPr algn="l" indent="0" marL="0">
              <a:buNone/>
            </a:pPr>
            <a:r>
              <a:rPr lang="en-US" sz="1120" dirty="0">
                <a:solidFill>
                  <a:srgbClr val="15323A"/>
                </a:solidFill>
              </a:rPr>
              <a:t>限流与监控依赖</a:t>
            </a:r>
            <a:endParaRPr lang="en-US" sz="1120" dirty="0"/>
          </a:p>
          <a:p>
            <a:pPr algn="l" indent="0" marL="0">
              <a:buNone/>
            </a:pPr>
            <a:r>
              <a:rPr lang="en-US" sz="1120" dirty="0">
                <a:solidFill>
                  <a:srgbClr val="15323A"/>
                </a:solidFill>
              </a:rPr>
              <a:t>Actuator / Prometheus registry</a:t>
            </a:r>
            <a:endParaRPr lang="en-US" sz="1120" dirty="0"/>
          </a:p>
          <a:p>
            <a:pPr algn="l" indent="0" marL="0">
              <a:buNone/>
            </a:pPr>
            <a:r>
              <a:rPr lang="en-US" sz="1120" dirty="0">
                <a:solidFill>
                  <a:srgbClr val="15323A"/>
                </a:solidFill>
              </a:rPr>
              <a:t>微服务模块拆分准备</a:t>
            </a:r>
            <a:endParaRPr lang="en-US" sz="1120" dirty="0"/>
          </a:p>
        </p:txBody>
      </p:sp>
      <p:sp>
        <p:nvSpPr>
          <p:cNvPr id="31" name="Shape 29"/>
          <p:cNvSpPr/>
          <p:nvPr/>
        </p:nvSpPr>
        <p:spPr>
          <a:xfrm>
            <a:off x="950976" y="5230368"/>
            <a:ext cx="10287000" cy="640080"/>
          </a:xfrm>
          <a:prstGeom prst="roundRect">
            <a:avLst>
              <a:gd name="adj" fmla="val 11429"/>
            </a:avLst>
          </a:prstGeom>
          <a:solidFill>
            <a:srgbClr val="E2F5F3"/>
          </a:solidFill>
          <a:ln w="12700">
            <a:solidFill>
              <a:srgbClr val="B7E5E1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207008" y="5413248"/>
            <a:ext cx="9646920" cy="21031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15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微服务目录：yu-ai-code-common / model / client / user / app / ai / screenshot；用于后续服务边界、Dubbo 调用和独立部署治理。</a:t>
            </a:r>
            <a:endParaRPr lang="en-US" sz="1350" dirty="0"/>
          </a:p>
        </p:txBody>
      </p:sp>
      <p:sp>
        <p:nvSpPr>
          <p:cNvPr id="33" name="Text 31"/>
          <p:cNvSpPr/>
          <p:nvPr/>
        </p:nvSpPr>
        <p:spPr>
          <a:xfrm>
            <a:off x="566928" y="6455664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7478"/>
                </a:solidFill>
              </a:rPr>
              <a:t>yu-ai-code-mother · 每日项目状态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1109960" y="6400800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28090"/>
                </a:solidFill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C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CFB"/>
          </a:solidFill>
          <a:ln w="12700">
            <a:solidFill>
              <a:srgbClr val="F5FCF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1200000">
            <a:off x="9509760" y="-320040"/>
            <a:ext cx="3383280" cy="3383280"/>
          </a:xfrm>
          <a:prstGeom prst="arc">
            <a:avLst/>
          </a:prstGeom>
          <a:noFill/>
          <a:ln w="38100">
            <a:solidFill>
              <a:srgbClr val="B7E5E1">
                <a:alpha val="6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424160" y="502920"/>
            <a:ext cx="1097280" cy="1097280"/>
          </a:xfrm>
          <a:prstGeom prst="ellipse">
            <a:avLst/>
          </a:prstGeom>
          <a:solidFill>
            <a:srgbClr val="EAF8F7">
              <a:alpha val="90000"/>
            </a:srgbClr>
          </a:solidFill>
          <a:ln w="12700">
            <a:solidFill>
              <a:srgbClr val="EAF8F7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20040" y="5577840"/>
            <a:ext cx="1005840" cy="1005840"/>
          </a:xfrm>
          <a:prstGeom prst="ellipse">
            <a:avLst/>
          </a:prstGeom>
          <a:solidFill>
            <a:srgbClr val="02C39A">
              <a:alpha val="65000"/>
            </a:srgbClr>
          </a:solidFill>
          <a:ln w="12700">
            <a:solidFill>
              <a:srgbClr val="02C39A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384048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0230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昨日 / 近期变更</a:t>
            </a:r>
            <a:endParaRPr lang="en-US" sz="3700" dirty="0"/>
          </a:p>
        </p:txBody>
      </p:sp>
      <p:sp>
        <p:nvSpPr>
          <p:cNvPr id="7" name="Text 5"/>
          <p:cNvSpPr/>
          <p:nvPr/>
        </p:nvSpPr>
        <p:spPr>
          <a:xfrm>
            <a:off x="594360" y="960120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7478"/>
                </a:solidFill>
              </a:rPr>
              <a:t>近 7 天提交以日报产物为主，未观察到业务代码新增提交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58368" y="1371600"/>
            <a:ext cx="118872" cy="502920"/>
          </a:xfrm>
          <a:prstGeom prst="roundRect">
            <a:avLst>
              <a:gd name="adj" fmla="val 23077"/>
            </a:avLst>
          </a:prstGeom>
          <a:solidFill>
            <a:srgbClr val="028090"/>
          </a:solidFill>
          <a:ln w="12700">
            <a:solidFill>
              <a:srgbClr val="028090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77824" y="141732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323A"/>
                </a:solidFill>
              </a:rPr>
              <a:t>提交节奏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1005840" y="2487168"/>
            <a:ext cx="9738360" cy="0"/>
          </a:xfrm>
          <a:prstGeom prst="line">
            <a:avLst/>
          </a:prstGeom>
          <a:noFill/>
          <a:ln w="27940">
            <a:solidFill>
              <a:srgbClr val="028090"/>
            </a:solidFill>
            <a:prstDash val="solid"/>
            <a:headEnd type="none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960120" y="2286000"/>
            <a:ext cx="411480" cy="4114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2809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86968" y="1828800"/>
            <a:ext cx="685800" cy="1828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06-15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48640" y="2057400"/>
            <a:ext cx="123444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940" dirty="0">
                <a:solidFill>
                  <a:srgbClr val="15323A"/>
                </a:solidFill>
              </a:rPr>
              <a:t>新增每日状态汇报</a:t>
            </a:r>
            <a:endParaRPr lang="en-US" sz="940" dirty="0"/>
          </a:p>
        </p:txBody>
      </p:sp>
      <p:sp>
        <p:nvSpPr>
          <p:cNvPr id="14" name="Shape 12"/>
          <p:cNvSpPr/>
          <p:nvPr/>
        </p:nvSpPr>
        <p:spPr>
          <a:xfrm>
            <a:off x="2697480" y="2286000"/>
            <a:ext cx="411480" cy="4114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2809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624328" y="2907792"/>
            <a:ext cx="685800" cy="1828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06-16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2286000" y="3136392"/>
            <a:ext cx="123444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940" dirty="0">
                <a:solidFill>
                  <a:srgbClr val="15323A"/>
                </a:solidFill>
              </a:rPr>
              <a:t>新增并优化日报版式</a:t>
            </a:r>
            <a:endParaRPr lang="en-US" sz="940" dirty="0"/>
          </a:p>
        </p:txBody>
      </p:sp>
      <p:sp>
        <p:nvSpPr>
          <p:cNvPr id="17" name="Shape 15"/>
          <p:cNvSpPr/>
          <p:nvPr/>
        </p:nvSpPr>
        <p:spPr>
          <a:xfrm>
            <a:off x="4434840" y="2286000"/>
            <a:ext cx="411480" cy="4114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2809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361688" y="1828800"/>
            <a:ext cx="685800" cy="1828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06-17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4023360" y="2057400"/>
            <a:ext cx="123444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940" dirty="0">
                <a:solidFill>
                  <a:srgbClr val="15323A"/>
                </a:solidFill>
              </a:rPr>
              <a:t>新增每日状态汇报</a:t>
            </a:r>
            <a:endParaRPr lang="en-US" sz="940" dirty="0"/>
          </a:p>
        </p:txBody>
      </p:sp>
      <p:sp>
        <p:nvSpPr>
          <p:cNvPr id="20" name="Shape 18"/>
          <p:cNvSpPr/>
          <p:nvPr/>
        </p:nvSpPr>
        <p:spPr>
          <a:xfrm>
            <a:off x="6172200" y="2286000"/>
            <a:ext cx="411480" cy="4114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2809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099048" y="2907792"/>
            <a:ext cx="685800" cy="1828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06-18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5760720" y="3136392"/>
            <a:ext cx="123444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940" dirty="0">
                <a:solidFill>
                  <a:srgbClr val="15323A"/>
                </a:solidFill>
              </a:rPr>
              <a:t>新增日报并清理占位词</a:t>
            </a:r>
            <a:endParaRPr lang="en-US" sz="940" dirty="0"/>
          </a:p>
        </p:txBody>
      </p:sp>
      <p:sp>
        <p:nvSpPr>
          <p:cNvPr id="23" name="Shape 21"/>
          <p:cNvSpPr/>
          <p:nvPr/>
        </p:nvSpPr>
        <p:spPr>
          <a:xfrm>
            <a:off x="7909560" y="2286000"/>
            <a:ext cx="411480" cy="4114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2809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836408" y="1828800"/>
            <a:ext cx="685800" cy="1828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06-19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7498080" y="2057400"/>
            <a:ext cx="123444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940" dirty="0">
                <a:solidFill>
                  <a:srgbClr val="15323A"/>
                </a:solidFill>
              </a:rPr>
              <a:t>新增日报并优化字体</a:t>
            </a:r>
            <a:endParaRPr lang="en-US" sz="940" dirty="0"/>
          </a:p>
        </p:txBody>
      </p:sp>
      <p:sp>
        <p:nvSpPr>
          <p:cNvPr id="26" name="Shape 24"/>
          <p:cNvSpPr/>
          <p:nvPr/>
        </p:nvSpPr>
        <p:spPr>
          <a:xfrm>
            <a:off x="9646920" y="2286000"/>
            <a:ext cx="411480" cy="411480"/>
          </a:xfrm>
          <a:prstGeom prst="ellipse">
            <a:avLst/>
          </a:prstGeom>
          <a:solidFill>
            <a:srgbClr val="028090"/>
          </a:solidFill>
          <a:ln w="19050">
            <a:solidFill>
              <a:srgbClr val="02809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573768" y="2907792"/>
            <a:ext cx="685800" cy="1828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06-20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9235440" y="3136392"/>
            <a:ext cx="123444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940" dirty="0">
                <a:solidFill>
                  <a:srgbClr val="15323A"/>
                </a:solidFill>
              </a:rPr>
              <a:t>新增每日状态汇报</a:t>
            </a:r>
            <a:endParaRPr lang="en-US" sz="940" dirty="0"/>
          </a:p>
        </p:txBody>
      </p:sp>
      <p:sp>
        <p:nvSpPr>
          <p:cNvPr id="29" name="Shape 27"/>
          <p:cNvSpPr/>
          <p:nvPr/>
        </p:nvSpPr>
        <p:spPr>
          <a:xfrm>
            <a:off x="749808" y="4572000"/>
            <a:ext cx="3246120" cy="987552"/>
          </a:xfrm>
          <a:prstGeom prst="roundRect">
            <a:avLst>
              <a:gd name="adj" fmla="val 7407"/>
            </a:avLst>
          </a:prstGeom>
          <a:solidFill>
            <a:srgbClr val="EAF8F7"/>
          </a:solidFill>
          <a:ln w="12700">
            <a:solidFill>
              <a:srgbClr val="D7EFEC"/>
            </a:solidFill>
            <a:prstDash val="solid"/>
          </a:ln>
          <a:effectLst>
            <a:outerShdw sx="100000" sy="100000" kx="0" ky="0" algn="bl" rotWithShape="0" blurRad="25400" dist="50800" dir="2700000">
              <a:srgbClr val="76A9A5">
                <a:alpha val="12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987552" y="4754880"/>
            <a:ext cx="1005840" cy="1828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近期判断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987552" y="5074920"/>
            <a:ext cx="2724912" cy="320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15323A"/>
                </a:solidFill>
              </a:rPr>
              <a:t>报告体系持续补齐，便于自动化巡检留痕；业务功能提交在本窗口内未出现新增。</a:t>
            </a:r>
            <a:endParaRPr lang="en-US" sz="1020" dirty="0"/>
          </a:p>
        </p:txBody>
      </p:sp>
      <p:sp>
        <p:nvSpPr>
          <p:cNvPr id="32" name="Shape 30"/>
          <p:cNvSpPr/>
          <p:nvPr/>
        </p:nvSpPr>
        <p:spPr>
          <a:xfrm>
            <a:off x="4498848" y="4572000"/>
            <a:ext cx="3246120" cy="987552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D7EFEC"/>
            </a:solidFill>
            <a:prstDash val="solid"/>
          </a:ln>
          <a:effectLst>
            <a:outerShdw sx="100000" sy="100000" kx="0" ky="0" algn="bl" rotWithShape="0" blurRad="25400" dist="50800" dir="2700000">
              <a:srgbClr val="76A9A5">
                <a:alpha val="12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4736592" y="4754880"/>
            <a:ext cx="1005840" cy="1828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维护含义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4736592" y="5074920"/>
            <a:ext cx="2724912" cy="320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15323A"/>
                </a:solidFill>
              </a:rPr>
              <a:t>当前应把关注点转向真实运行指标、CI 质量门禁和关键链路回归验证。</a:t>
            </a:r>
            <a:endParaRPr lang="en-US" sz="1020" dirty="0"/>
          </a:p>
        </p:txBody>
      </p:sp>
      <p:sp>
        <p:nvSpPr>
          <p:cNvPr id="35" name="Shape 33"/>
          <p:cNvSpPr/>
          <p:nvPr/>
        </p:nvSpPr>
        <p:spPr>
          <a:xfrm>
            <a:off x="8247888" y="4572000"/>
            <a:ext cx="3246120" cy="987552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D7EFEC"/>
            </a:solidFill>
            <a:prstDash val="solid"/>
          </a:ln>
          <a:effectLst>
            <a:outerShdw sx="100000" sy="100000" kx="0" ky="0" algn="bl" rotWithShape="0" blurRad="25400" dist="50800" dir="2700000">
              <a:srgbClr val="76A9A5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8485632" y="4754880"/>
            <a:ext cx="1005840" cy="1828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昨日状态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8485632" y="5074920"/>
            <a:ext cx="2724912" cy="320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15323A"/>
                </a:solidFill>
              </a:rPr>
              <a:t>北京时间 06-21 未发现新的业务代码提交；本次继续生成 06-22 日报。</a:t>
            </a:r>
            <a:endParaRPr lang="en-US" sz="1020" dirty="0"/>
          </a:p>
        </p:txBody>
      </p:sp>
      <p:sp>
        <p:nvSpPr>
          <p:cNvPr id="38" name="Text 36"/>
          <p:cNvSpPr/>
          <p:nvPr/>
        </p:nvSpPr>
        <p:spPr>
          <a:xfrm>
            <a:off x="566928" y="6455664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7478"/>
                </a:solidFill>
              </a:rPr>
              <a:t>yu-ai-code-mother · 每日项目状态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109960" y="6400800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28090"/>
                </a:solidFill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C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CFB"/>
          </a:solidFill>
          <a:ln w="12700">
            <a:solidFill>
              <a:srgbClr val="F5FCF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1200000">
            <a:off x="9509760" y="-320040"/>
            <a:ext cx="3383280" cy="3383280"/>
          </a:xfrm>
          <a:prstGeom prst="arc">
            <a:avLst/>
          </a:prstGeom>
          <a:noFill/>
          <a:ln w="38100">
            <a:solidFill>
              <a:srgbClr val="B7E5E1">
                <a:alpha val="6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424160" y="502920"/>
            <a:ext cx="1097280" cy="1097280"/>
          </a:xfrm>
          <a:prstGeom prst="ellipse">
            <a:avLst/>
          </a:prstGeom>
          <a:solidFill>
            <a:srgbClr val="EAF8F7">
              <a:alpha val="90000"/>
            </a:srgbClr>
          </a:solidFill>
          <a:ln w="12700">
            <a:solidFill>
              <a:srgbClr val="EAF8F7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20040" y="5577840"/>
            <a:ext cx="1005840" cy="1005840"/>
          </a:xfrm>
          <a:prstGeom prst="ellipse">
            <a:avLst/>
          </a:prstGeom>
          <a:solidFill>
            <a:srgbClr val="02C39A">
              <a:alpha val="65000"/>
            </a:srgbClr>
          </a:solidFill>
          <a:ln w="12700">
            <a:solidFill>
              <a:srgbClr val="02C39A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384048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0230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测试 / CI 状态</a:t>
            </a:r>
            <a:endParaRPr lang="en-US" sz="3700" dirty="0"/>
          </a:p>
        </p:txBody>
      </p:sp>
      <p:sp>
        <p:nvSpPr>
          <p:cNvPr id="7" name="Text 5"/>
          <p:cNvSpPr/>
          <p:nvPr/>
        </p:nvSpPr>
        <p:spPr>
          <a:xfrm>
            <a:off x="594360" y="960120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7478"/>
                </a:solidFill>
              </a:rPr>
              <a:t>仓库有测试与构建脚本，但未发现 GitHub Actions workflow 配置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77240" y="1353312"/>
            <a:ext cx="10561320" cy="804672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D7EFEC"/>
            </a:solidFill>
            <a:prstDash val="solid"/>
          </a:ln>
          <a:effectLst>
            <a:outerShdw sx="100000" sy="100000" kx="0" ky="0" algn="bl" rotWithShape="0" blurRad="25400" dist="50800" dir="2700000">
              <a:srgbClr val="76A9A5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1024128" y="1554480"/>
            <a:ext cx="384048" cy="384048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24128" y="1609344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00200" y="1536192"/>
            <a:ext cx="1325880" cy="2011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5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后端测试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2999232" y="1517904"/>
            <a:ext cx="5715000" cy="310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060" dirty="0">
                <a:solidFill>
                  <a:srgbClr val="15323A"/>
                </a:solidFill>
              </a:rPr>
              <a:t>src/test 下 14 个 Java 测试文件，覆盖 AI 服务、LangGraph4j 工作流、工具调用、截图工具与解析器。</a:t>
            </a:r>
            <a:endParaRPr lang="en-US" sz="1060" dirty="0"/>
          </a:p>
        </p:txBody>
      </p:sp>
      <p:sp>
        <p:nvSpPr>
          <p:cNvPr id="13" name="Shape 11"/>
          <p:cNvSpPr/>
          <p:nvPr/>
        </p:nvSpPr>
        <p:spPr>
          <a:xfrm>
            <a:off x="9189720" y="1572768"/>
            <a:ext cx="1325880" cy="292608"/>
          </a:xfrm>
          <a:prstGeom prst="roundRect">
            <a:avLst>
              <a:gd name="adj" fmla="val 37500"/>
            </a:avLst>
          </a:prstGeom>
          <a:solidFill>
            <a:srgbClr val="EAF8F7"/>
          </a:solidFill>
          <a:ln w="12700">
            <a:solidFill>
              <a:srgbClr val="EAF8F7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299448" y="1636776"/>
            <a:ext cx="110642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28090"/>
                </a:solidFill>
              </a:rPr>
              <a:t>已有基础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77240" y="2432304"/>
            <a:ext cx="10561320" cy="804672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D7EFEC"/>
            </a:solidFill>
            <a:prstDash val="solid"/>
          </a:ln>
          <a:effectLst>
            <a:outerShdw sx="100000" sy="100000" kx="0" ky="0" algn="bl" rotWithShape="0" blurRad="25400" dist="50800" dir="2700000">
              <a:srgbClr val="76A9A5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1024128" y="2633472"/>
            <a:ext cx="384048" cy="384048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24128" y="2688336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600200" y="2615184"/>
            <a:ext cx="1325880" cy="2011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5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前端脚本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2999232" y="2596896"/>
            <a:ext cx="5715000" cy="310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060" dirty="0">
                <a:solidFill>
                  <a:srgbClr val="15323A"/>
                </a:solidFill>
              </a:rPr>
              <a:t>package.json 提供 build、type-check、lint、format、openapi2ts 等脚本。</a:t>
            </a:r>
            <a:endParaRPr lang="en-US" sz="1060" dirty="0"/>
          </a:p>
        </p:txBody>
      </p:sp>
      <p:sp>
        <p:nvSpPr>
          <p:cNvPr id="20" name="Shape 18"/>
          <p:cNvSpPr/>
          <p:nvPr/>
        </p:nvSpPr>
        <p:spPr>
          <a:xfrm>
            <a:off x="9189720" y="2651760"/>
            <a:ext cx="1325880" cy="292608"/>
          </a:xfrm>
          <a:prstGeom prst="roundRect">
            <a:avLst>
              <a:gd name="adj" fmla="val 37500"/>
            </a:avLst>
          </a:prstGeom>
          <a:solidFill>
            <a:srgbClr val="EAF8F7"/>
          </a:solidFill>
          <a:ln w="12700">
            <a:solidFill>
              <a:srgbClr val="EAF8F7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299448" y="2715768"/>
            <a:ext cx="110642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28090"/>
                </a:solidFill>
              </a:rPr>
              <a:t>可执行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777240" y="3511296"/>
            <a:ext cx="10561320" cy="804672"/>
          </a:xfrm>
          <a:prstGeom prst="roundRect">
            <a:avLst>
              <a:gd name="adj" fmla="val 9091"/>
            </a:avLst>
          </a:prstGeom>
          <a:solidFill>
            <a:srgbClr val="FFF7EA"/>
          </a:solidFill>
          <a:ln w="12700">
            <a:solidFill>
              <a:srgbClr val="F3D19E"/>
            </a:solidFill>
            <a:prstDash val="solid"/>
          </a:ln>
          <a:effectLst>
            <a:outerShdw sx="100000" sy="100000" kx="0" ky="0" algn="bl" rotWithShape="0" blurRad="25400" dist="50800" dir="2700000">
              <a:srgbClr val="76A9A5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1024128" y="3712464"/>
            <a:ext cx="384048" cy="384048"/>
          </a:xfrm>
          <a:prstGeom prst="ellipse">
            <a:avLst/>
          </a:prstGeom>
          <a:solidFill>
            <a:srgbClr val="F6A23A"/>
          </a:solidFill>
          <a:ln w="12700">
            <a:solidFill>
              <a:srgbClr val="F6A23A">
                <a:alpha val="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24128" y="3767328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600200" y="3694176"/>
            <a:ext cx="1325880" cy="2011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5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配置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2999232" y="3675888"/>
            <a:ext cx="5715000" cy="310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060" dirty="0">
                <a:solidFill>
                  <a:srgbClr val="15323A"/>
                </a:solidFill>
              </a:rPr>
              <a:t>.github/workflows 未发现；最近状态无法从仓库内 CI 配置判断。</a:t>
            </a:r>
            <a:endParaRPr lang="en-US" sz="1060" dirty="0"/>
          </a:p>
        </p:txBody>
      </p:sp>
      <p:sp>
        <p:nvSpPr>
          <p:cNvPr id="27" name="Shape 25"/>
          <p:cNvSpPr/>
          <p:nvPr/>
        </p:nvSpPr>
        <p:spPr>
          <a:xfrm>
            <a:off x="9189720" y="3730752"/>
            <a:ext cx="1325880" cy="292608"/>
          </a:xfrm>
          <a:prstGeom prst="roundRect">
            <a:avLst>
              <a:gd name="adj" fmla="val 37500"/>
            </a:avLst>
          </a:prstGeom>
          <a:solidFill>
            <a:srgbClr val="FFE6B7"/>
          </a:solidFill>
          <a:ln w="12700">
            <a:solidFill>
              <a:srgbClr val="FFE6B7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299448" y="3794760"/>
            <a:ext cx="110642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B66B00"/>
                </a:solidFill>
              </a:rPr>
              <a:t>未配置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777240" y="4590288"/>
            <a:ext cx="10561320" cy="804672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D7EFEC"/>
            </a:solidFill>
            <a:prstDash val="solid"/>
          </a:ln>
          <a:effectLst>
            <a:outerShdw sx="100000" sy="100000" kx="0" ky="0" algn="bl" rotWithShape="0" blurRad="25400" dist="50800" dir="2700000">
              <a:srgbClr val="76A9A5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1024128" y="4791456"/>
            <a:ext cx="384048" cy="384048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>
                <a:alpha val="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24128" y="4846320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600200" y="4773168"/>
            <a:ext cx="1325880" cy="2011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5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本次验证</a:t>
            </a:r>
            <a:endParaRPr lang="en-US" sz="1450" dirty="0"/>
          </a:p>
        </p:txBody>
      </p:sp>
      <p:sp>
        <p:nvSpPr>
          <p:cNvPr id="33" name="Text 31"/>
          <p:cNvSpPr/>
          <p:nvPr/>
        </p:nvSpPr>
        <p:spPr>
          <a:xfrm>
            <a:off x="2999232" y="4754880"/>
            <a:ext cx="5715000" cy="310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060" dirty="0">
                <a:solidFill>
                  <a:srgbClr val="15323A"/>
                </a:solidFill>
              </a:rPr>
              <a:t>本次只新增报告文件，未改业务代码；已执行 PPT 文本抽取与占位词检查。</a:t>
            </a:r>
            <a:endParaRPr lang="en-US" sz="1060" dirty="0"/>
          </a:p>
        </p:txBody>
      </p:sp>
      <p:sp>
        <p:nvSpPr>
          <p:cNvPr id="34" name="Shape 32"/>
          <p:cNvSpPr/>
          <p:nvPr/>
        </p:nvSpPr>
        <p:spPr>
          <a:xfrm>
            <a:off x="9189720" y="4809744"/>
            <a:ext cx="1325880" cy="292608"/>
          </a:xfrm>
          <a:prstGeom prst="roundRect">
            <a:avLst>
              <a:gd name="adj" fmla="val 37500"/>
            </a:avLst>
          </a:prstGeom>
          <a:solidFill>
            <a:srgbClr val="EAF8F7"/>
          </a:solidFill>
          <a:ln w="12700">
            <a:solidFill>
              <a:srgbClr val="EAF8F7">
                <a:alpha val="0"/>
              </a:srgbClr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299448" y="4873752"/>
            <a:ext cx="110642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28090"/>
                </a:solidFill>
              </a:rPr>
              <a:t>报告验证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914400" y="5715000"/>
            <a:ext cx="10012680" cy="384048"/>
          </a:xfrm>
          <a:prstGeom prst="roundRect">
            <a:avLst>
              <a:gd name="adj" fmla="val 19048"/>
            </a:avLst>
          </a:prstGeom>
          <a:solidFill>
            <a:srgbClr val="E2F5F3"/>
          </a:solidFill>
          <a:ln w="12700">
            <a:solidFill>
              <a:srgbClr val="D7EFE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15568" y="5806440"/>
            <a:ext cx="9509760" cy="1463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070" dirty="0">
                <a:solidFill>
                  <a:srgbClr val="15323A"/>
                </a:solidFill>
              </a:rPr>
              <a:t>建议：补充 Maven + 前端 type-check/build 的最小 CI，随后把关键 AI 工作流测试按环境变量分层执行。</a:t>
            </a:r>
            <a:endParaRPr lang="en-US" sz="1070" dirty="0"/>
          </a:p>
        </p:txBody>
      </p:sp>
      <p:sp>
        <p:nvSpPr>
          <p:cNvPr id="38" name="Text 36"/>
          <p:cNvSpPr/>
          <p:nvPr/>
        </p:nvSpPr>
        <p:spPr>
          <a:xfrm>
            <a:off x="566928" y="6455664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7478"/>
                </a:solidFill>
              </a:rPr>
              <a:t>yu-ai-code-mother · 每日项目状态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109960" y="6400800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28090"/>
                </a:solidFill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C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CFB"/>
          </a:solidFill>
          <a:ln w="12700">
            <a:solidFill>
              <a:srgbClr val="F5FCF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1200000">
            <a:off x="9509760" y="-320040"/>
            <a:ext cx="3383280" cy="3383280"/>
          </a:xfrm>
          <a:prstGeom prst="arc">
            <a:avLst/>
          </a:prstGeom>
          <a:noFill/>
          <a:ln w="38100">
            <a:solidFill>
              <a:srgbClr val="B7E5E1">
                <a:alpha val="6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424160" y="502920"/>
            <a:ext cx="1097280" cy="1097280"/>
          </a:xfrm>
          <a:prstGeom prst="ellipse">
            <a:avLst/>
          </a:prstGeom>
          <a:solidFill>
            <a:srgbClr val="EAF8F7">
              <a:alpha val="90000"/>
            </a:srgbClr>
          </a:solidFill>
          <a:ln w="12700">
            <a:solidFill>
              <a:srgbClr val="EAF8F7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20040" y="5577840"/>
            <a:ext cx="1005840" cy="1005840"/>
          </a:xfrm>
          <a:prstGeom prst="ellipse">
            <a:avLst/>
          </a:prstGeom>
          <a:solidFill>
            <a:srgbClr val="02C39A">
              <a:alpha val="65000"/>
            </a:srgbClr>
          </a:solidFill>
          <a:ln w="12700">
            <a:solidFill>
              <a:srgbClr val="02C39A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384048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0230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数据 / 指标要点</a:t>
            </a:r>
            <a:endParaRPr lang="en-US" sz="3700" dirty="0"/>
          </a:p>
        </p:txBody>
      </p:sp>
      <p:sp>
        <p:nvSpPr>
          <p:cNvPr id="7" name="Text 5"/>
          <p:cNvSpPr/>
          <p:nvPr/>
        </p:nvSpPr>
        <p:spPr>
          <a:xfrm>
            <a:off x="594360" y="960120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7478"/>
                </a:solidFill>
              </a:rPr>
              <a:t>当前更适合建立指标口径；真实生产数值需接入运行环境和业务埋点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49808" y="1481328"/>
            <a:ext cx="498348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D7EFEC"/>
            </a:solidFill>
            <a:prstDash val="solid"/>
          </a:ln>
          <a:effectLst>
            <a:outerShdw sx="100000" sy="100000" kx="0" ky="0" algn="bl" rotWithShape="0" blurRad="25400" dist="50800" dir="2700000">
              <a:srgbClr val="76A9A5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1005840" y="164592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28090"/>
                </a:solidFill>
              </a:rPr>
              <a:t>待接入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2624328" y="1709928"/>
            <a:ext cx="2103120" cy="2286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15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调用量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1024128" y="2267712"/>
            <a:ext cx="42519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15323A"/>
                </a:solidFill>
              </a:rPr>
              <a:t>按用户、模型、应用维度统计请求量与 token 消耗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1024128" y="2139696"/>
            <a:ext cx="4343400" cy="0"/>
          </a:xfrm>
          <a:prstGeom prst="line">
            <a:avLst/>
          </a:prstGeom>
          <a:noFill/>
          <a:ln w="15240">
            <a:solidFill>
              <a:srgbClr val="B7E5E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1481328"/>
            <a:ext cx="498348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D7EFEC"/>
            </a:solidFill>
            <a:prstDash val="solid"/>
          </a:ln>
          <a:effectLst>
            <a:outerShdw sx="100000" sy="100000" kx="0" ky="0" algn="bl" rotWithShape="0" blurRad="25400" dist="50800" dir="2700000">
              <a:srgbClr val="76A9A5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492240" y="164592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28090"/>
                </a:solidFill>
              </a:rPr>
              <a:t>待接入</a:t>
            </a:r>
            <a:endParaRPr lang="en-US" sz="2500" dirty="0"/>
          </a:p>
        </p:txBody>
      </p:sp>
      <p:sp>
        <p:nvSpPr>
          <p:cNvPr id="15" name="Text 13"/>
          <p:cNvSpPr/>
          <p:nvPr/>
        </p:nvSpPr>
        <p:spPr>
          <a:xfrm>
            <a:off x="8110728" y="1709928"/>
            <a:ext cx="2103120" cy="2286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15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生成成功率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6510528" y="2267712"/>
            <a:ext cx="42519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15323A"/>
                </a:solidFill>
              </a:rPr>
              <a:t>区分 HTML、多文件、Vue 工程三类生成路径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510528" y="2139696"/>
            <a:ext cx="4343400" cy="0"/>
          </a:xfrm>
          <a:prstGeom prst="line">
            <a:avLst/>
          </a:prstGeom>
          <a:noFill/>
          <a:ln w="15240">
            <a:solidFill>
              <a:srgbClr val="B7E5E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49808" y="3310128"/>
            <a:ext cx="498348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D7EFEC"/>
            </a:solidFill>
            <a:prstDash val="solid"/>
          </a:ln>
          <a:effectLst>
            <a:outerShdw sx="100000" sy="100000" kx="0" ky="0" algn="bl" rotWithShape="0" blurRad="25400" dist="50800" dir="2700000">
              <a:srgbClr val="76A9A5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1005840" y="347472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28090"/>
                </a:solidFill>
              </a:rPr>
              <a:t>待接入</a:t>
            </a:r>
            <a:endParaRPr lang="en-US" sz="2500" dirty="0"/>
          </a:p>
        </p:txBody>
      </p:sp>
      <p:sp>
        <p:nvSpPr>
          <p:cNvPr id="20" name="Text 18"/>
          <p:cNvSpPr/>
          <p:nvPr/>
        </p:nvSpPr>
        <p:spPr>
          <a:xfrm>
            <a:off x="2624328" y="3538728"/>
            <a:ext cx="2103120" cy="2286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15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部署成功率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1024128" y="4096512"/>
            <a:ext cx="42519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15323A"/>
                </a:solidFill>
              </a:rPr>
              <a:t>追踪构建失败、文件复制失败、截图上传失败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1024128" y="3968496"/>
            <a:ext cx="4343400" cy="0"/>
          </a:xfrm>
          <a:prstGeom prst="line">
            <a:avLst/>
          </a:prstGeom>
          <a:noFill/>
          <a:ln w="15240">
            <a:solidFill>
              <a:srgbClr val="B7E5E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236208" y="3310128"/>
            <a:ext cx="498348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D7EFEC"/>
            </a:solidFill>
            <a:prstDash val="solid"/>
          </a:ln>
          <a:effectLst>
            <a:outerShdw sx="100000" sy="100000" kx="0" ky="0" algn="bl" rotWithShape="0" blurRad="25400" dist="50800" dir="2700000">
              <a:srgbClr val="76A9A5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492240" y="347472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28090"/>
                </a:solidFill>
              </a:rPr>
              <a:t>待接入</a:t>
            </a:r>
            <a:endParaRPr lang="en-US" sz="2500" dirty="0"/>
          </a:p>
        </p:txBody>
      </p:sp>
      <p:sp>
        <p:nvSpPr>
          <p:cNvPr id="25" name="Text 23"/>
          <p:cNvSpPr/>
          <p:nvPr/>
        </p:nvSpPr>
        <p:spPr>
          <a:xfrm>
            <a:off x="8110728" y="3538728"/>
            <a:ext cx="2103120" cy="2286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15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活跃应用数</a:t>
            </a:r>
            <a:endParaRPr lang="en-US" sz="1550" dirty="0"/>
          </a:p>
        </p:txBody>
      </p:sp>
      <p:sp>
        <p:nvSpPr>
          <p:cNvPr id="26" name="Text 24"/>
          <p:cNvSpPr/>
          <p:nvPr/>
        </p:nvSpPr>
        <p:spPr>
          <a:xfrm>
            <a:off x="6510528" y="4096512"/>
            <a:ext cx="42519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15323A"/>
                </a:solidFill>
              </a:rPr>
              <a:t>结合应用创建、对话次数、部署行为衡量留存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510528" y="3968496"/>
            <a:ext cx="4343400" cy="0"/>
          </a:xfrm>
          <a:prstGeom prst="line">
            <a:avLst/>
          </a:prstGeom>
          <a:noFill/>
          <a:ln w="15240">
            <a:solidFill>
              <a:srgbClr val="B7E5E1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14400" y="5440680"/>
            <a:ext cx="10332720" cy="640080"/>
          </a:xfrm>
          <a:prstGeom prst="roundRect">
            <a:avLst>
              <a:gd name="adj" fmla="val 11429"/>
            </a:avLst>
          </a:prstGeom>
          <a:solidFill>
            <a:srgbClr val="EAF8F7"/>
          </a:solidFill>
          <a:ln w="12700">
            <a:solidFill>
              <a:srgbClr val="D7EFE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170432" y="5605272"/>
            <a:ext cx="9784080" cy="219456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280" dirty="0">
                <a:solidFill>
                  <a:srgbClr val="15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已有基础：pom 中包含 Actuator 与 Prometheus registry；服务层已有 MonitorContext，可继续扩展 AI 调用、应用生成、部署链路的指标标签。</a:t>
            </a:r>
            <a:endParaRPr lang="en-US" sz="1280" dirty="0"/>
          </a:p>
        </p:txBody>
      </p:sp>
      <p:sp>
        <p:nvSpPr>
          <p:cNvPr id="30" name="Text 28"/>
          <p:cNvSpPr/>
          <p:nvPr/>
        </p:nvSpPr>
        <p:spPr>
          <a:xfrm>
            <a:off x="566928" y="6455664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7478"/>
                </a:solidFill>
              </a:rPr>
              <a:t>yu-ai-code-mother · 每日项目状态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1109960" y="6400800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28090"/>
                </a:solidFill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C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CFB"/>
          </a:solidFill>
          <a:ln w="12700">
            <a:solidFill>
              <a:srgbClr val="F5FCF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1200000">
            <a:off x="9509760" y="-320040"/>
            <a:ext cx="3383280" cy="3383280"/>
          </a:xfrm>
          <a:prstGeom prst="arc">
            <a:avLst/>
          </a:prstGeom>
          <a:noFill/>
          <a:ln w="38100">
            <a:solidFill>
              <a:srgbClr val="B7E5E1">
                <a:alpha val="6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424160" y="502920"/>
            <a:ext cx="1097280" cy="1097280"/>
          </a:xfrm>
          <a:prstGeom prst="ellipse">
            <a:avLst/>
          </a:prstGeom>
          <a:solidFill>
            <a:srgbClr val="EAF8F7">
              <a:alpha val="90000"/>
            </a:srgbClr>
          </a:solidFill>
          <a:ln w="12700">
            <a:solidFill>
              <a:srgbClr val="EAF8F7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20040" y="5577840"/>
            <a:ext cx="1005840" cy="1005840"/>
          </a:xfrm>
          <a:prstGeom prst="ellipse">
            <a:avLst/>
          </a:prstGeom>
          <a:solidFill>
            <a:srgbClr val="02C39A">
              <a:alpha val="65000"/>
            </a:srgbClr>
          </a:solidFill>
          <a:ln w="12700">
            <a:solidFill>
              <a:srgbClr val="02C39A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384048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0230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未完成项、风险与阻塞</a:t>
            </a:r>
            <a:endParaRPr lang="en-US" sz="3700" dirty="0"/>
          </a:p>
        </p:txBody>
      </p:sp>
      <p:sp>
        <p:nvSpPr>
          <p:cNvPr id="7" name="Text 5"/>
          <p:cNvSpPr/>
          <p:nvPr/>
        </p:nvSpPr>
        <p:spPr>
          <a:xfrm>
            <a:off x="594360" y="960120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7478"/>
                </a:solidFill>
              </a:rPr>
              <a:t>主要风险集中在外部依赖、生成安全、质量门禁和可观测性闭环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49808" y="1325880"/>
            <a:ext cx="5074920" cy="1060704"/>
          </a:xfrm>
          <a:prstGeom prst="roundRect">
            <a:avLst>
              <a:gd name="adj" fmla="val 6897"/>
            </a:avLst>
          </a:prstGeom>
          <a:solidFill>
            <a:srgbClr val="FFF0EA"/>
          </a:solidFill>
          <a:ln w="12700">
            <a:solidFill>
              <a:srgbClr val="F0B8A2"/>
            </a:solidFill>
            <a:prstDash val="solid"/>
          </a:ln>
          <a:effectLst>
            <a:outerShdw sx="100000" sy="100000" kx="0" ky="0" algn="bl" rotWithShape="0" blurRad="25400" dist="50800" dir="2700000">
              <a:srgbClr val="76A9A5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978408" y="1508760"/>
            <a:ext cx="594360" cy="292608"/>
          </a:xfrm>
          <a:prstGeom prst="roundRect">
            <a:avLst>
              <a:gd name="adj" fmla="val 15625"/>
            </a:avLst>
          </a:prstGeom>
          <a:solidFill>
            <a:srgbClr val="D95D39"/>
          </a:solidFill>
          <a:ln w="12700">
            <a:solidFill>
              <a:srgbClr val="D95D39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581912"/>
            <a:ext cx="5943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高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709928" y="1499616"/>
            <a:ext cx="2286000" cy="2011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5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成本与稳定性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1709928" y="1856232"/>
            <a:ext cx="3584448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970" dirty="0">
                <a:solidFill>
                  <a:srgbClr val="15323A"/>
                </a:solidFill>
              </a:rPr>
              <a:t>模型服务、提示词质量和并发请求会直接影响响应时间与费用。</a:t>
            </a:r>
            <a:endParaRPr lang="en-US" sz="970" dirty="0"/>
          </a:p>
        </p:txBody>
      </p:sp>
      <p:sp>
        <p:nvSpPr>
          <p:cNvPr id="13" name="Shape 11"/>
          <p:cNvSpPr/>
          <p:nvPr/>
        </p:nvSpPr>
        <p:spPr>
          <a:xfrm>
            <a:off x="6281928" y="1325880"/>
            <a:ext cx="5074920" cy="1060704"/>
          </a:xfrm>
          <a:prstGeom prst="roundRect">
            <a:avLst>
              <a:gd name="adj" fmla="val 6897"/>
            </a:avLst>
          </a:prstGeom>
          <a:solidFill>
            <a:srgbClr val="FFF0EA"/>
          </a:solidFill>
          <a:ln w="12700">
            <a:solidFill>
              <a:srgbClr val="F0B8A2"/>
            </a:solidFill>
            <a:prstDash val="solid"/>
          </a:ln>
          <a:effectLst>
            <a:outerShdw sx="100000" sy="100000" kx="0" ky="0" algn="bl" rotWithShape="0" blurRad="25400" dist="50800" dir="2700000">
              <a:srgbClr val="76A9A5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510528" y="1508760"/>
            <a:ext cx="594360" cy="292608"/>
          </a:xfrm>
          <a:prstGeom prst="roundRect">
            <a:avLst>
              <a:gd name="adj" fmla="val 15625"/>
            </a:avLst>
          </a:prstGeom>
          <a:solidFill>
            <a:srgbClr val="D95D39"/>
          </a:solidFill>
          <a:ln w="12700">
            <a:solidFill>
              <a:srgbClr val="D95D39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10528" y="1581912"/>
            <a:ext cx="5943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高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242048" y="1499616"/>
            <a:ext cx="2286000" cy="2011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5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生成代码安全边界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7242048" y="1856232"/>
            <a:ext cx="3584448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970" dirty="0">
                <a:solidFill>
                  <a:srgbClr val="15323A"/>
                </a:solidFill>
              </a:rPr>
              <a:t>需要限制危险脚本、外链、文件写入范围与部署目录隔离策略。</a:t>
            </a:r>
            <a:endParaRPr lang="en-US" sz="970" dirty="0"/>
          </a:p>
        </p:txBody>
      </p:sp>
      <p:sp>
        <p:nvSpPr>
          <p:cNvPr id="18" name="Shape 16"/>
          <p:cNvSpPr/>
          <p:nvPr/>
        </p:nvSpPr>
        <p:spPr>
          <a:xfrm>
            <a:off x="749808" y="2807208"/>
            <a:ext cx="5074920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7EFEC"/>
            </a:solidFill>
            <a:prstDash val="solid"/>
          </a:ln>
          <a:effectLst>
            <a:outerShdw sx="100000" sy="100000" kx="0" ky="0" algn="bl" rotWithShape="0" blurRad="25400" dist="50800" dir="2700000">
              <a:srgbClr val="76A9A5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978408" y="2990088"/>
            <a:ext cx="594360" cy="292608"/>
          </a:xfrm>
          <a:prstGeom prst="roundRect">
            <a:avLst>
              <a:gd name="adj" fmla="val 15625"/>
            </a:avLst>
          </a:prstGeom>
          <a:solidFill>
            <a:srgbClr val="F6A23A"/>
          </a:solidFill>
          <a:ln w="12700">
            <a:solidFill>
              <a:srgbClr val="F6A23A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78408" y="3063240"/>
            <a:ext cx="5943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中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709928" y="2980944"/>
            <a:ext cx="2286000" cy="2011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5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截图 / 浏览器依赖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1709928" y="3337560"/>
            <a:ext cx="3584448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970" dirty="0">
                <a:solidFill>
                  <a:srgbClr val="15323A"/>
                </a:solidFill>
              </a:rPr>
              <a:t>Selenium、WebDriver、对象存储配置会影响封面生成成功率。</a:t>
            </a:r>
            <a:endParaRPr lang="en-US" sz="970" dirty="0"/>
          </a:p>
        </p:txBody>
      </p:sp>
      <p:sp>
        <p:nvSpPr>
          <p:cNvPr id="23" name="Shape 21"/>
          <p:cNvSpPr/>
          <p:nvPr/>
        </p:nvSpPr>
        <p:spPr>
          <a:xfrm>
            <a:off x="6281928" y="2807208"/>
            <a:ext cx="5074920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7EFEC"/>
            </a:solidFill>
            <a:prstDash val="solid"/>
          </a:ln>
          <a:effectLst>
            <a:outerShdw sx="100000" sy="100000" kx="0" ky="0" algn="bl" rotWithShape="0" blurRad="25400" dist="50800" dir="2700000">
              <a:srgbClr val="76A9A5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510528" y="2990088"/>
            <a:ext cx="594360" cy="292608"/>
          </a:xfrm>
          <a:prstGeom prst="roundRect">
            <a:avLst>
              <a:gd name="adj" fmla="val 15625"/>
            </a:avLst>
          </a:prstGeom>
          <a:solidFill>
            <a:srgbClr val="F6A23A"/>
          </a:solidFill>
          <a:ln w="12700">
            <a:solidFill>
              <a:srgbClr val="F6A23A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510528" y="3063240"/>
            <a:ext cx="5943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中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7242048" y="2980944"/>
            <a:ext cx="2286000" cy="2011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5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缺口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7242048" y="3337560"/>
            <a:ext cx="3584448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970" dirty="0">
                <a:solidFill>
                  <a:srgbClr val="15323A"/>
                </a:solidFill>
              </a:rPr>
              <a:t>缺少自动构建与回归门禁，报告外的业务变更风险难以及时暴露。</a:t>
            </a:r>
            <a:endParaRPr lang="en-US" sz="970" dirty="0"/>
          </a:p>
        </p:txBody>
      </p:sp>
      <p:sp>
        <p:nvSpPr>
          <p:cNvPr id="28" name="Shape 26"/>
          <p:cNvSpPr/>
          <p:nvPr/>
        </p:nvSpPr>
        <p:spPr>
          <a:xfrm>
            <a:off x="749808" y="4288536"/>
            <a:ext cx="5074920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7EFEC"/>
            </a:solidFill>
            <a:prstDash val="solid"/>
          </a:ln>
          <a:effectLst>
            <a:outerShdw sx="100000" sy="100000" kx="0" ky="0" algn="bl" rotWithShape="0" blurRad="25400" dist="50800" dir="2700000">
              <a:srgbClr val="76A9A5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978408" y="4471416"/>
            <a:ext cx="594360" cy="292608"/>
          </a:xfrm>
          <a:prstGeom prst="roundRect">
            <a:avLst>
              <a:gd name="adj" fmla="val 15625"/>
            </a:avLst>
          </a:prstGeom>
          <a:solidFill>
            <a:srgbClr val="F6A23A"/>
          </a:solidFill>
          <a:ln w="12700">
            <a:solidFill>
              <a:srgbClr val="F6A23A">
                <a:alpha val="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78408" y="4544568"/>
            <a:ext cx="5943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中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709928" y="4462272"/>
            <a:ext cx="2286000" cy="2011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5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配置与密钥治理</a:t>
            </a:r>
            <a:endParaRPr lang="en-US" sz="1350" dirty="0"/>
          </a:p>
        </p:txBody>
      </p:sp>
      <p:sp>
        <p:nvSpPr>
          <p:cNvPr id="32" name="Text 30"/>
          <p:cNvSpPr/>
          <p:nvPr/>
        </p:nvSpPr>
        <p:spPr>
          <a:xfrm>
            <a:off x="1709928" y="4818888"/>
            <a:ext cx="3584448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970" dirty="0">
                <a:solidFill>
                  <a:srgbClr val="15323A"/>
                </a:solidFill>
              </a:rPr>
              <a:t>AI Key、Redis、MySQL、COS、部署域名等配置需按环境隔离。</a:t>
            </a:r>
            <a:endParaRPr lang="en-US" sz="970" dirty="0"/>
          </a:p>
        </p:txBody>
      </p:sp>
      <p:sp>
        <p:nvSpPr>
          <p:cNvPr id="33" name="Shape 31"/>
          <p:cNvSpPr/>
          <p:nvPr/>
        </p:nvSpPr>
        <p:spPr>
          <a:xfrm>
            <a:off x="6281928" y="4288536"/>
            <a:ext cx="5074920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7EFEC"/>
            </a:solidFill>
            <a:prstDash val="solid"/>
          </a:ln>
          <a:effectLst>
            <a:outerShdw sx="100000" sy="100000" kx="0" ky="0" algn="bl" rotWithShape="0" blurRad="25400" dist="50800" dir="2700000">
              <a:srgbClr val="76A9A5">
                <a:alpha val="12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6510528" y="4471416"/>
            <a:ext cx="594360" cy="292608"/>
          </a:xfrm>
          <a:prstGeom prst="roundRect">
            <a:avLst>
              <a:gd name="adj" fmla="val 15625"/>
            </a:avLst>
          </a:prstGeom>
          <a:solidFill>
            <a:srgbClr val="F6A23A"/>
          </a:solidFill>
          <a:ln w="12700">
            <a:solidFill>
              <a:srgbClr val="F6A23A">
                <a:alpha val="0"/>
              </a:srgbClr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10528" y="4544568"/>
            <a:ext cx="5943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中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242048" y="4462272"/>
            <a:ext cx="2286000" cy="2011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5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微服务落地一致性</a:t>
            </a:r>
            <a:endParaRPr lang="en-US" sz="1350" dirty="0"/>
          </a:p>
        </p:txBody>
      </p:sp>
      <p:sp>
        <p:nvSpPr>
          <p:cNvPr id="37" name="Text 35"/>
          <p:cNvSpPr/>
          <p:nvPr/>
        </p:nvSpPr>
        <p:spPr>
          <a:xfrm>
            <a:off x="7242048" y="4818888"/>
            <a:ext cx="3584448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970" dirty="0">
                <a:solidFill>
                  <a:srgbClr val="15323A"/>
                </a:solidFill>
              </a:rPr>
              <a:t>目录已拆分，但服务边界、注册发现、链路追踪与部署脚本需继续对齐。</a:t>
            </a:r>
            <a:endParaRPr lang="en-US" sz="970" dirty="0"/>
          </a:p>
        </p:txBody>
      </p:sp>
      <p:sp>
        <p:nvSpPr>
          <p:cNvPr id="38" name="Text 36"/>
          <p:cNvSpPr/>
          <p:nvPr/>
        </p:nvSpPr>
        <p:spPr>
          <a:xfrm>
            <a:off x="566928" y="6455664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7478"/>
                </a:solidFill>
              </a:rPr>
              <a:t>yu-ai-code-mother · 每日项目状态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109960" y="6400800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28090"/>
                </a:solidFill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C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CFB"/>
          </a:solidFill>
          <a:ln w="12700">
            <a:solidFill>
              <a:srgbClr val="F5FCF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1200000">
            <a:off x="9509760" y="-320040"/>
            <a:ext cx="3383280" cy="3383280"/>
          </a:xfrm>
          <a:prstGeom prst="arc">
            <a:avLst/>
          </a:prstGeom>
          <a:noFill/>
          <a:ln w="38100">
            <a:solidFill>
              <a:srgbClr val="B7E5E1">
                <a:alpha val="6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424160" y="502920"/>
            <a:ext cx="1097280" cy="1097280"/>
          </a:xfrm>
          <a:prstGeom prst="ellipse">
            <a:avLst/>
          </a:prstGeom>
          <a:solidFill>
            <a:srgbClr val="EAF8F7">
              <a:alpha val="90000"/>
            </a:srgbClr>
          </a:solidFill>
          <a:ln w="12700">
            <a:solidFill>
              <a:srgbClr val="EAF8F7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20040" y="5577840"/>
            <a:ext cx="1005840" cy="1005840"/>
          </a:xfrm>
          <a:prstGeom prst="ellipse">
            <a:avLst/>
          </a:prstGeom>
          <a:solidFill>
            <a:srgbClr val="02C39A">
              <a:alpha val="65000"/>
            </a:srgbClr>
          </a:solidFill>
          <a:ln w="12700">
            <a:solidFill>
              <a:srgbClr val="02C39A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384048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0230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建议的下一步</a:t>
            </a:r>
            <a:endParaRPr lang="en-US" sz="3700" dirty="0"/>
          </a:p>
        </p:txBody>
      </p:sp>
      <p:sp>
        <p:nvSpPr>
          <p:cNvPr id="7" name="Text 5"/>
          <p:cNvSpPr/>
          <p:nvPr/>
        </p:nvSpPr>
        <p:spPr>
          <a:xfrm>
            <a:off x="594360" y="960120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7478"/>
                </a:solidFill>
              </a:rPr>
              <a:t>优先补齐质量与可观测性，再推进生成链路体验和微服务化治理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822960" y="1691640"/>
            <a:ext cx="1874520" cy="39319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D7EFEC"/>
            </a:solidFill>
            <a:prstDash val="solid"/>
          </a:ln>
          <a:effectLst>
            <a:outerShdw sx="100000" sy="100000" kx="0" ky="0" algn="bl" rotWithShape="0" blurRad="25400" dist="50800" dir="2700000">
              <a:srgbClr val="76A9A5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1024128" y="1920240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28090"/>
                </a:solidFill>
              </a:rPr>
              <a:t>01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1051560" y="2523744"/>
            <a:ext cx="1371600" cy="0"/>
          </a:xfrm>
          <a:prstGeom prst="line">
            <a:avLst/>
          </a:prstGeom>
          <a:noFill/>
          <a:ln w="25400">
            <a:solidFill>
              <a:srgbClr val="00A89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834640"/>
            <a:ext cx="1426464" cy="219456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5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建立最小 CI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033272" y="3337560"/>
            <a:ext cx="1417320" cy="9144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15323A"/>
                </a:solidFill>
              </a:rPr>
              <a:t>后端 Maven test、前端 type-check/build、PPT 报告检查纳入自动化。</a:t>
            </a:r>
            <a:endParaRPr lang="en-US" sz="1020" dirty="0"/>
          </a:p>
        </p:txBody>
      </p:sp>
      <p:sp>
        <p:nvSpPr>
          <p:cNvPr id="13" name="Shape 11"/>
          <p:cNvSpPr/>
          <p:nvPr/>
        </p:nvSpPr>
        <p:spPr>
          <a:xfrm>
            <a:off x="3063240" y="1691640"/>
            <a:ext cx="1874520" cy="3931920"/>
          </a:xfrm>
          <a:prstGeom prst="roundRect">
            <a:avLst>
              <a:gd name="adj" fmla="val 3902"/>
            </a:avLst>
          </a:prstGeom>
          <a:solidFill>
            <a:srgbClr val="EAF8F7"/>
          </a:solidFill>
          <a:ln w="12700">
            <a:solidFill>
              <a:srgbClr val="D7EFEC"/>
            </a:solidFill>
            <a:prstDash val="solid"/>
          </a:ln>
          <a:effectLst>
            <a:outerShdw sx="100000" sy="100000" kx="0" ky="0" algn="bl" rotWithShape="0" blurRad="25400" dist="50800" dir="2700000">
              <a:srgbClr val="76A9A5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3264408" y="1920240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28090"/>
                </a:solidFill>
              </a:rPr>
              <a:t>02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3291840" y="2523744"/>
            <a:ext cx="1371600" cy="0"/>
          </a:xfrm>
          <a:prstGeom prst="line">
            <a:avLst/>
          </a:prstGeom>
          <a:noFill/>
          <a:ln w="25400">
            <a:solidFill>
              <a:srgbClr val="00A89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264408" y="2834640"/>
            <a:ext cx="1426464" cy="219456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5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定义业务指标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3273552" y="3337560"/>
            <a:ext cx="1417320" cy="9144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15323A"/>
                </a:solidFill>
              </a:rPr>
              <a:t>接入 AI 调用量、成功率、构建失败率、部署成功率、用户活跃度。</a:t>
            </a:r>
            <a:endParaRPr lang="en-US" sz="1020" dirty="0"/>
          </a:p>
        </p:txBody>
      </p:sp>
      <p:sp>
        <p:nvSpPr>
          <p:cNvPr id="18" name="Shape 16"/>
          <p:cNvSpPr/>
          <p:nvPr/>
        </p:nvSpPr>
        <p:spPr>
          <a:xfrm>
            <a:off x="5303520" y="1691640"/>
            <a:ext cx="1874520" cy="39319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D7EFEC"/>
            </a:solidFill>
            <a:prstDash val="solid"/>
          </a:ln>
          <a:effectLst>
            <a:outerShdw sx="100000" sy="100000" kx="0" ky="0" algn="bl" rotWithShape="0" blurRad="25400" dist="50800" dir="2700000">
              <a:srgbClr val="76A9A5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504688" y="1920240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28090"/>
                </a:solidFill>
              </a:rPr>
              <a:t>03</a:t>
            </a:r>
            <a:endParaRPr lang="en-US" sz="2400" dirty="0"/>
          </a:p>
        </p:txBody>
      </p:sp>
      <p:sp>
        <p:nvSpPr>
          <p:cNvPr id="20" name="Shape 18"/>
          <p:cNvSpPr/>
          <p:nvPr/>
        </p:nvSpPr>
        <p:spPr>
          <a:xfrm>
            <a:off x="5532120" y="2523744"/>
            <a:ext cx="1371600" cy="0"/>
          </a:xfrm>
          <a:prstGeom prst="line">
            <a:avLst/>
          </a:prstGeom>
          <a:noFill/>
          <a:ln w="25400">
            <a:solidFill>
              <a:srgbClr val="00A89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504688" y="2834640"/>
            <a:ext cx="1426464" cy="219456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5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加固生成与部署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5513832" y="3337560"/>
            <a:ext cx="1417320" cy="9144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15323A"/>
                </a:solidFill>
              </a:rPr>
              <a:t>增加代码安全校验、部署目录隔离、构建失败回滚和截图失败补偿。</a:t>
            </a:r>
            <a:endParaRPr lang="en-US" sz="1020" dirty="0"/>
          </a:p>
        </p:txBody>
      </p:sp>
      <p:sp>
        <p:nvSpPr>
          <p:cNvPr id="23" name="Shape 21"/>
          <p:cNvSpPr/>
          <p:nvPr/>
        </p:nvSpPr>
        <p:spPr>
          <a:xfrm>
            <a:off x="7543800" y="1691640"/>
            <a:ext cx="1874520" cy="3931920"/>
          </a:xfrm>
          <a:prstGeom prst="roundRect">
            <a:avLst>
              <a:gd name="adj" fmla="val 3902"/>
            </a:avLst>
          </a:prstGeom>
          <a:solidFill>
            <a:srgbClr val="EAF8F7"/>
          </a:solidFill>
          <a:ln w="12700">
            <a:solidFill>
              <a:srgbClr val="D7EFEC"/>
            </a:solidFill>
            <a:prstDash val="solid"/>
          </a:ln>
          <a:effectLst>
            <a:outerShdw sx="100000" sy="100000" kx="0" ky="0" algn="bl" rotWithShape="0" blurRad="25400" dist="50800" dir="2700000">
              <a:srgbClr val="76A9A5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7744968" y="1920240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28090"/>
                </a:solidFill>
              </a:rPr>
              <a:t>04</a:t>
            </a:r>
            <a:endParaRPr lang="en-US" sz="2400" dirty="0"/>
          </a:p>
        </p:txBody>
      </p:sp>
      <p:sp>
        <p:nvSpPr>
          <p:cNvPr id="25" name="Shape 23"/>
          <p:cNvSpPr/>
          <p:nvPr/>
        </p:nvSpPr>
        <p:spPr>
          <a:xfrm>
            <a:off x="7772400" y="2523744"/>
            <a:ext cx="1371600" cy="0"/>
          </a:xfrm>
          <a:prstGeom prst="line">
            <a:avLst/>
          </a:prstGeom>
          <a:noFill/>
          <a:ln w="25400">
            <a:solidFill>
              <a:srgbClr val="00A89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44968" y="2834640"/>
            <a:ext cx="1426464" cy="219456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5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完善体验闭环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7754112" y="3337560"/>
            <a:ext cx="1417320" cy="9144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15323A"/>
                </a:solidFill>
              </a:rPr>
              <a:t>强化可视化编辑提示、历史消息分页体验、应用详情与精选运营数据。</a:t>
            </a:r>
            <a:endParaRPr lang="en-US" sz="1020" dirty="0"/>
          </a:p>
        </p:txBody>
      </p:sp>
      <p:sp>
        <p:nvSpPr>
          <p:cNvPr id="28" name="Shape 26"/>
          <p:cNvSpPr/>
          <p:nvPr/>
        </p:nvSpPr>
        <p:spPr>
          <a:xfrm>
            <a:off x="9784080" y="1691640"/>
            <a:ext cx="1874520" cy="39319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D7EFEC"/>
            </a:solidFill>
            <a:prstDash val="solid"/>
          </a:ln>
          <a:effectLst>
            <a:outerShdw sx="100000" sy="100000" kx="0" ky="0" algn="bl" rotWithShape="0" blurRad="25400" dist="50800" dir="2700000">
              <a:srgbClr val="76A9A5">
                <a:alpha val="12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9985248" y="1920240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28090"/>
                </a:solidFill>
              </a:rPr>
              <a:t>05</a:t>
            </a:r>
            <a:endParaRPr lang="en-US" sz="2400" dirty="0"/>
          </a:p>
        </p:txBody>
      </p:sp>
      <p:sp>
        <p:nvSpPr>
          <p:cNvPr id="30" name="Shape 28"/>
          <p:cNvSpPr/>
          <p:nvPr/>
        </p:nvSpPr>
        <p:spPr>
          <a:xfrm>
            <a:off x="10012680" y="2523744"/>
            <a:ext cx="1371600" cy="0"/>
          </a:xfrm>
          <a:prstGeom prst="line">
            <a:avLst/>
          </a:prstGeom>
          <a:noFill/>
          <a:ln w="25400">
            <a:solidFill>
              <a:srgbClr val="00A89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985248" y="2834640"/>
            <a:ext cx="1426464" cy="219456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5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推进服务治理</a:t>
            </a:r>
            <a:endParaRPr lang="en-US" sz="1450" dirty="0"/>
          </a:p>
        </p:txBody>
      </p:sp>
      <p:sp>
        <p:nvSpPr>
          <p:cNvPr id="32" name="Text 30"/>
          <p:cNvSpPr/>
          <p:nvPr/>
        </p:nvSpPr>
        <p:spPr>
          <a:xfrm>
            <a:off x="9994392" y="3337560"/>
            <a:ext cx="1417320" cy="9144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15323A"/>
                </a:solidFill>
              </a:rPr>
              <a:t>明确微服务边界、配置中心、注册发现、限流策略与跨服务测试。</a:t>
            </a:r>
            <a:endParaRPr lang="en-US" sz="1020" dirty="0"/>
          </a:p>
        </p:txBody>
      </p:sp>
      <p:sp>
        <p:nvSpPr>
          <p:cNvPr id="33" name="Text 31"/>
          <p:cNvSpPr/>
          <p:nvPr/>
        </p:nvSpPr>
        <p:spPr>
          <a:xfrm>
            <a:off x="566928" y="6455664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7478"/>
                </a:solidFill>
              </a:rPr>
              <a:t>yu-ai-code-mother · 每日项目状态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1109960" y="6400800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28090"/>
                </a:solidFill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230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23047"/>
          </a:solidFill>
          <a:ln w="12700">
            <a:solidFill>
              <a:srgbClr val="023047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23047"/>
          </a:solidFill>
          <a:ln w="12700">
            <a:solidFill>
              <a:srgbClr val="023047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1280160" y="-914400"/>
            <a:ext cx="3840480" cy="3840480"/>
          </a:xfrm>
          <a:prstGeom prst="ellipse">
            <a:avLst/>
          </a:prstGeom>
          <a:solidFill>
            <a:srgbClr val="028090">
              <a:alpha val="80000"/>
            </a:srgbClr>
          </a:solidFill>
          <a:ln w="12700">
            <a:solidFill>
              <a:srgbClr val="028090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869680" y="4206240"/>
            <a:ext cx="3657600" cy="3657600"/>
          </a:xfrm>
          <a:prstGeom prst="ellipse">
            <a:avLst/>
          </a:prstGeom>
          <a:solidFill>
            <a:srgbClr val="02C39A">
              <a:alpha val="72000"/>
            </a:srgbClr>
          </a:solidFill>
          <a:ln w="12700">
            <a:solidFill>
              <a:srgbClr val="02C39A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658368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总结</a:t>
            </a:r>
            <a:endParaRPr lang="en-US" sz="4200" dirty="0"/>
          </a:p>
        </p:txBody>
      </p:sp>
      <p:sp>
        <p:nvSpPr>
          <p:cNvPr id="7" name="Shape 5"/>
          <p:cNvSpPr/>
          <p:nvPr/>
        </p:nvSpPr>
        <p:spPr>
          <a:xfrm>
            <a:off x="1051560" y="2148840"/>
            <a:ext cx="2971800" cy="2057400"/>
          </a:xfrm>
          <a:prstGeom prst="roundRect">
            <a:avLst>
              <a:gd name="adj" fmla="val 3556"/>
            </a:avLst>
          </a:prstGeom>
          <a:solidFill>
            <a:srgbClr val="073B4C">
              <a:alpha val="95000"/>
            </a:srgbClr>
          </a:solidFill>
          <a:ln w="12700">
            <a:solidFill>
              <a:srgbClr val="177E89">
                <a:alpha val="75000"/>
              </a:srgbClr>
            </a:solidFill>
            <a:prstDash val="solid"/>
          </a:ln>
          <a:effectLst>
            <a:outerShdw sx="100000" sy="100000" kx="0" ky="0" algn="bl" rotWithShape="0" blurRad="25400" dist="50800" dir="2700000">
              <a:srgbClr val="76A9A5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335024" y="2487168"/>
            <a:ext cx="384048" cy="384048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335024" y="2542032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874520" y="2551176"/>
            <a:ext cx="1325880" cy="2286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能力状态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371600" y="3154680"/>
            <a:ext cx="2240280" cy="685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DDF7F4"/>
                </a:solidFill>
              </a:rPr>
              <a:t>平台主链路已成型：AI 生成、实时预览、可视化编辑、部署分享与后台治理均有实现基础。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572000" y="2148840"/>
            <a:ext cx="2971800" cy="2057400"/>
          </a:xfrm>
          <a:prstGeom prst="roundRect">
            <a:avLst>
              <a:gd name="adj" fmla="val 3556"/>
            </a:avLst>
          </a:prstGeom>
          <a:solidFill>
            <a:srgbClr val="073B4C">
              <a:alpha val="95000"/>
            </a:srgbClr>
          </a:solidFill>
          <a:ln w="12700">
            <a:solidFill>
              <a:srgbClr val="177E89">
                <a:alpha val="75000"/>
              </a:srgbClr>
            </a:solidFill>
            <a:prstDash val="solid"/>
          </a:ln>
          <a:effectLst>
            <a:outerShdw sx="100000" sy="100000" kx="0" ky="0" algn="bl" rotWithShape="0" blurRad="25400" dist="50800" dir="2700000">
              <a:srgbClr val="76A9A5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855464" y="2487168"/>
            <a:ext cx="384048" cy="38404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55464" y="2542032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394960" y="2551176"/>
            <a:ext cx="1325880" cy="2286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近期变化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4892040" y="3154680"/>
            <a:ext cx="2240280" cy="685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DDF7F4"/>
                </a:solidFill>
              </a:rPr>
              <a:t>最近 7 天提交集中在日报文档，业务代码暂无新增变更；适合把巡检重点转向质量门禁。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8092440" y="2148840"/>
            <a:ext cx="2971800" cy="2057400"/>
          </a:xfrm>
          <a:prstGeom prst="roundRect">
            <a:avLst>
              <a:gd name="adj" fmla="val 3556"/>
            </a:avLst>
          </a:prstGeom>
          <a:solidFill>
            <a:srgbClr val="073B4C">
              <a:alpha val="95000"/>
            </a:srgbClr>
          </a:solidFill>
          <a:ln w="12700">
            <a:solidFill>
              <a:srgbClr val="177E89">
                <a:alpha val="75000"/>
              </a:srgbClr>
            </a:solidFill>
            <a:prstDash val="solid"/>
          </a:ln>
          <a:effectLst>
            <a:outerShdw sx="100000" sy="100000" kx="0" ky="0" algn="bl" rotWithShape="0" blurRad="25400" dist="50800" dir="2700000">
              <a:srgbClr val="76A9A5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375904" y="2487168"/>
            <a:ext cx="384048" cy="38404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375904" y="2542032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915400" y="2551176"/>
            <a:ext cx="1325880" cy="2286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关键建议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412480" y="3154680"/>
            <a:ext cx="2240280" cy="685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DDF7F4"/>
                </a:solidFill>
              </a:rPr>
              <a:t>优先补齐 CI、真实业务指标、生成安全边界和部署失败补偿，形成可持续维护闭环。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1078992" y="589788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2C39A"/>
                </a:solidFill>
              </a:rPr>
              <a:t>报告路径：docs/reports/project-status-2026-06-22.pptx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yu-ai-code-mother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每日项目状态汇报 2026-06-22</dc:title>
  <dc:subject>每日项目状态汇报</dc:subject>
  <dc:creator>Cursor Automation</dc:creator>
  <cp:lastModifiedBy>Cursor Automation</cp:lastModifiedBy>
  <cp:revision>1</cp:revision>
  <dcterms:created xsi:type="dcterms:W3CDTF">2026-06-22T09:08:44Z</dcterms:created>
  <dcterms:modified xsi:type="dcterms:W3CDTF">2026-06-22T09:08:44Z</dcterms:modified>
</cp:coreProperties>
</file>