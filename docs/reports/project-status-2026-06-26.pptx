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arallelogram 1"/>
          <p:cNvSpPr/>
          <p:nvPr/>
        </p:nvSpPr>
        <p:spPr>
          <a:xfrm rot="840000">
            <a:off x="6400800" y="-640080"/>
            <a:ext cx="4206240" cy="8138160"/>
          </a:xfrm>
          <a:prstGeom prst="parallelogram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 rot="840000">
            <a:off x="6995160" y="-384047"/>
            <a:ext cx="4206240" cy="8138160"/>
          </a:xfrm>
          <a:prstGeom prst="parallelogram">
            <a:avLst/>
          </a:prstGeom>
          <a:solidFill>
            <a:srgbClr val="1C729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 rot="840000">
            <a:off x="7589520" y="-128015"/>
            <a:ext cx="4206240" cy="8138160"/>
          </a:xfrm>
          <a:prstGeom prst="parallelogram">
            <a:avLst/>
          </a:prstGeom>
          <a:solidFill>
            <a:srgbClr val="02809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 rot="840000">
            <a:off x="8183879" y="128016"/>
            <a:ext cx="4206240" cy="8138160"/>
          </a:xfrm>
          <a:prstGeom prst="parallelogram">
            <a:avLst/>
          </a:prstGeom>
          <a:solidFill>
            <a:srgbClr val="00A89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966960" y="411480"/>
            <a:ext cx="1508760" cy="1508760"/>
          </a:xfrm>
          <a:prstGeom prst="ellipse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74980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000" b="1">
                <a:solidFill>
                  <a:srgbClr val="B7F4EF"/>
                </a:solidFill>
                <a:latin typeface="Calibri"/>
              </a:rPr>
              <a:t>AI 零代码应用生成平台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325880"/>
            <a:ext cx="80467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4600" b="1">
                <a:solidFill>
                  <a:srgbClr val="FFFFFF"/>
                </a:solidFill>
                <a:latin typeface="Georgia"/>
              </a:rPr>
              <a:t>每日项目状态汇报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76272"/>
            <a:ext cx="62179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800" b="0">
                <a:solidFill>
                  <a:srgbClr val="E6FAFA"/>
                </a:solidFill>
                <a:latin typeface="Calibri"/>
              </a:rPr>
              <a:t>yu-ai-code-mother · 维护者/团队版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4315968"/>
            <a:ext cx="53949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生成日期：2026-06-26（北京时间）</a:t>
            </a:r>
          </a:p>
          <a:p>
            <a:pPr algn="l">
              <a:spcAft>
                <a:spcPts val="1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触发方式：每日自动化任务</a:t>
            </a:r>
          </a:p>
          <a:p>
            <a:pPr algn="l">
              <a:spcAft>
                <a:spcPts val="1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数据来源：README、模块目录、配置与 git 提交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37960" y="5257800"/>
            <a:ext cx="1234440" cy="786384"/>
          </a:xfrm>
          <a:prstGeom prst="roundRect">
            <a:avLst/>
          </a:prstGeom>
          <a:solidFill>
            <a:srgbClr val="065A82"/>
          </a:solidFill>
          <a:ln w="10160">
            <a:solidFill>
              <a:srgbClr val="B7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0256" y="5376672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23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1968" y="5715000"/>
            <a:ext cx="10789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880" b="0">
                <a:solidFill>
                  <a:srgbClr val="FFFFFF"/>
                </a:solidFill>
                <a:latin typeface="Calibri"/>
              </a:rPr>
              <a:t>代码生成模式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5257800"/>
            <a:ext cx="1234440" cy="786384"/>
          </a:xfrm>
          <a:prstGeom prst="roundRect">
            <a:avLst/>
          </a:prstGeom>
          <a:solidFill>
            <a:srgbClr val="028090"/>
          </a:solidFill>
          <a:ln w="10160">
            <a:solidFill>
              <a:srgbClr val="B7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0456" y="5376672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2300" b="1">
                <a:solidFill>
                  <a:srgbClr val="FFFFFF"/>
                </a:solidFill>
                <a:latin typeface="Georgia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2167" y="5715000"/>
            <a:ext cx="10789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880" b="0">
                <a:solidFill>
                  <a:srgbClr val="FFFFFF"/>
                </a:solidFill>
                <a:latin typeface="Calibri"/>
              </a:rPr>
              <a:t>微服务模块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38360" y="5257800"/>
            <a:ext cx="1234440" cy="786384"/>
          </a:xfrm>
          <a:prstGeom prst="roundRect">
            <a:avLst/>
          </a:prstGeom>
          <a:solidFill>
            <a:srgbClr val="1C7293"/>
          </a:solidFill>
          <a:ln w="10160">
            <a:solidFill>
              <a:srgbClr val="B7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0656" y="5376672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2300" b="1">
                <a:solidFill>
                  <a:srgbClr val="FFFFFF"/>
                </a:solidFill>
                <a:latin typeface="Georgia"/>
              </a:rPr>
              <a:t>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02367" y="5715000"/>
            <a:ext cx="10789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880" b="0">
                <a:solidFill>
                  <a:srgbClr val="FFFFFF"/>
                </a:solidFill>
                <a:latin typeface="Calibri"/>
              </a:rPr>
              <a:t>后端测试文件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438912" cy="438912"/>
          </a:xfrm>
          <a:prstGeom prst="roundRect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8404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310896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3400" b="1">
                <a:solidFill>
                  <a:srgbClr val="21295C"/>
                </a:solidFill>
                <a:latin typeface="Georgia"/>
              </a:rPr>
              <a:t>项目概览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" y="841248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0">
                <a:solidFill>
                  <a:srgbClr val="5B7780"/>
                </a:solidFill>
                <a:latin typeface="Calibri"/>
              </a:rPr>
              <a:t>平台定位、技术栈与当前形态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652760" y="384048"/>
            <a:ext cx="987552" cy="347472"/>
          </a:xfrm>
          <a:prstGeom prst="roundRect">
            <a:avLst/>
          </a:prstGeom>
          <a:solidFill>
            <a:srgbClr val="DDF3F5"/>
          </a:solidFill>
          <a:ln w="762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457200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050" b="1">
                <a:solidFill>
                  <a:srgbClr val="065A82"/>
                </a:solidFill>
                <a:latin typeface="Calibri"/>
              </a:rPr>
              <a:t>02/10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89888"/>
            <a:ext cx="4572000" cy="42976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389888"/>
            <a:ext cx="109728" cy="4297680"/>
          </a:xfrm>
          <a:prstGeom prst="rect">
            <a:avLst/>
          </a:prstGeom>
          <a:solidFill>
            <a:srgbClr val="02809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1618488"/>
            <a:ext cx="475488" cy="475488"/>
          </a:xfrm>
          <a:prstGeom prst="ellipse">
            <a:avLst/>
          </a:prstGeom>
          <a:solidFill>
            <a:srgbClr val="02809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755648"/>
            <a:ext cx="43891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NOW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7904" y="1609344"/>
            <a:ext cx="348386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000" b="1">
                <a:solidFill>
                  <a:srgbClr val="21295C"/>
                </a:solidFill>
                <a:latin typeface="Calibri"/>
              </a:rPr>
              <a:t>一句话状态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176272"/>
            <a:ext cx="4005072" cy="33649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0">
                <a:solidFill>
                  <a:srgbClr val="17323B"/>
                </a:solidFill>
                <a:latin typeface="Calibri"/>
              </a:rPr>
              <a:t>项目已具备从需求输入、AI 对话生成、实时预</a:t>
            </a:r>
          </a:p>
          <a:p>
            <a:pPr algn="l">
              <a:spcAft>
                <a:spcPts val="100"/>
              </a:spcAft>
            </a:pPr>
            <a:r>
              <a:rPr sz="1400" b="0">
                <a:solidFill>
                  <a:srgbClr val="17323B"/>
                </a:solidFill>
                <a:latin typeface="Calibri"/>
              </a:rPr>
              <a:t>览、部署分享到后台管理的主链路雏形；当前代码</a:t>
            </a:r>
          </a:p>
          <a:p>
            <a:pPr algn="l">
              <a:spcAft>
                <a:spcPts val="100"/>
              </a:spcAft>
            </a:pPr>
            <a:r>
              <a:rPr sz="1400" b="0">
                <a:solidFill>
                  <a:srgbClr val="17323B"/>
                </a:solidFill>
                <a:latin typeface="Calibri"/>
              </a:rPr>
              <a:t>同时保留单体后端与微服务改造版本，适合作为教</a:t>
            </a:r>
          </a:p>
          <a:p>
            <a:pPr algn="l">
              <a:spcAft>
                <a:spcPts val="100"/>
              </a:spcAft>
            </a:pPr>
            <a:r>
              <a:rPr sz="1400" b="0">
                <a:solidFill>
                  <a:srgbClr val="17323B"/>
                </a:solidFill>
                <a:latin typeface="Calibri"/>
              </a:rPr>
              <a:t>学与架构演进样板。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59552" y="1389888"/>
            <a:ext cx="1444752" cy="1234440"/>
          </a:xfrm>
          <a:prstGeom prst="roundRect">
            <a:avLst/>
          </a:prstGeom>
          <a:solidFill>
            <a:srgbClr val="E6F6F7"/>
          </a:solidFill>
          <a:ln w="762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1554480"/>
            <a:ext cx="122529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3100" b="1">
                <a:solidFill>
                  <a:srgbClr val="1C7293"/>
                </a:solidFill>
                <a:latin typeface="Georgia"/>
              </a:rPr>
              <a:t>146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96712" y="2231136"/>
            <a:ext cx="11704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17323B"/>
                </a:solidFill>
                <a:latin typeface="Calibri"/>
              </a:rPr>
              <a:t>后端文件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78624" y="1389888"/>
            <a:ext cx="1444752" cy="1234440"/>
          </a:xfrm>
          <a:prstGeom prst="roundRect">
            <a:avLst/>
          </a:prstGeom>
          <a:solidFill>
            <a:srgbClr val="E6F6F7"/>
          </a:solidFill>
          <a:ln w="762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88352" y="1554480"/>
            <a:ext cx="122529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3100" b="1">
                <a:solidFill>
                  <a:srgbClr val="028090"/>
                </a:solidFill>
                <a:latin typeface="Georgia"/>
              </a:rPr>
              <a:t>34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15783" y="2231136"/>
            <a:ext cx="11704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17323B"/>
                </a:solidFill>
                <a:latin typeface="Calibri"/>
              </a:rPr>
              <a:t>前端文件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97696" y="1389888"/>
            <a:ext cx="1444752" cy="1234440"/>
          </a:xfrm>
          <a:prstGeom prst="roundRect">
            <a:avLst/>
          </a:prstGeom>
          <a:solidFill>
            <a:srgbClr val="E6F6F7"/>
          </a:solidFill>
          <a:ln w="762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07424" y="1554480"/>
            <a:ext cx="122529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3100" b="1">
                <a:solidFill>
                  <a:srgbClr val="065A82"/>
                </a:solidFill>
                <a:latin typeface="Georgia"/>
              </a:rPr>
              <a:t>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34856" y="2231136"/>
            <a:ext cx="11704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17323B"/>
                </a:solidFill>
                <a:latin typeface="Calibri"/>
              </a:rPr>
              <a:t>Maven POM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716768" y="1389888"/>
            <a:ext cx="1444752" cy="1234440"/>
          </a:xfrm>
          <a:prstGeom prst="roundRect">
            <a:avLst/>
          </a:prstGeom>
          <a:solidFill>
            <a:srgbClr val="E6F6F7"/>
          </a:solidFill>
          <a:ln w="762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26496" y="1554480"/>
            <a:ext cx="122529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3100" b="1">
                <a:solidFill>
                  <a:srgbClr val="D95D39"/>
                </a:solidFill>
                <a:latin typeface="Georgia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53928" y="2231136"/>
            <a:ext cx="11704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17323B"/>
                </a:solidFill>
                <a:latin typeface="Calibri"/>
              </a:rPr>
              <a:t>近7天提交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59552" y="3063240"/>
            <a:ext cx="2880360" cy="1600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559552" y="3063240"/>
            <a:ext cx="109728" cy="1600200"/>
          </a:xfrm>
          <a:prstGeom prst="rect">
            <a:avLst/>
          </a:prstGeom>
          <a:solidFill>
            <a:srgbClr val="1C729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815584" y="3291840"/>
            <a:ext cx="475488" cy="475488"/>
          </a:xfrm>
          <a:prstGeom prst="ellipse">
            <a:avLst/>
          </a:prstGeom>
          <a:solidFill>
            <a:srgbClr val="1C729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33872" y="3429000"/>
            <a:ext cx="43891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WEB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9088" y="3282696"/>
            <a:ext cx="179222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21295C"/>
                </a:solidFill>
                <a:latin typeface="Calibri"/>
              </a:rPr>
              <a:t>产品入口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0448" y="3831336"/>
            <a:ext cx="2331720" cy="6675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20">
                <a:solidFill>
                  <a:srgbClr val="17323B"/>
                </a:solidFill>
                <a:latin typeface="Calibri"/>
              </a:rPr>
              <a:t>主页创建应用</a:t>
            </a:r>
          </a:p>
          <a:p>
            <a:pPr>
              <a:spcAft>
                <a:spcPts val="400"/>
              </a:spcAft>
            </a:pPr>
            <a:r>
              <a:rPr sz="1220">
                <a:solidFill>
                  <a:srgbClr val="17323B"/>
                </a:solidFill>
                <a:latin typeface="Calibri"/>
              </a:rPr>
              <a:t>对话页实时生成</a:t>
            </a:r>
          </a:p>
          <a:p>
            <a:pPr>
              <a:spcAft>
                <a:spcPts val="400"/>
              </a:spcAft>
            </a:pPr>
            <a:r>
              <a:rPr sz="1220">
                <a:solidFill>
                  <a:srgbClr val="17323B"/>
                </a:solidFill>
                <a:latin typeface="Calibri"/>
              </a:rPr>
              <a:t>应用详情/编辑/部署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732520" y="3063240"/>
            <a:ext cx="2880360" cy="1600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732520" y="3063240"/>
            <a:ext cx="109728" cy="1600200"/>
          </a:xfrm>
          <a:prstGeom prst="rect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988552" y="3291840"/>
            <a:ext cx="475488" cy="475488"/>
          </a:xfrm>
          <a:prstGeom prst="ellipse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06840" y="3429000"/>
            <a:ext cx="43891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API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92056" y="3282696"/>
            <a:ext cx="179222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21295C"/>
                </a:solidFill>
                <a:latin typeface="Calibri"/>
              </a:rPr>
              <a:t>后端底座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43416" y="3831336"/>
            <a:ext cx="2331720" cy="6675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20">
                <a:solidFill>
                  <a:srgbClr val="17323B"/>
                </a:solidFill>
                <a:latin typeface="Calibri"/>
              </a:rPr>
              <a:t>Spring Boot 3 /</a:t>
            </a:r>
          </a:p>
          <a:p>
            <a:pPr>
              <a:spcAft>
                <a:spcPts val="400"/>
              </a:spcAft>
            </a:pPr>
            <a:r>
              <a:rPr sz="1220">
                <a:solidFill>
                  <a:srgbClr val="17323B"/>
                </a:solidFill>
                <a:latin typeface="Calibri"/>
              </a:rPr>
              <a:t>Java 21</a:t>
            </a:r>
          </a:p>
          <a:p>
            <a:pPr>
              <a:spcAft>
                <a:spcPts val="400"/>
              </a:spcAft>
            </a:pPr>
            <a:r>
              <a:rPr sz="1220">
                <a:solidFill>
                  <a:srgbClr val="17323B"/>
                </a:solidFill>
                <a:latin typeface="Calibri"/>
              </a:rPr>
              <a:t>LangChain4j + 工作流</a:t>
            </a:r>
          </a:p>
          <a:p>
            <a:pPr>
              <a:spcAft>
                <a:spcPts val="400"/>
              </a:spcAft>
            </a:pPr>
            <a:r>
              <a:rPr sz="1220">
                <a:solidFill>
                  <a:srgbClr val="17323B"/>
                </a:solidFill>
                <a:latin typeface="Calibri"/>
              </a:rPr>
              <a:t>Redis / MySQL / COS</a:t>
            </a:r>
          </a:p>
          <a:p>
            <a:pPr>
              <a:spcAft>
                <a:spcPts val="400"/>
              </a:spcAft>
            </a:pPr>
            <a:r>
              <a:rPr sz="1220">
                <a:solidFill>
                  <a:srgbClr val="17323B"/>
                </a:solidFill>
                <a:latin typeface="Calibri"/>
              </a:rPr>
              <a:t>/ Prom 指标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6446520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0">
                <a:solidFill>
                  <a:srgbClr val="5B7780"/>
                </a:solidFill>
                <a:latin typeface="Calibri"/>
              </a:rPr>
              <a:t>yu-ai-code-mother · 每日项目状态 · 2026-06-26 北京时间</a:t>
            </a:r>
          </a:p>
        </p:txBody>
      </p:sp>
      <p:sp>
        <p:nvSpPr>
          <p:cNvPr id="39" name="Oval 38"/>
          <p:cNvSpPr/>
          <p:nvPr/>
        </p:nvSpPr>
        <p:spPr>
          <a:xfrm>
            <a:off x="11292840" y="6446520"/>
            <a:ext cx="146304" cy="146304"/>
          </a:xfrm>
          <a:prstGeom prst="ellipse">
            <a:avLst/>
          </a:prstGeom>
          <a:solidFill>
            <a:srgbClr val="02C39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503152" y="6446520"/>
            <a:ext cx="146304" cy="146304"/>
          </a:xfrm>
          <a:prstGeom prst="ellipse">
            <a:avLst/>
          </a:prstGeom>
          <a:solidFill>
            <a:srgbClr val="1C729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438912" cy="438912"/>
          </a:xfrm>
          <a:prstGeom prst="roundRect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8404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310896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3400" b="1">
                <a:solidFill>
                  <a:srgbClr val="21295C"/>
                </a:solidFill>
                <a:latin typeface="Georgia"/>
              </a:rPr>
              <a:t>核心能力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" y="841248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0">
                <a:solidFill>
                  <a:srgbClr val="5B7780"/>
                </a:solidFill>
                <a:latin typeface="Calibri"/>
              </a:rPr>
              <a:t>围绕“生成、编辑、部署、治理”的端到端能力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652760" y="384048"/>
            <a:ext cx="987552" cy="347472"/>
          </a:xfrm>
          <a:prstGeom prst="roundRect">
            <a:avLst/>
          </a:prstGeom>
          <a:solidFill>
            <a:srgbClr val="DDF3F5"/>
          </a:solidFill>
          <a:ln w="762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457200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050" b="1">
                <a:solidFill>
                  <a:srgbClr val="065A82"/>
                </a:solidFill>
                <a:latin typeface="Calibri"/>
              </a:rPr>
              <a:t>03/10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5074920" cy="17556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298448"/>
            <a:ext cx="109728" cy="1755648"/>
          </a:xfrm>
          <a:prstGeom prst="rect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1527048"/>
            <a:ext cx="475488" cy="475488"/>
          </a:xfrm>
          <a:prstGeom prst="ellipse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664207"/>
            <a:ext cx="43891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GEN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7904" y="1517904"/>
            <a:ext cx="398678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800" b="1">
                <a:solidFill>
                  <a:srgbClr val="21295C"/>
                </a:solidFill>
                <a:latin typeface="Calibri"/>
              </a:rPr>
              <a:t>智能代码生成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066543"/>
            <a:ext cx="4526280" cy="822959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7323B"/>
                </a:solidFill>
                <a:latin typeface="Calibri"/>
              </a:rPr>
              <a:t>根据提示词自动选择生成类型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7323B"/>
                </a:solidFill>
                <a:latin typeface="Calibri"/>
              </a:rPr>
              <a:t>支持 HTML、多文件、Vue 工程模式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7323B"/>
                </a:solidFill>
                <a:latin typeface="Calibri"/>
              </a:rPr>
              <a:t>SSE / Flux 流式返回过程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298448"/>
            <a:ext cx="5074920" cy="17556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298448"/>
            <a:ext cx="109728" cy="1755648"/>
          </a:xfrm>
          <a:prstGeom prst="rect">
            <a:avLst/>
          </a:prstGeom>
          <a:solidFill>
            <a:srgbClr val="02809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1527048"/>
            <a:ext cx="475488" cy="475488"/>
          </a:xfrm>
          <a:prstGeom prst="ellipse">
            <a:avLst/>
          </a:prstGeom>
          <a:solidFill>
            <a:srgbClr val="02809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59" y="1664207"/>
            <a:ext cx="43891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VIS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23175" y="1517904"/>
            <a:ext cx="398678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800" b="1">
                <a:solidFill>
                  <a:srgbClr val="21295C"/>
                </a:solidFill>
                <a:latin typeface="Calibri"/>
              </a:rPr>
              <a:t>可视化编辑与预览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74536" y="2066543"/>
            <a:ext cx="4526280" cy="822959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7323B"/>
                </a:solidFill>
                <a:latin typeface="Calibri"/>
              </a:rPr>
              <a:t>前端含 visual editor 工具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7323B"/>
                </a:solidFill>
                <a:latin typeface="Calibri"/>
              </a:rPr>
              <a:t>对话页右侧实时展示效果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7323B"/>
                </a:solidFill>
                <a:latin typeface="Calibri"/>
              </a:rPr>
              <a:t>面向页面元素的快速修改流程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511296"/>
            <a:ext cx="5074920" cy="17556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3511296"/>
            <a:ext cx="109728" cy="1755648"/>
          </a:xfrm>
          <a:prstGeom prst="rect">
            <a:avLst/>
          </a:prstGeom>
          <a:solidFill>
            <a:srgbClr val="1C729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14400" y="3739896"/>
            <a:ext cx="475488" cy="475488"/>
          </a:xfrm>
          <a:prstGeom prst="ellipse">
            <a:avLst/>
          </a:prstGeom>
          <a:solidFill>
            <a:srgbClr val="1C729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3877056"/>
            <a:ext cx="43891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DEP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7904" y="3730752"/>
            <a:ext cx="398678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800" b="1">
                <a:solidFill>
                  <a:srgbClr val="21295C"/>
                </a:solidFill>
                <a:latin typeface="Calibri"/>
              </a:rPr>
              <a:t>一键部署与分享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4279392"/>
            <a:ext cx="4526280" cy="822959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7323B"/>
                </a:solidFill>
                <a:latin typeface="Calibri"/>
              </a:rPr>
              <a:t>复制生成产物到部署目录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7323B"/>
                </a:solidFill>
                <a:latin typeface="Calibri"/>
              </a:rPr>
              <a:t>生成 deployKey 访问地址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7323B"/>
                </a:solidFill>
                <a:latin typeface="Calibri"/>
              </a:rPr>
              <a:t>异步截图并更新应用封面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3511296"/>
            <a:ext cx="5074920" cy="17556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3511296"/>
            <a:ext cx="109728" cy="1755648"/>
          </a:xfrm>
          <a:prstGeom prst="rect">
            <a:avLst/>
          </a:prstGeom>
          <a:solidFill>
            <a:srgbClr val="00A89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519672" y="3739896"/>
            <a:ext cx="475488" cy="475488"/>
          </a:xfrm>
          <a:prstGeom prst="ellipse">
            <a:avLst/>
          </a:prstGeom>
          <a:solidFill>
            <a:srgbClr val="00A89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59" y="3877056"/>
            <a:ext cx="43891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OPS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23175" y="3730752"/>
            <a:ext cx="398678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800" b="1">
                <a:solidFill>
                  <a:srgbClr val="21295C"/>
                </a:solidFill>
                <a:latin typeface="Calibri"/>
              </a:rPr>
              <a:t>管理与监控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74536" y="4279392"/>
            <a:ext cx="4526280" cy="822959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7323B"/>
                </a:solidFill>
                <a:latin typeface="Calibri"/>
              </a:rPr>
              <a:t>用户、应用、对话历史管理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7323B"/>
                </a:solidFill>
                <a:latin typeface="Calibri"/>
              </a:rPr>
              <a:t>管理员精选与优先级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7323B"/>
                </a:solidFill>
                <a:latin typeface="Calibri"/>
              </a:rPr>
              <a:t>Actuator + Prom 指标出口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46520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0">
                <a:solidFill>
                  <a:srgbClr val="5B7780"/>
                </a:solidFill>
                <a:latin typeface="Calibri"/>
              </a:rPr>
              <a:t>yu-ai-code-mother · 每日项目状态 · 2026-06-26 北京时间</a:t>
            </a:r>
          </a:p>
        </p:txBody>
      </p:sp>
      <p:sp>
        <p:nvSpPr>
          <p:cNvPr id="33" name="Oval 32"/>
          <p:cNvSpPr/>
          <p:nvPr/>
        </p:nvSpPr>
        <p:spPr>
          <a:xfrm>
            <a:off x="11292840" y="6446520"/>
            <a:ext cx="146304" cy="146304"/>
          </a:xfrm>
          <a:prstGeom prst="ellipse">
            <a:avLst/>
          </a:prstGeom>
          <a:solidFill>
            <a:srgbClr val="02C39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1503152" y="6446520"/>
            <a:ext cx="146304" cy="146304"/>
          </a:xfrm>
          <a:prstGeom prst="ellipse">
            <a:avLst/>
          </a:prstGeom>
          <a:solidFill>
            <a:srgbClr val="1C729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438912" cy="438912"/>
          </a:xfrm>
          <a:prstGeom prst="roundRect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8404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310896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3400" b="1">
                <a:solidFill>
                  <a:srgbClr val="21295C"/>
                </a:solidFill>
                <a:latin typeface="Georgia"/>
              </a:rPr>
              <a:t>架构与模块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" y="841248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0">
                <a:solidFill>
                  <a:srgbClr val="5B7780"/>
                </a:solidFill>
                <a:latin typeface="Calibri"/>
              </a:rPr>
              <a:t>单体代码可运行，微服务目录呈现拆分方向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652760" y="384048"/>
            <a:ext cx="987552" cy="347472"/>
          </a:xfrm>
          <a:prstGeom prst="roundRect">
            <a:avLst/>
          </a:prstGeom>
          <a:solidFill>
            <a:srgbClr val="DDF3F5"/>
          </a:solidFill>
          <a:ln w="762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457200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050" b="1">
                <a:solidFill>
                  <a:srgbClr val="065A82"/>
                </a:solidFill>
                <a:latin typeface="Calibri"/>
              </a:rPr>
              <a:t>04/10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17320"/>
            <a:ext cx="1664208" cy="10972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1591056"/>
            <a:ext cx="13898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500" b="1">
                <a:solidFill>
                  <a:srgbClr val="21295C"/>
                </a:solidFill>
                <a:latin typeface="Calibri"/>
              </a:rPr>
              <a:t>Vue 前端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92807"/>
            <a:ext cx="140817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B7780"/>
                </a:solidFill>
                <a:latin typeface="Calibri"/>
              </a:rPr>
              <a:t>创建/对话/管理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40864" y="1965960"/>
            <a:ext cx="475488" cy="0"/>
          </a:xfrm>
          <a:prstGeom prst="line">
            <a:avLst/>
          </a:prstGeom>
          <a:ln w="254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898648" y="1417320"/>
            <a:ext cx="1664208" cy="10972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35808" y="1591056"/>
            <a:ext cx="13898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500" b="1">
                <a:solidFill>
                  <a:srgbClr val="21295C"/>
                </a:solidFill>
                <a:latin typeface="Calibri"/>
              </a:rPr>
              <a:t>Spring 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26664" y="1892807"/>
            <a:ext cx="140817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B7780"/>
                </a:solidFill>
                <a:latin typeface="Calibri"/>
              </a:rPr>
              <a:t>鉴权/应用/历史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581144" y="1965960"/>
            <a:ext cx="475487" cy="0"/>
          </a:xfrm>
          <a:prstGeom prst="line">
            <a:avLst/>
          </a:prstGeom>
          <a:ln w="254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138928" y="1417320"/>
            <a:ext cx="1664208" cy="10972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76088" y="1591056"/>
            <a:ext cx="13898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500" b="1">
                <a:solidFill>
                  <a:srgbClr val="21295C"/>
                </a:solidFill>
                <a:latin typeface="Calibri"/>
              </a:rPr>
              <a:t>AI 编排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66944" y="1892807"/>
            <a:ext cx="140817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B7780"/>
                </a:solidFill>
                <a:latin typeface="Calibri"/>
              </a:rPr>
              <a:t>LangChain4j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B7780"/>
                </a:solidFill>
                <a:latin typeface="Calibri"/>
              </a:rPr>
              <a:t>LangGraph4j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21424" y="1965960"/>
            <a:ext cx="475488" cy="0"/>
          </a:xfrm>
          <a:prstGeom prst="line">
            <a:avLst/>
          </a:prstGeom>
          <a:ln w="254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379208" y="1417320"/>
            <a:ext cx="1664208" cy="10972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16368" y="1591056"/>
            <a:ext cx="13898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500" b="1">
                <a:solidFill>
                  <a:srgbClr val="21295C"/>
                </a:solidFill>
                <a:latin typeface="Calibri"/>
              </a:rPr>
              <a:t>生成产物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07224" y="1892807"/>
            <a:ext cx="140817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B7780"/>
                </a:solidFill>
                <a:latin typeface="Calibri"/>
              </a:rPr>
              <a:t>HTML/多文件/Vue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061704" y="1965960"/>
            <a:ext cx="475488" cy="0"/>
          </a:xfrm>
          <a:prstGeom prst="line">
            <a:avLst/>
          </a:prstGeom>
          <a:ln w="254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619488" y="1417320"/>
            <a:ext cx="1664208" cy="10972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56648" y="1591056"/>
            <a:ext cx="13898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500" b="1">
                <a:solidFill>
                  <a:srgbClr val="21295C"/>
                </a:solidFill>
                <a:latin typeface="Calibri"/>
              </a:rPr>
              <a:t>部署监控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47504" y="1892807"/>
            <a:ext cx="140817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B7780"/>
                </a:solidFill>
                <a:latin typeface="Calibri"/>
              </a:rPr>
              <a:t>静态访问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B7780"/>
                </a:solidFill>
                <a:latin typeface="Calibri"/>
              </a:rPr>
              <a:t>Prom 指标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3154680"/>
            <a:ext cx="5212080" cy="2148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3154680"/>
            <a:ext cx="109728" cy="2148840"/>
          </a:xfrm>
          <a:prstGeom prst="rect">
            <a:avLst/>
          </a:prstGeom>
          <a:solidFill>
            <a:srgbClr val="1C729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69264" y="3383280"/>
            <a:ext cx="475488" cy="475488"/>
          </a:xfrm>
          <a:prstGeom prst="ellipse">
            <a:avLst/>
          </a:prstGeom>
          <a:solidFill>
            <a:srgbClr val="1C729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2" y="3520440"/>
            <a:ext cx="43891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72768" y="3374136"/>
            <a:ext cx="41239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800" b="1">
                <a:solidFill>
                  <a:srgbClr val="21295C"/>
                </a:solidFill>
                <a:latin typeface="Calibri"/>
              </a:rPr>
              <a:t>微服务拆分目录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" y="3922776"/>
            <a:ext cx="4663440" cy="121615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7323B"/>
                </a:solidFill>
                <a:latin typeface="Calibri"/>
              </a:rPr>
              <a:t>yu-ai-code-common：通用能力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7323B"/>
                </a:solidFill>
                <a:latin typeface="Calibri"/>
              </a:rPr>
              <a:t>yu-ai-code-model：数据模型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7323B"/>
                </a:solidFill>
                <a:latin typeface="Calibri"/>
              </a:rPr>
              <a:t>yu-ai-code-client：服务接口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7323B"/>
                </a:solidFill>
                <a:latin typeface="Calibri"/>
              </a:rPr>
              <a:t>user / app / ai / screenshot：领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7323B"/>
                </a:solidFill>
                <a:latin typeface="Calibri"/>
              </a:rPr>
              <a:t>域服务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72784" y="3154680"/>
            <a:ext cx="5257800" cy="2148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72784" y="3154680"/>
            <a:ext cx="109728" cy="2148840"/>
          </a:xfrm>
          <a:prstGeom prst="rect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528816" y="3383280"/>
            <a:ext cx="475488" cy="475488"/>
          </a:xfrm>
          <a:prstGeom prst="ellipse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47104" y="3520440"/>
            <a:ext cx="43891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RUN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32320" y="3374136"/>
            <a:ext cx="41696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800" b="1">
                <a:solidFill>
                  <a:srgbClr val="21295C"/>
                </a:solidFill>
                <a:latin typeface="Calibri"/>
              </a:rPr>
              <a:t>运行依赖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3922776"/>
            <a:ext cx="4709160" cy="121615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7323B"/>
                </a:solidFill>
                <a:latin typeface="Calibri"/>
              </a:rPr>
              <a:t>MySQL 存储用户/应用/对话历史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7323B"/>
                </a:solidFill>
                <a:latin typeface="Calibri"/>
              </a:rPr>
              <a:t>Redis 支持会话、缓存与对话记忆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7323B"/>
                </a:solidFill>
                <a:latin typeface="Calibri"/>
              </a:rPr>
              <a:t>COS、Selenium 支撑部署截图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7323B"/>
                </a:solidFill>
                <a:latin typeface="Calibri"/>
              </a:rPr>
              <a:t>Nacos + Dubbo 用于微服务调用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6446520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0">
                <a:solidFill>
                  <a:srgbClr val="5B7780"/>
                </a:solidFill>
                <a:latin typeface="Calibri"/>
              </a:rPr>
              <a:t>yu-ai-code-mother · 每日项目状态 · 2026-06-26 北京时间</a:t>
            </a:r>
          </a:p>
        </p:txBody>
      </p:sp>
      <p:sp>
        <p:nvSpPr>
          <p:cNvPr id="40" name="Oval 39"/>
          <p:cNvSpPr/>
          <p:nvPr/>
        </p:nvSpPr>
        <p:spPr>
          <a:xfrm>
            <a:off x="11292840" y="6446520"/>
            <a:ext cx="146304" cy="146304"/>
          </a:xfrm>
          <a:prstGeom prst="ellipse">
            <a:avLst/>
          </a:prstGeom>
          <a:solidFill>
            <a:srgbClr val="02C39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503152" y="6446520"/>
            <a:ext cx="146304" cy="146304"/>
          </a:xfrm>
          <a:prstGeom prst="ellipse">
            <a:avLst/>
          </a:prstGeom>
          <a:solidFill>
            <a:srgbClr val="1C729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438912" cy="438912"/>
          </a:xfrm>
          <a:prstGeom prst="roundRect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8404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310896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3400" b="1">
                <a:solidFill>
                  <a:srgbClr val="21295C"/>
                </a:solidFill>
                <a:latin typeface="Georgia"/>
              </a:rPr>
              <a:t>昨日/近期变更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" y="841248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0">
                <a:solidFill>
                  <a:srgbClr val="5B7780"/>
                </a:solidFill>
                <a:latin typeface="Calibri"/>
              </a:rPr>
              <a:t>近 7 天无新增提交；最近变更集中在教学第 14 期微服务改造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652760" y="384048"/>
            <a:ext cx="987552" cy="347472"/>
          </a:xfrm>
          <a:prstGeom prst="roundRect">
            <a:avLst/>
          </a:prstGeom>
          <a:solidFill>
            <a:srgbClr val="DDF3F5"/>
          </a:solidFill>
          <a:ln w="762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457200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050" b="1">
                <a:solidFill>
                  <a:srgbClr val="065A82"/>
                </a:solidFill>
                <a:latin typeface="Calibri"/>
              </a:rPr>
              <a:t>05/10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1380744"/>
            <a:ext cx="310896" cy="310896"/>
          </a:xfrm>
          <a:prstGeom prst="ellipse">
            <a:avLst/>
          </a:prstGeom>
          <a:solidFill>
            <a:srgbClr val="02C39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024127" y="1691640"/>
            <a:ext cx="0" cy="502920"/>
          </a:xfrm>
          <a:prstGeom prst="line">
            <a:avLst/>
          </a:prstGeom>
          <a:ln w="19050">
            <a:solidFill>
              <a:srgbClr val="9AD8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344168" y="1307592"/>
            <a:ext cx="11155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20" b="1">
                <a:solidFill>
                  <a:srgbClr val="065A82"/>
                </a:solidFill>
                <a:latin typeface="Calibri"/>
              </a:rPr>
              <a:t>2026-06-26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96312" y="1289304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550" b="1">
                <a:solidFill>
                  <a:srgbClr val="21295C"/>
                </a:solidFill>
                <a:latin typeface="Calibri"/>
              </a:rPr>
              <a:t>本次日报生成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96312" y="1600200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0">
                <a:solidFill>
                  <a:srgbClr val="5B7780"/>
                </a:solidFill>
                <a:latin typeface="Calibri"/>
              </a:rPr>
              <a:t>仅新增报告文件，不改业务代码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2249424"/>
            <a:ext cx="310896" cy="310896"/>
          </a:xfrm>
          <a:prstGeom prst="ellipse">
            <a:avLst/>
          </a:prstGeom>
          <a:solidFill>
            <a:srgbClr val="D95D3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024127" y="2560320"/>
            <a:ext cx="0" cy="502919"/>
          </a:xfrm>
          <a:prstGeom prst="line">
            <a:avLst/>
          </a:prstGeom>
          <a:ln w="19050">
            <a:solidFill>
              <a:srgbClr val="9AD8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344168" y="2176272"/>
            <a:ext cx="11155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20" b="1">
                <a:solidFill>
                  <a:srgbClr val="065A82"/>
                </a:solidFill>
                <a:latin typeface="Calibri"/>
              </a:rPr>
              <a:t>近 7 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96312" y="2157984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550" b="1">
                <a:solidFill>
                  <a:srgbClr val="21295C"/>
                </a:solidFill>
                <a:latin typeface="Calibri"/>
              </a:rPr>
              <a:t>提交数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96312" y="2468879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0">
                <a:solidFill>
                  <a:srgbClr val="5B7780"/>
                </a:solidFill>
                <a:latin typeface="Calibri"/>
              </a:rPr>
              <a:t>未观察到昨日代码变更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" y="3118103"/>
            <a:ext cx="310896" cy="310896"/>
          </a:xfrm>
          <a:prstGeom prst="ellipse">
            <a:avLst/>
          </a:prstGeom>
          <a:solidFill>
            <a:srgbClr val="1C729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024127" y="3428999"/>
            <a:ext cx="0" cy="502921"/>
          </a:xfrm>
          <a:prstGeom prst="line">
            <a:avLst/>
          </a:prstGeom>
          <a:ln w="19050">
            <a:solidFill>
              <a:srgbClr val="9AD8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344168" y="3044951"/>
            <a:ext cx="11155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20" b="1">
                <a:solidFill>
                  <a:srgbClr val="065A82"/>
                </a:solidFill>
                <a:latin typeface="Calibri"/>
              </a:rPr>
              <a:t>2025-08-26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96312" y="3026663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550" b="1">
                <a:solidFill>
                  <a:srgbClr val="21295C"/>
                </a:solidFill>
                <a:latin typeface="Calibri"/>
              </a:rPr>
              <a:t>第 14 期微服务改造完成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96312" y="3337559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0">
                <a:solidFill>
                  <a:srgbClr val="5B7780"/>
                </a:solidFill>
                <a:latin typeface="Calibri"/>
              </a:rPr>
              <a:t>包含完整单体项目代码及微服务模块</a:t>
            </a:r>
          </a:p>
        </p:txBody>
      </p:sp>
      <p:sp>
        <p:nvSpPr>
          <p:cNvPr id="23" name="Oval 22"/>
          <p:cNvSpPr/>
          <p:nvPr/>
        </p:nvSpPr>
        <p:spPr>
          <a:xfrm>
            <a:off x="868680" y="3986783"/>
            <a:ext cx="310896" cy="310896"/>
          </a:xfrm>
          <a:prstGeom prst="ellipse">
            <a:avLst/>
          </a:prstGeom>
          <a:solidFill>
            <a:srgbClr val="02809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1024127" y="4297680"/>
            <a:ext cx="0" cy="502920"/>
          </a:xfrm>
          <a:prstGeom prst="line">
            <a:avLst/>
          </a:prstGeom>
          <a:ln w="19050">
            <a:solidFill>
              <a:srgbClr val="9AD8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344168" y="3913632"/>
            <a:ext cx="11155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20" b="1">
                <a:solidFill>
                  <a:srgbClr val="065A82"/>
                </a:solidFill>
                <a:latin typeface="Calibri"/>
              </a:rPr>
              <a:t>2025-08-14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96312" y="3895344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550" b="1">
                <a:solidFill>
                  <a:srgbClr val="21295C"/>
                </a:solidFill>
                <a:latin typeface="Calibri"/>
              </a:rPr>
              <a:t>可观测性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96312" y="4206240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0">
                <a:solidFill>
                  <a:srgbClr val="5B7780"/>
                </a:solidFill>
                <a:latin typeface="Calibri"/>
              </a:rPr>
              <a:t>Actuator、Prometheus 与 Grafana 配置</a:t>
            </a:r>
          </a:p>
        </p:txBody>
      </p:sp>
      <p:sp>
        <p:nvSpPr>
          <p:cNvPr id="28" name="Oval 27"/>
          <p:cNvSpPr/>
          <p:nvPr/>
        </p:nvSpPr>
        <p:spPr>
          <a:xfrm>
            <a:off x="868680" y="4855464"/>
            <a:ext cx="310896" cy="310896"/>
          </a:xfrm>
          <a:prstGeom prst="ellipse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4168" y="4782312"/>
            <a:ext cx="11155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20" b="1">
                <a:solidFill>
                  <a:srgbClr val="065A82"/>
                </a:solidFill>
                <a:latin typeface="Calibri"/>
              </a:rPr>
              <a:t>2025-08-13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96312" y="4764024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550" b="1">
                <a:solidFill>
                  <a:srgbClr val="21295C"/>
                </a:solidFill>
                <a:latin typeface="Calibri"/>
              </a:rPr>
              <a:t>系统优化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96312" y="5074920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0">
                <a:solidFill>
                  <a:srgbClr val="5B7780"/>
                </a:solidFill>
                <a:latin typeface="Calibri"/>
              </a:rPr>
              <a:t>实时性、并发、限流、安全审查、稳定性与成本优化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52360" y="1371600"/>
            <a:ext cx="3950208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452360" y="1371600"/>
            <a:ext cx="109728" cy="1417320"/>
          </a:xfrm>
          <a:prstGeom prst="rect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708392" y="1600200"/>
            <a:ext cx="475488" cy="475488"/>
          </a:xfrm>
          <a:prstGeom prst="ellipse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26680" y="1737360"/>
            <a:ext cx="43891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INS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1896" y="1591056"/>
            <a:ext cx="28620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21295C"/>
                </a:solidFill>
                <a:latin typeface="Calibri"/>
              </a:rPr>
              <a:t>重点解读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63256" y="2157984"/>
            <a:ext cx="3383280" cy="4846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40" b="0">
                <a:solidFill>
                  <a:srgbClr val="17323B"/>
                </a:solidFill>
                <a:latin typeface="Calibri"/>
              </a:rPr>
              <a:t>近期变更更像架构演进快照：主链路完整</a:t>
            </a:r>
          </a:p>
          <a:p>
            <a:pPr algn="l">
              <a:spcAft>
                <a:spcPts val="100"/>
              </a:spcAft>
            </a:pPr>
            <a:r>
              <a:rPr sz="1240" b="0">
                <a:solidFill>
                  <a:srgbClr val="17323B"/>
                </a:solidFill>
                <a:latin typeface="Calibri"/>
              </a:rPr>
              <a:t>，微服务版本已落盘，但运行与发布还需</a:t>
            </a:r>
          </a:p>
          <a:p>
            <a:pPr algn="l">
              <a:spcAft>
                <a:spcPts val="100"/>
              </a:spcAft>
            </a:pPr>
            <a:r>
              <a:rPr sz="1240" b="0">
                <a:solidFill>
                  <a:srgbClr val="17323B"/>
                </a:solidFill>
                <a:latin typeface="Calibri"/>
              </a:rPr>
              <a:t>要环境验证。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52360" y="3182112"/>
            <a:ext cx="3950208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52360" y="3182112"/>
            <a:ext cx="109728" cy="1417320"/>
          </a:xfrm>
          <a:prstGeom prst="rect">
            <a:avLst/>
          </a:prstGeom>
          <a:solidFill>
            <a:srgbClr val="02809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708392" y="3410712"/>
            <a:ext cx="475488" cy="475488"/>
          </a:xfrm>
          <a:prstGeom prst="ellipse">
            <a:avLst/>
          </a:prstGeom>
          <a:solidFill>
            <a:srgbClr val="02809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26680" y="3547872"/>
            <a:ext cx="43891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DOC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11896" y="3401568"/>
            <a:ext cx="28620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21295C"/>
                </a:solidFill>
                <a:latin typeface="Calibri"/>
              </a:rPr>
              <a:t>今日交付范围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63256" y="3968496"/>
            <a:ext cx="3383280" cy="4846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40" b="0">
                <a:solidFill>
                  <a:srgbClr val="17323B"/>
                </a:solidFill>
                <a:latin typeface="Calibri"/>
              </a:rPr>
              <a:t>本次自动化仅生成项目状态 PPT，不修</a:t>
            </a:r>
          </a:p>
          <a:p>
            <a:pPr algn="l">
              <a:spcAft>
                <a:spcPts val="100"/>
              </a:spcAft>
            </a:pPr>
            <a:r>
              <a:rPr sz="1240" b="0">
                <a:solidFill>
                  <a:srgbClr val="17323B"/>
                </a:solidFill>
                <a:latin typeface="Calibri"/>
              </a:rPr>
              <a:t>改业务代码、配置或依赖声明。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6446520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0">
                <a:solidFill>
                  <a:srgbClr val="5B7780"/>
                </a:solidFill>
                <a:latin typeface="Calibri"/>
              </a:rPr>
              <a:t>yu-ai-code-mother · 每日项目状态 · 2026-06-26 北京时间</a:t>
            </a:r>
          </a:p>
        </p:txBody>
      </p:sp>
      <p:sp>
        <p:nvSpPr>
          <p:cNvPr id="45" name="Oval 44"/>
          <p:cNvSpPr/>
          <p:nvPr/>
        </p:nvSpPr>
        <p:spPr>
          <a:xfrm>
            <a:off x="11292840" y="6446520"/>
            <a:ext cx="146304" cy="146304"/>
          </a:xfrm>
          <a:prstGeom prst="ellipse">
            <a:avLst/>
          </a:prstGeom>
          <a:solidFill>
            <a:srgbClr val="02C39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503152" y="6446520"/>
            <a:ext cx="146304" cy="146304"/>
          </a:xfrm>
          <a:prstGeom prst="ellipse">
            <a:avLst/>
          </a:prstGeom>
          <a:solidFill>
            <a:srgbClr val="1C729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438912" cy="438912"/>
          </a:xfrm>
          <a:prstGeom prst="roundRect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8404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310896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3400" b="1">
                <a:solidFill>
                  <a:srgbClr val="21295C"/>
                </a:solidFill>
                <a:latin typeface="Georgia"/>
              </a:rPr>
              <a:t>数据 / 指标要点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" y="841248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0">
                <a:solidFill>
                  <a:srgbClr val="5B7780"/>
                </a:solidFill>
                <a:latin typeface="Calibri"/>
              </a:rPr>
              <a:t>仓库可见指标 + 运行态指标接入建议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652760" y="384048"/>
            <a:ext cx="987552" cy="347472"/>
          </a:xfrm>
          <a:prstGeom prst="roundRect">
            <a:avLst/>
          </a:prstGeom>
          <a:solidFill>
            <a:srgbClr val="DDF3F5"/>
          </a:solidFill>
          <a:ln w="762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457200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050" b="1">
                <a:solidFill>
                  <a:srgbClr val="065A82"/>
                </a:solidFill>
                <a:latin typeface="Calibri"/>
              </a:rPr>
              <a:t>06/10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" y="1417320"/>
            <a:ext cx="2057400" cy="1234440"/>
          </a:xfrm>
          <a:prstGeom prst="roundRect">
            <a:avLst/>
          </a:prstGeom>
          <a:solidFill>
            <a:srgbClr val="E6F6F7"/>
          </a:solidFill>
          <a:ln w="762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581912"/>
            <a:ext cx="1837943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3100" b="1">
                <a:solidFill>
                  <a:srgbClr val="065A82"/>
                </a:solidFill>
                <a:latin typeface="Georgia"/>
              </a:rPr>
              <a:t>10s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258568"/>
            <a:ext cx="1783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17323B"/>
                </a:solidFill>
                <a:latin typeface="Calibri"/>
              </a:rPr>
              <a:t>抓取间隔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27248" y="1417320"/>
            <a:ext cx="2057400" cy="1234440"/>
          </a:xfrm>
          <a:prstGeom prst="roundRect">
            <a:avLst/>
          </a:prstGeom>
          <a:solidFill>
            <a:srgbClr val="E6F6F7"/>
          </a:solidFill>
          <a:ln w="762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36976" y="1581912"/>
            <a:ext cx="1837943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3100" b="1">
                <a:solidFill>
                  <a:srgbClr val="028090"/>
                </a:solidFill>
                <a:latin typeface="Georgi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4408" y="2258568"/>
            <a:ext cx="1783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17323B"/>
                </a:solidFill>
                <a:latin typeface="Calibri"/>
              </a:rPr>
              <a:t>业务表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49824" y="1417320"/>
            <a:ext cx="2057400" cy="1234440"/>
          </a:xfrm>
          <a:prstGeom prst="roundRect">
            <a:avLst/>
          </a:prstGeom>
          <a:solidFill>
            <a:srgbClr val="E6F6F7"/>
          </a:solidFill>
          <a:ln w="762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552" y="1581912"/>
            <a:ext cx="1837943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3100" b="1">
                <a:solidFill>
                  <a:srgbClr val="1C7293"/>
                </a:solidFill>
                <a:latin typeface="Georg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86984" y="2258568"/>
            <a:ext cx="1783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17323B"/>
                </a:solidFill>
                <a:latin typeface="Calibri"/>
              </a:rPr>
              <a:t>生成类型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417320"/>
            <a:ext cx="2057400" cy="1234440"/>
          </a:xfrm>
          <a:prstGeom prst="roundRect">
            <a:avLst/>
          </a:prstGeom>
          <a:solidFill>
            <a:srgbClr val="E6F6F7"/>
          </a:solidFill>
          <a:ln w="762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82127" y="1581912"/>
            <a:ext cx="1837943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3100" b="1">
                <a:solidFill>
                  <a:srgbClr val="00A896"/>
                </a:solidFill>
                <a:latin typeface="Georgia"/>
              </a:rPr>
              <a:t>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2258568"/>
            <a:ext cx="1783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17323B"/>
                </a:solidFill>
                <a:latin typeface="Calibri"/>
              </a:rPr>
              <a:t>测试文件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" y="3520440"/>
            <a:ext cx="4983480" cy="187451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" y="3520440"/>
            <a:ext cx="109728" cy="1874519"/>
          </a:xfrm>
          <a:prstGeom prst="rect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60704" y="3749039"/>
            <a:ext cx="475488" cy="475488"/>
          </a:xfrm>
          <a:prstGeom prst="ellipse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3886200"/>
            <a:ext cx="43891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OBS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64207" y="3739896"/>
            <a:ext cx="38953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21295C"/>
                </a:solidFill>
                <a:latin typeface="Calibri"/>
              </a:rPr>
              <a:t>已具备的观测入口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" y="4288536"/>
            <a:ext cx="4434840" cy="941831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30">
                <a:solidFill>
                  <a:srgbClr val="17323B"/>
                </a:solidFill>
                <a:latin typeface="Calibri"/>
              </a:rPr>
              <a:t>Actuator 暴露健康与 Prom 指标</a:t>
            </a:r>
          </a:p>
          <a:p>
            <a:pPr>
              <a:spcAft>
                <a:spcPts val="400"/>
              </a:spcAft>
            </a:pPr>
            <a:r>
              <a:rPr sz="1230">
                <a:solidFill>
                  <a:srgbClr val="17323B"/>
                </a:solidFill>
                <a:latin typeface="Calibri"/>
              </a:rPr>
              <a:t>prometheus.yml 指向应用指标端点</a:t>
            </a:r>
          </a:p>
          <a:p>
            <a:pPr>
              <a:spcAft>
                <a:spcPts val="400"/>
              </a:spcAft>
            </a:pPr>
            <a:r>
              <a:rPr sz="1230">
                <a:solidFill>
                  <a:srgbClr val="17323B"/>
                </a:solidFill>
                <a:latin typeface="Calibri"/>
              </a:rPr>
              <a:t>grafana 目录存在，可沉淀仪表盘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3520440"/>
            <a:ext cx="4983480" cy="187451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3520440"/>
            <a:ext cx="109728" cy="1874519"/>
          </a:xfrm>
          <a:prstGeom prst="rect">
            <a:avLst/>
          </a:prstGeom>
          <a:solidFill>
            <a:srgbClr val="D95D3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519672" y="3749039"/>
            <a:ext cx="475488" cy="475488"/>
          </a:xfrm>
          <a:prstGeom prst="ellipse">
            <a:avLst/>
          </a:prstGeom>
          <a:solidFill>
            <a:srgbClr val="D95D3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59" y="3886200"/>
            <a:ext cx="43891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RUN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23175" y="3739896"/>
            <a:ext cx="38953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21295C"/>
                </a:solidFill>
                <a:latin typeface="Calibri"/>
              </a:rPr>
              <a:t>仍需从运行环境补齐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74536" y="4288536"/>
            <a:ext cx="4434840" cy="941831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30">
                <a:solidFill>
                  <a:srgbClr val="17323B"/>
                </a:solidFill>
                <a:latin typeface="Calibri"/>
              </a:rPr>
              <a:t>真实用户活跃、应用创建/部署成功率</a:t>
            </a:r>
          </a:p>
          <a:p>
            <a:pPr>
              <a:spcAft>
                <a:spcPts val="400"/>
              </a:spcAft>
            </a:pPr>
            <a:r>
              <a:rPr sz="1230">
                <a:solidFill>
                  <a:srgbClr val="17323B"/>
                </a:solidFill>
                <a:latin typeface="Calibri"/>
              </a:rPr>
              <a:t>AI 调用耗时、token/成本、失败类型</a:t>
            </a:r>
          </a:p>
          <a:p>
            <a:pPr>
              <a:spcAft>
                <a:spcPts val="400"/>
              </a:spcAft>
            </a:pPr>
            <a:r>
              <a:rPr sz="1230">
                <a:solidFill>
                  <a:srgbClr val="17323B"/>
                </a:solidFill>
                <a:latin typeface="Calibri"/>
              </a:rPr>
              <a:t>截图、构建、对象存储上传成功率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46520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0">
                <a:solidFill>
                  <a:srgbClr val="5B7780"/>
                </a:solidFill>
                <a:latin typeface="Calibri"/>
              </a:rPr>
              <a:t>yu-ai-code-mother · 每日项目状态 · 2026-06-26 北京时间</a:t>
            </a:r>
          </a:p>
        </p:txBody>
      </p:sp>
      <p:sp>
        <p:nvSpPr>
          <p:cNvPr id="33" name="Oval 32"/>
          <p:cNvSpPr/>
          <p:nvPr/>
        </p:nvSpPr>
        <p:spPr>
          <a:xfrm>
            <a:off x="11292840" y="6446520"/>
            <a:ext cx="146304" cy="146304"/>
          </a:xfrm>
          <a:prstGeom prst="ellipse">
            <a:avLst/>
          </a:prstGeom>
          <a:solidFill>
            <a:srgbClr val="02C39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1503152" y="6446520"/>
            <a:ext cx="146304" cy="146304"/>
          </a:xfrm>
          <a:prstGeom prst="ellipse">
            <a:avLst/>
          </a:prstGeom>
          <a:solidFill>
            <a:srgbClr val="1C729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438912" cy="438912"/>
          </a:xfrm>
          <a:prstGeom prst="roundRect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8404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310896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3400" b="1">
                <a:solidFill>
                  <a:srgbClr val="21295C"/>
                </a:solidFill>
                <a:latin typeface="Georgia"/>
              </a:rPr>
              <a:t>测试与质量状态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" y="841248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0">
                <a:solidFill>
                  <a:srgbClr val="5B7780"/>
                </a:solidFill>
                <a:latin typeface="Calibri"/>
              </a:rPr>
              <a:t>发现测试与本地脚本，未发现 GitHub Actions 工作流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652760" y="384048"/>
            <a:ext cx="987552" cy="347472"/>
          </a:xfrm>
          <a:prstGeom prst="roundRect">
            <a:avLst/>
          </a:prstGeom>
          <a:solidFill>
            <a:srgbClr val="DDF3F5"/>
          </a:solidFill>
          <a:ln w="762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457200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050" b="1">
                <a:solidFill>
                  <a:srgbClr val="065A82"/>
                </a:solidFill>
                <a:latin typeface="Calibri"/>
              </a:rPr>
              <a:t>07/10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417320"/>
            <a:ext cx="3493008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417320"/>
            <a:ext cx="109728" cy="2057400"/>
          </a:xfrm>
          <a:prstGeom prst="rect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9264" y="1645920"/>
            <a:ext cx="475488" cy="475488"/>
          </a:xfrm>
          <a:prstGeom prst="ellipse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1783080"/>
            <a:ext cx="43891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1636776"/>
            <a:ext cx="24048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21295C"/>
                </a:solidFill>
                <a:latin typeface="Calibri"/>
              </a:rPr>
              <a:t>后端测试面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2185416"/>
            <a:ext cx="2944368" cy="11247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80">
                <a:solidFill>
                  <a:srgbClr val="17323B"/>
                </a:solidFill>
                <a:latin typeface="Calibri"/>
              </a:rPr>
              <a:t>15 个测试文件</a:t>
            </a:r>
          </a:p>
          <a:p>
            <a:pPr>
              <a:spcAft>
                <a:spcPts val="400"/>
              </a:spcAft>
            </a:pPr>
            <a:r>
              <a:rPr sz="1180">
                <a:solidFill>
                  <a:srgbClr val="17323B"/>
                </a:solidFill>
                <a:latin typeface="Calibri"/>
              </a:rPr>
              <a:t>覆盖 AI、类型路由、工作流、图</a:t>
            </a:r>
          </a:p>
          <a:p>
            <a:pPr>
              <a:spcAft>
                <a:spcPts val="400"/>
              </a:spcAft>
            </a:pPr>
            <a:r>
              <a:rPr sz="1180">
                <a:solidFill>
                  <a:srgbClr val="17323B"/>
                </a:solidFill>
                <a:latin typeface="Calibri"/>
              </a:rPr>
              <a:t>片工具</a:t>
            </a:r>
          </a:p>
          <a:p>
            <a:pPr>
              <a:spcAft>
                <a:spcPts val="400"/>
              </a:spcAft>
            </a:pPr>
            <a:r>
              <a:rPr sz="1180">
                <a:solidFill>
                  <a:srgbClr val="17323B"/>
                </a:solidFill>
                <a:latin typeface="Calibri"/>
              </a:rPr>
              <a:t>Maven / Spring Boot</a:t>
            </a:r>
          </a:p>
          <a:p>
            <a:pPr>
              <a:spcAft>
                <a:spcPts val="400"/>
              </a:spcAft>
            </a:pPr>
            <a:r>
              <a:rPr sz="1180">
                <a:solidFill>
                  <a:srgbClr val="17323B"/>
                </a:solidFill>
                <a:latin typeface="Calibri"/>
              </a:rPr>
              <a:t>Test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17136" y="1417320"/>
            <a:ext cx="3493008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17136" y="1417320"/>
            <a:ext cx="109728" cy="2057400"/>
          </a:xfrm>
          <a:prstGeom prst="rect">
            <a:avLst/>
          </a:prstGeom>
          <a:solidFill>
            <a:srgbClr val="02809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773168" y="1645920"/>
            <a:ext cx="475488" cy="475488"/>
          </a:xfrm>
          <a:prstGeom prst="ellipse">
            <a:avLst/>
          </a:prstGeom>
          <a:solidFill>
            <a:srgbClr val="02809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1456" y="1783080"/>
            <a:ext cx="43891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76672" y="1636776"/>
            <a:ext cx="240487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21295C"/>
                </a:solidFill>
                <a:latin typeface="Calibri"/>
              </a:rPr>
              <a:t>前端质量脚本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28032" y="2185416"/>
            <a:ext cx="2944368" cy="11247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80">
                <a:solidFill>
                  <a:srgbClr val="17323B"/>
                </a:solidFill>
                <a:latin typeface="Calibri"/>
              </a:rPr>
              <a:t>build：类型检查 + Vite 构</a:t>
            </a:r>
          </a:p>
          <a:p>
            <a:pPr>
              <a:spcAft>
                <a:spcPts val="400"/>
              </a:spcAft>
            </a:pPr>
            <a:r>
              <a:rPr sz="1180">
                <a:solidFill>
                  <a:srgbClr val="17323B"/>
                </a:solidFill>
                <a:latin typeface="Calibri"/>
              </a:rPr>
              <a:t>建</a:t>
            </a:r>
          </a:p>
          <a:p>
            <a:pPr>
              <a:spcAft>
                <a:spcPts val="400"/>
              </a:spcAft>
            </a:pPr>
            <a:r>
              <a:rPr sz="1180">
                <a:solidFill>
                  <a:srgbClr val="17323B"/>
                </a:solidFill>
                <a:latin typeface="Calibri"/>
              </a:rPr>
              <a:t>lint：ESLint 代码检查</a:t>
            </a:r>
          </a:p>
          <a:p>
            <a:pPr>
              <a:spcAft>
                <a:spcPts val="400"/>
              </a:spcAft>
            </a:pPr>
            <a:r>
              <a:rPr sz="1180">
                <a:solidFill>
                  <a:srgbClr val="17323B"/>
                </a:solidFill>
                <a:latin typeface="Calibri"/>
              </a:rPr>
              <a:t>format：Prettier 格式化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1417320"/>
            <a:ext cx="2999232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21040" y="1417320"/>
            <a:ext cx="109728" cy="2057400"/>
          </a:xfrm>
          <a:prstGeom prst="rect">
            <a:avLst/>
          </a:prstGeom>
          <a:solidFill>
            <a:srgbClr val="D95D3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577072" y="1645920"/>
            <a:ext cx="475488" cy="475488"/>
          </a:xfrm>
          <a:prstGeom prst="ellipse">
            <a:avLst/>
          </a:prstGeom>
          <a:solidFill>
            <a:srgbClr val="D95D3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0" y="1783080"/>
            <a:ext cx="43891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CI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0576" y="1636776"/>
            <a:ext cx="191109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21295C"/>
                </a:solidFill>
                <a:latin typeface="Calibri"/>
              </a:rPr>
              <a:t>CI 状态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2185416"/>
            <a:ext cx="2450591" cy="11247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80">
                <a:solidFill>
                  <a:srgbClr val="17323B"/>
                </a:solidFill>
                <a:latin typeface="Calibri"/>
              </a:rPr>
              <a:t>未发现 .github/workflows</a:t>
            </a:r>
          </a:p>
          <a:p>
            <a:pPr>
              <a:spcAft>
                <a:spcPts val="400"/>
              </a:spcAft>
            </a:pPr>
            <a:r>
              <a:rPr sz="1180">
                <a:solidFill>
                  <a:srgbClr val="17323B"/>
                </a:solidFill>
                <a:latin typeface="Calibri"/>
              </a:rPr>
              <a:t>无法判断最近 CI 结果</a:t>
            </a:r>
          </a:p>
          <a:p>
            <a:pPr>
              <a:spcAft>
                <a:spcPts val="400"/>
              </a:spcAft>
            </a:pPr>
            <a:r>
              <a:rPr sz="1180">
                <a:solidFill>
                  <a:srgbClr val="17323B"/>
                </a:solidFill>
                <a:latin typeface="Calibri"/>
              </a:rPr>
              <a:t>建议补充 PR 级流水线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4206240"/>
            <a:ext cx="2331720" cy="896112"/>
          </a:xfrm>
          <a:prstGeom prst="roundRect">
            <a:avLst/>
          </a:prstGeom>
          <a:solidFill>
            <a:srgbClr val="E6F6F7"/>
          </a:solidFill>
          <a:ln w="762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4352544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21295C"/>
                </a:solidFill>
                <a:latin typeface="Calibri"/>
              </a:rPr>
              <a:t>接口文档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" y="4663440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B7780"/>
                </a:solidFill>
                <a:latin typeface="Calibri"/>
              </a:rPr>
              <a:t>Knife4j / OpenAPI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02736" y="4206240"/>
            <a:ext cx="2331720" cy="896112"/>
          </a:xfrm>
          <a:prstGeom prst="roundRect">
            <a:avLst/>
          </a:prstGeom>
          <a:solidFill>
            <a:srgbClr val="E6F6F7"/>
          </a:solidFill>
          <a:ln w="762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49039" y="4352544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21295C"/>
                </a:solidFill>
                <a:latin typeface="Calibri"/>
              </a:rPr>
              <a:t>权限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9039" y="4663440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B7780"/>
                </a:solidFill>
                <a:latin typeface="Calibri"/>
              </a:rPr>
              <a:t>@AuthCheck + 角色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64224" y="4206240"/>
            <a:ext cx="2331720" cy="896112"/>
          </a:xfrm>
          <a:prstGeom prst="roundRect">
            <a:avLst/>
          </a:prstGeom>
          <a:solidFill>
            <a:srgbClr val="E6F6F7"/>
          </a:solidFill>
          <a:ln w="762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528" y="4352544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21295C"/>
                </a:solidFill>
                <a:latin typeface="Calibri"/>
              </a:rPr>
              <a:t>限流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10528" y="4663440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B7780"/>
                </a:solidFill>
                <a:latin typeface="Calibri"/>
              </a:rPr>
              <a:t>Redisson 分布式限流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25712" y="4206240"/>
            <a:ext cx="2331720" cy="896112"/>
          </a:xfrm>
          <a:prstGeom prst="roundRect">
            <a:avLst/>
          </a:prstGeom>
          <a:solidFill>
            <a:srgbClr val="E6F6F7"/>
          </a:solidFill>
          <a:ln w="762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72016" y="4352544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21295C"/>
                </a:solidFill>
                <a:latin typeface="Calibri"/>
              </a:rPr>
              <a:t>缓存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72016" y="4663440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B7780"/>
                </a:solidFill>
                <a:latin typeface="Calibri"/>
              </a:rPr>
              <a:t>Redis + Caffeine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6446520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0">
                <a:solidFill>
                  <a:srgbClr val="5B7780"/>
                </a:solidFill>
                <a:latin typeface="Calibri"/>
              </a:rPr>
              <a:t>yu-ai-code-mother · 每日项目状态 · 2026-06-26 北京时间</a:t>
            </a:r>
          </a:p>
        </p:txBody>
      </p:sp>
      <p:sp>
        <p:nvSpPr>
          <p:cNvPr id="39" name="Oval 38"/>
          <p:cNvSpPr/>
          <p:nvPr/>
        </p:nvSpPr>
        <p:spPr>
          <a:xfrm>
            <a:off x="11292840" y="6446520"/>
            <a:ext cx="146304" cy="146304"/>
          </a:xfrm>
          <a:prstGeom prst="ellipse">
            <a:avLst/>
          </a:prstGeom>
          <a:solidFill>
            <a:srgbClr val="02C39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503152" y="6446520"/>
            <a:ext cx="146304" cy="146304"/>
          </a:xfrm>
          <a:prstGeom prst="ellipse">
            <a:avLst/>
          </a:prstGeom>
          <a:solidFill>
            <a:srgbClr val="1C729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438912" cy="438912"/>
          </a:xfrm>
          <a:prstGeom prst="roundRect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8404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310896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3400" b="1">
                <a:solidFill>
                  <a:srgbClr val="21295C"/>
                </a:solidFill>
                <a:latin typeface="Georgia"/>
              </a:rPr>
              <a:t>风险与阻塞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" y="841248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0">
                <a:solidFill>
                  <a:srgbClr val="5B7780"/>
                </a:solidFill>
                <a:latin typeface="Calibri"/>
              </a:rPr>
              <a:t>上线前需要重点排查的配置、依赖与工程化缺口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652760" y="384048"/>
            <a:ext cx="987552" cy="347472"/>
          </a:xfrm>
          <a:prstGeom prst="roundRect">
            <a:avLst/>
          </a:prstGeom>
          <a:solidFill>
            <a:srgbClr val="DDF3F5"/>
          </a:solidFill>
          <a:ln w="762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457200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050" b="1">
                <a:solidFill>
                  <a:srgbClr val="065A82"/>
                </a:solidFill>
                <a:latin typeface="Calibri"/>
              </a:rPr>
              <a:t>08/10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507492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298448"/>
            <a:ext cx="109728" cy="1719072"/>
          </a:xfrm>
          <a:prstGeom prst="rect">
            <a:avLst/>
          </a:prstGeom>
          <a:solidFill>
            <a:srgbClr val="D95D3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1527048"/>
            <a:ext cx="475488" cy="475488"/>
          </a:xfrm>
          <a:prstGeom prst="ellipse">
            <a:avLst/>
          </a:prstGeom>
          <a:solidFill>
            <a:srgbClr val="D95D3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664207"/>
            <a:ext cx="43891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7904" y="1517904"/>
            <a:ext cx="398678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650" b="1">
                <a:solidFill>
                  <a:srgbClr val="21295C"/>
                </a:solidFill>
                <a:latin typeface="Calibri"/>
              </a:rPr>
              <a:t>运行配置未固化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066543"/>
            <a:ext cx="4526280" cy="786383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17323B"/>
                </a:solidFill>
                <a:latin typeface="Calibri"/>
              </a:rPr>
              <a:t>应用配置中仍有 API Key、COS、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7323B"/>
                </a:solidFill>
                <a:latin typeface="Calibri"/>
              </a:rPr>
              <a:t>Bucket 示例值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7323B"/>
                </a:solidFill>
                <a:latin typeface="Calibri"/>
              </a:rPr>
              <a:t>MySQL、Redis、部署域名需按环境注入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298448"/>
            <a:ext cx="507492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298448"/>
            <a:ext cx="109728" cy="1719072"/>
          </a:xfrm>
          <a:prstGeom prst="rect">
            <a:avLst/>
          </a:prstGeom>
          <a:solidFill>
            <a:srgbClr val="F2A65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1527048"/>
            <a:ext cx="475488" cy="475488"/>
          </a:xfrm>
          <a:prstGeom prst="ellipse">
            <a:avLst/>
          </a:prstGeom>
          <a:solidFill>
            <a:srgbClr val="F2A65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59" y="1664207"/>
            <a:ext cx="43891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MED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23175" y="1517904"/>
            <a:ext cx="398678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650" b="1">
                <a:solidFill>
                  <a:srgbClr val="21295C"/>
                </a:solidFill>
                <a:latin typeface="Calibri"/>
              </a:rPr>
              <a:t>外部服务链路多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74536" y="2066543"/>
            <a:ext cx="4526280" cy="786383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17323B"/>
                </a:solidFill>
                <a:latin typeface="Calibri"/>
              </a:rPr>
              <a:t>AI 模型、图片搜索、COS、截图链路都会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7323B"/>
                </a:solidFill>
                <a:latin typeface="Calibri"/>
              </a:rPr>
              <a:t>影响体验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7323B"/>
                </a:solidFill>
                <a:latin typeface="Calibri"/>
              </a:rPr>
              <a:t>需要超时、重试、降级与告警闭环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493008"/>
            <a:ext cx="507492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3493008"/>
            <a:ext cx="109728" cy="1719072"/>
          </a:xfrm>
          <a:prstGeom prst="rect">
            <a:avLst/>
          </a:prstGeom>
          <a:solidFill>
            <a:srgbClr val="1C729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14400" y="3721608"/>
            <a:ext cx="475488" cy="475488"/>
          </a:xfrm>
          <a:prstGeom prst="ellipse">
            <a:avLst/>
          </a:prstGeom>
          <a:solidFill>
            <a:srgbClr val="1C729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3858768"/>
            <a:ext cx="43891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MED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7904" y="3712463"/>
            <a:ext cx="398678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650" b="1">
                <a:solidFill>
                  <a:srgbClr val="21295C"/>
                </a:solidFill>
                <a:latin typeface="Calibri"/>
              </a:rPr>
              <a:t>微服务版本需验证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4261104"/>
            <a:ext cx="4526280" cy="786383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17323B"/>
                </a:solidFill>
                <a:latin typeface="Calibri"/>
              </a:rPr>
              <a:t>微服务改造提交曾多次标注“中间态”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7323B"/>
                </a:solidFill>
                <a:latin typeface="Calibri"/>
              </a:rPr>
              <a:t>虽有完成提交，仍应逐服务启动与调用验证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3493008"/>
            <a:ext cx="507492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3493008"/>
            <a:ext cx="109728" cy="1719072"/>
          </a:xfrm>
          <a:prstGeom prst="rect">
            <a:avLst/>
          </a:prstGeom>
          <a:solidFill>
            <a:srgbClr val="02809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519672" y="3721608"/>
            <a:ext cx="475488" cy="475488"/>
          </a:xfrm>
          <a:prstGeom prst="ellipse">
            <a:avLst/>
          </a:prstGeom>
          <a:solidFill>
            <a:srgbClr val="02809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59" y="3858768"/>
            <a:ext cx="43891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MED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23175" y="3712463"/>
            <a:ext cx="398678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650" b="1">
                <a:solidFill>
                  <a:srgbClr val="21295C"/>
                </a:solidFill>
                <a:latin typeface="Calibri"/>
              </a:rPr>
              <a:t>CI 缺口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74536" y="4261104"/>
            <a:ext cx="4526280" cy="786383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17323B"/>
                </a:solidFill>
                <a:latin typeface="Calibri"/>
              </a:rPr>
              <a:t>未发现自动化工作流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7323B"/>
                </a:solidFill>
                <a:latin typeface="Calibri"/>
              </a:rPr>
              <a:t>PR 合入前缺少构建、测试、代码检查门禁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46520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0">
                <a:solidFill>
                  <a:srgbClr val="5B7780"/>
                </a:solidFill>
                <a:latin typeface="Calibri"/>
              </a:rPr>
              <a:t>yu-ai-code-mother · 每日项目状态 · 2026-06-26 北京时间</a:t>
            </a:r>
          </a:p>
        </p:txBody>
      </p:sp>
      <p:sp>
        <p:nvSpPr>
          <p:cNvPr id="33" name="Oval 32"/>
          <p:cNvSpPr/>
          <p:nvPr/>
        </p:nvSpPr>
        <p:spPr>
          <a:xfrm>
            <a:off x="11292840" y="6446520"/>
            <a:ext cx="146304" cy="146304"/>
          </a:xfrm>
          <a:prstGeom prst="ellipse">
            <a:avLst/>
          </a:prstGeom>
          <a:solidFill>
            <a:srgbClr val="02C39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1503152" y="6446520"/>
            <a:ext cx="146304" cy="146304"/>
          </a:xfrm>
          <a:prstGeom prst="ellipse">
            <a:avLst/>
          </a:prstGeom>
          <a:solidFill>
            <a:srgbClr val="1C729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438912" cy="438912"/>
          </a:xfrm>
          <a:prstGeom prst="roundRect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8404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310896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3400" b="1">
                <a:solidFill>
                  <a:srgbClr val="21295C"/>
                </a:solidFill>
                <a:latin typeface="Georgia"/>
              </a:rPr>
              <a:t>建议的下一步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" y="841248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0">
                <a:solidFill>
                  <a:srgbClr val="5B7780"/>
                </a:solidFill>
                <a:latin typeface="Calibri"/>
              </a:rPr>
              <a:t>优先把“可运行、可观测、可回归”闭环补齐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652760" y="384048"/>
            <a:ext cx="987552" cy="347472"/>
          </a:xfrm>
          <a:prstGeom prst="roundRect">
            <a:avLst/>
          </a:prstGeom>
          <a:solidFill>
            <a:srgbClr val="DDF3F5"/>
          </a:solidFill>
          <a:ln w="762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457200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050" b="1">
                <a:solidFill>
                  <a:srgbClr val="065A82"/>
                </a:solidFill>
                <a:latin typeface="Calibri"/>
              </a:rPr>
              <a:t>09/10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" y="1234440"/>
            <a:ext cx="10561320" cy="64008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7552" y="1344168"/>
            <a:ext cx="420624" cy="420624"/>
          </a:xfrm>
          <a:prstGeom prst="ellipse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1481328"/>
            <a:ext cx="329184" cy="91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1362456"/>
            <a:ext cx="2606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21295C"/>
                </a:solidFill>
                <a:latin typeface="Calibri"/>
              </a:rPr>
              <a:t>运行环境清单化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0832" y="1362456"/>
            <a:ext cx="6400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7323B"/>
                </a:solidFill>
                <a:latin typeface="Calibri"/>
              </a:rPr>
              <a:t>将 AI/COS/Redis/MySQL/部署域名等配置转为环境变量与样例文档。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" y="2112264"/>
            <a:ext cx="10561320" cy="64008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7552" y="2221992"/>
            <a:ext cx="420624" cy="420624"/>
          </a:xfrm>
          <a:prstGeom prst="ellipse">
            <a:avLst/>
          </a:prstGeom>
          <a:solidFill>
            <a:srgbClr val="02809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1" y="2359152"/>
            <a:ext cx="329184" cy="91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2240280"/>
            <a:ext cx="2606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21295C"/>
                </a:solidFill>
                <a:latin typeface="Calibri"/>
              </a:rPr>
              <a:t>补齐 CI 门禁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70832" y="2240280"/>
            <a:ext cx="6400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7323B"/>
                </a:solidFill>
                <a:latin typeface="Calibri"/>
              </a:rPr>
              <a:t>增加后端 Maven test、前端 npm build/lint/typecheck 的 PR 级流水线。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" y="2990088"/>
            <a:ext cx="10561320" cy="64008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87552" y="3099816"/>
            <a:ext cx="420624" cy="420624"/>
          </a:xfrm>
          <a:prstGeom prst="ellipse">
            <a:avLst/>
          </a:prstGeom>
          <a:solidFill>
            <a:srgbClr val="1C729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1" y="3236976"/>
            <a:ext cx="329184" cy="91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8" y="3118104"/>
            <a:ext cx="2606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21295C"/>
                </a:solidFill>
                <a:latin typeface="Calibri"/>
              </a:rPr>
              <a:t>主链路冒烟测试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70832" y="3118104"/>
            <a:ext cx="6400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7323B"/>
                </a:solidFill>
                <a:latin typeface="Calibri"/>
              </a:rPr>
              <a:t>覆盖创建应用 → 对话生成 → 预览 → 部署 → 截图 → 下载源码。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6384" y="3867912"/>
            <a:ext cx="10561320" cy="64008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87552" y="3977640"/>
            <a:ext cx="420624" cy="420624"/>
          </a:xfrm>
          <a:prstGeom prst="ellipse">
            <a:avLst/>
          </a:prstGeom>
          <a:solidFill>
            <a:srgbClr val="00A89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1" y="4114800"/>
            <a:ext cx="329184" cy="91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64208" y="3995928"/>
            <a:ext cx="2606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21295C"/>
                </a:solidFill>
                <a:latin typeface="Calibri"/>
              </a:rPr>
              <a:t>观测指标落板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0832" y="3995928"/>
            <a:ext cx="6400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7323B"/>
                </a:solidFill>
                <a:latin typeface="Calibri"/>
              </a:rPr>
              <a:t>沉淀 Grafana 仪表盘与告警：AI 延迟、失败率、部署成功率、截图成功率。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" y="4745736"/>
            <a:ext cx="10561320" cy="64008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87552" y="4855464"/>
            <a:ext cx="420624" cy="420624"/>
          </a:xfrm>
          <a:prstGeom prst="ellipse">
            <a:avLst/>
          </a:prstGeom>
          <a:solidFill>
            <a:srgbClr val="21295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1" y="4992623"/>
            <a:ext cx="329184" cy="91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64208" y="4873751"/>
            <a:ext cx="2606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21295C"/>
                </a:solidFill>
                <a:latin typeface="Calibri"/>
              </a:rPr>
              <a:t>微服务发布验证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70832" y="4873751"/>
            <a:ext cx="6400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7323B"/>
                </a:solidFill>
                <a:latin typeface="Calibri"/>
              </a:rPr>
              <a:t>按 common/model/client/user/app/ai/截图服务逐步验证注册与 Dubbo 调用。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446520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0">
                <a:solidFill>
                  <a:srgbClr val="5B7780"/>
                </a:solidFill>
                <a:latin typeface="Calibri"/>
              </a:rPr>
              <a:t>yu-ai-code-mother · 每日项目状态 · 2026-06-26 北京时间</a:t>
            </a:r>
          </a:p>
        </p:txBody>
      </p:sp>
      <p:sp>
        <p:nvSpPr>
          <p:cNvPr id="34" name="Oval 33"/>
          <p:cNvSpPr/>
          <p:nvPr/>
        </p:nvSpPr>
        <p:spPr>
          <a:xfrm>
            <a:off x="11292840" y="6446520"/>
            <a:ext cx="146304" cy="146304"/>
          </a:xfrm>
          <a:prstGeom prst="ellipse">
            <a:avLst/>
          </a:prstGeom>
          <a:solidFill>
            <a:srgbClr val="02C39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1503152" y="6446520"/>
            <a:ext cx="146304" cy="146304"/>
          </a:xfrm>
          <a:prstGeom prst="ellipse">
            <a:avLst/>
          </a:prstGeom>
          <a:solidFill>
            <a:srgbClr val="1C729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arallelogram 1"/>
          <p:cNvSpPr/>
          <p:nvPr/>
        </p:nvSpPr>
        <p:spPr>
          <a:xfrm rot="840000">
            <a:off x="6400800" y="-640080"/>
            <a:ext cx="4206240" cy="8138160"/>
          </a:xfrm>
          <a:prstGeom prst="parallelogram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 rot="840000">
            <a:off x="6995160" y="-384047"/>
            <a:ext cx="4206240" cy="8138160"/>
          </a:xfrm>
          <a:prstGeom prst="parallelogram">
            <a:avLst/>
          </a:prstGeom>
          <a:solidFill>
            <a:srgbClr val="1C729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 rot="840000">
            <a:off x="7589520" y="-128015"/>
            <a:ext cx="4206240" cy="8138160"/>
          </a:xfrm>
          <a:prstGeom prst="parallelogram">
            <a:avLst/>
          </a:prstGeom>
          <a:solidFill>
            <a:srgbClr val="02809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 rot="840000">
            <a:off x="8183879" y="128016"/>
            <a:ext cx="4206240" cy="8138160"/>
          </a:xfrm>
          <a:prstGeom prst="parallelogram">
            <a:avLst/>
          </a:prstGeom>
          <a:solidFill>
            <a:srgbClr val="00A89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966960" y="411480"/>
            <a:ext cx="1508760" cy="1508760"/>
          </a:xfrm>
          <a:prstGeom prst="ellipse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658368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100" b="1">
                <a:solidFill>
                  <a:srgbClr val="B7F4EF"/>
                </a:solidFill>
                <a:latin typeface="Calibri"/>
              </a:rPr>
              <a:t>今日结论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115568"/>
            <a:ext cx="89611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3400" b="1">
                <a:solidFill>
                  <a:srgbClr val="FFFFFF"/>
                </a:solidFill>
                <a:latin typeface="Georgia"/>
              </a:rPr>
              <a:t>能力链路已成型，</a:t>
            </a:r>
          </a:p>
          <a:p>
            <a:pPr algn="l">
              <a:spcAft>
                <a:spcPts val="100"/>
              </a:spcAft>
            </a:pPr>
            <a:r>
              <a:rPr sz="3400" b="1">
                <a:solidFill>
                  <a:srgbClr val="FFFFFF"/>
                </a:solidFill>
                <a:latin typeface="Georgia"/>
              </a:rPr>
              <a:t>工程化验证是下一阶段重点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2907792"/>
            <a:ext cx="3063240" cy="1417320"/>
          </a:xfrm>
          <a:prstGeom prst="roundRect">
            <a:avLst/>
          </a:prstGeom>
          <a:solidFill>
            <a:srgbClr val="065A82"/>
          </a:solidFill>
          <a:ln w="10160">
            <a:solidFill>
              <a:srgbClr val="B7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127248"/>
            <a:ext cx="2606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产品能力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529584"/>
            <a:ext cx="25786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80" b="0">
                <a:solidFill>
                  <a:srgbClr val="E6FAFA"/>
                </a:solidFill>
                <a:latin typeface="Calibri"/>
              </a:rPr>
              <a:t>生成、预览、部署、管理链路完整</a:t>
            </a:r>
          </a:p>
          <a:p>
            <a:pPr algn="l">
              <a:spcAft>
                <a:spcPts val="100"/>
              </a:spcAft>
            </a:pPr>
            <a:r>
              <a:rPr sz="1180" b="0">
                <a:solidFill>
                  <a:srgbClr val="E6FAFA"/>
                </a:solidFill>
                <a:latin typeface="Calibri"/>
              </a:rPr>
              <a:t>，适合继续围绕稳定性与体验打磨</a:t>
            </a:r>
          </a:p>
          <a:p>
            <a:pPr algn="l">
              <a:spcAft>
                <a:spcPts val="100"/>
              </a:spcAft>
            </a:pPr>
            <a:r>
              <a:rPr sz="1180" b="0">
                <a:solidFill>
                  <a:srgbClr val="E6FAFA"/>
                </a:solidFill>
                <a:latin typeface="Calibri"/>
              </a:rPr>
              <a:t>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9704" y="2907792"/>
            <a:ext cx="3063240" cy="1417320"/>
          </a:xfrm>
          <a:prstGeom prst="roundRect">
            <a:avLst/>
          </a:prstGeom>
          <a:solidFill>
            <a:srgbClr val="028090"/>
          </a:solidFill>
          <a:ln w="10160">
            <a:solidFill>
              <a:srgbClr val="B7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60" y="3127248"/>
            <a:ext cx="2606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近期进展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3529584"/>
            <a:ext cx="25786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80" b="0">
                <a:solidFill>
                  <a:srgbClr val="E6FAFA"/>
                </a:solidFill>
                <a:latin typeface="Calibri"/>
              </a:rPr>
              <a:t>近 7 天无提交；最近集中改造</a:t>
            </a:r>
          </a:p>
          <a:p>
            <a:pPr algn="l">
              <a:spcAft>
                <a:spcPts val="100"/>
              </a:spcAft>
            </a:pPr>
            <a:r>
              <a:rPr sz="1180" b="0">
                <a:solidFill>
                  <a:srgbClr val="E6FAFA"/>
                </a:solidFill>
                <a:latin typeface="Calibri"/>
              </a:rPr>
              <a:t>为微服务拆分与可观测性增强。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93023" y="2907792"/>
            <a:ext cx="3063240" cy="1417320"/>
          </a:xfrm>
          <a:prstGeom prst="roundRect">
            <a:avLst/>
          </a:prstGeom>
          <a:solidFill>
            <a:srgbClr val="1C7293"/>
          </a:solidFill>
          <a:ln w="10160">
            <a:solidFill>
              <a:srgbClr val="B7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3127248"/>
            <a:ext cx="2606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行动焦点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529584"/>
            <a:ext cx="25786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80" b="0">
                <a:solidFill>
                  <a:srgbClr val="E6FAFA"/>
                </a:solidFill>
                <a:latin typeface="Calibri"/>
              </a:rPr>
              <a:t>补齐配置治理、CI 门禁、主链</a:t>
            </a:r>
          </a:p>
          <a:p>
            <a:pPr algn="l">
              <a:spcAft>
                <a:spcPts val="100"/>
              </a:spcAft>
            </a:pPr>
            <a:r>
              <a:rPr sz="1180" b="0">
                <a:solidFill>
                  <a:srgbClr val="E6FAFA"/>
                </a:solidFill>
                <a:latin typeface="Calibri"/>
              </a:rPr>
              <a:t>路冒烟和运行态监控。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5897880"/>
            <a:ext cx="74980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>
                <a:solidFill>
                  <a:srgbClr val="E6FAFA"/>
                </a:solidFill>
                <a:latin typeface="Calibri"/>
              </a:rPr>
              <a:t>PPT 路径：docs/reports/project-status-2026-06-26.pptx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6062472"/>
            <a:ext cx="2240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100"/>
              </a:spcAft>
            </a:pPr>
            <a:r>
              <a:rPr sz="1250" b="1">
                <a:solidFill>
                  <a:srgbClr val="B7F4EF"/>
                </a:solidFill>
                <a:latin typeface="Calibri"/>
              </a:rPr>
              <a:t>生成范围：仅报告文件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零代码应用生成平台每日项目状态 2026-06-26</dc:title>
  <dc:subject>每日项目状态汇报</dc:subject>
  <dc:creator>Cursor Cloud Agent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zh-CN</dc:language>
</cp:coreProperties>
</file>