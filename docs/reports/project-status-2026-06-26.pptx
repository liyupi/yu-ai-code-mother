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 rot="840000">
            <a:off x="6400800" y="-640080"/>
            <a:ext cx="4206240" cy="8138160"/>
          </a:xfrm>
          <a:prstGeom prst="parallelogram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 rot="840000">
            <a:off x="6995160" y="-384047"/>
            <a:ext cx="4206240" cy="8138160"/>
          </a:xfrm>
          <a:prstGeom prst="parallelogram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840000">
            <a:off x="7589520" y="-128015"/>
            <a:ext cx="4206240" cy="8138160"/>
          </a:xfrm>
          <a:prstGeom prst="parallelogram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 rot="840000">
            <a:off x="8183879" y="128016"/>
            <a:ext cx="4206240" cy="8138160"/>
          </a:xfrm>
          <a:prstGeom prst="parallelogram">
            <a:avLst/>
          </a:prstGeom>
          <a:solidFill>
            <a:srgbClr val="00A89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5074920"/>
            <a:ext cx="1234440" cy="1234440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411480"/>
            <a:ext cx="1508760" cy="1508760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74980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B7F4EF"/>
                </a:solidFill>
                <a:latin typeface="Calibri"/>
              </a:rPr>
              <a:t>AI 零代码应用生成平台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325880"/>
            <a:ext cx="8046720" cy="7498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Georgia"/>
              </a:rPr>
              <a:t>每日项目状态汇报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76272"/>
            <a:ext cx="621792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E6FAFA"/>
                </a:solidFill>
                <a:latin typeface="Calibri"/>
              </a:rPr>
              <a:t>yu-ai-code-mother · 维护者/团队版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498848"/>
            <a:ext cx="52120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生成日期：2026-06-26（北京时间）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触发方式：每日自动化任务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数据来源：README、模块目录、配置与 git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提交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5257800"/>
            <a:ext cx="1234440" cy="786384"/>
          </a:xfrm>
          <a:prstGeom prst="roundRect">
            <a:avLst/>
          </a:prstGeom>
          <a:solidFill>
            <a:srgbClr val="065A82"/>
          </a:solidFill>
          <a:ln w="10160">
            <a:solidFill>
              <a:srgbClr val="B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0256" y="5376672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715000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880" b="0" i="0">
                <a:solidFill>
                  <a:srgbClr val="FFFFFF"/>
                </a:solidFill>
                <a:latin typeface="Calibri"/>
              </a:rPr>
              <a:t>代码生成模式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5257800"/>
            <a:ext cx="1234440" cy="786384"/>
          </a:xfrm>
          <a:prstGeom prst="roundRect">
            <a:avLst/>
          </a:prstGeom>
          <a:solidFill>
            <a:srgbClr val="028090"/>
          </a:solidFill>
          <a:ln w="10160">
            <a:solidFill>
              <a:srgbClr val="B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0456" y="5376672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7" y="5715000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880" b="0" i="0">
                <a:solidFill>
                  <a:srgbClr val="FFFFFF"/>
                </a:solidFill>
                <a:latin typeface="Calibri"/>
              </a:rPr>
              <a:t>微服务模块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38360" y="5257800"/>
            <a:ext cx="1234440" cy="786384"/>
          </a:xfrm>
          <a:prstGeom prst="roundRect">
            <a:avLst/>
          </a:prstGeom>
          <a:solidFill>
            <a:srgbClr val="1C7293"/>
          </a:solidFill>
          <a:ln w="10160">
            <a:solidFill>
              <a:srgbClr val="B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0656" y="5376672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Georgia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2367" y="5715000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880" b="0" i="0">
                <a:solidFill>
                  <a:srgbClr val="FFFFFF"/>
                </a:solidFill>
                <a:latin typeface="Calibri"/>
              </a:rPr>
              <a:t>后端测试文件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1295C"/>
                </a:solidFill>
                <a:latin typeface="Georgia"/>
              </a:rPr>
              <a:t>项目概览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平台定位、技术栈与当前形态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065A82"/>
                </a:solidFill>
                <a:latin typeface="Calibri"/>
              </a:rPr>
              <a:t>02/10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89888"/>
            <a:ext cx="4572000" cy="4297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389888"/>
            <a:ext cx="109728" cy="4297680"/>
          </a:xfrm>
          <a:prstGeom prst="rect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618488"/>
            <a:ext cx="475488" cy="475488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755648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1609344"/>
            <a:ext cx="3483864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一句话状态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176272"/>
            <a:ext cx="4005072" cy="3364992"/>
          </a:xfrm>
          <a:prstGeom prst="rect">
            <a:avLst/>
          </a:prstGeom>
          <a:noFill/>
        </p:spPr>
        <p:txBody>
          <a:bodyPr wrap="square" lIns="27432" rIns="27432" tIns="27432" bIns="27432" anchor="t"/>
          <a:lstStyle/>
          <a:p>
            <a:pPr algn="l">
              <a:spcAft>
                <a:spcPts val="200"/>
              </a:spcAft>
            </a:pPr>
            <a:r>
              <a:rPr sz="1420" b="0" i="0">
                <a:solidFill>
                  <a:srgbClr val="17323B"/>
                </a:solidFill>
                <a:latin typeface="Calibri"/>
              </a:rPr>
              <a:t>项目已具备从需求输入、AI 对话生成</a:t>
            </a:r>
          </a:p>
          <a:p>
            <a:pPr algn="l">
              <a:spcAft>
                <a:spcPts val="200"/>
              </a:spcAft>
            </a:pPr>
            <a:r>
              <a:rPr sz="1420" b="0" i="0">
                <a:solidFill>
                  <a:srgbClr val="17323B"/>
                </a:solidFill>
                <a:latin typeface="Calibri"/>
              </a:rPr>
              <a:t>、实时预览、部署分享到后台管理的主链</a:t>
            </a:r>
          </a:p>
          <a:p>
            <a:pPr algn="l">
              <a:spcAft>
                <a:spcPts val="200"/>
              </a:spcAft>
            </a:pPr>
            <a:r>
              <a:rPr sz="1420" b="0" i="0">
                <a:solidFill>
                  <a:srgbClr val="17323B"/>
                </a:solidFill>
                <a:latin typeface="Calibri"/>
              </a:rPr>
              <a:t>路雏形；当前代码同时保留单体后端与微</a:t>
            </a:r>
          </a:p>
          <a:p>
            <a:pPr algn="l">
              <a:spcAft>
                <a:spcPts val="200"/>
              </a:spcAft>
            </a:pPr>
            <a:r>
              <a:rPr sz="1420" b="0" i="0">
                <a:solidFill>
                  <a:srgbClr val="17323B"/>
                </a:solidFill>
                <a:latin typeface="Calibri"/>
              </a:rPr>
              <a:t>服务改造版本，适合作为教学与架构演进</a:t>
            </a:r>
          </a:p>
          <a:p>
            <a:pPr algn="l">
              <a:spcAft>
                <a:spcPts val="200"/>
              </a:spcAft>
            </a:pPr>
            <a:r>
              <a:rPr sz="1420" b="0" i="0">
                <a:solidFill>
                  <a:srgbClr val="17323B"/>
                </a:solidFill>
                <a:latin typeface="Calibri"/>
              </a:rPr>
              <a:t>样板。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59552" y="1389888"/>
            <a:ext cx="1444752" cy="1353312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7568" y="155448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3100" b="1" i="0">
                <a:solidFill>
                  <a:srgbClr val="1C7293"/>
                </a:solidFill>
                <a:latin typeface="Georgia"/>
              </a:rPr>
              <a:t>146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24144" y="2194560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220" b="1" i="0">
                <a:solidFill>
                  <a:srgbClr val="17323B"/>
                </a:solidFill>
                <a:latin typeface="Calibri"/>
              </a:rPr>
              <a:t>单体后端</a:t>
            </a:r>
          </a:p>
          <a:p>
            <a:pPr algn="ctr">
              <a:spcAft>
                <a:spcPts val="200"/>
              </a:spcAft>
            </a:pPr>
            <a:r>
              <a:rPr sz="1220" b="1" i="0">
                <a:solidFill>
                  <a:srgbClr val="17323B"/>
                </a:solidFill>
                <a:latin typeface="Calibri"/>
              </a:rPr>
              <a:t>Java</a:t>
            </a:r>
          </a:p>
          <a:p>
            <a:pPr algn="ctr">
              <a:spcAft>
                <a:spcPts val="200"/>
              </a:spcAft>
            </a:pPr>
            <a:r>
              <a:rPr sz="1220" b="1" i="0">
                <a:solidFill>
                  <a:srgbClr val="17323B"/>
                </a:solidFill>
                <a:latin typeface="Calibri"/>
              </a:rPr>
              <a:t>文件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2514600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核心业务/AI</a:t>
            </a:r>
          </a:p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/监控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78624" y="1389888"/>
            <a:ext cx="1444752" cy="1353312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55448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3100" b="1" i="0">
                <a:solidFill>
                  <a:srgbClr val="028090"/>
                </a:solidFill>
                <a:latin typeface="Georgia"/>
              </a:rPr>
              <a:t>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43216" y="2194560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220" b="1" i="0">
                <a:solidFill>
                  <a:srgbClr val="17323B"/>
                </a:solidFill>
                <a:latin typeface="Calibri"/>
              </a:rPr>
              <a:t>前端源码文件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3216" y="2514600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Vue 3 +</a:t>
            </a:r>
          </a:p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7696" y="1389888"/>
            <a:ext cx="1444752" cy="1353312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5712" y="155448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3100" b="1" i="0">
                <a:solidFill>
                  <a:srgbClr val="065A82"/>
                </a:solidFill>
                <a:latin typeface="Georgia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2194560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220" b="1" i="0">
                <a:solidFill>
                  <a:srgbClr val="17323B"/>
                </a:solidFill>
                <a:latin typeface="Calibri"/>
              </a:rPr>
              <a:t>Maven</a:t>
            </a:r>
          </a:p>
          <a:p>
            <a:pPr algn="ctr">
              <a:spcAft>
                <a:spcPts val="200"/>
              </a:spcAft>
            </a:pPr>
            <a:r>
              <a:rPr sz="1220" b="1" i="0">
                <a:solidFill>
                  <a:srgbClr val="17323B"/>
                </a:solidFill>
                <a:latin typeface="Calibri"/>
              </a:rPr>
              <a:t>POM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2514600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单体 +</a:t>
            </a:r>
          </a:p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微服务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16768" y="1389888"/>
            <a:ext cx="1005840" cy="1353312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44784" y="1554480"/>
            <a:ext cx="749808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3100" b="1" i="0">
                <a:solidFill>
                  <a:srgbClr val="D95D39"/>
                </a:solidFill>
                <a:latin typeface="Georgia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2194560"/>
            <a:ext cx="676656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220" b="1" i="0">
                <a:solidFill>
                  <a:srgbClr val="17323B"/>
                </a:solidFill>
                <a:latin typeface="Calibri"/>
              </a:rPr>
              <a:t>近 7</a:t>
            </a:r>
          </a:p>
          <a:p>
            <a:pPr algn="ctr">
              <a:spcAft>
                <a:spcPts val="200"/>
              </a:spcAft>
            </a:pPr>
            <a:r>
              <a:rPr sz="1220" b="1" i="0">
                <a:solidFill>
                  <a:srgbClr val="17323B"/>
                </a:solidFill>
                <a:latin typeface="Calibri"/>
              </a:rPr>
              <a:t>天提交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2514600"/>
            <a:ext cx="6766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仓库记录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59552" y="3154680"/>
            <a:ext cx="288036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59552" y="3154680"/>
            <a:ext cx="109728" cy="1508760"/>
          </a:xfrm>
          <a:prstGeom prst="rect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815584" y="3383280"/>
            <a:ext cx="475488" cy="475488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352044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3374136"/>
            <a:ext cx="1792224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1295C"/>
                </a:solidFill>
                <a:latin typeface="Calibri"/>
              </a:rPr>
              <a:t>产品入口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0448" y="3922776"/>
            <a:ext cx="2331720" cy="57607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主页创建应用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对话页实时生成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应用详情/编辑/部署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32520" y="3154680"/>
            <a:ext cx="288036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732520" y="3154680"/>
            <a:ext cx="109728" cy="1508760"/>
          </a:xfrm>
          <a:prstGeom prst="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988552" y="3383280"/>
            <a:ext cx="475488" cy="475488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6840" y="352044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92056" y="3374136"/>
            <a:ext cx="1792224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1295C"/>
                </a:solidFill>
                <a:latin typeface="Calibri"/>
              </a:rPr>
              <a:t>后端底座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43416" y="3922776"/>
            <a:ext cx="2331720" cy="57607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Spring Boot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3 / Java 21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LangChain4j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+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LangGraph4j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Redis/MySQL/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COS/Promethe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20">
                <a:solidFill>
                  <a:srgbClr val="17323B"/>
                </a:solidFill>
                <a:latin typeface="Calibri"/>
              </a:rPr>
              <a:t>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43" name="Oval 42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1295C"/>
                </a:solidFill>
                <a:latin typeface="Georgia"/>
              </a:rPr>
              <a:t>核心能力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围绕“生成、编辑、部署、治理”的端到端能力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065A82"/>
                </a:solidFill>
                <a:latin typeface="Calibri"/>
              </a:rPr>
              <a:t>03/10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5074920" cy="17556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109728" cy="1755648"/>
          </a:xfrm>
          <a:prstGeom prst="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527048"/>
            <a:ext cx="475488" cy="475488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664207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1517904"/>
            <a:ext cx="3986783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1295C"/>
                </a:solidFill>
                <a:latin typeface="Calibri"/>
              </a:rPr>
              <a:t>智能代码生成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066543"/>
            <a:ext cx="4526280" cy="82295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20">
                <a:solidFill>
                  <a:srgbClr val="17323B"/>
                </a:solidFill>
                <a:latin typeface="Calibri"/>
              </a:rPr>
              <a:t>根据提示词自动选择生成类型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20">
                <a:solidFill>
                  <a:srgbClr val="17323B"/>
                </a:solidFill>
                <a:latin typeface="Calibri"/>
              </a:rPr>
              <a:t>支持 HTML、多文件、Vue 工程模式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20">
                <a:solidFill>
                  <a:srgbClr val="17323B"/>
                </a:solidFill>
                <a:latin typeface="Calibri"/>
              </a:rPr>
              <a:t>SSE/Flux 流式返回过程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98448"/>
            <a:ext cx="5074920" cy="17556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298448"/>
            <a:ext cx="109728" cy="1755648"/>
          </a:xfrm>
          <a:prstGeom prst="rect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1527048"/>
            <a:ext cx="475488" cy="475488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59" y="1664207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VIS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23175" y="1517904"/>
            <a:ext cx="3986784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1295C"/>
                </a:solidFill>
                <a:latin typeface="Calibri"/>
              </a:rPr>
              <a:t>可视化编辑与预览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4536" y="2066543"/>
            <a:ext cx="4526280" cy="82295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20">
                <a:solidFill>
                  <a:srgbClr val="17323B"/>
                </a:solidFill>
                <a:latin typeface="Calibri"/>
              </a:rPr>
              <a:t>前端含 visual editor 工具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20">
                <a:solidFill>
                  <a:srgbClr val="17323B"/>
                </a:solidFill>
                <a:latin typeface="Calibri"/>
              </a:rPr>
              <a:t>对话页右侧实时展示效果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20">
                <a:solidFill>
                  <a:srgbClr val="17323B"/>
                </a:solidFill>
                <a:latin typeface="Calibri"/>
              </a:rPr>
              <a:t>面向页面元素的快速修改流程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511296"/>
            <a:ext cx="5074920" cy="17556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511296"/>
            <a:ext cx="109728" cy="1755648"/>
          </a:xfrm>
          <a:prstGeom prst="rect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475488" cy="475488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3877056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DEP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7904" y="3730752"/>
            <a:ext cx="3986783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1295C"/>
                </a:solidFill>
                <a:latin typeface="Calibri"/>
              </a:rPr>
              <a:t>一键部署与分享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279392"/>
            <a:ext cx="4526280" cy="82295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20">
                <a:solidFill>
                  <a:srgbClr val="17323B"/>
                </a:solidFill>
                <a:latin typeface="Calibri"/>
              </a:rPr>
              <a:t>复制生成产物到部署目录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20">
                <a:solidFill>
                  <a:srgbClr val="17323B"/>
                </a:solidFill>
                <a:latin typeface="Calibri"/>
              </a:rPr>
              <a:t>生成 deployKey 访问地址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20">
                <a:solidFill>
                  <a:srgbClr val="17323B"/>
                </a:solidFill>
                <a:latin typeface="Calibri"/>
              </a:rPr>
              <a:t>异步截图并更新应用封面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3511296"/>
            <a:ext cx="5074920" cy="17556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511296"/>
            <a:ext cx="109728" cy="1755648"/>
          </a:xfrm>
          <a:prstGeom prst="rect">
            <a:avLst/>
          </a:prstGeom>
          <a:solidFill>
            <a:srgbClr val="00A89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19672" y="3739896"/>
            <a:ext cx="475488" cy="475488"/>
          </a:xfrm>
          <a:prstGeom prst="ellipse">
            <a:avLst/>
          </a:prstGeom>
          <a:solidFill>
            <a:srgbClr val="00A89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877056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OPS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3175" y="3730752"/>
            <a:ext cx="3986784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1295C"/>
                </a:solidFill>
                <a:latin typeface="Calibri"/>
              </a:rPr>
              <a:t>管理与监控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4536" y="4279392"/>
            <a:ext cx="4526280" cy="822959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20">
                <a:solidFill>
                  <a:srgbClr val="17323B"/>
                </a:solidFill>
                <a:latin typeface="Calibri"/>
              </a:rPr>
              <a:t>用户、应用、对话历史管理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20">
                <a:solidFill>
                  <a:srgbClr val="17323B"/>
                </a:solidFill>
                <a:latin typeface="Calibri"/>
              </a:rPr>
              <a:t>管理员精选与优先级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320">
                <a:solidFill>
                  <a:srgbClr val="17323B"/>
                </a:solidFill>
                <a:latin typeface="Calibri"/>
              </a:rPr>
              <a:t>Actuator +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20">
                <a:solidFill>
                  <a:srgbClr val="17323B"/>
                </a:solidFill>
                <a:latin typeface="Calibri"/>
              </a:rPr>
              <a:t>Prometheus 指标出口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33" name="Oval 32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1295C"/>
                </a:solidFill>
                <a:latin typeface="Georgia"/>
              </a:rPr>
              <a:t>架构与模块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单体代码可运行，微服务目录呈现拆分方向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065A82"/>
                </a:solidFill>
                <a:latin typeface="Calibri"/>
              </a:rPr>
              <a:t>04/10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17320"/>
            <a:ext cx="1664208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59105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21295C"/>
                </a:solidFill>
                <a:latin typeface="Calibri"/>
              </a:rPr>
              <a:t>Vue 前端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92807"/>
            <a:ext cx="1408176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创建/对话/管理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40864" y="1965960"/>
            <a:ext cx="47548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98648" y="1417320"/>
            <a:ext cx="1664208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159105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21295C"/>
                </a:solidFill>
                <a:latin typeface="Calibri"/>
              </a:rPr>
              <a:t>Spring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1892807"/>
            <a:ext cx="1408176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鉴权/应用/历史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81144" y="1965960"/>
            <a:ext cx="475487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38928" y="1417320"/>
            <a:ext cx="1664208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159105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21295C"/>
                </a:solidFill>
                <a:latin typeface="Calibri"/>
              </a:rPr>
              <a:t>AI 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1892807"/>
            <a:ext cx="1408176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LangChain4j</a:t>
            </a:r>
          </a:p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LangGraph4j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21424" y="1965960"/>
            <a:ext cx="47548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379208" y="1417320"/>
            <a:ext cx="1664208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16368" y="159105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21295C"/>
                </a:solidFill>
                <a:latin typeface="Calibri"/>
              </a:rPr>
              <a:t>生成产物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7224" y="1892807"/>
            <a:ext cx="1408176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HTML/多文件/Vue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61704" y="1965960"/>
            <a:ext cx="47548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619488" y="1417320"/>
            <a:ext cx="1664208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56648" y="159105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21295C"/>
                </a:solidFill>
                <a:latin typeface="Calibri"/>
              </a:rPr>
              <a:t>部署监控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47504" y="1892807"/>
            <a:ext cx="1408176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静态访问</a:t>
            </a:r>
          </a:p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Prometheus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3154680"/>
            <a:ext cx="521208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3154680"/>
            <a:ext cx="109728" cy="2148840"/>
          </a:xfrm>
          <a:prstGeom prst="rect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9264" y="3383280"/>
            <a:ext cx="475488" cy="475488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352044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72768" y="3374136"/>
            <a:ext cx="4123944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1295C"/>
                </a:solidFill>
                <a:latin typeface="Calibri"/>
              </a:rPr>
              <a:t>微服务拆分目录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3922776"/>
            <a:ext cx="4663440" cy="12161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yu-ai-code-common：通用能力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yu-ai-code-model：数据模型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yu-ai-code-client：服务接口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user / app / ai /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screenshot：领域服务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72784" y="3154680"/>
            <a:ext cx="525780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72784" y="3154680"/>
            <a:ext cx="109728" cy="2148840"/>
          </a:xfrm>
          <a:prstGeom prst="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28816" y="3383280"/>
            <a:ext cx="475488" cy="475488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352044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RUN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3374136"/>
            <a:ext cx="4169663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1295C"/>
                </a:solidFill>
                <a:latin typeface="Calibri"/>
              </a:rPr>
              <a:t>运行依赖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3922776"/>
            <a:ext cx="4709160" cy="12161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MySQL 存储用户/应用/对话历史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Redis 支持会话、缓存与对话记忆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COS、Selenium/Chrome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支撑部署截图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300">
                <a:solidFill>
                  <a:srgbClr val="17323B"/>
                </a:solidFill>
                <a:latin typeface="Calibri"/>
              </a:rPr>
              <a:t>Nacos + Dubbo 用于微服务调用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40" name="Oval 39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1295C"/>
                </a:solidFill>
                <a:latin typeface="Georgia"/>
              </a:rPr>
              <a:t>昨日/近期变更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近 7 天无新增提交；最近变更集中在教学第 14 期微服务改造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065A82"/>
                </a:solidFill>
                <a:latin typeface="Calibri"/>
              </a:rPr>
              <a:t>05/10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380744"/>
            <a:ext cx="310896" cy="310896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24127" y="1691640"/>
            <a:ext cx="0" cy="502920"/>
          </a:xfrm>
          <a:prstGeom prst="line">
            <a:avLst/>
          </a:prstGeom>
          <a:ln w="19050">
            <a:solidFill>
              <a:srgbClr val="9AD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344168" y="1307592"/>
            <a:ext cx="11155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20" b="1" i="0">
                <a:solidFill>
                  <a:srgbClr val="065A82"/>
                </a:solidFill>
                <a:latin typeface="Calibri"/>
              </a:rPr>
              <a:t>2026-06-26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96312" y="128930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21295C"/>
                </a:solidFill>
                <a:latin typeface="Calibri"/>
              </a:rPr>
              <a:t>本次日报生成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6312" y="1600200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仅新增报告文件，不改业务代码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2249424"/>
            <a:ext cx="310896" cy="310896"/>
          </a:xfrm>
          <a:prstGeom prst="ellipse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4127" y="2560320"/>
            <a:ext cx="0" cy="502919"/>
          </a:xfrm>
          <a:prstGeom prst="line">
            <a:avLst/>
          </a:prstGeom>
          <a:ln w="19050">
            <a:solidFill>
              <a:srgbClr val="9AD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44168" y="2176272"/>
            <a:ext cx="11155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20" b="1" i="0">
                <a:solidFill>
                  <a:srgbClr val="065A82"/>
                </a:solidFill>
                <a:latin typeface="Calibri"/>
              </a:rPr>
              <a:t>近 7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6312" y="215798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21295C"/>
                </a:solidFill>
                <a:latin typeface="Calibri"/>
              </a:rPr>
              <a:t>提交数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6312" y="2468879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未观察到昨日代码变更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118103"/>
            <a:ext cx="310896" cy="310896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024127" y="3428999"/>
            <a:ext cx="0" cy="502921"/>
          </a:xfrm>
          <a:prstGeom prst="line">
            <a:avLst/>
          </a:prstGeom>
          <a:ln w="19050">
            <a:solidFill>
              <a:srgbClr val="9AD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344168" y="3044951"/>
            <a:ext cx="11155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20" b="1" i="0">
                <a:solidFill>
                  <a:srgbClr val="065A82"/>
                </a:solidFill>
                <a:latin typeface="Calibri"/>
              </a:rPr>
              <a:t>2025-08-26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96312" y="3026663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21295C"/>
                </a:solidFill>
                <a:latin typeface="Calibri"/>
              </a:rPr>
              <a:t>第 14 期微服务改造完成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6312" y="3337559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包含完整单体项目代码及微服务模块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" y="3986783"/>
            <a:ext cx="310896" cy="310896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024127" y="4297680"/>
            <a:ext cx="0" cy="502920"/>
          </a:xfrm>
          <a:prstGeom prst="line">
            <a:avLst/>
          </a:prstGeom>
          <a:ln w="19050">
            <a:solidFill>
              <a:srgbClr val="9AD8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344168" y="3913632"/>
            <a:ext cx="11155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20" b="1" i="0">
                <a:solidFill>
                  <a:srgbClr val="065A82"/>
                </a:solidFill>
                <a:latin typeface="Calibri"/>
              </a:rPr>
              <a:t>2025-08-14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96312" y="389534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21295C"/>
                </a:solidFill>
                <a:latin typeface="Calibri"/>
              </a:rPr>
              <a:t>可观测性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96312" y="4206240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Actuator、Prometheus 与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Grafana 配置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" y="4855464"/>
            <a:ext cx="310896" cy="310896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4168" y="4782312"/>
            <a:ext cx="111556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20" b="1" i="0">
                <a:solidFill>
                  <a:srgbClr val="065A82"/>
                </a:solidFill>
                <a:latin typeface="Calibri"/>
              </a:rPr>
              <a:t>2025-08-13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96312" y="476402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21295C"/>
                </a:solidFill>
                <a:latin typeface="Calibri"/>
              </a:rPr>
              <a:t>系统优化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96312" y="5074920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实时性、并发、限流、安全审查、稳定性与成本优化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52360" y="1371600"/>
            <a:ext cx="395020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52360" y="1371600"/>
            <a:ext cx="109728" cy="1417320"/>
          </a:xfrm>
          <a:prstGeom prst="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08392" y="1600200"/>
            <a:ext cx="475488" cy="475488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6680" y="173736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1591056"/>
            <a:ext cx="286207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1295C"/>
                </a:solidFill>
                <a:latin typeface="Calibri"/>
              </a:rPr>
              <a:t>重点解读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256" y="2157984"/>
            <a:ext cx="3383280" cy="484632"/>
          </a:xfrm>
          <a:prstGeom prst="rect">
            <a:avLst/>
          </a:prstGeom>
          <a:noFill/>
        </p:spPr>
        <p:txBody>
          <a:bodyPr wrap="square" lIns="27432" rIns="27432" tIns="27432" bIns="27432" anchor="t"/>
          <a:lstStyle/>
          <a:p>
            <a:pPr algn="l">
              <a:spcAft>
                <a:spcPts val="200"/>
              </a:spcAft>
            </a:pPr>
            <a:r>
              <a:rPr sz="1240" b="0" i="0">
                <a:solidFill>
                  <a:srgbClr val="17323B"/>
                </a:solidFill>
                <a:latin typeface="Calibri"/>
              </a:rPr>
              <a:t>近期变更更像架构演进快照：主链路</a:t>
            </a:r>
          </a:p>
          <a:p>
            <a:pPr algn="l">
              <a:spcAft>
                <a:spcPts val="200"/>
              </a:spcAft>
            </a:pPr>
            <a:r>
              <a:rPr sz="1240" b="0" i="0">
                <a:solidFill>
                  <a:srgbClr val="17323B"/>
                </a:solidFill>
                <a:latin typeface="Calibri"/>
              </a:rPr>
              <a:t>完整，微服务版本已落盘，但运行与</a:t>
            </a:r>
          </a:p>
          <a:p>
            <a:pPr algn="l">
              <a:spcAft>
                <a:spcPts val="200"/>
              </a:spcAft>
            </a:pPr>
            <a:r>
              <a:rPr sz="1240" b="0" i="0">
                <a:solidFill>
                  <a:srgbClr val="17323B"/>
                </a:solidFill>
                <a:latin typeface="Calibri"/>
              </a:rPr>
              <a:t>发布还需要环境验证。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52360" y="3182112"/>
            <a:ext cx="395020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52360" y="3182112"/>
            <a:ext cx="109728" cy="1417320"/>
          </a:xfrm>
          <a:prstGeom prst="rect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08392" y="3410712"/>
            <a:ext cx="475488" cy="475488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80" y="3547872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3401568"/>
            <a:ext cx="286207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1295C"/>
                </a:solidFill>
                <a:latin typeface="Calibri"/>
              </a:rPr>
              <a:t>今日交付范围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63256" y="3968496"/>
            <a:ext cx="3383280" cy="484632"/>
          </a:xfrm>
          <a:prstGeom prst="rect">
            <a:avLst/>
          </a:prstGeom>
          <a:noFill/>
        </p:spPr>
        <p:txBody>
          <a:bodyPr wrap="square" lIns="27432" rIns="27432" tIns="27432" bIns="27432" anchor="t"/>
          <a:lstStyle/>
          <a:p>
            <a:pPr algn="l">
              <a:spcAft>
                <a:spcPts val="200"/>
              </a:spcAft>
            </a:pPr>
            <a:r>
              <a:rPr sz="1240" b="0" i="0">
                <a:solidFill>
                  <a:srgbClr val="17323B"/>
                </a:solidFill>
                <a:latin typeface="Calibri"/>
              </a:rPr>
              <a:t>本次自动化只生成项目状态 PPT</a:t>
            </a:r>
          </a:p>
          <a:p>
            <a:pPr algn="l">
              <a:spcAft>
                <a:spcPts val="200"/>
              </a:spcAft>
            </a:pPr>
            <a:r>
              <a:rPr sz="1240" b="0" i="0">
                <a:solidFill>
                  <a:srgbClr val="17323B"/>
                </a:solidFill>
                <a:latin typeface="Calibri"/>
              </a:rPr>
              <a:t>；未修改业务代码、配置或依赖声明</a:t>
            </a:r>
          </a:p>
          <a:p>
            <a:pPr algn="l">
              <a:spcAft>
                <a:spcPts val="200"/>
              </a:spcAft>
            </a:pPr>
            <a:r>
              <a:rPr sz="1240" b="0" i="0">
                <a:solidFill>
                  <a:srgbClr val="17323B"/>
                </a:solidFill>
                <a:latin typeface="Calibri"/>
              </a:rPr>
              <a:t>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45" name="Oval 44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1295C"/>
                </a:solidFill>
                <a:latin typeface="Georgia"/>
              </a:rPr>
              <a:t>数据 / 指标要点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仓库可见指标 + 运行态指标接入建议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065A82"/>
                </a:solidFill>
                <a:latin typeface="Calibri"/>
              </a:rPr>
              <a:t>06/10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417320"/>
            <a:ext cx="2057400" cy="1572768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81912"/>
            <a:ext cx="1801368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3100" b="1" i="0">
                <a:solidFill>
                  <a:srgbClr val="065A82"/>
                </a:solidFill>
                <a:latin typeface="Georgia"/>
              </a:rPr>
              <a:t>10s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221992"/>
            <a:ext cx="1728216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220" b="1" i="0">
                <a:solidFill>
                  <a:srgbClr val="17323B"/>
                </a:solidFill>
                <a:latin typeface="Calibri"/>
              </a:rPr>
              <a:t>Prometheu</a:t>
            </a:r>
          </a:p>
          <a:p>
            <a:pPr algn="ctr">
              <a:spcAft>
                <a:spcPts val="200"/>
              </a:spcAft>
            </a:pPr>
            <a:r>
              <a:rPr sz="1220" b="1" i="0">
                <a:solidFill>
                  <a:srgbClr val="17323B"/>
                </a:solidFill>
                <a:latin typeface="Calibri"/>
              </a:rPr>
              <a:t>s 抓取间隔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542032"/>
            <a:ext cx="172821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/api/actua</a:t>
            </a:r>
          </a:p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tor/promet</a:t>
            </a:r>
          </a:p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heus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27248" y="1417320"/>
            <a:ext cx="2057400" cy="1572768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5264" y="1581912"/>
            <a:ext cx="1801368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3100" b="1" i="0">
                <a:solidFill>
                  <a:srgbClr val="028090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221992"/>
            <a:ext cx="1728216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220" b="1" i="0">
                <a:solidFill>
                  <a:srgbClr val="17323B"/>
                </a:solidFill>
                <a:latin typeface="Calibri"/>
              </a:rPr>
              <a:t>核心业务表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542032"/>
            <a:ext cx="172821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user / app</a:t>
            </a:r>
          </a:p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/ chat_his</a:t>
            </a:r>
          </a:p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9824" y="1417320"/>
            <a:ext cx="2057400" cy="1572768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1581912"/>
            <a:ext cx="1801368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3100" b="1" i="0">
                <a:solidFill>
                  <a:srgbClr val="1C7293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4416" y="2221992"/>
            <a:ext cx="1728216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220" b="1" i="0">
                <a:solidFill>
                  <a:srgbClr val="17323B"/>
                </a:solidFill>
                <a:latin typeface="Calibri"/>
              </a:rPr>
              <a:t>生成类型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14416" y="2542032"/>
            <a:ext cx="172821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HTML / 多文件</a:t>
            </a:r>
          </a:p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/ Vue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1417320"/>
            <a:ext cx="2057400" cy="1572768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0416" y="1581912"/>
            <a:ext cx="1801368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3100" b="1" i="0">
                <a:solidFill>
                  <a:srgbClr val="00A896"/>
                </a:solidFill>
                <a:latin typeface="Georgia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6992" y="2221992"/>
            <a:ext cx="1728216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220" b="1" i="0">
                <a:solidFill>
                  <a:srgbClr val="17323B"/>
                </a:solidFill>
                <a:latin typeface="Calibri"/>
              </a:rPr>
              <a:t>后端测试文件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2542032"/>
            <a:ext cx="172821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919" b="0" i="0">
                <a:solidFill>
                  <a:srgbClr val="5B7780"/>
                </a:solidFill>
                <a:latin typeface="Calibri"/>
              </a:rPr>
              <a:t>AI/工作流/工具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" y="3703320"/>
            <a:ext cx="498348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2" y="3703320"/>
            <a:ext cx="109728" cy="1719072"/>
          </a:xfrm>
          <a:prstGeom prst="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0704" y="3931920"/>
            <a:ext cx="475488" cy="475488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406908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OBS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7" y="3922776"/>
            <a:ext cx="3895344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1295C"/>
                </a:solidFill>
                <a:latin typeface="Calibri"/>
              </a:rPr>
              <a:t>已具备的观测入口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4471416"/>
            <a:ext cx="4434840" cy="78638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Actuator 暴露 health、i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nfo、prometheus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prometheus.yml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指向应用指标端点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grafana 目录存在，可沉淀仪表盘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703320"/>
            <a:ext cx="498348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3703320"/>
            <a:ext cx="109728" cy="1719072"/>
          </a:xfrm>
          <a:prstGeom prst="rect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19672" y="3931920"/>
            <a:ext cx="475488" cy="475488"/>
          </a:xfrm>
          <a:prstGeom prst="ellipse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59" y="406908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23175" y="3922776"/>
            <a:ext cx="3895344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1295C"/>
                </a:solidFill>
                <a:latin typeface="Calibri"/>
              </a:rPr>
              <a:t>仍需从运行环境补齐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4536" y="4471416"/>
            <a:ext cx="4434840" cy="78638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真实用户活跃、应用创建/部署成功率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AI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调用耗时、token/成本、失败类型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30">
                <a:solidFill>
                  <a:srgbClr val="17323B"/>
                </a:solidFill>
                <a:latin typeface="Calibri"/>
              </a:rPr>
              <a:t>截图、构建、对象存储上传成功率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37" name="Oval 36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1295C"/>
                </a:solidFill>
                <a:latin typeface="Georgia"/>
              </a:rPr>
              <a:t>测试与质量状态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发现测试与本地脚本，未发现 GitHub Actions 工作流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065A82"/>
                </a:solidFill>
                <a:latin typeface="Calibri"/>
              </a:rPr>
              <a:t>07/10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17320"/>
            <a:ext cx="349300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417320"/>
            <a:ext cx="109728" cy="2057400"/>
          </a:xfrm>
          <a:prstGeom prst="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1645920"/>
            <a:ext cx="475488" cy="475488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78308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1636776"/>
            <a:ext cx="240487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1295C"/>
                </a:solidFill>
                <a:latin typeface="Calibri"/>
              </a:rPr>
              <a:t>后端测试面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185416"/>
            <a:ext cx="2944368" cy="11247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15 个测试文件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覆盖 AI 生成、类型路由、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工作流、图片/Logo/Me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rmaid 工具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基于 Maven 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Spring Boot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7136" y="1417320"/>
            <a:ext cx="349300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17136" y="1417320"/>
            <a:ext cx="109728" cy="2057400"/>
          </a:xfrm>
          <a:prstGeom prst="rect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73168" y="1645920"/>
            <a:ext cx="475488" cy="475488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178308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6672" y="1636776"/>
            <a:ext cx="2404871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1295C"/>
                </a:solidFill>
                <a:latin typeface="Calibri"/>
              </a:rPr>
              <a:t>前端质量脚本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2" y="2185416"/>
            <a:ext cx="2944368" cy="11247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npm run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build：类型检查 +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Vite 构建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npm run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lint：ESLint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自动修复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npm run format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：Prettier 格式化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src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417320"/>
            <a:ext cx="2999232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1417320"/>
            <a:ext cx="109728" cy="2057400"/>
          </a:xfrm>
          <a:prstGeom prst="rect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77072" y="1645920"/>
            <a:ext cx="475488" cy="475488"/>
          </a:xfrm>
          <a:prstGeom prst="ellipse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1783080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CI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1636776"/>
            <a:ext cx="1911096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1295C"/>
                </a:solidFill>
                <a:latin typeface="Calibri"/>
              </a:rPr>
              <a:t>CI 状态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2185416"/>
            <a:ext cx="2450591" cy="11247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未发现 .github/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workflows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无法从仓库配置判断最近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CI 结果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建议补充 PR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>
                <a:solidFill>
                  <a:srgbClr val="17323B"/>
                </a:solidFill>
                <a:latin typeface="Calibri"/>
              </a:rPr>
              <a:t>级构建/测试流水线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4206240"/>
            <a:ext cx="2331720" cy="896112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4352544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21295C"/>
                </a:solidFill>
                <a:latin typeface="Calibri"/>
              </a:rPr>
              <a:t>接口文档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466344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Knife4j / OpenAPI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02736" y="4206240"/>
            <a:ext cx="2331720" cy="896112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39" y="4352544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21295C"/>
                </a:solidFill>
                <a:latin typeface="Calibri"/>
              </a:rPr>
              <a:t>权限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466344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@AuthCheck + 角色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4224" y="4206240"/>
            <a:ext cx="2331720" cy="896112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4352544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21295C"/>
                </a:solidFill>
                <a:latin typeface="Calibri"/>
              </a:rPr>
              <a:t>限流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466344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Redisson 分布式限流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25712" y="4206240"/>
            <a:ext cx="2331720" cy="896112"/>
          </a:xfrm>
          <a:prstGeom prst="roundRect">
            <a:avLst/>
          </a:prstGeom>
          <a:solidFill>
            <a:srgbClr val="E6F6F7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72016" y="4352544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21295C"/>
                </a:solidFill>
                <a:latin typeface="Calibri"/>
              </a:rPr>
              <a:t>缓存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466344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Redis + Caffeine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39" name="Oval 38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1295C"/>
                </a:solidFill>
                <a:latin typeface="Georgia"/>
              </a:rPr>
              <a:t>风险与阻塞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上线前需要重点排查的配置、依赖与工程化缺口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065A82"/>
                </a:solidFill>
                <a:latin typeface="Calibri"/>
              </a:rPr>
              <a:t>08/10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507492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109728" cy="1719072"/>
          </a:xfrm>
          <a:prstGeom prst="rect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527048"/>
            <a:ext cx="475488" cy="475488"/>
          </a:xfrm>
          <a:prstGeom prst="ellipse">
            <a:avLst/>
          </a:prstGeom>
          <a:solidFill>
            <a:srgbClr val="D95D3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664207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1517904"/>
            <a:ext cx="3986783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21295C"/>
                </a:solidFill>
                <a:latin typeface="Calibri"/>
              </a:rPr>
              <a:t>运行配置未固化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066543"/>
            <a:ext cx="4526280" cy="78638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application.yml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中仍有 API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Key、COS、Bucket 示例值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本地 MySQL/Redis/部署域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名依赖需按环境注入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98448"/>
            <a:ext cx="507492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298448"/>
            <a:ext cx="109728" cy="1719072"/>
          </a:xfrm>
          <a:prstGeom prst="rect">
            <a:avLst/>
          </a:prstGeom>
          <a:solidFill>
            <a:srgbClr val="F2A65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1527048"/>
            <a:ext cx="475488" cy="475488"/>
          </a:xfrm>
          <a:prstGeom prst="ellipse">
            <a:avLst/>
          </a:prstGeom>
          <a:solidFill>
            <a:srgbClr val="F2A65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59" y="1664207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23175" y="1517904"/>
            <a:ext cx="3986784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21295C"/>
                </a:solidFill>
                <a:latin typeface="Calibri"/>
              </a:rPr>
              <a:t>外部服务链路多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4536" y="2066543"/>
            <a:ext cx="4526280" cy="78638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AI 模型、DashScope、Pe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xels、COS、Selenium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截图都会影响体验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需要超时、重试、降级与告警闭环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493008"/>
            <a:ext cx="507492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493008"/>
            <a:ext cx="109728" cy="1719072"/>
          </a:xfrm>
          <a:prstGeom prst="rect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3721608"/>
            <a:ext cx="475488" cy="475488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3858768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7904" y="3712463"/>
            <a:ext cx="3986783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21295C"/>
                </a:solidFill>
                <a:latin typeface="Calibri"/>
              </a:rPr>
              <a:t>微服务版本需验证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261104"/>
            <a:ext cx="4526280" cy="78638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最近微服务改造提交多次标注“中间态”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虽有完成提交，仍应逐服务启动与调用验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3493008"/>
            <a:ext cx="507492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493008"/>
            <a:ext cx="109728" cy="1719072"/>
          </a:xfrm>
          <a:prstGeom prst="rect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19672" y="3721608"/>
            <a:ext cx="475488" cy="475488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858768"/>
            <a:ext cx="438912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3175" y="3712463"/>
            <a:ext cx="3986784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21295C"/>
                </a:solidFill>
                <a:latin typeface="Calibri"/>
              </a:rPr>
              <a:t>CI 缺口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4536" y="4261104"/>
            <a:ext cx="4526280" cy="78638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未发现自动化工作流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PR 合入前缺少统一构建、测试、li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>
                <a:solidFill>
                  <a:srgbClr val="17323B"/>
                </a:solidFill>
                <a:latin typeface="Calibri"/>
              </a:rPr>
              <a:t>nt/typecheck 门禁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33" name="Oval 32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438912" cy="438912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10896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1295C"/>
                </a:solidFill>
                <a:latin typeface="Georgia"/>
              </a:rPr>
              <a:t>建议的下一步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8412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B7780"/>
                </a:solidFill>
                <a:latin typeface="Calibri"/>
              </a:rPr>
              <a:t>优先把“可运行、可观测、可回归”闭环补齐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52760" y="384048"/>
            <a:ext cx="987552" cy="347472"/>
          </a:xfrm>
          <a:prstGeom prst="roundRect">
            <a:avLst/>
          </a:prstGeom>
          <a:solidFill>
            <a:srgbClr val="DDF3F5"/>
          </a:solidFill>
          <a:ln w="762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457200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065A82"/>
                </a:solidFill>
                <a:latin typeface="Calibri"/>
              </a:rPr>
              <a:t>09/10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1234440"/>
            <a:ext cx="10561320" cy="6400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1344168"/>
            <a:ext cx="420624" cy="420624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481328"/>
            <a:ext cx="329184" cy="914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362456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21295C"/>
                </a:solidFill>
                <a:latin typeface="Calibri"/>
              </a:rPr>
              <a:t>运行环境清单化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0832" y="1362456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7323B"/>
                </a:solidFill>
                <a:latin typeface="Calibri"/>
              </a:rPr>
              <a:t>将 AI/COS/Redis/MySQL/部署域名等配置转为环境变量与样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7323B"/>
                </a:solidFill>
                <a:latin typeface="Calibri"/>
              </a:rPr>
              <a:t>例文档。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" y="2112264"/>
            <a:ext cx="10561320" cy="6400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7552" y="2221992"/>
            <a:ext cx="420624" cy="420624"/>
          </a:xfrm>
          <a:prstGeom prst="ellipse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1" y="2359152"/>
            <a:ext cx="329184" cy="914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2240280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21295C"/>
                </a:solidFill>
                <a:latin typeface="Calibri"/>
              </a:rPr>
              <a:t>补齐 CI 门禁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2240280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7323B"/>
                </a:solidFill>
                <a:latin typeface="Calibri"/>
              </a:rPr>
              <a:t>增加后端 Maven test、前端 npm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7323B"/>
                </a:solidFill>
                <a:latin typeface="Calibri"/>
              </a:rPr>
              <a:t>build/lint/typecheck 的 PR 级流水线。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2990088"/>
            <a:ext cx="10561320" cy="6400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87552" y="3099816"/>
            <a:ext cx="420624" cy="42062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1" y="3236976"/>
            <a:ext cx="329184" cy="914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3118104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21295C"/>
                </a:solidFill>
                <a:latin typeface="Calibri"/>
              </a:rPr>
              <a:t>主链路冒烟测试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2" y="3118104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7323B"/>
                </a:solidFill>
                <a:latin typeface="Calibri"/>
              </a:rPr>
              <a:t>覆盖创建应用 → 对话生成 → 预览 → 部署 → 截图 → 下载源码。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" y="3867912"/>
            <a:ext cx="10561320" cy="6400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7552" y="3977640"/>
            <a:ext cx="420624" cy="420624"/>
          </a:xfrm>
          <a:prstGeom prst="ellipse">
            <a:avLst/>
          </a:prstGeom>
          <a:solidFill>
            <a:srgbClr val="00A89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1" y="4114800"/>
            <a:ext cx="329184" cy="914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4208" y="3995928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21295C"/>
                </a:solidFill>
                <a:latin typeface="Calibri"/>
              </a:rPr>
              <a:t>观测指标落板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3995928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7323B"/>
                </a:solidFill>
                <a:latin typeface="Calibri"/>
              </a:rPr>
              <a:t>沉淀 Grafana 仪表盘与告警：AI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7323B"/>
                </a:solidFill>
                <a:latin typeface="Calibri"/>
              </a:rPr>
              <a:t>延迟、失败率、部署成功率、截图成功率。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" y="4745736"/>
            <a:ext cx="10561320" cy="6400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B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7552" y="4855464"/>
            <a:ext cx="420624" cy="420624"/>
          </a:xfrm>
          <a:prstGeom prst="ellipse">
            <a:avLst/>
          </a:prstGeom>
          <a:solidFill>
            <a:srgbClr val="21295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" y="4992623"/>
            <a:ext cx="329184" cy="914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64208" y="4873751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21295C"/>
                </a:solidFill>
                <a:latin typeface="Calibri"/>
              </a:rPr>
              <a:t>微服务发布验证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0832" y="4873751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7323B"/>
                </a:solidFill>
                <a:latin typeface="Calibri"/>
              </a:rPr>
              <a:t>按 common/model/client/user/app/ai/sc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7323B"/>
                </a:solidFill>
                <a:latin typeface="Calibri"/>
              </a:rPr>
              <a:t>reenshot 逐步验证启动、注册、Dubbo 调用。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446520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B7780"/>
                </a:solidFill>
                <a:latin typeface="Calibri"/>
              </a:rPr>
              <a:t>yu-ai-code-mother · 每日项目状态 · 2026-06-26 北京时间</a:t>
            </a:r>
          </a:p>
        </p:txBody>
      </p:sp>
      <p:sp>
        <p:nvSpPr>
          <p:cNvPr id="34" name="Oval 33"/>
          <p:cNvSpPr/>
          <p:nvPr/>
        </p:nvSpPr>
        <p:spPr>
          <a:xfrm>
            <a:off x="11292840" y="6446520"/>
            <a:ext cx="146304" cy="146304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503152" y="6446520"/>
            <a:ext cx="146304" cy="146304"/>
          </a:xfrm>
          <a:prstGeom prst="ellipse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 rot="840000">
            <a:off x="6400800" y="-640080"/>
            <a:ext cx="4206240" cy="8138160"/>
          </a:xfrm>
          <a:prstGeom prst="parallelogram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 rot="840000">
            <a:off x="6995160" y="-384047"/>
            <a:ext cx="4206240" cy="8138160"/>
          </a:xfrm>
          <a:prstGeom prst="parallelogram">
            <a:avLst/>
          </a:prstGeom>
          <a:solidFill>
            <a:srgbClr val="1C729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840000">
            <a:off x="7589520" y="-128015"/>
            <a:ext cx="4206240" cy="8138160"/>
          </a:xfrm>
          <a:prstGeom prst="parallelogram">
            <a:avLst/>
          </a:prstGeom>
          <a:solidFill>
            <a:srgbClr val="02809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 rot="840000">
            <a:off x="8183879" y="128016"/>
            <a:ext cx="4206240" cy="8138160"/>
          </a:xfrm>
          <a:prstGeom prst="parallelogram">
            <a:avLst/>
          </a:prstGeom>
          <a:solidFill>
            <a:srgbClr val="00A89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5074920"/>
            <a:ext cx="1234440" cy="1234440"/>
          </a:xfrm>
          <a:prstGeom prst="ellipse">
            <a:avLst/>
          </a:prstGeom>
          <a:solidFill>
            <a:srgbClr val="02C39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411480"/>
            <a:ext cx="1508760" cy="1508760"/>
          </a:xfrm>
          <a:prstGeom prst="ellipse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65836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B7F4EF"/>
                </a:solidFill>
                <a:latin typeface="Calibri"/>
              </a:rPr>
              <a:t>今日结论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115568"/>
            <a:ext cx="896112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能力链路已成型，</a:t>
            </a:r>
          </a:p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工程化验证是下一阶段重点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907792"/>
            <a:ext cx="3063240" cy="1417320"/>
          </a:xfrm>
          <a:prstGeom prst="roundRect">
            <a:avLst/>
          </a:prstGeom>
          <a:solidFill>
            <a:srgbClr val="065A82"/>
          </a:solidFill>
          <a:ln w="10160">
            <a:solidFill>
              <a:srgbClr val="B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27248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产品能力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529584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80" b="0" i="0">
                <a:solidFill>
                  <a:srgbClr val="E6FAFA"/>
                </a:solidFill>
                <a:latin typeface="Calibri"/>
              </a:rPr>
              <a:t>生成、预览、部署、管理链路</a:t>
            </a:r>
          </a:p>
          <a:p>
            <a:pPr algn="l">
              <a:spcAft>
                <a:spcPts val="200"/>
              </a:spcAft>
            </a:pPr>
            <a:r>
              <a:rPr sz="1180" b="0" i="0">
                <a:solidFill>
                  <a:srgbClr val="E6FAFA"/>
                </a:solidFill>
                <a:latin typeface="Calibri"/>
              </a:rPr>
              <a:t>完整，适合继续围绕稳定性与</a:t>
            </a:r>
          </a:p>
          <a:p>
            <a:pPr algn="l">
              <a:spcAft>
                <a:spcPts val="200"/>
              </a:spcAft>
            </a:pPr>
            <a:r>
              <a:rPr sz="1180" b="0" i="0">
                <a:solidFill>
                  <a:srgbClr val="E6FAFA"/>
                </a:solidFill>
                <a:latin typeface="Calibri"/>
              </a:rPr>
              <a:t>体验打磨。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4" y="2907792"/>
            <a:ext cx="3063240" cy="1417320"/>
          </a:xfrm>
          <a:prstGeom prst="roundRect">
            <a:avLst/>
          </a:prstGeom>
          <a:solidFill>
            <a:srgbClr val="028090"/>
          </a:solidFill>
          <a:ln w="10160">
            <a:solidFill>
              <a:srgbClr val="B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3127248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近期进展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529584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80" b="0" i="0">
                <a:solidFill>
                  <a:srgbClr val="E6FAFA"/>
                </a:solidFill>
                <a:latin typeface="Calibri"/>
              </a:rPr>
              <a:t>近 7 天无提交；最近集中</a:t>
            </a:r>
          </a:p>
          <a:p>
            <a:pPr algn="l">
              <a:spcAft>
                <a:spcPts val="200"/>
              </a:spcAft>
            </a:pPr>
            <a:r>
              <a:rPr sz="1180" b="0" i="0">
                <a:solidFill>
                  <a:srgbClr val="E6FAFA"/>
                </a:solidFill>
                <a:latin typeface="Calibri"/>
              </a:rPr>
              <a:t>改造为微服务拆分与可观测性</a:t>
            </a:r>
          </a:p>
          <a:p>
            <a:pPr algn="l">
              <a:spcAft>
                <a:spcPts val="200"/>
              </a:spcAft>
            </a:pPr>
            <a:r>
              <a:rPr sz="1180" b="0" i="0">
                <a:solidFill>
                  <a:srgbClr val="E6FAFA"/>
                </a:solidFill>
                <a:latin typeface="Calibri"/>
              </a:rPr>
              <a:t>增强。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2907792"/>
            <a:ext cx="3063240" cy="1417320"/>
          </a:xfrm>
          <a:prstGeom prst="roundRect">
            <a:avLst/>
          </a:prstGeom>
          <a:solidFill>
            <a:srgbClr val="1C7293"/>
          </a:solidFill>
          <a:ln w="10160">
            <a:solidFill>
              <a:srgbClr val="B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127248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行动焦点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529584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80" b="0" i="0">
                <a:solidFill>
                  <a:srgbClr val="E6FAFA"/>
                </a:solidFill>
                <a:latin typeface="Calibri"/>
              </a:rPr>
              <a:t>补齐配置治理、CI 门禁、</a:t>
            </a:r>
          </a:p>
          <a:p>
            <a:pPr algn="l">
              <a:spcAft>
                <a:spcPts val="200"/>
              </a:spcAft>
            </a:pPr>
            <a:r>
              <a:rPr sz="1180" b="0" i="0">
                <a:solidFill>
                  <a:srgbClr val="E6FAFA"/>
                </a:solidFill>
                <a:latin typeface="Calibri"/>
              </a:rPr>
              <a:t>主链路冒烟和运行态监控。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062472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6FAFA"/>
                </a:solidFill>
                <a:latin typeface="Calibri"/>
              </a:rPr>
              <a:t>PPT 路径：docs/reports/project-status-2026-06-26.pptx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6062472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200"/>
              </a:spcAft>
            </a:pPr>
            <a:r>
              <a:rPr sz="1250" b="1" i="0">
                <a:solidFill>
                  <a:srgbClr val="B7F4EF"/>
                </a:solidFill>
                <a:latin typeface="Calibri"/>
              </a:rPr>
              <a:t>生成范围：仅报告文件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零代码应用生成平台每日项目状态 2026-06-26</dc:title>
  <dc:subject>每日项目状态汇报</dc:subject>
  <dc:creator>Cursor Cloud 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zh-CN</dc:language>
</cp:coreProperties>
</file>