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840000">
            <a:off x="6400800" y="-640080"/>
            <a:ext cx="4206240" cy="8138160"/>
          </a:xfrm>
          <a:prstGeom prst="parallelogram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840000">
            <a:off x="6995160" y="-384047"/>
            <a:ext cx="4206240" cy="8138160"/>
          </a:xfrm>
          <a:prstGeom prst="parallelogram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840000">
            <a:off x="7589520" y="-128015"/>
            <a:ext cx="4206240" cy="8138160"/>
          </a:xfrm>
          <a:prstGeom prst="parallelogram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840000">
            <a:off x="8183879" y="128016"/>
            <a:ext cx="4206240" cy="8138160"/>
          </a:xfrm>
          <a:prstGeom prst="parallelogram">
            <a:avLst/>
          </a:prstGeom>
          <a:solidFill>
            <a:srgbClr val="00A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074920"/>
            <a:ext cx="1234440" cy="1234440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411480"/>
            <a:ext cx="1508760" cy="1508760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749808"/>
            <a:ext cx="73152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7F4EF"/>
                </a:solidFill>
                <a:latin typeface="Calibri"/>
              </a:rPr>
              <a:t>AI 零代码应用生成平台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325880"/>
            <a:ext cx="804672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62179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6FAFA"/>
                </a:solidFill>
                <a:latin typeface="Calibri"/>
              </a:rPr>
              <a:t>yu-ai-code-mother · 维护者/团队版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98848"/>
            <a:ext cx="521208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生成日期：2026-06-26（北京时间）
触发方式：每日自动化任务
数据来源：README、模块目录、配置与 git 提交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5257800"/>
            <a:ext cx="12344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76672"/>
            <a:ext cx="1051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5715000"/>
            <a:ext cx="107899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E6FAFA"/>
                </a:solidFill>
                <a:latin typeface="Calibri"/>
              </a:rPr>
              <a:t>代码生成模式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257800"/>
            <a:ext cx="12344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5376672"/>
            <a:ext cx="1051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5715000"/>
            <a:ext cx="107899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E6FAFA"/>
                </a:solidFill>
                <a:latin typeface="Calibri"/>
              </a:rPr>
              <a:t>微服务模块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5257800"/>
            <a:ext cx="12344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0656" y="5376672"/>
            <a:ext cx="1051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Georgia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7" y="5715000"/>
            <a:ext cx="107899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0" i="0">
                <a:solidFill>
                  <a:srgbClr val="E6FAFA"/>
                </a:solidFill>
                <a:latin typeface="Calibri"/>
              </a:rPr>
              <a:t>后端测试文件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项目概览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平台定位、技术栈与当前形态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02/10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89888"/>
            <a:ext cx="45720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89888"/>
            <a:ext cx="109728" cy="4297680"/>
          </a:xfrm>
          <a:prstGeom prst="rect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18488"/>
            <a:ext cx="475488" cy="475488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55648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09344"/>
            <a:ext cx="348386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libri"/>
              </a:rPr>
              <a:t>一句话状态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176272"/>
            <a:ext cx="4005072" cy="33649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17323B"/>
                </a:solidFill>
                <a:latin typeface="Calibri"/>
              </a:rPr>
              <a:t>项目已经具备从需求输入、AI 对话生成、实时预览、部署分享到后台管理的主链路雏形；当前代码同时保留单体后端与微服务改造版本，适合作为教学与架构演进样板。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1389888"/>
            <a:ext cx="1444752" cy="13533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554480"/>
            <a:ext cx="11887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1C7293"/>
                </a:solidFill>
                <a:latin typeface="Georgia"/>
              </a:rPr>
              <a:t>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194560"/>
            <a:ext cx="11155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单体后端 Java 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2505456"/>
            <a:ext cx="1115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核心业务/AI/监控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389888"/>
            <a:ext cx="1444752" cy="13533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54480"/>
            <a:ext cx="11887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028090"/>
                </a:solidFill>
                <a:latin typeface="Georgia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2194560"/>
            <a:ext cx="11155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前端源码文件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505456"/>
            <a:ext cx="1115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Vue 3 + 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389888"/>
            <a:ext cx="1444752" cy="13533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554480"/>
            <a:ext cx="11887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065A82"/>
                </a:solidFill>
                <a:latin typeface="Georgia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194560"/>
            <a:ext cx="11155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Maven POM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505456"/>
            <a:ext cx="1115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单体 + 微服务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16768" y="1389888"/>
            <a:ext cx="1005840" cy="13533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44784" y="1554480"/>
            <a:ext cx="74980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D95D39"/>
                </a:solidFill>
                <a:latin typeface="Georgia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2194560"/>
            <a:ext cx="67665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近 7 天提交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2505456"/>
            <a:ext cx="67665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仓库记录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154680"/>
            <a:ext cx="2880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9552" y="3154680"/>
            <a:ext cx="109728" cy="1508760"/>
          </a:xfrm>
          <a:prstGeom prst="rect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15584" y="3383280"/>
            <a:ext cx="475488" cy="475488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352044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374136"/>
            <a:ext cx="17922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产品入口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3922776"/>
            <a:ext cx="2331720" cy="576071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主页创建应用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对话页实时生成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应用详情/编辑/部署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3154680"/>
            <a:ext cx="28803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32520" y="3154680"/>
            <a:ext cx="109728" cy="1508760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88552" y="3383280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352044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92056" y="3374136"/>
            <a:ext cx="17922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后端底座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6" y="3922776"/>
            <a:ext cx="2331720" cy="576071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Spring Boot 3 / Java 21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LangChain4j + LangGraph4j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Redis/MySQL/COS/Prometheus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43" name="Oval 42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围绕“生成、编辑、部署、治理”的端到端能力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03/10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074920" cy="1755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109728" cy="1755648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527048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7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517904"/>
            <a:ext cx="398678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智能代码生成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4526280" cy="822959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根据提示词自动选择生成类型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支持 HTML、多文件、Vue 工程模式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SSE/Flux 流式返回过程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98448"/>
            <a:ext cx="5074920" cy="1755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98448"/>
            <a:ext cx="109728" cy="1755648"/>
          </a:xfrm>
          <a:prstGeom prst="rect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1527048"/>
            <a:ext cx="475488" cy="475488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664207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5" y="1517904"/>
            <a:ext cx="3986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可视化编辑与预览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066543"/>
            <a:ext cx="4526280" cy="822959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前端含 visual editor 工具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对话页右侧实时展示效果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面向页面元素的快速修改流程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11296"/>
            <a:ext cx="5074920" cy="1755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511296"/>
            <a:ext cx="109728" cy="1755648"/>
          </a:xfrm>
          <a:prstGeom prst="rect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475488" cy="475488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877056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730752"/>
            <a:ext cx="398678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一键部署与分享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279392"/>
            <a:ext cx="4526280" cy="822959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复制生成产物到部署目录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生成 deployKey 访问地址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异步截图并更新应用封面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11296"/>
            <a:ext cx="5074920" cy="1755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511296"/>
            <a:ext cx="109728" cy="1755648"/>
          </a:xfrm>
          <a:prstGeom prst="rect">
            <a:avLst/>
          </a:prstGeom>
          <a:solidFill>
            <a:srgbClr val="00A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19672" y="3739896"/>
            <a:ext cx="475488" cy="475488"/>
          </a:xfrm>
          <a:prstGeom prst="ellipse">
            <a:avLst/>
          </a:prstGeom>
          <a:solidFill>
            <a:srgbClr val="00A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877056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5" y="3730752"/>
            <a:ext cx="3986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管理与监控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279392"/>
            <a:ext cx="4526280" cy="822959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用户、应用、对话历史管理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管理员精选与优先级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17323B"/>
                </a:solidFill>
                <a:latin typeface="Calibri"/>
              </a:rPr>
              <a:t>Actuator + Prometheus 指标出口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33" name="Oval 32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架构与模块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单体代码可运行，微服务目录呈现拆分方向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04/10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664208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91056"/>
            <a:ext cx="13898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Vue 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92807"/>
            <a:ext cx="14081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创建/对话/管理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40864" y="1965960"/>
            <a:ext cx="47548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1417320"/>
            <a:ext cx="1664208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591056"/>
            <a:ext cx="13898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Spring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1892807"/>
            <a:ext cx="14081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鉴权/应用/历史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81144" y="1965960"/>
            <a:ext cx="475487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8" y="1417320"/>
            <a:ext cx="1664208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591056"/>
            <a:ext cx="13898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AI 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1892807"/>
            <a:ext cx="14081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LangChain4j
LangGraph4j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21424" y="1965960"/>
            <a:ext cx="47548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79208" y="1417320"/>
            <a:ext cx="1664208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1591056"/>
            <a:ext cx="13898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生成产物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4" y="1892807"/>
            <a:ext cx="14081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HTML/多文件/Vue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61704" y="1965960"/>
            <a:ext cx="475488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19488" y="1417320"/>
            <a:ext cx="1664208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591056"/>
            <a:ext cx="13898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部署监控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1892807"/>
            <a:ext cx="1408176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静态访问
Prometheus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54680"/>
            <a:ext cx="5212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154680"/>
            <a:ext cx="109728" cy="2148840"/>
          </a:xfrm>
          <a:prstGeom prst="rect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" y="3383280"/>
            <a:ext cx="475488" cy="475488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352044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3374136"/>
            <a:ext cx="41239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微服务拆分目录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922776"/>
            <a:ext cx="4663440" cy="121615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yu-ai-code-common：通用能力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yu-ai-code-model：数据模型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yu-ai-code-client：服务接口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user / app / ai / screenshot：领域服务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154680"/>
            <a:ext cx="52578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2784" y="3154680"/>
            <a:ext cx="109728" cy="2148840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28816" y="3383280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352044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374136"/>
            <a:ext cx="416966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运行依赖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922776"/>
            <a:ext cx="4709160" cy="121615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MySQL 存储用户/应用/对话历史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Redis 支持会话、缓存与对话记忆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COS、Selenium/Chrome 支撑部署截图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17323B"/>
                </a:solidFill>
                <a:latin typeface="Calibri"/>
              </a:rPr>
              <a:t>Nacos + Dubbo 用于微服务调用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40" name="Oval 39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昨日/近期变更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近 7 天无新增提交；最近变更集中在教学第 14 期微服务改造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05/10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380744"/>
            <a:ext cx="310896" cy="310896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24127" y="1691640"/>
            <a:ext cx="0" cy="502920"/>
          </a:xfrm>
          <a:prstGeom prst="line">
            <a:avLst/>
          </a:prstGeom>
          <a:ln w="19050">
            <a:solidFill>
              <a:srgbClr val="9A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44168" y="1307592"/>
            <a:ext cx="1115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65A82"/>
                </a:solidFill>
                <a:latin typeface="Calibri"/>
              </a:rPr>
              <a:t>2026-06-26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289304"/>
            <a:ext cx="3291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1295C"/>
                </a:solidFill>
                <a:latin typeface="Calibri"/>
              </a:rPr>
              <a:t>本次日报生成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1600200"/>
            <a:ext cx="4572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仅新增报告文件，不改业务代码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49424"/>
            <a:ext cx="310896" cy="310896"/>
          </a:xfrm>
          <a:prstGeom prst="ellipse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24127" y="2560320"/>
            <a:ext cx="0" cy="502919"/>
          </a:xfrm>
          <a:prstGeom prst="line">
            <a:avLst/>
          </a:prstGeom>
          <a:ln w="19050">
            <a:solidFill>
              <a:srgbClr val="9A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44168" y="2176272"/>
            <a:ext cx="1115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65A82"/>
                </a:solidFill>
                <a:latin typeface="Calibri"/>
              </a:rPr>
              <a:t>近 7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157984"/>
            <a:ext cx="3291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1295C"/>
                </a:solidFill>
                <a:latin typeface="Calibri"/>
              </a:rPr>
              <a:t>提交数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468879"/>
            <a:ext cx="4572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未观察到昨日代码变更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118103"/>
            <a:ext cx="310896" cy="310896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24127" y="3428999"/>
            <a:ext cx="0" cy="502921"/>
          </a:xfrm>
          <a:prstGeom prst="line">
            <a:avLst/>
          </a:prstGeom>
          <a:ln w="19050">
            <a:solidFill>
              <a:srgbClr val="9A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44168" y="3044951"/>
            <a:ext cx="1115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65A82"/>
                </a:solidFill>
                <a:latin typeface="Calibri"/>
              </a:rPr>
              <a:t>2025-08-26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3026663"/>
            <a:ext cx="3291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1295C"/>
                </a:solidFill>
                <a:latin typeface="Calibri"/>
              </a:rPr>
              <a:t>第 14 期微服务改造完成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337559"/>
            <a:ext cx="4572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包含完整单体项目代码及 common/model/client/user/app/ai/screenshot 模块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3986783"/>
            <a:ext cx="310896" cy="310896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24127" y="4297680"/>
            <a:ext cx="0" cy="502920"/>
          </a:xfrm>
          <a:prstGeom prst="line">
            <a:avLst/>
          </a:prstGeom>
          <a:ln w="19050">
            <a:solidFill>
              <a:srgbClr val="9A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44168" y="3913632"/>
            <a:ext cx="1115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65A82"/>
                </a:solidFill>
                <a:latin typeface="Calibri"/>
              </a:rPr>
              <a:t>2025-08-14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6312" y="3895344"/>
            <a:ext cx="3291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1295C"/>
                </a:solidFill>
                <a:latin typeface="Calibri"/>
              </a:rPr>
              <a:t>可观测性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4206240"/>
            <a:ext cx="4572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Actuator、Prometheus 与 Grafana 目录/配置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855464"/>
            <a:ext cx="310896" cy="310896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4168" y="4782312"/>
            <a:ext cx="1115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65A82"/>
                </a:solidFill>
                <a:latin typeface="Calibri"/>
              </a:rPr>
              <a:t>2025-08-13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4764024"/>
            <a:ext cx="3291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1295C"/>
                </a:solidFill>
                <a:latin typeface="Calibri"/>
              </a:rPr>
              <a:t>系统优化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6312" y="5074920"/>
            <a:ext cx="4572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实时性、并发、限流、安全 Prompt 审查、稳定性与成本优化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1371600"/>
            <a:ext cx="39502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1371600"/>
            <a:ext cx="109728" cy="1417320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08392" y="1600200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173736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1591056"/>
            <a:ext cx="2862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重点解读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2157984"/>
            <a:ext cx="3383280" cy="4846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80" b="0" i="0">
                <a:solidFill>
                  <a:srgbClr val="17323B"/>
                </a:solidFill>
                <a:latin typeface="Calibri"/>
              </a:rPr>
              <a:t>当前“近期变更”更像一次架构演进快照：主干能力完整，微服务版本已经落盘，但运行与发布还需要环境验证。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3182112"/>
            <a:ext cx="39502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52360" y="3182112"/>
            <a:ext cx="109728" cy="1417320"/>
          </a:xfrm>
          <a:prstGeom prst="rect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08392" y="3410712"/>
            <a:ext cx="475488" cy="475488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3547872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3401568"/>
            <a:ext cx="2862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今日交付范围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3256" y="3968496"/>
            <a:ext cx="3383280" cy="4846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80" b="0" i="0">
                <a:solidFill>
                  <a:srgbClr val="17323B"/>
                </a:solidFill>
                <a:latin typeface="Calibri"/>
              </a:rPr>
              <a:t>本次自动化只生成项目状态 PPT；未修改业务代码、配置或依赖声明。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45" name="Oval 44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数据 / 指标要点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仓库可见指标 + 运行态指标接入建议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06/10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417320"/>
            <a:ext cx="2057400" cy="1572768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80136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065A82"/>
                </a:solidFill>
                <a:latin typeface="Georgia"/>
              </a:rPr>
              <a:t>10s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21992"/>
            <a:ext cx="172821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Prometheus 抓取间隔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32888"/>
            <a:ext cx="17282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/api/actuator/prometheus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1417320"/>
            <a:ext cx="2057400" cy="1572768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1581912"/>
            <a:ext cx="180136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028090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21992"/>
            <a:ext cx="172821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核心业务表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32888"/>
            <a:ext cx="17282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user / app / chat_history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1417320"/>
            <a:ext cx="2057400" cy="1572768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581912"/>
            <a:ext cx="180136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1C7293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221992"/>
            <a:ext cx="172821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生成类型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2532888"/>
            <a:ext cx="17282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HTML / 多文件 / 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417320"/>
            <a:ext cx="2057400" cy="1572768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1581912"/>
            <a:ext cx="180136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00A896"/>
                </a:solidFill>
                <a:latin typeface="Georgia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221992"/>
            <a:ext cx="172821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7323B"/>
                </a:solidFill>
                <a:latin typeface="Calibri"/>
              </a:rPr>
              <a:t>后端测试文件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532888"/>
            <a:ext cx="17282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780"/>
                </a:solidFill>
                <a:latin typeface="Calibri"/>
              </a:rPr>
              <a:t>AI/工作流/工具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3703320"/>
            <a:ext cx="498348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3703320"/>
            <a:ext cx="109728" cy="1719072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" y="3931920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06908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7" y="3922776"/>
            <a:ext cx="38953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已具备的观测入口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471416"/>
            <a:ext cx="443484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Spring Boot Actuator 暴露 health、info、prometheus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prometheus.yml 指向 localhost:8123/api/actuator/prometheus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grafana 目录存在，可继续沉淀仪表盘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03320"/>
            <a:ext cx="498348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03320"/>
            <a:ext cx="109728" cy="1719072"/>
          </a:xfrm>
          <a:prstGeom prst="rect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19672" y="3931920"/>
            <a:ext cx="475488" cy="475488"/>
          </a:xfrm>
          <a:prstGeom prst="ellipse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406908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5" y="3922776"/>
            <a:ext cx="38953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仍需从运行环境补齐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4536" y="4471416"/>
            <a:ext cx="443484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真实用户活跃、应用创建/部署成功率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AI 调用耗时、token/成本、失败类型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17323B"/>
                </a:solidFill>
                <a:latin typeface="Calibri"/>
              </a:rPr>
              <a:t>截图、构建、对象存储上传成功率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37" name="Oval 36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测试与质量状态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发现测试与本地脚本，未发现 GitHub Actions 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349300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17320"/>
            <a:ext cx="109728" cy="2057400"/>
          </a:xfrm>
          <a:prstGeom prst="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1645920"/>
            <a:ext cx="475488" cy="475488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8308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636776"/>
            <a:ext cx="24048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后端测试面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185416"/>
            <a:ext cx="2944368" cy="112471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15 个测试文件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覆盖 AI 生成、类型路由、LangGraph4j 工作流、图片/Logo/Mermaid 工具、截图工具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基于 Maven / Spring Boot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417320"/>
            <a:ext cx="349300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1417320"/>
            <a:ext cx="109728" cy="2057400"/>
          </a:xfrm>
          <a:prstGeom prst="rect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1645920"/>
            <a:ext cx="475488" cy="475488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78308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1636776"/>
            <a:ext cx="240487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前端质量脚本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185416"/>
            <a:ext cx="2944368" cy="112471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npm run build：类型检查 + Vite 构建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npm run lint：ESLint 自动修复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npm run format：Prettier 格式化 src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417320"/>
            <a:ext cx="299923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417320"/>
            <a:ext cx="109728" cy="2057400"/>
          </a:xfrm>
          <a:prstGeom prst="rect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77072" y="1645920"/>
            <a:ext cx="475488" cy="475488"/>
          </a:xfrm>
          <a:prstGeom prst="ellipse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783080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1636776"/>
            <a:ext cx="19110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CI 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185416"/>
            <a:ext cx="2450591" cy="1124712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未发现 .github/workflows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无法从仓库配置判断最近 CI 结果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20">
                <a:solidFill>
                  <a:srgbClr val="17323B"/>
                </a:solidFill>
                <a:latin typeface="Calibri"/>
              </a:rPr>
              <a:t>建议补充 PR 级构建/测试流水线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206240"/>
            <a:ext cx="2331720" cy="8961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52544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接口文档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663440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Knife4j / OpenAPI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2736" y="4206240"/>
            <a:ext cx="2331720" cy="8961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352544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权限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663440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@AuthCheck + 角色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4206240"/>
            <a:ext cx="2331720" cy="8961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352544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限流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663440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Redisson 分布式限流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4206240"/>
            <a:ext cx="2331720" cy="896112"/>
          </a:xfrm>
          <a:prstGeom prst="roundRect">
            <a:avLst/>
          </a:prstGeom>
          <a:solidFill>
            <a:srgbClr val="E6F6F7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6" y="4352544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缓存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4663440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780"/>
                </a:solidFill>
                <a:latin typeface="Calibri"/>
              </a:rPr>
              <a:t>Redis + Caffeine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39" name="Oval 38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风险与阻塞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上线前需要重点排查的配置、依赖与工程化缺口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08/10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0749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109728" cy="1719072"/>
          </a:xfrm>
          <a:prstGeom prst="rect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527048"/>
            <a:ext cx="475488" cy="475488"/>
          </a:xfrm>
          <a:prstGeom prst="ellipse">
            <a:avLst/>
          </a:prstGeom>
          <a:solidFill>
            <a:srgbClr val="D95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7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517904"/>
            <a:ext cx="398678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1295C"/>
                </a:solidFill>
                <a:latin typeface="Calibri"/>
              </a:rPr>
              <a:t>运行配置未固化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452628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application.yml 中仍有 API Key、COS、Bucket 示例值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本地 MySQL/Redis/部署域名依赖需按环境注入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98448"/>
            <a:ext cx="50749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98448"/>
            <a:ext cx="109728" cy="1719072"/>
          </a:xfrm>
          <a:prstGeom prst="rect">
            <a:avLst/>
          </a:prstGeom>
          <a:solidFill>
            <a:srgbClr val="F2A6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1527048"/>
            <a:ext cx="475488" cy="475488"/>
          </a:xfrm>
          <a:prstGeom prst="ellipse">
            <a:avLst/>
          </a:prstGeom>
          <a:solidFill>
            <a:srgbClr val="F2A6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664207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5" y="1517904"/>
            <a:ext cx="3986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1295C"/>
                </a:solidFill>
                <a:latin typeface="Calibri"/>
              </a:rPr>
              <a:t>外部服务链路多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066543"/>
            <a:ext cx="452628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AI 模型、DashScope、Pexels、COS、Selenium 截图任一失败都会影响体验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需要超时、重试、降级与告警闭环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93008"/>
            <a:ext cx="50749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493008"/>
            <a:ext cx="109728" cy="1719072"/>
          </a:xfrm>
          <a:prstGeom prst="rect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721608"/>
            <a:ext cx="475488" cy="475488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858768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712463"/>
            <a:ext cx="398678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1295C"/>
                </a:solidFill>
                <a:latin typeface="Calibri"/>
              </a:rPr>
              <a:t>微服务版本需验证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261104"/>
            <a:ext cx="452628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最近微服务改造提交多次标注“中间态”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虽有完成提交，仍应逐服务做启动与调用验证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93008"/>
            <a:ext cx="507492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493008"/>
            <a:ext cx="109728" cy="1719072"/>
          </a:xfrm>
          <a:prstGeom prst="rect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19672" y="3721608"/>
            <a:ext cx="475488" cy="475488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858768"/>
            <a:ext cx="438912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5" y="3712463"/>
            <a:ext cx="39867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1295C"/>
                </a:solidFill>
                <a:latin typeface="Calibri"/>
              </a:rPr>
              <a:t>CI 缺口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261104"/>
            <a:ext cx="4526280" cy="786383"/>
          </a:xfrm>
          <a:prstGeom prst="rect">
            <a:avLst/>
          </a:prstGeom>
          <a:noFill/>
        </p:spPr>
        <p:txBody>
          <a:bodyPr wrap="non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未发现自动化工作流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17323B"/>
                </a:solidFill>
                <a:latin typeface="Calibri"/>
              </a:rPr>
              <a:t>PR 合入前缺少统一构建、测试、前端 lint/typecheck 门禁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33" name="Oval 32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438912" cy="438912"/>
          </a:xfrm>
          <a:prstGeom prst="roundRect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8404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10896"/>
            <a:ext cx="8138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Georgia"/>
              </a:rPr>
              <a:t>建议的下一步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841248"/>
            <a:ext cx="8046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7780"/>
                </a:solidFill>
                <a:latin typeface="Calibri"/>
              </a:rPr>
              <a:t>优先把“可运行、可观测、可回归”闭环补齐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52760" y="384048"/>
            <a:ext cx="987552" cy="347472"/>
          </a:xfrm>
          <a:prstGeom prst="roundRect">
            <a:avLst/>
          </a:prstGeom>
          <a:solidFill>
            <a:srgbClr val="DDF3F5"/>
          </a:solidFill>
          <a:ln w="762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457200"/>
            <a:ext cx="71323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65A82"/>
                </a:solidFill>
                <a:latin typeface="Calibri"/>
              </a:rPr>
              <a:t>09/10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234440"/>
            <a:ext cx="10561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344168"/>
            <a:ext cx="420624" cy="420624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481328"/>
            <a:ext cx="32918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362456"/>
            <a:ext cx="2606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运行环境清单化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362456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323B"/>
                </a:solidFill>
                <a:latin typeface="Calibri"/>
              </a:rPr>
              <a:t>将 AI/COS/Redis/MySQL/部署域名等配置转为环境变量与样例文档。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112264"/>
            <a:ext cx="10561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221992"/>
            <a:ext cx="420624" cy="420624"/>
          </a:xfrm>
          <a:prstGeom prst="ellipse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2359152"/>
            <a:ext cx="32918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240280"/>
            <a:ext cx="2606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补齐 CI 门禁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240280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323B"/>
                </a:solidFill>
                <a:latin typeface="Calibri"/>
              </a:rPr>
              <a:t>增加后端 Maven test、前端 npm build/lint/typecheck 的 PR 级流水线。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2990088"/>
            <a:ext cx="10561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9816"/>
            <a:ext cx="420624" cy="42062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236976"/>
            <a:ext cx="32918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118104"/>
            <a:ext cx="2606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主链路冒烟测试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118104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323B"/>
                </a:solidFill>
                <a:latin typeface="Calibri"/>
              </a:rPr>
              <a:t>覆盖创建应用 → 对话生成 → 预览 → 部署 → 截图 → 下载源码。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3867912"/>
            <a:ext cx="10561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3977640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4114800"/>
            <a:ext cx="32918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3995928"/>
            <a:ext cx="2606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观测指标落板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995928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323B"/>
                </a:solidFill>
                <a:latin typeface="Calibri"/>
              </a:rPr>
              <a:t>沉淀 Grafana 仪表盘与告警：AI 延迟、失败率、部署成功率、截图成功率。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4745736"/>
            <a:ext cx="1056132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4855464"/>
            <a:ext cx="420624" cy="420624"/>
          </a:xfrm>
          <a:prstGeom prst="ellipse">
            <a:avLst/>
          </a:prstGeom>
          <a:solidFill>
            <a:srgbClr val="2129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4992623"/>
            <a:ext cx="32918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4873751"/>
            <a:ext cx="2606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微服务发布验证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873751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323B"/>
                </a:solidFill>
                <a:latin typeface="Calibri"/>
              </a:rPr>
              <a:t>按 common/model/client/user/app/ai/screenshot 逐步验证启动、注册、Dubbo 调用。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46520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780"/>
                </a:solidFill>
                <a:latin typeface="Calibri"/>
              </a:rPr>
              <a:t>yu-ai-code-mother · 每日项目状态 · 2026-06-26 北京时间</a:t>
            </a:r>
          </a:p>
        </p:txBody>
      </p:sp>
      <p:sp>
        <p:nvSpPr>
          <p:cNvPr id="34" name="Oval 33"/>
          <p:cNvSpPr/>
          <p:nvPr/>
        </p:nvSpPr>
        <p:spPr>
          <a:xfrm>
            <a:off x="11292840" y="6446520"/>
            <a:ext cx="146304" cy="146304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503152" y="6446520"/>
            <a:ext cx="146304" cy="146304"/>
          </a:xfrm>
          <a:prstGeom prst="ellipse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 rot="840000">
            <a:off x="6400800" y="-640080"/>
            <a:ext cx="4206240" cy="8138160"/>
          </a:xfrm>
          <a:prstGeom prst="parallelogram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840000">
            <a:off x="6995160" y="-384047"/>
            <a:ext cx="4206240" cy="8138160"/>
          </a:xfrm>
          <a:prstGeom prst="parallelogram">
            <a:avLst/>
          </a:prstGeom>
          <a:solidFill>
            <a:srgbClr val="1C729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840000">
            <a:off x="7589520" y="-128015"/>
            <a:ext cx="4206240" cy="8138160"/>
          </a:xfrm>
          <a:prstGeom prst="parallelogram">
            <a:avLst/>
          </a:prstGeom>
          <a:solidFill>
            <a:srgbClr val="0280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840000">
            <a:off x="8183879" y="128016"/>
            <a:ext cx="4206240" cy="8138160"/>
          </a:xfrm>
          <a:prstGeom prst="parallelogram">
            <a:avLst/>
          </a:prstGeom>
          <a:solidFill>
            <a:srgbClr val="00A8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074920"/>
            <a:ext cx="1234440" cy="1234440"/>
          </a:xfrm>
          <a:prstGeom prst="ellipse">
            <a:avLst/>
          </a:prstGeom>
          <a:solidFill>
            <a:srgbClr val="02C3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411480"/>
            <a:ext cx="1508760" cy="1508760"/>
          </a:xfrm>
          <a:prstGeom prst="ellipse">
            <a:avLst/>
          </a:prstGeom>
          <a:solidFill>
            <a:srgbClr val="065A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8368"/>
            <a:ext cx="29260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B7F4EF"/>
                </a:solidFill>
                <a:latin typeface="Calibri"/>
              </a:rPr>
              <a:t>今日结论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188720"/>
            <a:ext cx="89611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能力链路已成型，工程化验证是下一阶段重点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816352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606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产品能力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01568"/>
            <a:ext cx="257860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E6FAFA"/>
                </a:solidFill>
                <a:latin typeface="Calibri"/>
              </a:rPr>
              <a:t>生成、预览、部署、管理链路完整，适合继续围绕稳定性与体验打磨。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2816352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017520"/>
            <a:ext cx="2606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近期进展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01568"/>
            <a:ext cx="257860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E6FAFA"/>
                </a:solidFill>
                <a:latin typeface="Calibri"/>
              </a:rPr>
              <a:t>近 7 天无提交；最近一次集中改造为微服务拆分与可观测性增强。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2816352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2606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行动焦点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01568"/>
            <a:ext cx="257860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E6FAFA"/>
                </a:solidFill>
                <a:latin typeface="Calibri"/>
              </a:rPr>
              <a:t>补齐配置治理、CI 门禁、主链路冒烟和运行态监控。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062472"/>
            <a:ext cx="6400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6FAFA"/>
                </a:solidFill>
                <a:latin typeface="Calibri"/>
              </a:rPr>
              <a:t>PPT 路径：docs/reports/project-status-2026-06-26.pptx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6062472"/>
            <a:ext cx="2240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50" b="1" i="0">
                <a:solidFill>
                  <a:srgbClr val="B7F4EF"/>
                </a:solidFill>
                <a:latin typeface="Calibri"/>
              </a:rPr>
              <a:t>生成范围：仅报告文件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 2026-06-26</dc:title>
  <dc:subject>每日项目状态汇报</dc:subject>
  <dc:creator>Cursor Cloud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