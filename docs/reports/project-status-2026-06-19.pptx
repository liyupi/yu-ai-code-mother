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86200" cy="6858000"/>
          </a:xfrm>
          <a:prstGeom prst="rect">
            <a:avLst/>
          </a:prstGeom>
          <a:solidFill>
            <a:srgbClr val="065A82">
              <a:alpha val="92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21040" y="-1005840"/>
            <a:ext cx="4389120" cy="4389120"/>
          </a:xfrm>
          <a:prstGeom prst="ellipse">
            <a:avLst/>
          </a:prstGeom>
          <a:solidFill>
            <a:srgbClr val="1C7293">
              <a:alpha val="76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0" y="4343400"/>
            <a:ext cx="2926080" cy="2926080"/>
          </a:xfrm>
          <a:prstGeom prst="ellipse">
            <a:avLst/>
          </a:prstGeom>
          <a:solidFill>
            <a:srgbClr val="00A896">
              <a:alpha val="82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078992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94944" y="178308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F4F7"/>
                </a:solidFill>
              </a:rPr>
              <a:t>AI 零代码应用生成平台 · yu-ai-code-mother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4944" y="221284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E9EF"/>
                </a:solidFill>
              </a:rPr>
              <a:t>运行日：2026-06-19（北京时间）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" y="2816352"/>
            <a:ext cx="2926080" cy="530352"/>
          </a:xfrm>
          <a:prstGeom prst="roundRect">
            <a:avLst>
              <a:gd name="adj" fmla="val 27586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990088"/>
            <a:ext cx="2423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</a:rPr>
              <a:t>维护者 / 团队视角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82712" y="1581912"/>
            <a:ext cx="1325880" cy="-320040"/>
          </a:xfrm>
          <a:prstGeom prst="line">
            <a:avLst/>
          </a:prstGeom>
          <a:noFill/>
          <a:ln w="16510">
            <a:solidFill>
              <a:srgbClr val="9FE7E4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08592" y="1261872"/>
            <a:ext cx="1143000" cy="731520"/>
          </a:xfrm>
          <a:prstGeom prst="line">
            <a:avLst/>
          </a:prstGeom>
          <a:noFill/>
          <a:ln w="16510">
            <a:solidFill>
              <a:srgbClr val="9FE7E4">
                <a:alpha val="7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51592" y="1993392"/>
            <a:ext cx="-1874520" cy="914400"/>
          </a:xfrm>
          <a:prstGeom prst="line">
            <a:avLst/>
          </a:prstGeom>
          <a:noFill/>
          <a:ln w="16510">
            <a:solidFill>
              <a:srgbClr val="9FE7E4">
                <a:alpha val="7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77072" y="2907792"/>
            <a:ext cx="1417320" cy="411480"/>
          </a:xfrm>
          <a:prstGeom prst="line">
            <a:avLst/>
          </a:prstGeom>
          <a:noFill/>
          <a:ln w="16510">
            <a:solidFill>
              <a:srgbClr val="9FE7E4">
                <a:alpha val="7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94392" y="3319272"/>
            <a:ext cx="914400" cy="1005840"/>
          </a:xfrm>
          <a:prstGeom prst="line">
            <a:avLst/>
          </a:prstGeom>
          <a:noFill/>
          <a:ln w="16510">
            <a:solidFill>
              <a:srgbClr val="9FE7E4">
                <a:alpha val="7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08792" y="4325112"/>
            <a:ext cx="-2743200" cy="274320"/>
          </a:xfrm>
          <a:prstGeom prst="line">
            <a:avLst/>
          </a:prstGeom>
          <a:noFill/>
          <a:ln w="16510">
            <a:solidFill>
              <a:srgbClr val="9FE7E4">
                <a:alpha val="7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1417320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0" y="109728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87000" y="1828800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274320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29800" y="3154680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744200" y="416052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01000" y="4434840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50608" y="507492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8FEFF"/>
                </a:solidFill>
              </a:rPr>
              <a:t>Spring Boot 3 + LangChain4j + Vue 3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C"/>
          </a:solidFill>
          <a:ln w="12700">
            <a:solidFill>
              <a:srgbClr val="F3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-640080"/>
            <a:ext cx="2468880" cy="2468880"/>
          </a:xfrm>
          <a:prstGeom prst="ellipse">
            <a:avLst/>
          </a:prstGeom>
          <a:solidFill>
            <a:srgbClr val="E6F4F7">
              <a:alpha val="95000"/>
            </a:srgbClr>
          </a:solidFill>
          <a:ln w="12700">
            <a:solidFill>
              <a:srgbClr val="E6F4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850392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定位、架构形态与当前维护信号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652760" y="329184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71632" y="370332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85800" y="1353312"/>
            <a:ext cx="4663440" cy="4526280"/>
          </a:xfrm>
          <a:prstGeom prst="roundRect">
            <a:avLst>
              <a:gd name="adj" fmla="val 303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70078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一句话状态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87552" y="2176272"/>
            <a:ext cx="384048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E9FAFC"/>
                </a:solidFill>
              </a:rPr>
              <a:t>项目已具备从需求输入、AI 生成、实时预览、部署分享到后台管理的端到端能力；代码同时保留完整单体版本与微服务拆分版本。</a:t>
            </a:r>
            <a:endParaRPr lang="en-US" sz="1520" dirty="0"/>
          </a:p>
        </p:txBody>
      </p:sp>
      <p:sp>
        <p:nvSpPr>
          <p:cNvPr id="13" name="Shape 11"/>
          <p:cNvSpPr/>
          <p:nvPr/>
        </p:nvSpPr>
        <p:spPr>
          <a:xfrm>
            <a:off x="987552" y="3986784"/>
            <a:ext cx="3337560" cy="502920"/>
          </a:xfrm>
          <a:prstGeom prst="roundRect">
            <a:avLst>
              <a:gd name="adj" fmla="val 20000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97864" y="4160520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</a:rPr>
              <a:t>状态判断：稳定维护期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23560" y="1353312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EB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23560" y="1353312"/>
            <a:ext cx="100584" cy="12801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16168" y="15361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3A"/>
                </a:solidFill>
              </a:rPr>
              <a:t>产品定位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916168" y="1920240"/>
            <a:ext cx="212140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55717A"/>
                </a:solidFill>
              </a:rPr>
              <a:t>教学向企业级 AI 代码生成平台，对标大厂 AI 应用生成体验。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8549640" y="1353312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EB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9640" y="1353312"/>
            <a:ext cx="100584" cy="12801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42248" y="15361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3A"/>
                </a:solidFill>
              </a:rPr>
              <a:t>架构形态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842248" y="1920240"/>
            <a:ext cx="212140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55717A"/>
                </a:solidFill>
              </a:rPr>
              <a:t>单体后端 + 微服务拆分版 + Vue 前端，覆盖演进路径。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5623560" y="2907792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EB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23560" y="2907792"/>
            <a:ext cx="100584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16168" y="309067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3A"/>
                </a:solidFill>
              </a:rPr>
              <a:t>技术基线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5916168" y="3474720"/>
            <a:ext cx="212140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55717A"/>
                </a:solidFill>
              </a:rPr>
              <a:t>Java 21、Spring Boot 3.5、LangChain4j、LangGraph4j、Vue 3。</a:t>
            </a:r>
            <a:endParaRPr lang="en-US" sz="1120" dirty="0"/>
          </a:p>
        </p:txBody>
      </p:sp>
      <p:sp>
        <p:nvSpPr>
          <p:cNvPr id="27" name="Shape 25"/>
          <p:cNvSpPr/>
          <p:nvPr/>
        </p:nvSpPr>
        <p:spPr>
          <a:xfrm>
            <a:off x="8549640" y="2907792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EB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49640" y="2907792"/>
            <a:ext cx="100584" cy="128016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42248" y="309067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3A"/>
                </a:solidFill>
              </a:rPr>
              <a:t>近期活跃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8842248" y="3474720"/>
            <a:ext cx="212140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55717A"/>
                </a:solidFill>
              </a:rPr>
              <a:t>近 7 天无提交；最新主线提交为 2025-08-26 微服务改造完成。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658368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717A"/>
                </a:solidFill>
              </a:rPr>
              <a:t>yu-ai-code-mother · 每日项目状态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65408" y="642823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65A82"/>
                </a:solidFill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C"/>
          </a:solidFill>
          <a:ln w="12700">
            <a:solidFill>
              <a:srgbClr val="F3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-640080"/>
            <a:ext cx="2468880" cy="2468880"/>
          </a:xfrm>
          <a:prstGeom prst="ellipse">
            <a:avLst/>
          </a:prstGeom>
          <a:solidFill>
            <a:srgbClr val="E6F4F7">
              <a:alpha val="95000"/>
            </a:srgbClr>
          </a:solidFill>
          <a:ln w="12700">
            <a:solidFill>
              <a:srgbClr val="E6F4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850392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从“生成”到“管理”的闭环能力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652760" y="329184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71632" y="370332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77240" y="1325880"/>
            <a:ext cx="5138928" cy="1060704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B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1325880"/>
            <a:ext cx="100584" cy="106070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7552" y="1527048"/>
            <a:ext cx="438912" cy="43891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162763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63624" y="1490472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</a:rPr>
              <a:t>智能代码生成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63624" y="1856232"/>
            <a:ext cx="4133088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55717A"/>
                </a:solidFill>
              </a:rPr>
              <a:t>用户输入需求描述，AI 自动选择生成策略，通过工具调用写入代码文件，并使用流式输出展示执行过程。</a:t>
            </a:r>
            <a:endParaRPr lang="en-US" sz="1140" dirty="0"/>
          </a:p>
        </p:txBody>
      </p:sp>
      <p:sp>
        <p:nvSpPr>
          <p:cNvPr id="16" name="Shape 14"/>
          <p:cNvSpPr/>
          <p:nvPr/>
        </p:nvSpPr>
        <p:spPr>
          <a:xfrm>
            <a:off x="6199632" y="1325880"/>
            <a:ext cx="5138928" cy="1060704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B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9632" y="1325880"/>
            <a:ext cx="100584" cy="106070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9944" y="1527048"/>
            <a:ext cx="438912" cy="43891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9944" y="162763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86016" y="1490472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</a:rPr>
              <a:t>可视化编辑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86016" y="1856232"/>
            <a:ext cx="4133088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55717A"/>
                </a:solidFill>
              </a:rPr>
              <a:t>生成应用实时展示；进入编辑模式后可选择页面元素，并继续通过 AI 对话快速改页面。</a:t>
            </a:r>
            <a:endParaRPr lang="en-US" sz="1140" dirty="0"/>
          </a:p>
        </p:txBody>
      </p:sp>
      <p:sp>
        <p:nvSpPr>
          <p:cNvPr id="22" name="Shape 20"/>
          <p:cNvSpPr/>
          <p:nvPr/>
        </p:nvSpPr>
        <p:spPr>
          <a:xfrm>
            <a:off x="777240" y="2788920"/>
            <a:ext cx="5138928" cy="1060704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B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2788920"/>
            <a:ext cx="100584" cy="106070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7552" y="2990088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309067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563624" y="2953512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</a:rPr>
              <a:t>一键部署分享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63624" y="3319272"/>
            <a:ext cx="4133088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55717A"/>
                </a:solidFill>
              </a:rPr>
              <a:t>支持云端部署、自动截取封面图、生成可访问地址，并提供完整项目源码下载。</a:t>
            </a:r>
            <a:endParaRPr lang="en-US" sz="1140" dirty="0"/>
          </a:p>
        </p:txBody>
      </p:sp>
      <p:sp>
        <p:nvSpPr>
          <p:cNvPr id="28" name="Shape 26"/>
          <p:cNvSpPr/>
          <p:nvPr/>
        </p:nvSpPr>
        <p:spPr>
          <a:xfrm>
            <a:off x="6199632" y="2788920"/>
            <a:ext cx="5138928" cy="1060704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B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9632" y="2788920"/>
            <a:ext cx="100584" cy="106070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9944" y="2990088"/>
            <a:ext cx="438912" cy="43891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9944" y="3090672"/>
            <a:ext cx="4389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86016" y="2953512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</a:rPr>
              <a:t>企业级管理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86016" y="3319272"/>
            <a:ext cx="4133088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55717A"/>
                </a:solidFill>
              </a:rPr>
              <a:t>包含用户管理、应用管理、精选设置、系统监控与 AI 调用指标监控等后台能力。</a:t>
            </a:r>
            <a:endParaRPr lang="en-US" sz="1140" dirty="0"/>
          </a:p>
        </p:txBody>
      </p:sp>
      <p:sp>
        <p:nvSpPr>
          <p:cNvPr id="34" name="Shape 32"/>
          <p:cNvSpPr/>
          <p:nvPr/>
        </p:nvSpPr>
        <p:spPr>
          <a:xfrm>
            <a:off x="1280160" y="4828032"/>
            <a:ext cx="1737360" cy="502920"/>
          </a:xfrm>
          <a:prstGeom prst="chevron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91640" y="5001768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需求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154680" y="4828032"/>
            <a:ext cx="1737360" cy="502920"/>
          </a:xfrm>
          <a:prstGeom prst="chevron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66160" y="5001768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生成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029200" y="4828032"/>
            <a:ext cx="1737360" cy="502920"/>
          </a:xfrm>
          <a:prstGeom prst="chevron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40680" y="5001768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</a:rPr>
              <a:t>编辑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903720" y="4828032"/>
            <a:ext cx="1737360" cy="5029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5001768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部署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778240" y="4828032"/>
            <a:ext cx="1737360" cy="502920"/>
          </a:xfrm>
          <a:prstGeom prst="chevron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89720" y="5001768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运营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8368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717A"/>
                </a:solidFill>
              </a:rPr>
              <a:t>yu-ai-code-mother · 每日项目状态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1265408" y="642823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65A82"/>
                </a:solidFill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C"/>
          </a:solidFill>
          <a:ln w="12700">
            <a:solidFill>
              <a:srgbClr val="F3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-640080"/>
            <a:ext cx="2468880" cy="2468880"/>
          </a:xfrm>
          <a:prstGeom prst="ellipse">
            <a:avLst/>
          </a:prstGeom>
          <a:solidFill>
            <a:srgbClr val="E6F4F7">
              <a:alpha val="95000"/>
            </a:srgbClr>
          </a:solidFill>
          <a:ln w="12700">
            <a:solidFill>
              <a:srgbClr val="E6F4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模块地图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850392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主要目录与职责边界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652760" y="329184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71632" y="370332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617720" y="1170432"/>
            <a:ext cx="2880360" cy="658368"/>
          </a:xfrm>
          <a:prstGeom prst="roundRect">
            <a:avLst>
              <a:gd name="adj" fmla="val 2083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408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yu-ai-code-mother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53328" y="1828800"/>
            <a:ext cx="-3749040" cy="502920"/>
          </a:xfrm>
          <a:prstGeom prst="line">
            <a:avLst/>
          </a:prstGeom>
          <a:noFill/>
          <a:ln w="16510">
            <a:solidFill>
              <a:srgbClr val="065A8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2212848"/>
            <a:ext cx="3063240" cy="3520440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5E8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2212848"/>
            <a:ext cx="3063240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2395728"/>
            <a:ext cx="2560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单体后端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78408" y="294436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src/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1005840" y="3511296"/>
            <a:ext cx="146304" cy="1463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52728" y="347472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REST API 与权限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5840" y="3950208"/>
            <a:ext cx="146304" cy="1463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2728" y="391363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AI 生成门面 / 工作流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05840" y="4389120"/>
            <a:ext cx="146304" cy="1463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52728" y="4352544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部署、截图、下载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05840" y="4828032"/>
            <a:ext cx="146304" cy="1463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52728" y="4791456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监控与限流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53328" y="1828800"/>
            <a:ext cx="-292608" cy="502920"/>
          </a:xfrm>
          <a:prstGeom prst="line">
            <a:avLst/>
          </a:prstGeom>
          <a:noFill/>
          <a:ln w="16510">
            <a:solidFill>
              <a:srgbClr val="1C7293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0" y="2212848"/>
            <a:ext cx="3063240" cy="3520440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5E8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0" y="2212848"/>
            <a:ext cx="3063240" cy="5303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34840" y="2395728"/>
            <a:ext cx="2560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微服务版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434840" y="294436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yu-ai-code-mother-microservice/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462272" y="3511296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347472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common / model / client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462272" y="395020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391363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user / app / ai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462272" y="4389120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09160" y="4352544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screenshot 独立服务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462272" y="482803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4791456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Dubbo + Nacos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053328" y="1828800"/>
            <a:ext cx="3163824" cy="502920"/>
          </a:xfrm>
          <a:prstGeom prst="line">
            <a:avLst/>
          </a:prstGeom>
          <a:noFill/>
          <a:ln w="16510">
            <a:solidFill>
              <a:srgbClr val="00A896">
                <a:alpha val="9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62672" y="2212848"/>
            <a:ext cx="3063240" cy="3520440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5E8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62672" y="2212848"/>
            <a:ext cx="3063240" cy="5303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395728"/>
            <a:ext cx="2560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</a:rPr>
              <a:t>前端与运维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7891272" y="294436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frontend / sql / prometheus.yml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7918704" y="3511296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65592" y="347472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Vue 3 + TypeScript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918704" y="3950208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65592" y="391363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Ant Design Vue 页面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918704" y="4389120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65592" y="4352544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MySQL 初始化脚本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918704" y="4828032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165592" y="4791456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</a:rPr>
              <a:t>Prometheus 抓取模板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58368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717A"/>
                </a:solidFill>
              </a:rPr>
              <a:t>yu-ai-code-mother · 每日项目状态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1265408" y="642823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65A82"/>
                </a:solidFill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C"/>
          </a:solidFill>
          <a:ln w="12700">
            <a:solidFill>
              <a:srgbClr val="F3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-640080"/>
            <a:ext cx="2468880" cy="2468880"/>
          </a:xfrm>
          <a:prstGeom prst="ellipse">
            <a:avLst/>
          </a:prstGeom>
          <a:solidFill>
            <a:srgbClr val="E6F4F7">
              <a:alpha val="95000"/>
            </a:srgbClr>
          </a:solidFill>
          <a:ln w="12700">
            <a:solidFill>
              <a:srgbClr val="E6F4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 / 近期变更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850392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天优先，结合最近主线提交判断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652760" y="329184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71632" y="370332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86384" y="1325880"/>
            <a:ext cx="2880360" cy="4315968"/>
          </a:xfrm>
          <a:prstGeom prst="roundRect">
            <a:avLst>
              <a:gd name="adj" fmla="val 5079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16642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</a:rPr>
              <a:t>近 7 天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24128" y="228600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1993392" y="267919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323A"/>
                </a:solidFill>
              </a:rPr>
              <a:t>新增提交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24128" y="3310128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717A"/>
                </a:solidFill>
              </a:rPr>
              <a:t>当前分支工作区干净，未发现昨日代码变更；可将本次报告视作基线巡检。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828800"/>
            <a:ext cx="0" cy="3401568"/>
          </a:xfrm>
          <a:prstGeom prst="line">
            <a:avLst/>
          </a:prstGeom>
          <a:noFill/>
          <a:ln w="25400">
            <a:solidFill>
              <a:srgbClr val="C9DD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60520" y="1719072"/>
            <a:ext cx="347472" cy="34747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16276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</a:rPr>
              <a:t>2025-08-26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06440" y="160934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3A"/>
                </a:solidFill>
              </a:rPr>
              <a:t>微服务改造完成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06440" y="197510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最新主线提交：包含完整单体项目代码，并完成微服务版收束。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60520" y="2953512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286207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</a:rPr>
              <a:t>2025-08-26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06440" y="284378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3A"/>
                </a:solidFill>
              </a:rPr>
              <a:t>Dubbo + Nacos 调用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806440" y="32095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中间态提交：跨服务调用链路完善。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60520" y="4187952"/>
            <a:ext cx="347472" cy="3474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409651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</a:rPr>
              <a:t>2025-08-26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806440" y="407822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3A"/>
                </a:solidFill>
              </a:rPr>
              <a:t>截图服务拆分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806440" y="4443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中间态提交：Selenium 截图能力独立服务化。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06440" y="5303520"/>
            <a:ext cx="4434840" cy="438912"/>
          </a:xfrm>
          <a:prstGeom prst="roundRect">
            <a:avLst>
              <a:gd name="adj" fmla="val 18750"/>
            </a:avLst>
          </a:prstGeom>
          <a:solidFill>
            <a:srgbClr val="E6F4F7"/>
          </a:solidFill>
          <a:ln w="12700">
            <a:solidFill>
              <a:srgbClr val="E6F4F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6752" y="5454396"/>
            <a:ext cx="4041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065A82"/>
                </a:solidFill>
              </a:rPr>
              <a:t>结论：主线近期代码活动较低，优先补齐自动化验证与运行文档。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658368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717A"/>
                </a:solidFill>
              </a:rPr>
              <a:t>yu-ai-code-mother · 每日项目状态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65408" y="642823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65A82"/>
                </a:solidFill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C"/>
          </a:solidFill>
          <a:ln w="12700">
            <a:solidFill>
              <a:srgbClr val="F3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-640080"/>
            <a:ext cx="2468880" cy="2468880"/>
          </a:xfrm>
          <a:prstGeom prst="ellipse">
            <a:avLst/>
          </a:prstGeom>
          <a:solidFill>
            <a:srgbClr val="E6F4F7">
              <a:alpha val="95000"/>
            </a:srgbClr>
          </a:solidFill>
          <a:ln w="12700">
            <a:solidFill>
              <a:srgbClr val="E6F4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 / 指标要点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850392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当前可从仓库静态信息得到的基线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652760" y="329184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71632" y="370332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86384" y="1298448"/>
            <a:ext cx="2423160" cy="1783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15087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6323A"/>
                </a:solidFill>
              </a:rPr>
              <a:t>核心产品能力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987552" y="24688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生成、编辑、部署、管理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520440" y="1298448"/>
            <a:ext cx="2423160" cy="1783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15087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3611880" y="217627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6323A"/>
                </a:solidFill>
              </a:rPr>
              <a:t>微服务子模块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3721608" y="24688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common/model/client/user/app/ai/screenshot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254496" y="1298448"/>
            <a:ext cx="2423160" cy="1783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54496" y="15087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6345936" y="217627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6323A"/>
                </a:solidFill>
              </a:rPr>
              <a:t>后端测试类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6455664" y="24688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集中在单体后端 src/test/java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8988552" y="1298448"/>
            <a:ext cx="2423160" cy="1783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88552" y="15087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9079992" y="217627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6323A"/>
                </a:solidFill>
              </a:rPr>
              <a:t>CI 工作流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9189720" y="24688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.github/workflows 未发现配置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86384" y="3685032"/>
            <a:ext cx="5257800" cy="1572768"/>
          </a:xfrm>
          <a:prstGeom prst="roundRect">
            <a:avLst>
              <a:gd name="adj" fmla="val 8721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0704" y="39502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建议新增运行指标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060704" y="43708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E7FBFC"/>
                </a:solidFill>
              </a:rPr>
              <a:t>AI 调用成功率、平均生成耗时、流式输出首包时间、部署成功率、截图耗时、热门应用转化。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0" y="3685032"/>
            <a:ext cx="5010912" cy="1572768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56832" y="39502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5A82"/>
                </a:solidFill>
              </a:rPr>
              <a:t>测试现状提示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656832" y="43708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55717A"/>
                </a:solidFill>
              </a:rPr>
              <a:t>后端测试多为 SpringBoot/AI 集成型；如无 API Key、MySQL/Redis/COS/Selenium 等依赖，自动化环境中可能不稳定。</a:t>
            </a:r>
            <a:endParaRPr lang="en-US" sz="1120" dirty="0"/>
          </a:p>
        </p:txBody>
      </p:sp>
      <p:sp>
        <p:nvSpPr>
          <p:cNvPr id="32" name="Text 30"/>
          <p:cNvSpPr/>
          <p:nvPr/>
        </p:nvSpPr>
        <p:spPr>
          <a:xfrm>
            <a:off x="658368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717A"/>
                </a:solidFill>
              </a:rPr>
              <a:t>yu-ai-code-mother · 每日项目状态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265408" y="642823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65A82"/>
                </a:solidFill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C"/>
          </a:solidFill>
          <a:ln w="12700">
            <a:solidFill>
              <a:srgbClr val="F3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-640080"/>
            <a:ext cx="2468880" cy="2468880"/>
          </a:xfrm>
          <a:prstGeom prst="ellipse">
            <a:avLst/>
          </a:prstGeom>
          <a:solidFill>
            <a:srgbClr val="E6F4F7">
              <a:alpha val="95000"/>
            </a:srgbClr>
          </a:solidFill>
          <a:ln w="12700">
            <a:solidFill>
              <a:srgbClr val="E6F4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850392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从维护与工程化角度识别的待补齐事项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652760" y="329184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71632" y="370332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822960" y="1481328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1620"/>
            <a:ext cx="23774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0" y="144475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</a:rPr>
              <a:t>自动化流水线缺口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88720" y="1700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未发现 GitHub Actions / Jenkins / GitLab CI 等配置，回归验证主要依赖本地手动执行。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2430018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480310"/>
            <a:ext cx="23774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0" y="239344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</a:rPr>
              <a:t>前端与微服务测试空白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88720" y="264947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前端 package.json 无测试脚本；微服务目录未发现 src/test。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378708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429000"/>
            <a:ext cx="23774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0" y="334213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</a:rPr>
              <a:t>运行环境依赖较多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188720" y="35981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AI Key、MySQL、Redis、COS、Nacos、浏览器驱动等需要明确启动与配置路径。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4327398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377690"/>
            <a:ext cx="23774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4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0" y="429082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</a:rPr>
              <a:t>部署链路文档可继续细化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188720" y="454685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已有 Prometheus 模板，但生产部署、告警、容量与成本治理仍需落成文档或脚本。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1325880"/>
            <a:ext cx="4251960" cy="4315968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03720" y="16733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优先级视图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03720" y="233172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23A"/>
                </a:solidFill>
              </a:rPr>
              <a:t>CI 基线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83880" y="2313432"/>
            <a:ext cx="2057400" cy="182880"/>
          </a:xfrm>
          <a:prstGeom prst="roundRect">
            <a:avLst>
              <a:gd name="adj" fmla="val 20000"/>
            </a:avLst>
          </a:prstGeom>
          <a:solidFill>
            <a:srgbClr val="E6F4F7"/>
          </a:solidFill>
          <a:ln w="12700">
            <a:solidFill>
              <a:srgbClr val="E6F4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3880" y="2313432"/>
            <a:ext cx="1892808" cy="182880"/>
          </a:xfrm>
          <a:prstGeom prst="roundRect">
            <a:avLst>
              <a:gd name="adj" fmla="val 2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289864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23A"/>
                </a:solidFill>
              </a:rPr>
              <a:t>冒烟测试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183880" y="2880360"/>
            <a:ext cx="2057400" cy="182880"/>
          </a:xfrm>
          <a:prstGeom prst="roundRect">
            <a:avLst>
              <a:gd name="adj" fmla="val 20000"/>
            </a:avLst>
          </a:prstGeom>
          <a:solidFill>
            <a:srgbClr val="E6F4F7"/>
          </a:solidFill>
          <a:ln w="12700">
            <a:solidFill>
              <a:srgbClr val="E6F4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83880" y="2880360"/>
            <a:ext cx="1687068" cy="18288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4655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23A"/>
                </a:solidFill>
              </a:rPr>
              <a:t>环境文档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83880" y="3447288"/>
            <a:ext cx="2057400" cy="182880"/>
          </a:xfrm>
          <a:prstGeom prst="roundRect">
            <a:avLst>
              <a:gd name="adj" fmla="val 20000"/>
            </a:avLst>
          </a:prstGeom>
          <a:solidFill>
            <a:srgbClr val="E6F4F7"/>
          </a:solidFill>
          <a:ln w="12700">
            <a:solidFill>
              <a:srgbClr val="E6F4F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83880" y="3447288"/>
            <a:ext cx="1481328" cy="182880"/>
          </a:xfrm>
          <a:prstGeom prst="roundRect">
            <a:avLst>
              <a:gd name="adj" fmla="val 20000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403250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23A"/>
                </a:solidFill>
              </a:rPr>
              <a:t>监控看板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183880" y="4014216"/>
            <a:ext cx="2057400" cy="182880"/>
          </a:xfrm>
          <a:prstGeom prst="roundRect">
            <a:avLst>
              <a:gd name="adj" fmla="val 20000"/>
            </a:avLst>
          </a:prstGeom>
          <a:solidFill>
            <a:srgbClr val="E6F4F7"/>
          </a:solidFill>
          <a:ln w="12700">
            <a:solidFill>
              <a:srgbClr val="E6F4F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83880" y="4014216"/>
            <a:ext cx="1193292" cy="182880"/>
          </a:xfrm>
          <a:prstGeom prst="roundRect">
            <a:avLst>
              <a:gd name="adj" fmla="val 2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03720" y="482803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注：优先级来自仓库静态巡检，不代表线上故障。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658368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717A"/>
                </a:solidFill>
              </a:rPr>
              <a:t>yu-ai-code-mother · 每日项目状态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1265408" y="642823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65A82"/>
                </a:solidFill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C"/>
          </a:solidFill>
          <a:ln w="12700">
            <a:solidFill>
              <a:srgbClr val="F3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-640080"/>
            <a:ext cx="2468880" cy="2468880"/>
          </a:xfrm>
          <a:prstGeom prst="ellipse">
            <a:avLst/>
          </a:prstGeom>
          <a:solidFill>
            <a:srgbClr val="E6F4F7">
              <a:alpha val="95000"/>
            </a:srgbClr>
          </a:solidFill>
          <a:ln w="12700">
            <a:solidFill>
              <a:srgbClr val="E6F4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风险与阻塞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850392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影响稳定交付与日常维护的关键风险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652760" y="329184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71632" y="370332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86384" y="1353312"/>
            <a:ext cx="4773168" cy="1353312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0704" y="1673352"/>
            <a:ext cx="566928" cy="566928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1828800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!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10512" y="160934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3A"/>
                </a:solidFill>
              </a:rPr>
              <a:t>外部服务耦合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810512" y="201168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AI 服务、对象存储、浏览器截图、数据库与缓存均可能成为本地/CI 阻塞点。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44768" y="1353312"/>
            <a:ext cx="4773168" cy="1353312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19088" y="1673352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1828800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!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168896" y="160934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3A"/>
                </a:solidFill>
              </a:rPr>
              <a:t>缺少统一 CI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168896" y="201168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无自动触发的构建、测试、前端类型检查，合并前质量信号不足。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86384" y="3246120"/>
            <a:ext cx="4773168" cy="1353312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60704" y="3566160"/>
            <a:ext cx="566928" cy="5669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721608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!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810512" y="35021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3A"/>
                </a:solidFill>
              </a:rPr>
              <a:t>集成测试脆弱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810512" y="390448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AI 工作流测试依赖密钥、网络与模型响应，容易出现非代码因素失败。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44768" y="3246120"/>
            <a:ext cx="4773168" cy="1353312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D7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19088" y="3566160"/>
            <a:ext cx="566928" cy="5669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19088" y="3721608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1295C"/>
                </a:solidFill>
              </a:rPr>
              <a:t>!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68896" y="35021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3A"/>
                </a:solidFill>
              </a:rPr>
              <a:t>微服务启动复杂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7168896" y="390448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</a:rPr>
              <a:t>Dubbo、Nacos 与多模块配置提高新维护者复现成本。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286000" y="5321808"/>
            <a:ext cx="7589520" cy="420624"/>
          </a:xfrm>
          <a:prstGeom prst="roundRect">
            <a:avLst>
              <a:gd name="adj" fmla="val 21739"/>
            </a:avLst>
          </a:prstGeom>
          <a:solidFill>
            <a:srgbClr val="E6F4F7"/>
          </a:solidFill>
          <a:ln w="12700">
            <a:solidFill>
              <a:srgbClr val="E6F4F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60320" y="5472684"/>
            <a:ext cx="7086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65A82"/>
                </a:solidFill>
              </a:rPr>
              <a:t>当前未发现近期代码变更引入的新风险，主要风险集中在工程化与环境可复现性。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658368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717A"/>
                </a:solidFill>
              </a:rPr>
              <a:t>yu-ai-code-mother · 每日项目状态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265408" y="642823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65A82"/>
                </a:solidFill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AFC"/>
          </a:solidFill>
          <a:ln w="12700">
            <a:solidFill>
              <a:srgbClr val="F3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0"/>
            <a:ext cx="73152" cy="6858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-640080"/>
            <a:ext cx="2468880" cy="2468880"/>
          </a:xfrm>
          <a:prstGeom prst="ellipse">
            <a:avLst/>
          </a:prstGeom>
          <a:solidFill>
            <a:srgbClr val="E6F4F7">
              <a:alpha val="95000"/>
            </a:srgbClr>
          </a:solidFill>
          <a:ln w="12700">
            <a:solidFill>
              <a:srgbClr val="E6F4F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建议下一步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850392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聚焦可验证、可复现、可观测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652760" y="329184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71632" y="370332"/>
            <a:ext cx="621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914400" y="1417320"/>
            <a:ext cx="1691640" cy="3611880"/>
          </a:xfrm>
          <a:prstGeom prst="roundRect">
            <a:avLst>
              <a:gd name="adj" fmla="val 9730"/>
            </a:avLst>
          </a:prstGeom>
          <a:solidFill>
            <a:srgbClr val="E6F4F7"/>
          </a:solidFill>
          <a:ln w="12700">
            <a:solidFill>
              <a:srgbClr val="D5E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26464" y="1783080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26464" y="19751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78992" y="2743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6323A"/>
                </a:solidFill>
              </a:rPr>
              <a:t>建立 CI 基线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1097280" y="3401568"/>
            <a:ext cx="1325880" cy="960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后端 mvn test、前端 type-check/build，先允许外部依赖测试分组跳过。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090672" y="1417320"/>
            <a:ext cx="1691640" cy="3611880"/>
          </a:xfrm>
          <a:prstGeom prst="roundRect">
            <a:avLst>
              <a:gd name="adj" fmla="val 9730"/>
            </a:avLst>
          </a:prstGeom>
          <a:solidFill>
            <a:srgbClr val="FFFFFF"/>
          </a:solidFill>
          <a:ln w="12700">
            <a:solidFill>
              <a:srgbClr val="D5E8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02736" y="1783080"/>
            <a:ext cx="658368" cy="6583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02736" y="19751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55264" y="2743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6323A"/>
                </a:solidFill>
              </a:rPr>
              <a:t>拆分测试层级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3273552" y="3401568"/>
            <a:ext cx="1325880" cy="960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将纯工具/解析测试与真实 AI 集成测试分层，降低日常回归成本。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5266944" y="1417320"/>
            <a:ext cx="1691640" cy="3611880"/>
          </a:xfrm>
          <a:prstGeom prst="roundRect">
            <a:avLst>
              <a:gd name="adj" fmla="val 9730"/>
            </a:avLst>
          </a:prstGeom>
          <a:solidFill>
            <a:srgbClr val="E6F4F7"/>
          </a:solidFill>
          <a:ln w="12700">
            <a:solidFill>
              <a:srgbClr val="D5E8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9008" y="1783080"/>
            <a:ext cx="658368" cy="6583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79008" y="19751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31536" y="2743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6323A"/>
                </a:solidFill>
              </a:rPr>
              <a:t>补齐环境手册</a:t>
            </a:r>
            <a:endParaRPr lang="en-US" sz="1320" dirty="0"/>
          </a:p>
        </p:txBody>
      </p:sp>
      <p:sp>
        <p:nvSpPr>
          <p:cNvPr id="24" name="Text 22"/>
          <p:cNvSpPr/>
          <p:nvPr/>
        </p:nvSpPr>
        <p:spPr>
          <a:xfrm>
            <a:off x="5449824" y="3401568"/>
            <a:ext cx="1325880" cy="960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统一 API Key、MySQL、Redis、COS、Nacos、浏览器驱动的最小启动说明。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7443216" y="1417320"/>
            <a:ext cx="1691640" cy="3611880"/>
          </a:xfrm>
          <a:prstGeom prst="roundRect">
            <a:avLst>
              <a:gd name="adj" fmla="val 9730"/>
            </a:avLst>
          </a:prstGeom>
          <a:solidFill>
            <a:srgbClr val="FFFFFF"/>
          </a:solidFill>
          <a:ln w="12700">
            <a:solidFill>
              <a:srgbClr val="D5E8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5280" y="1783080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55280" y="19751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607808" y="2743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6323A"/>
                </a:solidFill>
              </a:rPr>
              <a:t>沉淀监控面板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7626096" y="3401568"/>
            <a:ext cx="1325880" cy="960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围绕 AI 调用、生成耗时、部署成功率、错误码建设 Prometheus/Grafana 看板。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619488" y="1417320"/>
            <a:ext cx="1691640" cy="3611880"/>
          </a:xfrm>
          <a:prstGeom prst="roundRect">
            <a:avLst>
              <a:gd name="adj" fmla="val 9730"/>
            </a:avLst>
          </a:prstGeom>
          <a:solidFill>
            <a:srgbClr val="E6F4F7"/>
          </a:solidFill>
          <a:ln w="12700">
            <a:solidFill>
              <a:srgbClr val="D5E8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31552" y="1783080"/>
            <a:ext cx="658368" cy="658368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131552" y="197510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784080" y="2743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6323A"/>
                </a:solidFill>
              </a:rPr>
              <a:t>梳理演示路径</a:t>
            </a:r>
            <a:endParaRPr lang="en-US" sz="1320" dirty="0"/>
          </a:p>
        </p:txBody>
      </p:sp>
      <p:sp>
        <p:nvSpPr>
          <p:cNvPr id="34" name="Text 32"/>
          <p:cNvSpPr/>
          <p:nvPr/>
        </p:nvSpPr>
        <p:spPr>
          <a:xfrm>
            <a:off x="9802368" y="3401568"/>
            <a:ext cx="1325880" cy="960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55717A"/>
                </a:solidFill>
              </a:rPr>
              <a:t>维护一条稳定端到端 Demo：创建应用 → 对话生成 → 预览 → 部署 → 管理。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1234440" y="5596128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65A82"/>
                </a:solidFill>
              </a:rPr>
              <a:t>短期目标：让维护者在无人工猜测的情况下完成构建、验证、演示与问题定位。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658368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717A"/>
                </a:solidFill>
              </a:rPr>
              <a:t>yu-ai-code-mother · 每日项目状态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1265408" y="642823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65A82"/>
                </a:solidFill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86200" cy="6858000"/>
          </a:xfrm>
          <a:prstGeom prst="rect">
            <a:avLst/>
          </a:prstGeom>
          <a:solidFill>
            <a:srgbClr val="065A82">
              <a:alpha val="92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21040" y="-1005840"/>
            <a:ext cx="4389120" cy="4389120"/>
          </a:xfrm>
          <a:prstGeom prst="ellipse">
            <a:avLst/>
          </a:prstGeom>
          <a:solidFill>
            <a:srgbClr val="1C7293">
              <a:alpha val="76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0" y="4343400"/>
            <a:ext cx="2926080" cy="2926080"/>
          </a:xfrm>
          <a:prstGeom prst="ellipse">
            <a:avLst/>
          </a:prstGeom>
          <a:solidFill>
            <a:srgbClr val="00A896">
              <a:alpha val="82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71323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49808" y="14173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FF7FA"/>
                </a:solidFill>
              </a:rPr>
              <a:t>项目具备完整产品闭环，当前更需要工程化基线来支撑稳定维护。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2971800" cy="1874520"/>
          </a:xfrm>
          <a:prstGeom prst="roundRect">
            <a:avLst>
              <a:gd name="adj" fmla="val 8293"/>
            </a:avLst>
          </a:prstGeom>
          <a:solidFill>
            <a:srgbClr val="065A82">
              <a:alpha val="92000"/>
            </a:srgbClr>
          </a:solidFill>
          <a:ln w="12700">
            <a:solidFill>
              <a:srgbClr val="A9F0EE">
                <a:alpha val="3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312724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保持能力闭环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115568" y="3685032"/>
            <a:ext cx="2331720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E7FBFC"/>
                </a:solidFill>
              </a:rPr>
              <a:t>智能生成、编辑、部署、管理四大能力完整，是后续演示和迭代的核心资产。</a:t>
            </a:r>
            <a:endParaRPr lang="en-US" sz="1060" dirty="0"/>
          </a:p>
        </p:txBody>
      </p:sp>
      <p:sp>
        <p:nvSpPr>
          <p:cNvPr id="11" name="Shape 9"/>
          <p:cNvSpPr/>
          <p:nvPr/>
        </p:nvSpPr>
        <p:spPr>
          <a:xfrm>
            <a:off x="4526280" y="2788920"/>
            <a:ext cx="2971800" cy="1874520"/>
          </a:xfrm>
          <a:prstGeom prst="roundRect">
            <a:avLst>
              <a:gd name="adj" fmla="val 8293"/>
            </a:avLst>
          </a:prstGeom>
          <a:solidFill>
            <a:srgbClr val="1C7293">
              <a:alpha val="92000"/>
            </a:srgbClr>
          </a:solidFill>
          <a:ln w="12700">
            <a:solidFill>
              <a:srgbClr val="A9F0EE">
                <a:alpha val="3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2312" y="312724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降低复现成本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818888" y="3685032"/>
            <a:ext cx="2331720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E7FBFC"/>
                </a:solidFill>
              </a:rPr>
              <a:t>通过 CI、分层测试、环境文档，减少外部依赖对维护效率的影响。</a:t>
            </a:r>
            <a:endParaRPr lang="en-US" sz="1060" dirty="0"/>
          </a:p>
        </p:txBody>
      </p:sp>
      <p:sp>
        <p:nvSpPr>
          <p:cNvPr id="14" name="Shape 12"/>
          <p:cNvSpPr/>
          <p:nvPr/>
        </p:nvSpPr>
        <p:spPr>
          <a:xfrm>
            <a:off x="8229600" y="2788920"/>
            <a:ext cx="2971800" cy="1874520"/>
          </a:xfrm>
          <a:prstGeom prst="roundRect">
            <a:avLst>
              <a:gd name="adj" fmla="val 8293"/>
            </a:avLst>
          </a:prstGeom>
          <a:solidFill>
            <a:srgbClr val="065A82"/>
          </a:solidFill>
          <a:ln w="12700">
            <a:solidFill>
              <a:srgbClr val="A9F0EE">
                <a:alpha val="3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85632" y="312724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补齐观测指标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8522208" y="3685032"/>
            <a:ext cx="2331720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E7FBFC"/>
                </a:solidFill>
              </a:rPr>
              <a:t>围绕 AI 调用和部署链路沉淀可量化指标，形成日常巡检依据。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3429000" y="5559552"/>
            <a:ext cx="5303520" cy="457200"/>
          </a:xfrm>
          <a:prstGeom prst="roundRect">
            <a:avLst>
              <a:gd name="adj" fmla="val 24000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5719572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1295C"/>
                </a:solidFill>
              </a:rPr>
              <a:t>下一次状态更新建议聚焦：CI 落地与端到端 Demo 验证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docs: 每日项目状态汇报 2026-06-19</dc:title>
  <dc:subject>每日项目状态汇报</dc:subject>
  <dc:creator>Cursor Automation</dc:creator>
  <cp:lastModifiedBy>Cursor Automation</cp:lastModifiedBy>
  <cp:revision>1</cp:revision>
  <dcterms:created xsi:type="dcterms:W3CDTF">2026-06-19T09:05:54Z</dcterms:created>
  <dcterms:modified xsi:type="dcterms:W3CDTF">2026-06-19T09:05:54Z</dcterms:modified>
</cp:coreProperties>
</file>