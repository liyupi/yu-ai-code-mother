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6217920" y="-365760"/>
            <a:ext cx="6400800" cy="7498079"/>
          </a:xfrm>
          <a:prstGeom prst="parallelogram">
            <a:avLst/>
          </a:prstGeom>
          <a:solidFill>
            <a:srgbClr val="06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869680" y="-91440"/>
            <a:ext cx="3657600" cy="7132320"/>
          </a:xfrm>
          <a:prstGeom prst="parallelogram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-731520" y="4892040"/>
            <a:ext cx="13716000" cy="1005840"/>
          </a:xfrm>
          <a:prstGeom prst="parallelogram">
            <a:avLst/>
          </a:prstGeom>
          <a:solidFill>
            <a:srgbClr val="00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640080"/>
            <a:ext cx="1188720" cy="1188720"/>
          </a:xfrm>
          <a:prstGeom prst="ellipse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1360" y="1645920"/>
            <a:ext cx="640080" cy="640080"/>
          </a:xfrm>
          <a:prstGeom prst="ellipse">
            <a:avLst/>
          </a:prstGeom>
          <a:solidFill>
            <a:srgbClr val="E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760" y="5394960"/>
            <a:ext cx="914400" cy="914400"/>
          </a:xfrm>
          <a:prstGeom prst="ellipse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621792"/>
            <a:ext cx="214884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100" b="1">
                <a:solidFill>
                  <a:srgbClr val="29BABE"/>
                </a:solidFill>
                <a:latin typeface="Calibri"/>
              </a:rPr>
              <a:t>DAILY STATUS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8046720" cy="9601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Georgia"/>
              </a:rPr>
              <a:t>AI 零代码应用生成平台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048256"/>
            <a:ext cx="7772400" cy="59436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2800" b="1">
                <a:solidFill>
                  <a:srgbClr val="E0F6F8"/>
                </a:solidFill>
                <a:latin typeface="Georgia"/>
              </a:rPr>
              <a:t>每日项目状态汇报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88920"/>
            <a:ext cx="7955279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Calibri"/>
              </a:rPr>
              <a:t>yu-ai-code-mother｜面向项目维护者 / 团队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70832"/>
            <a:ext cx="1499616" cy="932688"/>
          </a:xfrm>
          <a:prstGeom prst="roundRect">
            <a:avLst/>
          </a:prstGeom>
          <a:solidFill>
            <a:srgbClr val="125B74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480560"/>
            <a:ext cx="1188720" cy="34747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29BABE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64608"/>
            <a:ext cx="118872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80" b="0">
                <a:solidFill>
                  <a:srgbClr val="FFFFFF"/>
                </a:solidFill>
                <a:latin typeface="Calibri"/>
              </a:rPr>
              <a:t>核心能力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79" y="4370832"/>
            <a:ext cx="1499616" cy="932688"/>
          </a:xfrm>
          <a:prstGeom prst="roundRect">
            <a:avLst/>
          </a:prstGeom>
          <a:solidFill>
            <a:srgbClr val="125B74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39" y="4480560"/>
            <a:ext cx="1188720" cy="34747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29BABE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4864608"/>
            <a:ext cx="118872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80" b="0">
                <a:solidFill>
                  <a:srgbClr val="FFFFFF"/>
                </a:solidFill>
                <a:latin typeface="Calibri"/>
              </a:rPr>
              <a:t>生成模式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370832"/>
            <a:ext cx="1499616" cy="932688"/>
          </a:xfrm>
          <a:prstGeom prst="roundRect">
            <a:avLst/>
          </a:prstGeom>
          <a:solidFill>
            <a:srgbClr val="125B74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4480560"/>
            <a:ext cx="1188720" cy="34747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29BABE"/>
                </a:solidFill>
                <a:latin typeface="Georgia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864608"/>
            <a:ext cx="118872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80" b="0">
                <a:solidFill>
                  <a:srgbClr val="FFFFFF"/>
                </a:solidFill>
                <a:latin typeface="Calibri"/>
              </a:rPr>
              <a:t>微服务模块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5358384"/>
            <a:ext cx="2651760" cy="329184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2026-06-11（北京时间）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6" y="5733288"/>
            <a:ext cx="2615184" cy="237744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r"/>
            <a:r>
              <a:rPr sz="1050" b="0">
                <a:solidFill>
                  <a:srgbClr val="E0F6F8"/>
                </a:solidFill>
                <a:latin typeface="Calibri"/>
              </a:rPr>
              <a:t>依据 README、模块目录与 git 历史生成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896112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3200" b="1">
                <a:solidFill>
                  <a:srgbClr val="092540"/>
                </a:solidFill>
                <a:latin typeface="Georgia"/>
              </a:rPr>
              <a:t>项目概览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804672"/>
            <a:ext cx="9601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0">
                <a:solidFill>
                  <a:srgbClr val="5C7380"/>
                </a:solidFill>
                <a:latin typeface="Calibri"/>
              </a:rPr>
              <a:t>企业级 AI 代码生成平台，当前保留单体主线与微服务拆分版本。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93192"/>
            <a:ext cx="1600200" cy="384048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898B"/>
                </a:solidFill>
                <a:latin typeface="Calibri"/>
              </a:rPr>
              <a:t>Teal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27432"/>
          </a:xfrm>
          <a:prstGeom prst="rect">
            <a:avLst/>
          </a:prstGeom>
          <a:solidFill>
            <a:srgbClr val="D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C7380"/>
                </a:solidFill>
                <a:latin typeface="Calibri"/>
              </a:rPr>
              <a:t>yu-ai-code-mother 每日项目状态｜2026-06-11（北京时间）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C7380"/>
                </a:solidFill>
                <a:latin typeface="Calibri"/>
              </a:rPr>
              <a:t>2/11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1581912"/>
            <a:ext cx="402336" cy="402336"/>
          </a:xfrm>
          <a:prstGeom prst="ellipse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581912"/>
            <a:ext cx="251460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产品定位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039112"/>
            <a:ext cx="2953512" cy="4846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用户通过自然语言创建网站应用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生成、预览、部署、分享形成闭环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41732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99431" y="1581912"/>
            <a:ext cx="402336" cy="402336"/>
          </a:xfrm>
          <a:prstGeom prst="ellipse">
            <a:avLst/>
          </a:prstGeom>
          <a:solidFill>
            <a:srgbClr val="00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581912"/>
            <a:ext cx="251460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技术底座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2039112"/>
            <a:ext cx="2953512" cy="4846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Spring Boot 3 + Java 21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LangChain4j / LangGraph4j + Vue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41732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48471" y="1581912"/>
            <a:ext cx="402336" cy="402336"/>
          </a:xfrm>
          <a:prstGeom prst="ellipse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581912"/>
            <a:ext cx="251460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交付形态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039112"/>
            <a:ext cx="2953512" cy="4846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单体版功能较完整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微服务版完成核心拆分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063240"/>
            <a:ext cx="2926080" cy="29260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600" b="1">
                <a:solidFill>
                  <a:srgbClr val="092540"/>
                </a:solidFill>
                <a:latin typeface="Georgia"/>
              </a:rPr>
              <a:t>系统链路（当前视图）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703320"/>
            <a:ext cx="1572768" cy="713232"/>
          </a:xfrm>
          <a:prstGeom prst="round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913632"/>
            <a:ext cx="1353312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  <a:latin typeface="Calibri"/>
              </a:rPr>
              <a:t>前端 Vue 3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377440" y="3886200"/>
            <a:ext cx="429768" cy="292608"/>
          </a:xfrm>
          <a:prstGeom prst="rightArrow">
            <a:avLst/>
          </a:prstGeom>
          <a:solidFill>
            <a:srgbClr val="9EB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90088" y="3703320"/>
            <a:ext cx="1572768" cy="713232"/>
          </a:xfrm>
          <a:prstGeom prst="roundRect">
            <a:avLst/>
          </a:prstGeom>
          <a:solidFill>
            <a:srgbClr val="00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99816" y="3913632"/>
            <a:ext cx="1353312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  <a:latin typeface="Calibri"/>
              </a:rPr>
              <a:t>后端 API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590288" y="3886200"/>
            <a:ext cx="429768" cy="292608"/>
          </a:xfrm>
          <a:prstGeom prst="rightArrow">
            <a:avLst/>
          </a:prstGeom>
          <a:solidFill>
            <a:srgbClr val="9EB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202936" y="3703320"/>
            <a:ext cx="1572768" cy="713232"/>
          </a:xfrm>
          <a:prstGeom prst="roundRect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12664" y="3913632"/>
            <a:ext cx="1353312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  <a:latin typeface="Calibri"/>
              </a:rPr>
              <a:t>AI 工作流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803136" y="3886200"/>
            <a:ext cx="429768" cy="292608"/>
          </a:xfrm>
          <a:prstGeom prst="rightArrow">
            <a:avLst/>
          </a:prstGeom>
          <a:solidFill>
            <a:srgbClr val="9EB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15783" y="3703320"/>
            <a:ext cx="1572768" cy="713232"/>
          </a:xfrm>
          <a:prstGeom prst="roundRect">
            <a:avLst/>
          </a:prstGeom>
          <a:solidFill>
            <a:srgbClr val="23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25511" y="3913632"/>
            <a:ext cx="1353312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  <a:latin typeface="Calibri"/>
              </a:rPr>
              <a:t>部署/截图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015984" y="3886200"/>
            <a:ext cx="429768" cy="292608"/>
          </a:xfrm>
          <a:prstGeom prst="rightArrow">
            <a:avLst/>
          </a:prstGeom>
          <a:solidFill>
            <a:srgbClr val="9EB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28632" y="3703320"/>
            <a:ext cx="1572768" cy="713232"/>
          </a:xfrm>
          <a:prstGeom prst="roundRect">
            <a:avLst/>
          </a:prstGeom>
          <a:solidFill>
            <a:srgbClr val="F5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59" y="3913632"/>
            <a:ext cx="1353312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  <a:latin typeface="Calibri"/>
              </a:rPr>
              <a:t>监控指标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" y="4919472"/>
            <a:ext cx="10515600" cy="53035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500" b="0">
                <a:solidFill>
                  <a:srgbClr val="223645"/>
                </a:solidFill>
                <a:latin typeface="Calibri"/>
              </a:rPr>
              <a:t>判断：平台已具备端到端 Demo 与教学项目展示能力，工程化保障（CI、测试隔离、配置治理）仍是主要补强方向。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896112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3200" b="1">
                <a:solidFill>
                  <a:srgbClr val="092540"/>
                </a:solidFill>
                <a:latin typeface="Georgia"/>
              </a:rPr>
              <a:t>当前核心能力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804672"/>
            <a:ext cx="9601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0">
                <a:solidFill>
                  <a:srgbClr val="5C7380"/>
                </a:solidFill>
                <a:latin typeface="Calibri"/>
              </a:rPr>
              <a:t>按用户价值链路归纳已实现能力。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93192"/>
            <a:ext cx="1600200" cy="384048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898B"/>
                </a:solidFill>
                <a:latin typeface="Calibri"/>
              </a:rPr>
              <a:t>Teal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27432"/>
          </a:xfrm>
          <a:prstGeom prst="rect">
            <a:avLst/>
          </a:prstGeom>
          <a:solidFill>
            <a:srgbClr val="D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C7380"/>
                </a:solidFill>
                <a:latin typeface="Calibri"/>
              </a:rPr>
              <a:t>yu-ai-code-mother 每日项目状态｜2026-06-11（北京时间）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C7380"/>
                </a:solidFill>
                <a:latin typeface="Calibri"/>
              </a:rPr>
              <a:t>3/11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1417320"/>
            <a:ext cx="324612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103" y="1581912"/>
            <a:ext cx="402336" cy="402336"/>
          </a:xfrm>
          <a:prstGeom prst="ellipse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1581912"/>
            <a:ext cx="24231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智能代码生成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039112"/>
            <a:ext cx="2862072" cy="69494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需求描述自动路由生成策略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支持 HTML / 多文件 / Vue 工程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SSE 流式展示 AI 执行过程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8264" y="1417320"/>
            <a:ext cx="324612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6" y="1581912"/>
            <a:ext cx="402336" cy="402336"/>
          </a:xfrm>
          <a:prstGeom prst="ellipse">
            <a:avLst/>
          </a:prstGeom>
          <a:solidFill>
            <a:srgbClr val="00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1581912"/>
            <a:ext cx="24231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可视化编辑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39112"/>
            <a:ext cx="2862072" cy="69494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iframe 点选页面元素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结合 AI 对话快速修改页面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前端编辑体验已接入应用对话页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9016" y="1417320"/>
            <a:ext cx="324612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93608" y="1581912"/>
            <a:ext cx="402336" cy="402336"/>
          </a:xfrm>
          <a:prstGeom prst="ellipse">
            <a:avLst/>
          </a:prstGeom>
          <a:solidFill>
            <a:srgbClr val="23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4816" y="1581912"/>
            <a:ext cx="24231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一键部署分享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2039112"/>
            <a:ext cx="2862072" cy="69494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生成应用部署到静态目录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生成可访问地址与封面截图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支持完整项目源码下载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" y="3291839"/>
            <a:ext cx="510235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2103" y="3456432"/>
            <a:ext cx="402336" cy="402336"/>
          </a:xfrm>
          <a:prstGeom prst="ellipse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3456432"/>
            <a:ext cx="4279392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企业级管理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913631"/>
            <a:ext cx="4718304" cy="69494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用户登录与权限控制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应用 CRUD、精选与后台管理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对话历史持久化与查询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0216" y="3291839"/>
            <a:ext cx="510235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64808" y="3456432"/>
            <a:ext cx="402336" cy="402336"/>
          </a:xfrm>
          <a:prstGeom prst="ellipse">
            <a:avLst/>
          </a:prstGeom>
          <a:solidFill>
            <a:srgbClr val="F5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3456432"/>
            <a:ext cx="4279392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监控与治理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4" y="3913631"/>
            <a:ext cx="4718304" cy="69494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Actuator + Prometheus 指标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AI 请求、Token、耗时监控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Redis/Caffeine 缓存与分布式限流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440680"/>
            <a:ext cx="10652760" cy="502920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559552"/>
            <a:ext cx="1028700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0898B"/>
                </a:solidFill>
                <a:latin typeface="Calibri"/>
              </a:rPr>
              <a:t>能力覆盖“生成 → 预览 → 编辑 → 部署 → 管理 → 监控”的完整产品闭环。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896112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3200" b="1">
                <a:solidFill>
                  <a:srgbClr val="092540"/>
                </a:solidFill>
                <a:latin typeface="Georgia"/>
              </a:rPr>
              <a:t>模块版图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804672"/>
            <a:ext cx="9601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0">
                <a:solidFill>
                  <a:srgbClr val="5C7380"/>
                </a:solidFill>
                <a:latin typeface="Calibri"/>
              </a:rPr>
              <a:t>单体主线功能完整，微服务版本完成基础拆分但高级能力仍需补齐。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93192"/>
            <a:ext cx="1600200" cy="384048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898B"/>
                </a:solidFill>
                <a:latin typeface="Calibri"/>
              </a:rPr>
              <a:t>Teal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27432"/>
          </a:xfrm>
          <a:prstGeom prst="rect">
            <a:avLst/>
          </a:prstGeom>
          <a:solidFill>
            <a:srgbClr val="D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C7380"/>
                </a:solidFill>
                <a:latin typeface="Calibri"/>
              </a:rPr>
              <a:t>yu-ai-code-mother 每日项目状态｜2026-06-11（北京时间）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C7380"/>
                </a:solidFill>
                <a:latin typeface="Calibri"/>
              </a:rPr>
              <a:t>4/11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53312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353312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27632"/>
            <a:ext cx="4297680" cy="329184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800" b="1">
                <a:solidFill>
                  <a:srgbClr val="00898B"/>
                </a:solidFill>
                <a:latin typeface="Georgia"/>
              </a:rPr>
              <a:t>单体后端 /workspace/src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48840"/>
            <a:ext cx="4572000" cy="26974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23645"/>
                </a:solidFill>
                <a:latin typeface="Calibri"/>
              </a:rPr>
              <a:t>• controller/service/mapper 承载核心业务 API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23645"/>
                </a:solidFill>
                <a:latin typeface="Calibri"/>
              </a:rPr>
              <a:t>• ai/core/langgraph4j 承载生成引擎与工作流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23645"/>
                </a:solidFill>
                <a:latin typeface="Calibri"/>
              </a:rPr>
              <a:t>• config/monitor/ratelimter 提供配置、指标、限流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23645"/>
                </a:solidFill>
                <a:latin typeface="Calibri"/>
              </a:rPr>
              <a:t>• resources/prompt 保存多套生成与质检提示词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5111496"/>
            <a:ext cx="164592" cy="164592"/>
          </a:xfrm>
          <a:prstGeom prst="ellipse">
            <a:avLst/>
          </a:prstGeom>
          <a:solidFill>
            <a:srgbClr val="23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" y="5074920"/>
            <a:ext cx="438912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20" b="0">
                <a:solidFill>
                  <a:srgbClr val="223645"/>
                </a:solidFill>
                <a:latin typeface="Calibri"/>
              </a:rPr>
              <a:t>状态：功能完整度高，适合作为主线演示和回归基线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627632"/>
            <a:ext cx="4389120" cy="329184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800" b="1">
                <a:solidFill>
                  <a:srgbClr val="0073AA"/>
                </a:solidFill>
                <a:latin typeface="Georgia"/>
              </a:rPr>
              <a:t>微服务 / yu-ai-code-mother-microservice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2148840"/>
            <a:ext cx="1874519" cy="310896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2194560"/>
            <a:ext cx="1728216" cy="16459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092540"/>
                </a:solidFill>
                <a:latin typeface="Calibri"/>
              </a:rPr>
              <a:t>common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148840"/>
            <a:ext cx="1874519" cy="310896"/>
          </a:xfrm>
          <a:prstGeom prst="roundRect">
            <a:avLst/>
          </a:prstGeom>
          <a:solidFill>
            <a:srgbClr val="E0F6F8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2194560"/>
            <a:ext cx="1728216" cy="16459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092540"/>
                </a:solidFill>
                <a:latin typeface="Calibri"/>
              </a:rPr>
              <a:t>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660904"/>
            <a:ext cx="1874519" cy="310896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2" y="2706624"/>
            <a:ext cx="1728216" cy="16459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092540"/>
                </a:solidFill>
                <a:latin typeface="Calibri"/>
              </a:rPr>
              <a:t>client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660904"/>
            <a:ext cx="1874519" cy="310896"/>
          </a:xfrm>
          <a:prstGeom prst="roundRect">
            <a:avLst/>
          </a:prstGeom>
          <a:solidFill>
            <a:srgbClr val="E0F6F8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42832" y="2706624"/>
            <a:ext cx="1728216" cy="16459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092540"/>
                </a:solidFill>
                <a:latin typeface="Calibri"/>
              </a:rPr>
              <a:t>user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3172968"/>
            <a:ext cx="1874519" cy="310896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3218688"/>
            <a:ext cx="1728216" cy="16459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092540"/>
                </a:solidFill>
                <a:latin typeface="Calibri"/>
              </a:rPr>
              <a:t>app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3172968"/>
            <a:ext cx="1874519" cy="310896"/>
          </a:xfrm>
          <a:prstGeom prst="roundRect">
            <a:avLst/>
          </a:prstGeom>
          <a:solidFill>
            <a:srgbClr val="E0F6F8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3218688"/>
            <a:ext cx="1728216" cy="16459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092540"/>
                </a:solidFill>
                <a:latin typeface="Calibri"/>
              </a:rPr>
              <a:t>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3685032"/>
            <a:ext cx="1874519" cy="310896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3730752"/>
            <a:ext cx="1728216" cy="16459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092540"/>
                </a:solidFill>
                <a:latin typeface="Calibri"/>
              </a:rPr>
              <a:t>screenshot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160520"/>
            <a:ext cx="4407408" cy="7315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50" b="0">
                <a:solidFill>
                  <a:srgbClr val="223645"/>
                </a:solidFill>
                <a:latin typeface="Calibri"/>
              </a:rPr>
              <a:t>• Dubbo + Nacos 调用链已建立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223645"/>
                </a:solidFill>
                <a:latin typeface="Calibri"/>
              </a:rPr>
              <a:t>• 工作流、监控、网关仍待统一迁移</a:t>
            </a:r>
          </a:p>
        </p:txBody>
      </p:sp>
      <p:sp>
        <p:nvSpPr>
          <p:cNvPr id="33" name="Oval 32"/>
          <p:cNvSpPr/>
          <p:nvPr/>
        </p:nvSpPr>
        <p:spPr>
          <a:xfrm>
            <a:off x="6656832" y="5111496"/>
            <a:ext cx="164592" cy="164592"/>
          </a:xfrm>
          <a:prstGeom prst="ellipse">
            <a:avLst/>
          </a:prstGeom>
          <a:solidFill>
            <a:srgbClr val="F5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12864" y="5074920"/>
            <a:ext cx="420624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20" b="0">
                <a:solidFill>
                  <a:srgbClr val="223645"/>
                </a:solidFill>
                <a:latin typeface="Calibri"/>
              </a:rPr>
              <a:t>状态：拆分成型，但回归保障和前端接入仍偏弱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896112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3200" b="1">
                <a:solidFill>
                  <a:srgbClr val="092540"/>
                </a:solidFill>
                <a:latin typeface="Georgia"/>
              </a:rPr>
              <a:t>近期进展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804672"/>
            <a:ext cx="9601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0">
                <a:solidFill>
                  <a:srgbClr val="5C7380"/>
                </a:solidFill>
                <a:latin typeface="Calibri"/>
              </a:rPr>
              <a:t>最近 7 天无新增提交；以下为 git 历史中最新可追踪变更。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93192"/>
            <a:ext cx="1600200" cy="384048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898B"/>
                </a:solidFill>
                <a:latin typeface="Calibri"/>
              </a:rPr>
              <a:t>Teal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27432"/>
          </a:xfrm>
          <a:prstGeom prst="rect">
            <a:avLst/>
          </a:prstGeom>
          <a:solidFill>
            <a:srgbClr val="D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C7380"/>
                </a:solidFill>
                <a:latin typeface="Calibri"/>
              </a:rPr>
              <a:t>yu-ai-code-mother 每日项目状态｜2026-06-11（北京时间）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C7380"/>
                </a:solidFill>
                <a:latin typeface="Calibri"/>
              </a:rPr>
              <a:t>5/11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1828800"/>
            <a:ext cx="9966960" cy="54864"/>
          </a:xfrm>
          <a:prstGeom prst="rect">
            <a:avLst/>
          </a:prstGeom>
          <a:solidFill>
            <a:srgbClr val="B2D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53896" y="1664208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148840"/>
            <a:ext cx="1417320" cy="21945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5C7380"/>
                </a:solidFill>
                <a:latin typeface="Calibri"/>
              </a:rPr>
              <a:t>2025-08-26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50592"/>
            <a:ext cx="1847088" cy="34747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320" b="1">
                <a:solidFill>
                  <a:srgbClr val="092540"/>
                </a:solidFill>
                <a:latin typeface="Calibri"/>
              </a:rPr>
              <a:t>微服务改造完成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26080"/>
            <a:ext cx="2057400" cy="10058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180" b="0">
                <a:solidFill>
                  <a:srgbClr val="223645"/>
                </a:solidFill>
                <a:latin typeface="Calibri"/>
              </a:rPr>
              <a:t>保留完整单体代码，形成单体 + 微服务双轨结构。</a:t>
            </a:r>
          </a:p>
        </p:txBody>
      </p:sp>
      <p:sp>
        <p:nvSpPr>
          <p:cNvPr id="16" name="Oval 15"/>
          <p:cNvSpPr/>
          <p:nvPr/>
        </p:nvSpPr>
        <p:spPr>
          <a:xfrm>
            <a:off x="3483864" y="1664208"/>
            <a:ext cx="384048" cy="384048"/>
          </a:xfrm>
          <a:prstGeom prst="ellipse">
            <a:avLst/>
          </a:prstGeom>
          <a:solidFill>
            <a:srgbClr val="00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2148840"/>
            <a:ext cx="1417320" cy="21945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5C7380"/>
                </a:solidFill>
                <a:latin typeface="Calibri"/>
              </a:rPr>
              <a:t>2025-08-26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450592"/>
            <a:ext cx="1847088" cy="34747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320" b="1">
                <a:solidFill>
                  <a:srgbClr val="092540"/>
                </a:solidFill>
                <a:latin typeface="Calibri"/>
              </a:rPr>
              <a:t>Dubbo + Nacos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2926080"/>
            <a:ext cx="2057400" cy="10058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180" b="0">
                <a:solidFill>
                  <a:srgbClr val="223645"/>
                </a:solidFill>
                <a:latin typeface="Calibri"/>
              </a:rPr>
              <a:t>补齐跨服务调用，打通用户、应用、截图服务。</a:t>
            </a:r>
          </a:p>
        </p:txBody>
      </p:sp>
      <p:sp>
        <p:nvSpPr>
          <p:cNvPr id="20" name="Oval 19"/>
          <p:cNvSpPr/>
          <p:nvPr/>
        </p:nvSpPr>
        <p:spPr>
          <a:xfrm>
            <a:off x="5513832" y="1664208"/>
            <a:ext cx="384048" cy="384048"/>
          </a:xfrm>
          <a:prstGeom prst="ellipse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0056" y="2148840"/>
            <a:ext cx="1417320" cy="21945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5C7380"/>
                </a:solidFill>
                <a:latin typeface="Calibri"/>
              </a:rPr>
              <a:t>2025-08-26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2450592"/>
            <a:ext cx="1847088" cy="34747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320" b="1">
                <a:solidFill>
                  <a:srgbClr val="092540"/>
                </a:solidFill>
                <a:latin typeface="Calibri"/>
              </a:rPr>
              <a:t>服务拆分迭代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2926080"/>
            <a:ext cx="2057400" cy="10058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180" b="0">
                <a:solidFill>
                  <a:srgbClr val="223645"/>
                </a:solidFill>
                <a:latin typeface="Calibri"/>
              </a:rPr>
              <a:t>依次抽取 common/model/client/user/app/ai/screenshot。</a:t>
            </a:r>
          </a:p>
        </p:txBody>
      </p:sp>
      <p:sp>
        <p:nvSpPr>
          <p:cNvPr id="24" name="Oval 23"/>
          <p:cNvSpPr/>
          <p:nvPr/>
        </p:nvSpPr>
        <p:spPr>
          <a:xfrm>
            <a:off x="7543800" y="1664208"/>
            <a:ext cx="384048" cy="384048"/>
          </a:xfrm>
          <a:prstGeom prst="ellipse">
            <a:avLst/>
          </a:prstGeom>
          <a:solidFill>
            <a:srgbClr val="23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0024" y="2148840"/>
            <a:ext cx="1417320" cy="21945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5C7380"/>
                </a:solidFill>
                <a:latin typeface="Calibri"/>
              </a:rPr>
              <a:t>2025-08-14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8856" y="2450592"/>
            <a:ext cx="1847088" cy="34747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320" b="1">
                <a:solidFill>
                  <a:srgbClr val="092540"/>
                </a:solidFill>
                <a:latin typeface="Calibri"/>
              </a:rPr>
              <a:t>可观测性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926080"/>
            <a:ext cx="2057400" cy="10058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180" b="0">
                <a:solidFill>
                  <a:srgbClr val="223645"/>
                </a:solidFill>
                <a:latin typeface="Calibri"/>
              </a:rPr>
              <a:t>引入 Actuator、Prometheus 与 Grafana 面板配置。</a:t>
            </a:r>
          </a:p>
        </p:txBody>
      </p:sp>
      <p:sp>
        <p:nvSpPr>
          <p:cNvPr id="28" name="Oval 27"/>
          <p:cNvSpPr/>
          <p:nvPr/>
        </p:nvSpPr>
        <p:spPr>
          <a:xfrm>
            <a:off x="9573768" y="1664208"/>
            <a:ext cx="384048" cy="384048"/>
          </a:xfrm>
          <a:prstGeom prst="ellipse">
            <a:avLst/>
          </a:prstGeom>
          <a:solidFill>
            <a:srgbClr val="F5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9992" y="2148840"/>
            <a:ext cx="1417320" cy="21945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5C7380"/>
                </a:solidFill>
                <a:latin typeface="Calibri"/>
              </a:rPr>
              <a:t>2025-08-13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2450592"/>
            <a:ext cx="1847088" cy="34747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320" b="1">
                <a:solidFill>
                  <a:srgbClr val="092540"/>
                </a:solidFill>
                <a:latin typeface="Calibri"/>
              </a:rPr>
              <a:t>系统优化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672" y="2926080"/>
            <a:ext cx="2057400" cy="10058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180" b="0">
                <a:solidFill>
                  <a:srgbClr val="223645"/>
                </a:solidFill>
                <a:latin typeface="Calibri"/>
              </a:rPr>
              <a:t>完成实时性、并发、限流、安全、成本相关优化。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956048"/>
            <a:ext cx="10561320" cy="713232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093208"/>
            <a:ext cx="10058400" cy="38404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500" b="1">
                <a:solidFill>
                  <a:srgbClr val="00898B"/>
                </a:solidFill>
                <a:latin typeface="Calibri"/>
              </a:rPr>
              <a:t>日报解读：当前不是高速提交期，更适合优先补工程化、测试隔离与微服务能力对齐。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896112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3200" b="1">
                <a:solidFill>
                  <a:srgbClr val="092540"/>
                </a:solidFill>
                <a:latin typeface="Georgia"/>
              </a:rPr>
              <a:t>数据 / 指标要点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804672"/>
            <a:ext cx="9601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0">
                <a:solidFill>
                  <a:srgbClr val="5C7380"/>
                </a:solidFill>
                <a:latin typeface="Calibri"/>
              </a:rPr>
              <a:t>运营数据未在仓库内沉淀，本页采用代码与配置维度指标。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93192"/>
            <a:ext cx="1600200" cy="384048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898B"/>
                </a:solidFill>
                <a:latin typeface="Calibri"/>
              </a:rPr>
              <a:t>Teal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27432"/>
          </a:xfrm>
          <a:prstGeom prst="rect">
            <a:avLst/>
          </a:prstGeom>
          <a:solidFill>
            <a:srgbClr val="D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C7380"/>
                </a:solidFill>
                <a:latin typeface="Calibri"/>
              </a:rPr>
              <a:t>yu-ai-code-mother 每日项目状态｜2026-06-11（北京时间）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C7380"/>
                </a:solidFill>
                <a:latin typeface="Calibri"/>
              </a:rPr>
              <a:t>6/11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A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481328"/>
            <a:ext cx="109728" cy="1417320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645920"/>
            <a:ext cx="2743200" cy="47548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2700" b="1">
                <a:solidFill>
                  <a:srgbClr val="00898B"/>
                </a:solidFill>
                <a:latin typeface="Georgia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94560"/>
            <a:ext cx="2743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1">
                <a:solidFill>
                  <a:srgbClr val="092540"/>
                </a:solidFill>
                <a:latin typeface="Calibri"/>
              </a:rPr>
              <a:t>后端测试类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14600"/>
            <a:ext cx="2743200" cy="30175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050" b="0">
                <a:solidFill>
                  <a:srgbClr val="5C7380"/>
                </a:solidFill>
                <a:latin typeface="Calibri"/>
              </a:rPr>
              <a:t>单体 src/test/java；多为集成测试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481328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A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1481328"/>
            <a:ext cx="109728" cy="1417320"/>
          </a:xfrm>
          <a:prstGeom prst="rect">
            <a:avLst/>
          </a:prstGeom>
          <a:solidFill>
            <a:srgbClr val="C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645920"/>
            <a:ext cx="2743200" cy="47548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2700" b="1">
                <a:solidFill>
                  <a:srgbClr val="CF5252"/>
                </a:solidFill>
                <a:latin typeface="Georgia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194560"/>
            <a:ext cx="2743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1">
                <a:solidFill>
                  <a:srgbClr val="092540"/>
                </a:solidFill>
                <a:latin typeface="Calibri"/>
              </a:rPr>
              <a:t>CI 流水线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514600"/>
            <a:ext cx="2743200" cy="30175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050" b="0">
                <a:solidFill>
                  <a:srgbClr val="5C7380"/>
                </a:solidFill>
                <a:latin typeface="Calibri"/>
              </a:rPr>
              <a:t>未发现 GitHub/GitLab/Jenkins 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1481328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A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1481328"/>
            <a:ext cx="109728" cy="1417320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645920"/>
            <a:ext cx="2743200" cy="47548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2700" b="1">
                <a:solidFill>
                  <a:srgbClr val="0073AA"/>
                </a:solidFill>
                <a:latin typeface="Georgia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194560"/>
            <a:ext cx="2743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1">
                <a:solidFill>
                  <a:srgbClr val="092540"/>
                </a:solidFill>
                <a:latin typeface="Calibri"/>
              </a:rPr>
              <a:t>微服务模块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514600"/>
            <a:ext cx="2743200" cy="30175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050" b="0">
                <a:solidFill>
                  <a:srgbClr val="5C7380"/>
                </a:solidFill>
                <a:latin typeface="Calibri"/>
              </a:rPr>
              <a:t>common/model/client/user/app/ai/screenshot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355848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A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3355848"/>
            <a:ext cx="109728" cy="1417320"/>
          </a:xfrm>
          <a:prstGeom prst="rect">
            <a:avLst/>
          </a:prstGeom>
          <a:solidFill>
            <a:srgbClr val="23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520440"/>
            <a:ext cx="2743200" cy="47548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2700" b="1">
                <a:solidFill>
                  <a:srgbClr val="239B76"/>
                </a:solidFill>
                <a:latin typeface="Georg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69080"/>
            <a:ext cx="2743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1">
                <a:solidFill>
                  <a:srgbClr val="092540"/>
                </a:solidFill>
                <a:latin typeface="Calibri"/>
              </a:rPr>
              <a:t>生成类型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389120"/>
            <a:ext cx="2743200" cy="30175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050" b="0">
                <a:solidFill>
                  <a:srgbClr val="5C7380"/>
                </a:solidFill>
                <a:latin typeface="Calibri"/>
              </a:rPr>
              <a:t>HTML、多文件、Vue 工程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3355848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A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0560" y="3355848"/>
            <a:ext cx="109728" cy="1417320"/>
          </a:xfrm>
          <a:prstGeom prst="rect">
            <a:avLst/>
          </a:prstGeom>
          <a:solidFill>
            <a:srgbClr val="EF8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3520440"/>
            <a:ext cx="2743200" cy="47548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2700" b="1">
                <a:solidFill>
                  <a:srgbClr val="EF8F4B"/>
                </a:solidFill>
                <a:latin typeface="Georgia"/>
              </a:rPr>
              <a:t>4+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4069080"/>
            <a:ext cx="2743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1">
                <a:solidFill>
                  <a:srgbClr val="092540"/>
                </a:solidFill>
                <a:latin typeface="Calibri"/>
              </a:rPr>
              <a:t>外部依赖域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389120"/>
            <a:ext cx="2743200" cy="30175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050" b="0">
                <a:solidFill>
                  <a:srgbClr val="5C7380"/>
                </a:solidFill>
                <a:latin typeface="Calibri"/>
              </a:rPr>
              <a:t>AI、MySQL、Redis、COS/图片/截图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3355848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A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75320" y="3355848"/>
            <a:ext cx="109728" cy="1417320"/>
          </a:xfrm>
          <a:prstGeom prst="rect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3520440"/>
            <a:ext cx="2743200" cy="47548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2700" b="1">
                <a:solidFill>
                  <a:srgbClr val="29BABE"/>
                </a:solidFill>
                <a:latin typeface="Georgia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069080"/>
            <a:ext cx="2743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1">
                <a:solidFill>
                  <a:srgbClr val="092540"/>
                </a:solidFill>
                <a:latin typeface="Calibri"/>
              </a:rPr>
              <a:t>监控资产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389120"/>
            <a:ext cx="2743200" cy="30175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050" b="0">
                <a:solidFill>
                  <a:srgbClr val="5C7380"/>
                </a:solidFill>
                <a:latin typeface="Calibri"/>
              </a:rPr>
              <a:t>Prometheus 配置 + Grafana 面板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504688"/>
            <a:ext cx="10378440" cy="34747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350" b="0">
                <a:solidFill>
                  <a:srgbClr val="5C7380"/>
                </a:solidFill>
                <a:latin typeface="Calibri"/>
              </a:rPr>
              <a:t>说明：如需业务级日报指标，建议后续接入应用创建数、生成成功率、部署成功率、AI 成本与响应耗时。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896112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3200" b="1">
                <a:solidFill>
                  <a:srgbClr val="092540"/>
                </a:solidFill>
                <a:latin typeface="Georgia"/>
              </a:rPr>
              <a:t>测试与 CI 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804672"/>
            <a:ext cx="9601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0">
                <a:solidFill>
                  <a:srgbClr val="5C7380"/>
                </a:solidFill>
                <a:latin typeface="Calibri"/>
              </a:rPr>
              <a:t>测试入口存在，但自动化与稳定可复现性不足。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93192"/>
            <a:ext cx="1600200" cy="384048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898B"/>
                </a:solidFill>
                <a:latin typeface="Calibri"/>
              </a:rPr>
              <a:t>Teal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27432"/>
          </a:xfrm>
          <a:prstGeom prst="rect">
            <a:avLst/>
          </a:prstGeom>
          <a:solidFill>
            <a:srgbClr val="D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C7380"/>
                </a:solidFill>
                <a:latin typeface="Calibri"/>
              </a:rPr>
              <a:t>yu-ai-code-mother 每日项目状态｜2026-06-11（北京时间）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C7380"/>
                </a:solidFill>
                <a:latin typeface="Calibri"/>
              </a:rPr>
              <a:t>7/11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44752"/>
            <a:ext cx="34747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609344"/>
            <a:ext cx="402336" cy="402336"/>
          </a:xfrm>
          <a:prstGeom prst="ellipse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609344"/>
            <a:ext cx="26517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后端测试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066544"/>
            <a:ext cx="3090672" cy="22219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单体后端有 15 个 Java 测试类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覆盖解析、生成、工作流、图片工具、截图工具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大量用例依赖 AI API、Redis、MySQL、外网或 Chrome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444752"/>
            <a:ext cx="34747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99431" y="1609344"/>
            <a:ext cx="402336" cy="402336"/>
          </a:xfrm>
          <a:prstGeom prst="ellipse">
            <a:avLst/>
          </a:prstGeom>
          <a:solidFill>
            <a:srgbClr val="00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609344"/>
            <a:ext cx="26517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前端 / 微服务测试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2066544"/>
            <a:ext cx="3090672" cy="22219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未发现前端 spec/test 文件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微服务模块未发现测试类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拆分后的跨服务回归需要补充契约或集成测试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44752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02752" y="1609344"/>
            <a:ext cx="402336" cy="402336"/>
          </a:xfrm>
          <a:prstGeom prst="ellipse">
            <a:avLst/>
          </a:prstGeom>
          <a:solidFill>
            <a:srgbClr val="C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609344"/>
            <a:ext cx="242316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CI 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066544"/>
            <a:ext cx="2862072" cy="22219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未发现 .github/workflows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未发现 GitLab CI 或 Jenkinsfile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最近 CI 状态无法从仓库配置判断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919472"/>
            <a:ext cx="10378440" cy="713232"/>
          </a:xfrm>
          <a:prstGeom prst="roundRect">
            <a:avLst/>
          </a:prstGeom>
          <a:solidFill>
            <a:srgbClr val="0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02352"/>
            <a:ext cx="10012680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可运行命令：后端 ./mvnw test；前端 npm run build / npm run lint（需先安装依赖并准备本地配置）。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896112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3200" b="1">
                <a:solidFill>
                  <a:srgbClr val="092540"/>
                </a:solidFill>
                <a:latin typeface="Georgia"/>
              </a:rPr>
              <a:t>风险与问题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804672"/>
            <a:ext cx="9601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0">
                <a:solidFill>
                  <a:srgbClr val="5C7380"/>
                </a:solidFill>
                <a:latin typeface="Calibri"/>
              </a:rPr>
              <a:t>按影响范围聚焦当前维护风险。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93192"/>
            <a:ext cx="1600200" cy="384048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898B"/>
                </a:solidFill>
                <a:latin typeface="Calibri"/>
              </a:rPr>
              <a:t>Teal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27432"/>
          </a:xfrm>
          <a:prstGeom prst="rect">
            <a:avLst/>
          </a:prstGeom>
          <a:solidFill>
            <a:srgbClr val="D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C7380"/>
                </a:solidFill>
                <a:latin typeface="Calibri"/>
              </a:rPr>
              <a:t>yu-ai-code-mother 每日项目状态｜2026-06-11（北京时间）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C7380"/>
                </a:solidFill>
                <a:latin typeface="Calibri"/>
              </a:rPr>
              <a:t>8/11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1399032"/>
            <a:ext cx="402336" cy="402336"/>
          </a:xfrm>
          <a:prstGeom prst="ellipse">
            <a:avLst/>
          </a:prstGeom>
          <a:solidFill>
            <a:srgbClr val="EF8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17320" y="1325880"/>
            <a:ext cx="9829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C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1435607"/>
            <a:ext cx="1828800" cy="21031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80" b="1">
                <a:solidFill>
                  <a:srgbClr val="092540"/>
                </a:solidFill>
                <a:latin typeface="Calibri"/>
              </a:rPr>
              <a:t>环境配置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1435607"/>
            <a:ext cx="76352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20" b="0">
                <a:solidFill>
                  <a:srgbClr val="223645"/>
                </a:solidFill>
                <a:latin typeface="Calibri"/>
              </a:rPr>
              <a:t>local profile、数据库、Redis 与多个外部 API Key 需要手工准备；生产配置仅提供模板。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240280"/>
            <a:ext cx="402336" cy="402336"/>
          </a:xfrm>
          <a:prstGeom prst="ellipse">
            <a:avLst/>
          </a:prstGeom>
          <a:solidFill>
            <a:srgbClr val="C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7320" y="2167128"/>
            <a:ext cx="9829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C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2276856"/>
            <a:ext cx="1828800" cy="21031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80" b="1">
                <a:solidFill>
                  <a:srgbClr val="092540"/>
                </a:solidFill>
                <a:latin typeface="Calibri"/>
              </a:rPr>
              <a:t>回归保障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276856"/>
            <a:ext cx="76352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20" b="0">
                <a:solidFill>
                  <a:srgbClr val="223645"/>
                </a:solidFill>
                <a:latin typeface="Calibri"/>
              </a:rPr>
              <a:t>无 CI；集成测试强依赖外部服务，难以在干净环境稳定执行。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081528"/>
            <a:ext cx="402336" cy="402336"/>
          </a:xfrm>
          <a:prstGeom prst="ellipse">
            <a:avLst/>
          </a:prstGeom>
          <a:solidFill>
            <a:srgbClr val="F5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17320" y="3008376"/>
            <a:ext cx="9829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C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118104"/>
            <a:ext cx="1828800" cy="21031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80" b="1">
                <a:solidFill>
                  <a:srgbClr val="092540"/>
                </a:solidFill>
                <a:latin typeface="Calibri"/>
              </a:rPr>
              <a:t>架构双轨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118104"/>
            <a:ext cx="76352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20" b="0">
                <a:solidFill>
                  <a:srgbClr val="223645"/>
                </a:solidFill>
                <a:latin typeface="Calibri"/>
              </a:rPr>
              <a:t>单体与微服务存在重复代码，微服务功能未完全追平单体主线。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922776"/>
            <a:ext cx="402336" cy="402336"/>
          </a:xfrm>
          <a:prstGeom prst="ellipse">
            <a:avLst/>
          </a:prstGeom>
          <a:solidFill>
            <a:srgbClr val="00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17320" y="3849624"/>
            <a:ext cx="9829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C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3959352"/>
            <a:ext cx="1828800" cy="21031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80" b="1">
                <a:solidFill>
                  <a:srgbClr val="092540"/>
                </a:solidFill>
                <a:latin typeface="Calibri"/>
              </a:rPr>
              <a:t>运行时依赖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959352"/>
            <a:ext cx="76352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20" b="0">
                <a:solidFill>
                  <a:srgbClr val="223645"/>
                </a:solidFill>
                <a:latin typeface="Calibri"/>
              </a:rPr>
              <a:t>截图依赖 Chrome/Selenium，Vue 工程构建依赖 Node/npm，容器环境需额外校验。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417320" y="4690872"/>
            <a:ext cx="9829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C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4800600"/>
            <a:ext cx="1828800" cy="21031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80" b="1">
                <a:solidFill>
                  <a:srgbClr val="092540"/>
                </a:solidFill>
                <a:latin typeface="Calibri"/>
              </a:rPr>
              <a:t>技术债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800600"/>
            <a:ext cx="7635240" cy="22860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20" b="0">
                <a:solidFill>
                  <a:srgbClr val="223645"/>
                </a:solidFill>
                <a:latin typeface="Calibri"/>
              </a:rPr>
              <a:t>内嵌改造的 LangChain4j 流式 Tool Call 源码有待整理，调试输出需清理。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896112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3200" b="1">
                <a:solidFill>
                  <a:srgbClr val="092540"/>
                </a:solidFill>
                <a:latin typeface="Georgia"/>
              </a:rPr>
              <a:t>未完成项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804672"/>
            <a:ext cx="9601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0">
                <a:solidFill>
                  <a:srgbClr val="5C7380"/>
                </a:solidFill>
                <a:latin typeface="Calibri"/>
              </a:rPr>
              <a:t>面向维护者的待收敛清单。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93192"/>
            <a:ext cx="1600200" cy="384048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898B"/>
                </a:solidFill>
                <a:latin typeface="Calibri"/>
              </a:rPr>
              <a:t>Teal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27432"/>
          </a:xfrm>
          <a:prstGeom prst="rect">
            <a:avLst/>
          </a:prstGeom>
          <a:solidFill>
            <a:srgbClr val="D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C7380"/>
                </a:solidFill>
                <a:latin typeface="Calibri"/>
              </a:rPr>
              <a:t>yu-ai-code-mother 每日项目状态｜2026-06-11（北京时间）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C7380"/>
                </a:solidFill>
                <a:latin typeface="Calibri"/>
              </a:rPr>
              <a:t>9/11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41732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1581912"/>
            <a:ext cx="402336" cy="402336"/>
          </a:xfrm>
          <a:prstGeom prst="ellipse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581912"/>
            <a:ext cx="4297679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微服务能力追平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039112"/>
            <a:ext cx="4736592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迁移 LangGraph4j 工作流与 Workflow SSE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补齐 Actuator/Prometheus 与 Health 控制器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28231" y="1581912"/>
            <a:ext cx="402336" cy="402336"/>
          </a:xfrm>
          <a:prstGeom prst="ellipse">
            <a:avLst/>
          </a:prstGeom>
          <a:solidFill>
            <a:srgbClr val="00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581912"/>
            <a:ext cx="4251959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入口与路由统一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2039112"/>
            <a:ext cx="4690872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评估 API Gateway 或前端环境切换方案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明确单体/微服务的默认部署路径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06324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" y="3227832"/>
            <a:ext cx="402336" cy="402336"/>
          </a:xfrm>
          <a:prstGeom prst="ellipse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227832"/>
            <a:ext cx="4297679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测试体系建设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85032"/>
            <a:ext cx="4736592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前端、微服务测试为空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AI 与外部资源需要 Mock / Testcontainer 隔离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4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1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28231" y="3227832"/>
            <a:ext cx="402336" cy="402336"/>
          </a:xfrm>
          <a:prstGeom prst="ellipse">
            <a:avLst/>
          </a:prstGeom>
          <a:solidFill>
            <a:srgbClr val="EF8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227832"/>
            <a:ext cx="4251959" cy="310896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50" b="1">
                <a:solidFill>
                  <a:srgbClr val="092540"/>
                </a:solidFill>
                <a:latin typeface="Calibri"/>
              </a:rPr>
              <a:t>配置与安全治理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3685032"/>
            <a:ext cx="4690872" cy="5760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沉淀本地配置样例和启动检查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223645"/>
                </a:solidFill>
                <a:latin typeface="Calibri"/>
              </a:rPr>
              <a:t>• 避免默认弱口令与敏感配置散落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230368"/>
            <a:ext cx="10149840" cy="502920"/>
          </a:xfrm>
          <a:prstGeom prst="roundRect">
            <a:avLst/>
          </a:prstGeom>
          <a:solidFill>
            <a:srgbClr val="E0F6F8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349240"/>
            <a:ext cx="978408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92540"/>
                </a:solidFill>
                <a:latin typeface="Calibri"/>
              </a:rPr>
              <a:t>优先级建议：先保证可构建、可回归、可启动，再推进功能迁移和体验增强。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896112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3200" b="1">
                <a:solidFill>
                  <a:srgbClr val="092540"/>
                </a:solidFill>
                <a:latin typeface="Georgia"/>
              </a:rPr>
              <a:t>建议的下一步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804672"/>
            <a:ext cx="9601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0">
                <a:solidFill>
                  <a:srgbClr val="5C7380"/>
                </a:solidFill>
                <a:latin typeface="Calibri"/>
              </a:rPr>
              <a:t>按工程风险递减排列，便于团队拆解任务。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93192"/>
            <a:ext cx="1600200" cy="384048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898B"/>
                </a:solidFill>
                <a:latin typeface="Calibri"/>
              </a:rPr>
              <a:t>Teal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27432"/>
          </a:xfrm>
          <a:prstGeom prst="rect">
            <a:avLst/>
          </a:prstGeom>
          <a:solidFill>
            <a:srgbClr val="D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C7380"/>
                </a:solidFill>
                <a:latin typeface="Calibri"/>
              </a:rPr>
              <a:t>yu-ai-code-mother 每日项目状态｜2026-06-11（北京时间）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C7380"/>
                </a:solidFill>
                <a:latin typeface="Calibri"/>
              </a:rPr>
              <a:t>10/11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1298448"/>
            <a:ext cx="502920" cy="502920"/>
          </a:xfrm>
          <a:prstGeom prst="ellipse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" y="1408176"/>
            <a:ext cx="237744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316736"/>
            <a:ext cx="196596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420" b="1">
                <a:solidFill>
                  <a:srgbClr val="092540"/>
                </a:solidFill>
                <a:latin typeface="Calibri"/>
              </a:rPr>
              <a:t>建立最小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316736"/>
            <a:ext cx="7818120" cy="30175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80" b="0">
                <a:solidFill>
                  <a:srgbClr val="223645"/>
                </a:solidFill>
                <a:latin typeface="Calibri"/>
              </a:rPr>
              <a:t>后端编译 + 可离线单测，前端 type-check/build；先跳过外部依赖型集成用例。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2176272"/>
            <a:ext cx="502920" cy="502920"/>
          </a:xfrm>
          <a:prstGeom prst="ellipse">
            <a:avLst/>
          </a:prstGeom>
          <a:solidFill>
            <a:srgbClr val="00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" y="2286000"/>
            <a:ext cx="237744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194560"/>
            <a:ext cx="196596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420" b="1">
                <a:solidFill>
                  <a:srgbClr val="092540"/>
                </a:solidFill>
                <a:latin typeface="Calibri"/>
              </a:rPr>
              <a:t>沉淀环境手册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94560"/>
            <a:ext cx="7818120" cy="30175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80" b="0">
                <a:solidFill>
                  <a:srgbClr val="223645"/>
                </a:solidFill>
                <a:latin typeface="Calibri"/>
              </a:rPr>
              <a:t>补充 application-local 样例说明、必需中间件、API Key 与截图运行依赖。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3054096"/>
            <a:ext cx="502920" cy="502920"/>
          </a:xfrm>
          <a:prstGeom prst="ellipse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" y="3163824"/>
            <a:ext cx="237744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072384"/>
            <a:ext cx="196596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420" b="1">
                <a:solidFill>
                  <a:srgbClr val="092540"/>
                </a:solidFill>
                <a:latin typeface="Calibri"/>
              </a:rPr>
              <a:t>测试分层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072384"/>
            <a:ext cx="7818120" cy="30175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80" b="0">
                <a:solidFill>
                  <a:srgbClr val="223645"/>
                </a:solidFill>
                <a:latin typeface="Calibri"/>
              </a:rPr>
              <a:t>把纯单元、集成、外部服务用例分组，加入 Mock 或可替代测试配置。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3931920"/>
            <a:ext cx="502920" cy="502920"/>
          </a:xfrm>
          <a:prstGeom prst="ellipse">
            <a:avLst/>
          </a:prstGeom>
          <a:solidFill>
            <a:srgbClr val="23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" y="4041648"/>
            <a:ext cx="237744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3950207"/>
            <a:ext cx="196596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420" b="1">
                <a:solidFill>
                  <a:srgbClr val="092540"/>
                </a:solidFill>
                <a:latin typeface="Calibri"/>
              </a:rPr>
              <a:t>微服务追平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950207"/>
            <a:ext cx="7818120" cy="30175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80" b="0">
                <a:solidFill>
                  <a:srgbClr val="223645"/>
                </a:solidFill>
                <a:latin typeface="Calibri"/>
              </a:rPr>
              <a:t>按 app/user/screenshot/ai 的调用链逐步迁移工作流、监控和健康检查。</a:t>
            </a:r>
          </a:p>
        </p:txBody>
      </p:sp>
      <p:sp>
        <p:nvSpPr>
          <p:cNvPr id="27" name="Oval 26"/>
          <p:cNvSpPr/>
          <p:nvPr/>
        </p:nvSpPr>
        <p:spPr>
          <a:xfrm>
            <a:off x="841248" y="4809744"/>
            <a:ext cx="502920" cy="502920"/>
          </a:xfrm>
          <a:prstGeom prst="ellipse">
            <a:avLst/>
          </a:prstGeom>
          <a:solidFill>
            <a:srgbClr val="EF8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" y="4919472"/>
            <a:ext cx="237744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4828031"/>
            <a:ext cx="196596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420" b="1">
                <a:solidFill>
                  <a:srgbClr val="092540"/>
                </a:solidFill>
                <a:latin typeface="Calibri"/>
              </a:rPr>
              <a:t>清理技术债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828031"/>
            <a:ext cx="7818120" cy="30175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80" b="0">
                <a:solidFill>
                  <a:srgbClr val="223645"/>
                </a:solidFill>
                <a:latin typeface="Calibri"/>
              </a:rPr>
              <a:t>整理改造版 LangChain4j 文档，移除调试输出，统一依赖版本。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" y="5870448"/>
            <a:ext cx="10378440" cy="329184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943600"/>
            <a:ext cx="10012680" cy="146304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80" b="1">
                <a:solidFill>
                  <a:srgbClr val="00898B"/>
                </a:solidFill>
                <a:latin typeface="Calibri"/>
              </a:rPr>
              <a:t>本页不估算日历时间，仅描述技术拆解顺序与风险依赖。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9B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8961120" cy="50292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3200" b="1">
                <a:solidFill>
                  <a:srgbClr val="092540"/>
                </a:solidFill>
                <a:latin typeface="Georgia"/>
              </a:rP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804672"/>
            <a:ext cx="96012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250" b="0">
                <a:solidFill>
                  <a:srgbClr val="5C7380"/>
                </a:solidFill>
                <a:latin typeface="Calibri"/>
              </a:rPr>
              <a:t>当前适合从“功能可演示”推进到“工程可持续”。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93192"/>
            <a:ext cx="1600200" cy="384048"/>
          </a:xfrm>
          <a:prstGeom prst="roundRect">
            <a:avLst/>
          </a:prstGeom>
          <a:solidFill>
            <a:srgbClr val="E8FAF6"/>
          </a:solidFill>
          <a:ln>
            <a:solidFill>
              <a:srgbClr val="29B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898B"/>
                </a:solidFill>
                <a:latin typeface="Calibri"/>
              </a:rPr>
              <a:t>Teal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27432"/>
          </a:xfrm>
          <a:prstGeom prst="rect">
            <a:avLst/>
          </a:prstGeom>
          <a:solidFill>
            <a:srgbClr val="D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C7380"/>
                </a:solidFill>
                <a:latin typeface="Calibri"/>
              </a:rPr>
              <a:t>yu-ai-code-mother 每日项目状态｜2026-06-11（北京时间）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C7380"/>
                </a:solidFill>
                <a:latin typeface="Calibri"/>
              </a:rPr>
              <a:t>11/11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201168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20" b="1">
                <a:solidFill>
                  <a:srgbClr val="092540"/>
                </a:solidFill>
                <a:latin typeface="Calibri"/>
              </a:rPr>
              <a:t>单体功能完整度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472184"/>
            <a:ext cx="5120640" cy="164592"/>
          </a:xfrm>
          <a:prstGeom prst="roundRect">
            <a:avLst/>
          </a:prstGeom>
          <a:solidFill>
            <a:srgbClr val="DE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54680" y="1472184"/>
            <a:ext cx="4403750" cy="164592"/>
          </a:xfrm>
          <a:prstGeom prst="roundRect">
            <a:avLst/>
          </a:prstGeom>
          <a:solidFill>
            <a:srgbClr val="23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399032"/>
            <a:ext cx="73152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00" b="1">
                <a:solidFill>
                  <a:srgbClr val="239B76"/>
                </a:solidFill>
                <a:latin typeface="Calibri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201168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20" b="1">
                <a:solidFill>
                  <a:srgbClr val="092540"/>
                </a:solidFill>
                <a:latin typeface="Calibri"/>
              </a:rPr>
              <a:t>微服务完整度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2249424"/>
            <a:ext cx="5120640" cy="164592"/>
          </a:xfrm>
          <a:prstGeom prst="roundRect">
            <a:avLst/>
          </a:prstGeom>
          <a:solidFill>
            <a:srgbClr val="DE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54680" y="2249424"/>
            <a:ext cx="2816352" cy="164592"/>
          </a:xfrm>
          <a:prstGeom prst="roundRect">
            <a:avLst/>
          </a:prstGeom>
          <a:solidFill>
            <a:srgbClr val="F5B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2176272"/>
            <a:ext cx="73152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00" b="1">
                <a:solidFill>
                  <a:srgbClr val="F5BE56"/>
                </a:solidFill>
                <a:latin typeface="Calibri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971800"/>
            <a:ext cx="201168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20" b="1">
                <a:solidFill>
                  <a:srgbClr val="092540"/>
                </a:solidFill>
                <a:latin typeface="Calibri"/>
              </a:rPr>
              <a:t>测试覆盖与隔离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3026664"/>
            <a:ext cx="5120640" cy="164592"/>
          </a:xfrm>
          <a:prstGeom prst="roundRect">
            <a:avLst/>
          </a:prstGeom>
          <a:solidFill>
            <a:srgbClr val="DE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54680" y="3026664"/>
            <a:ext cx="1433779" cy="164592"/>
          </a:xfrm>
          <a:prstGeom prst="roundRect">
            <a:avLst/>
          </a:prstGeom>
          <a:solidFill>
            <a:srgbClr val="C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953512"/>
            <a:ext cx="73152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00" b="1">
                <a:solidFill>
                  <a:srgbClr val="CF5252"/>
                </a:solidFill>
                <a:latin typeface="Calibri"/>
              </a:rPr>
              <a:t>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49039"/>
            <a:ext cx="201168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20" b="1">
                <a:solidFill>
                  <a:srgbClr val="092540"/>
                </a:solidFill>
                <a:latin typeface="Calibri"/>
              </a:rPr>
              <a:t>CI/CD 自动化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4680" y="3803903"/>
            <a:ext cx="5120640" cy="164592"/>
          </a:xfrm>
          <a:prstGeom prst="roundRect">
            <a:avLst/>
          </a:prstGeom>
          <a:solidFill>
            <a:srgbClr val="DE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54680" y="3803903"/>
            <a:ext cx="409651" cy="164592"/>
          </a:xfrm>
          <a:prstGeom prst="roundRect">
            <a:avLst/>
          </a:prstGeom>
          <a:solidFill>
            <a:srgbClr val="C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3730752"/>
            <a:ext cx="731520" cy="256032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r>
              <a:rPr sz="1300" b="1">
                <a:solidFill>
                  <a:srgbClr val="CF5252"/>
                </a:solidFill>
                <a:latin typeface="Calibri"/>
              </a:rPr>
              <a:t>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00600"/>
            <a:ext cx="10195560" cy="868680"/>
          </a:xfrm>
          <a:prstGeom prst="roundRect">
            <a:avLst/>
          </a:prstGeom>
          <a:solidFill>
            <a:srgbClr val="0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983480"/>
            <a:ext cx="9555480" cy="329184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今日结论：产品能力链路清晰，短板集中在自动化验证、运行环境标准化和微服务功能追平。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486400"/>
            <a:ext cx="955548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1050" b="0">
                <a:solidFill>
                  <a:srgbClr val="E0F6F8"/>
                </a:solidFill>
                <a:latin typeface="Calibri"/>
              </a:rPr>
              <a:t>资料来源：README、前端 README、Maven / npm 配置、模块目录、最近 git 提交历史。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