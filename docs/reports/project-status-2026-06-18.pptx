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1295C"/>
          </a:solidFill>
          <a:ln w="12700">
            <a:solidFill>
              <a:srgbClr val="2129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65A82">
              <a:alpha val="82000"/>
            </a:srgbClr>
          </a:solidFill>
          <a:ln w="12700">
            <a:solidFill>
              <a:srgbClr val="065A82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961120" y="0"/>
            <a:ext cx="3246120" cy="6858000"/>
          </a:xfrm>
          <a:prstGeom prst="rect">
            <a:avLst/>
          </a:prstGeom>
          <a:solidFill>
            <a:srgbClr val="1C7293">
              <a:alpha val="80000"/>
            </a:srgbClr>
          </a:solidFill>
          <a:ln w="12700">
            <a:solidFill>
              <a:srgbClr val="1C7293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rot="1200000">
            <a:off x="8046720" y="4389120"/>
            <a:ext cx="3840480" cy="3840480"/>
          </a:xfrm>
          <a:prstGeom prst="arc">
            <a:avLst/>
          </a:prstGeom>
          <a:solidFill>
            <a:srgbClr val="21295C">
              <a:alpha val="0"/>
            </a:srgbClr>
          </a:solidFill>
          <a:ln w="76200">
            <a:solidFill>
              <a:srgbClr val="00A896">
                <a:alpha val="75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68580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60" kern="0" dirty="0">
                <a:solidFill>
                  <a:srgbClr val="78D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每日项目状态汇报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58368" y="1234440"/>
            <a:ext cx="7955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零代码应用生成平台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713232" y="2048256"/>
            <a:ext cx="6035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F7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yu-ai-code-mother · 面向项目维护者/团队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13232" y="2487168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8D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报告日期（北京时间） 2026-06-18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13232" y="3840480"/>
            <a:ext cx="2743200" cy="475488"/>
          </a:xfrm>
          <a:prstGeom prst="roundRect">
            <a:avLst>
              <a:gd name="adj" fmla="val 1923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78D6C6">
                <a:alpha val="6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77824" y="3941064"/>
            <a:ext cx="822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8D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单体后端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1645920" y="3941064"/>
            <a:ext cx="1645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Boot 3 + LangChain4j</a:t>
            </a:r>
            <a:endParaRPr lang="en-US" sz="880" dirty="0"/>
          </a:p>
        </p:txBody>
      </p:sp>
      <p:sp>
        <p:nvSpPr>
          <p:cNvPr id="13" name="Shape 11"/>
          <p:cNvSpPr/>
          <p:nvPr/>
        </p:nvSpPr>
        <p:spPr>
          <a:xfrm>
            <a:off x="3776472" y="3840480"/>
            <a:ext cx="2743200" cy="475488"/>
          </a:xfrm>
          <a:prstGeom prst="roundRect">
            <a:avLst>
              <a:gd name="adj" fmla="val 1923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78D6C6">
                <a:alpha val="6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941064" y="3941064"/>
            <a:ext cx="822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8D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前端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709160" y="3941064"/>
            <a:ext cx="1645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 3 + TypeScript</a:t>
            </a:r>
            <a:endParaRPr lang="en-US" sz="880" dirty="0"/>
          </a:p>
        </p:txBody>
      </p:sp>
      <p:sp>
        <p:nvSpPr>
          <p:cNvPr id="16" name="Shape 14"/>
          <p:cNvSpPr/>
          <p:nvPr/>
        </p:nvSpPr>
        <p:spPr>
          <a:xfrm>
            <a:off x="713232" y="4590288"/>
            <a:ext cx="2743200" cy="475488"/>
          </a:xfrm>
          <a:prstGeom prst="roundRect">
            <a:avLst>
              <a:gd name="adj" fmla="val 1923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78D6C6">
                <a:alpha val="6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77824" y="4690872"/>
            <a:ext cx="822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8D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微服务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1645920" y="4690872"/>
            <a:ext cx="1645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个模块 / Dubbo</a:t>
            </a:r>
            <a:endParaRPr lang="en-US" sz="880" dirty="0"/>
          </a:p>
        </p:txBody>
      </p:sp>
      <p:sp>
        <p:nvSpPr>
          <p:cNvPr id="19" name="Shape 17"/>
          <p:cNvSpPr/>
          <p:nvPr/>
        </p:nvSpPr>
        <p:spPr>
          <a:xfrm>
            <a:off x="3776472" y="4590288"/>
            <a:ext cx="2743200" cy="475488"/>
          </a:xfrm>
          <a:prstGeom prst="roundRect">
            <a:avLst>
              <a:gd name="adj" fmla="val 1923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78D6C6">
                <a:alpha val="6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941064" y="4690872"/>
            <a:ext cx="822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8D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质量状态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709160" y="4690872"/>
            <a:ext cx="1645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无 CI 门禁记录</a:t>
            </a:r>
            <a:endParaRPr lang="en-US" sz="880" dirty="0"/>
          </a:p>
        </p:txBody>
      </p:sp>
      <p:sp>
        <p:nvSpPr>
          <p:cNvPr id="22" name="Shape 20"/>
          <p:cNvSpPr/>
          <p:nvPr/>
        </p:nvSpPr>
        <p:spPr>
          <a:xfrm>
            <a:off x="8366760" y="1234440"/>
            <a:ext cx="2487168" cy="3566160"/>
          </a:xfrm>
          <a:prstGeom prst="roundRect">
            <a:avLst>
              <a:gd name="adj" fmla="val 7353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78D6C6">
                <a:alpha val="6500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732520" y="1600200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300" kern="0" dirty="0">
                <a:solidFill>
                  <a:srgbClr val="78D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650224" y="210312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近 7 天</a:t>
            </a:r>
            <a:endParaRPr lang="en-US" sz="2300" dirty="0"/>
          </a:p>
          <a:p>
            <a:pPr algn="ctr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业务代码无新增</a:t>
            </a:r>
            <a:endParaRPr lang="en-US" sz="2300" dirty="0"/>
          </a:p>
        </p:txBody>
      </p:sp>
      <p:sp>
        <p:nvSpPr>
          <p:cNvPr id="25" name="Text 23"/>
          <p:cNvSpPr/>
          <p:nvPr/>
        </p:nvSpPr>
        <p:spPr>
          <a:xfrm>
            <a:off x="8613648" y="32461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D9F7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重点在持续项目汇报与状态沉淀；核心能力保持稳定。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AFA"/>
          </a:solidFill>
          <a:ln w="12700">
            <a:solidFill>
              <a:srgbClr val="F1FAF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E5F4F5"/>
          </a:solidFill>
          <a:ln w="12700">
            <a:solidFill>
              <a:srgbClr val="E5F4F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601200" y="-914400"/>
            <a:ext cx="2743200" cy="2743200"/>
          </a:xfrm>
          <a:prstGeom prst="arc">
            <a:avLst/>
          </a:prstGeom>
          <a:solidFill>
            <a:srgbClr val="F1FAFA">
              <a:alpha val="0"/>
            </a:srgbClr>
          </a:solidFill>
          <a:ln w="63500">
            <a:solidFill>
              <a:srgbClr val="78D6C6">
                <a:alpha val="6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530352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66928" y="80467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324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项目概览：当前交付形态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9674352" y="658368"/>
            <a:ext cx="1737360" cy="438912"/>
          </a:xfrm>
          <a:prstGeom prst="roundRect">
            <a:avLst>
              <a:gd name="adj" fmla="val 16667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57232" y="731520"/>
            <a:ext cx="7315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北京时间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543032" y="731520"/>
            <a:ext cx="71323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8D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2026-06-18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530352" y="6565392"/>
            <a:ext cx="6035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6174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yu-ai-code-mother · 每日项目状态 · 2026-06-18</a:t>
            </a:r>
            <a:endParaRPr lang="en-US" sz="880" dirty="0"/>
          </a:p>
        </p:txBody>
      </p:sp>
      <p:sp>
        <p:nvSpPr>
          <p:cNvPr id="12" name="Text 10"/>
          <p:cNvSpPr/>
          <p:nvPr/>
        </p:nvSpPr>
        <p:spPr>
          <a:xfrm>
            <a:off x="11064240" y="6519672"/>
            <a:ext cx="594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58368" y="1572768"/>
            <a:ext cx="3977640" cy="443484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7E7EA"/>
            </a:solidFill>
            <a:prstDash val="solid"/>
          </a:ln>
          <a:effectLst>
            <a:outerShdw sx="100000" sy="100000" kx="0" ky="0" algn="bl" rotWithShape="0" blurRad="16510" dist="12700" dir="2700000">
              <a:srgbClr val="000000">
                <a:alpha val="7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32688" y="184708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项目定位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932688" y="2304288"/>
            <a:ext cx="3337560" cy="7863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420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以 AI 开发实战与后端架构设计为核心，面向“用户自然语言需求 → 自动生成应用 → 可视化迭代 → 部署分享”的端到端链路。</a:t>
            </a:r>
            <a:endParaRPr lang="en-US" sz="1420" dirty="0"/>
          </a:p>
        </p:txBody>
      </p:sp>
      <p:sp>
        <p:nvSpPr>
          <p:cNvPr id="16" name="Shape 14"/>
          <p:cNvSpPr/>
          <p:nvPr/>
        </p:nvSpPr>
        <p:spPr>
          <a:xfrm>
            <a:off x="932688" y="3429000"/>
            <a:ext cx="3200400" cy="18288"/>
          </a:xfrm>
          <a:prstGeom prst="rect">
            <a:avLst/>
          </a:prstGeom>
          <a:solidFill>
            <a:srgbClr val="D7E7EA"/>
          </a:solidFill>
          <a:ln w="12700">
            <a:solidFill>
              <a:srgbClr val="D7E7E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32688" y="3703320"/>
            <a:ext cx="411480" cy="41148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32688" y="3803904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444752" y="3767328"/>
            <a:ext cx="685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单体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2057400" y="3767328"/>
            <a:ext cx="2331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6174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能力最完整：AI 工作流、监控、后台管理</a:t>
            </a:r>
            <a:endParaRPr lang="en-US" sz="1020" dirty="0"/>
          </a:p>
        </p:txBody>
      </p:sp>
      <p:sp>
        <p:nvSpPr>
          <p:cNvPr id="21" name="Shape 19"/>
          <p:cNvSpPr/>
          <p:nvPr/>
        </p:nvSpPr>
        <p:spPr>
          <a:xfrm>
            <a:off x="932688" y="4270248"/>
            <a:ext cx="411480" cy="41148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32688" y="4370832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444752" y="4334256"/>
            <a:ext cx="685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微服务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057400" y="4334256"/>
            <a:ext cx="2331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6174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拆分 7 模块，基于 Dubbo/Nacos</a:t>
            </a:r>
            <a:endParaRPr lang="en-US" sz="1020" dirty="0"/>
          </a:p>
        </p:txBody>
      </p:sp>
      <p:sp>
        <p:nvSpPr>
          <p:cNvPr id="25" name="Shape 23"/>
          <p:cNvSpPr/>
          <p:nvPr/>
        </p:nvSpPr>
        <p:spPr>
          <a:xfrm>
            <a:off x="932688" y="4837176"/>
            <a:ext cx="411480" cy="411480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32688" y="4937760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444752" y="4901184"/>
            <a:ext cx="685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前端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2057400" y="4901184"/>
            <a:ext cx="2331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6174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 3 + TS，支持对话与实时预览</a:t>
            </a:r>
            <a:endParaRPr lang="en-US" sz="1020" dirty="0"/>
          </a:p>
        </p:txBody>
      </p:sp>
      <p:sp>
        <p:nvSpPr>
          <p:cNvPr id="29" name="Shape 27"/>
          <p:cNvSpPr/>
          <p:nvPr/>
        </p:nvSpPr>
        <p:spPr>
          <a:xfrm>
            <a:off x="5285232" y="1874520"/>
            <a:ext cx="1234440" cy="987552"/>
          </a:xfrm>
          <a:prstGeom prst="roundRect">
            <a:avLst>
              <a:gd name="adj" fmla="val 12037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376672" y="2084832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需求输入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5358384" y="2395728"/>
            <a:ext cx="10789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0" dirty="0">
                <a:solidFill>
                  <a:srgbClr val="E8FB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用户提示词</a:t>
            </a:r>
            <a:endParaRPr lang="en-US" sz="860" dirty="0"/>
          </a:p>
        </p:txBody>
      </p:sp>
      <p:sp>
        <p:nvSpPr>
          <p:cNvPr id="32" name="Shape 30"/>
          <p:cNvSpPr/>
          <p:nvPr/>
        </p:nvSpPr>
        <p:spPr>
          <a:xfrm>
            <a:off x="6565392" y="2185416"/>
            <a:ext cx="301752" cy="320040"/>
          </a:xfrm>
          <a:prstGeom prst="chevron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867144" y="1874520"/>
            <a:ext cx="1234440" cy="987552"/>
          </a:xfrm>
          <a:prstGeom prst="roundRect">
            <a:avLst>
              <a:gd name="adj" fmla="val 12037"/>
            </a:avLst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958584" y="2084832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编排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6940296" y="2395728"/>
            <a:ext cx="10789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0" dirty="0">
                <a:solidFill>
                  <a:srgbClr val="E8FB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路由/工具调用</a:t>
            </a:r>
            <a:endParaRPr lang="en-US" sz="860" dirty="0"/>
          </a:p>
        </p:txBody>
      </p:sp>
      <p:sp>
        <p:nvSpPr>
          <p:cNvPr id="36" name="Shape 34"/>
          <p:cNvSpPr/>
          <p:nvPr/>
        </p:nvSpPr>
        <p:spPr>
          <a:xfrm>
            <a:off x="8147304" y="2185416"/>
            <a:ext cx="301752" cy="320040"/>
          </a:xfrm>
          <a:prstGeom prst="chevron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449056" y="1874520"/>
            <a:ext cx="1234440" cy="987552"/>
          </a:xfrm>
          <a:prstGeom prst="roundRect">
            <a:avLst>
              <a:gd name="adj" fmla="val 12037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540496" y="2084832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代码产物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8522208" y="2395728"/>
            <a:ext cx="10789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0" dirty="0">
                <a:solidFill>
                  <a:srgbClr val="E8FB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HTML/多文件/Vue</a:t>
            </a:r>
            <a:endParaRPr lang="en-US" sz="860" dirty="0"/>
          </a:p>
        </p:txBody>
      </p:sp>
      <p:sp>
        <p:nvSpPr>
          <p:cNvPr id="40" name="Shape 38"/>
          <p:cNvSpPr/>
          <p:nvPr/>
        </p:nvSpPr>
        <p:spPr>
          <a:xfrm>
            <a:off x="9729216" y="2185416"/>
            <a:ext cx="301752" cy="320040"/>
          </a:xfrm>
          <a:prstGeom prst="chevron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0030968" y="1874520"/>
            <a:ext cx="1234440" cy="987552"/>
          </a:xfrm>
          <a:prstGeom prst="roundRect">
            <a:avLst>
              <a:gd name="adj" fmla="val 12037"/>
            </a:avLst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0122408" y="2084832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体验闭环</a:t>
            </a:r>
            <a:endParaRPr lang="en-US" sz="1250" dirty="0"/>
          </a:p>
        </p:txBody>
      </p:sp>
      <p:sp>
        <p:nvSpPr>
          <p:cNvPr id="43" name="Text 41"/>
          <p:cNvSpPr/>
          <p:nvPr/>
        </p:nvSpPr>
        <p:spPr>
          <a:xfrm>
            <a:off x="10104120" y="2395728"/>
            <a:ext cx="10789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0" dirty="0">
                <a:solidFill>
                  <a:srgbClr val="E8FB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预览/编辑/部署</a:t>
            </a:r>
            <a:endParaRPr lang="en-US" sz="860" dirty="0"/>
          </a:p>
        </p:txBody>
      </p:sp>
      <p:sp>
        <p:nvSpPr>
          <p:cNvPr id="44" name="Text 42"/>
          <p:cNvSpPr/>
          <p:nvPr/>
        </p:nvSpPr>
        <p:spPr>
          <a:xfrm>
            <a:off x="5285232" y="3456432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主要模块目录</a:t>
            </a:r>
            <a:endParaRPr lang="en-US" sz="1700" dirty="0"/>
          </a:p>
        </p:txBody>
      </p:sp>
      <p:sp>
        <p:nvSpPr>
          <p:cNvPr id="45" name="Shape 43"/>
          <p:cNvSpPr/>
          <p:nvPr/>
        </p:nvSpPr>
        <p:spPr>
          <a:xfrm>
            <a:off x="5285232" y="3822192"/>
            <a:ext cx="5989320" cy="502920"/>
          </a:xfrm>
          <a:prstGeom prst="roundRect">
            <a:avLst>
              <a:gd name="adj" fmla="val 21818"/>
            </a:avLst>
          </a:prstGeom>
          <a:solidFill>
            <a:srgbClr val="FFFFFF"/>
          </a:solidFill>
          <a:ln w="12700">
            <a:solidFill>
              <a:srgbClr val="D7E7EA">
                <a:alpha val="75000"/>
              </a:srgbClr>
            </a:solidFill>
            <a:prstDash val="solid"/>
          </a:ln>
          <a:effectLst>
            <a:outerShdw sx="100000" sy="100000" kx="0" ky="0" algn="bl" rotWithShape="0" blurRad="19050" dist="15240" dir="2700000">
              <a:srgbClr val="000000">
                <a:alpha val="8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5285232" y="3822192"/>
            <a:ext cx="109728" cy="50292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559552" y="4014216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src/</a:t>
            </a:r>
            <a:endParaRPr lang="en-US" sz="1500" dirty="0"/>
          </a:p>
        </p:txBody>
      </p:sp>
      <p:sp>
        <p:nvSpPr>
          <p:cNvPr id="48" name="Text 46"/>
          <p:cNvSpPr/>
          <p:nvPr/>
        </p:nvSpPr>
        <p:spPr>
          <a:xfrm>
            <a:off x="5559552" y="4398264"/>
            <a:ext cx="5458968" cy="-210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6174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单体后端与 LangGraph4j 工作流</a:t>
            </a:r>
            <a:endParaRPr lang="en-US" sz="1120" dirty="0"/>
          </a:p>
        </p:txBody>
      </p:sp>
      <p:sp>
        <p:nvSpPr>
          <p:cNvPr id="49" name="Shape 47"/>
          <p:cNvSpPr/>
          <p:nvPr/>
        </p:nvSpPr>
        <p:spPr>
          <a:xfrm>
            <a:off x="5285232" y="4498848"/>
            <a:ext cx="5989320" cy="502920"/>
          </a:xfrm>
          <a:prstGeom prst="roundRect">
            <a:avLst>
              <a:gd name="adj" fmla="val 21818"/>
            </a:avLst>
          </a:prstGeom>
          <a:solidFill>
            <a:srgbClr val="FFFFFF"/>
          </a:solidFill>
          <a:ln w="12700">
            <a:solidFill>
              <a:srgbClr val="D7E7EA">
                <a:alpha val="75000"/>
              </a:srgbClr>
            </a:solidFill>
            <a:prstDash val="solid"/>
          </a:ln>
          <a:effectLst>
            <a:outerShdw sx="100000" sy="100000" kx="0" ky="0" algn="bl" rotWithShape="0" blurRad="19050" dist="15240" dir="2700000">
              <a:srgbClr val="000000">
                <a:alpha val="8000"/>
              </a:srgbClr>
            </a:outerShdw>
          </a:effectLst>
        </p:spPr>
      </p:sp>
      <p:sp>
        <p:nvSpPr>
          <p:cNvPr id="50" name="Shape 48"/>
          <p:cNvSpPr/>
          <p:nvPr/>
        </p:nvSpPr>
        <p:spPr>
          <a:xfrm>
            <a:off x="5285232" y="4498848"/>
            <a:ext cx="109728" cy="50292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559552" y="46908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yu-ai-code-mother-frontend/</a:t>
            </a:r>
            <a:endParaRPr lang="en-US" sz="1500" dirty="0"/>
          </a:p>
        </p:txBody>
      </p:sp>
      <p:sp>
        <p:nvSpPr>
          <p:cNvPr id="52" name="Text 50"/>
          <p:cNvSpPr/>
          <p:nvPr/>
        </p:nvSpPr>
        <p:spPr>
          <a:xfrm>
            <a:off x="5559552" y="5074920"/>
            <a:ext cx="5458968" cy="-210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6174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 前端应用</a:t>
            </a:r>
            <a:endParaRPr lang="en-US" sz="1120" dirty="0"/>
          </a:p>
        </p:txBody>
      </p:sp>
      <p:sp>
        <p:nvSpPr>
          <p:cNvPr id="53" name="Shape 51"/>
          <p:cNvSpPr/>
          <p:nvPr/>
        </p:nvSpPr>
        <p:spPr>
          <a:xfrm>
            <a:off x="5285232" y="5175504"/>
            <a:ext cx="5989320" cy="502920"/>
          </a:xfrm>
          <a:prstGeom prst="roundRect">
            <a:avLst>
              <a:gd name="adj" fmla="val 21818"/>
            </a:avLst>
          </a:prstGeom>
          <a:solidFill>
            <a:srgbClr val="FFFFFF"/>
          </a:solidFill>
          <a:ln w="12700">
            <a:solidFill>
              <a:srgbClr val="D7E7EA">
                <a:alpha val="75000"/>
              </a:srgbClr>
            </a:solidFill>
            <a:prstDash val="solid"/>
          </a:ln>
          <a:effectLst>
            <a:outerShdw sx="100000" sy="100000" kx="0" ky="0" algn="bl" rotWithShape="0" blurRad="19050" dist="15240" dir="2700000">
              <a:srgbClr val="000000">
                <a:alpha val="8000"/>
              </a:srgbClr>
            </a:outerShdw>
          </a:effectLst>
        </p:spPr>
      </p:sp>
      <p:sp>
        <p:nvSpPr>
          <p:cNvPr id="54" name="Shape 52"/>
          <p:cNvSpPr/>
          <p:nvPr/>
        </p:nvSpPr>
        <p:spPr>
          <a:xfrm>
            <a:off x="5285232" y="5175504"/>
            <a:ext cx="109728" cy="50292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559552" y="5367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yu-ai-code-mother-microservice/</a:t>
            </a:r>
            <a:endParaRPr lang="en-US" sz="1500" dirty="0"/>
          </a:p>
        </p:txBody>
      </p:sp>
      <p:sp>
        <p:nvSpPr>
          <p:cNvPr id="56" name="Text 54"/>
          <p:cNvSpPr/>
          <p:nvPr/>
        </p:nvSpPr>
        <p:spPr>
          <a:xfrm>
            <a:off x="5559552" y="5751576"/>
            <a:ext cx="5458968" cy="-210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6174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common/model/client/user/app/ai/screenshot</a:t>
            </a:r>
            <a:endParaRPr lang="en-US" sz="11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1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AFA"/>
          </a:solidFill>
          <a:ln w="12700">
            <a:solidFill>
              <a:srgbClr val="F1FAF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E5F4F5"/>
          </a:solidFill>
          <a:ln w="12700">
            <a:solidFill>
              <a:srgbClr val="E5F4F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601200" y="-914400"/>
            <a:ext cx="2743200" cy="2743200"/>
          </a:xfrm>
          <a:prstGeom prst="arc">
            <a:avLst/>
          </a:prstGeom>
          <a:solidFill>
            <a:srgbClr val="F1FAFA">
              <a:alpha val="0"/>
            </a:srgbClr>
          </a:solidFill>
          <a:ln w="63500">
            <a:solidFill>
              <a:srgbClr val="78D6C6">
                <a:alpha val="6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530352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CAPABILITIES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66928" y="80467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324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核心能力：端到端 AI 应用生成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9674352" y="658368"/>
            <a:ext cx="1737360" cy="438912"/>
          </a:xfrm>
          <a:prstGeom prst="roundRect">
            <a:avLst>
              <a:gd name="adj" fmla="val 16667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57232" y="731520"/>
            <a:ext cx="7315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北京时间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543032" y="731520"/>
            <a:ext cx="71323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8D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2026-06-18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530352" y="6565392"/>
            <a:ext cx="6035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6174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yu-ai-code-mother · 每日项目状态 · 2026-06-18</a:t>
            </a:r>
            <a:endParaRPr lang="en-US" sz="880" dirty="0"/>
          </a:p>
        </p:txBody>
      </p:sp>
      <p:sp>
        <p:nvSpPr>
          <p:cNvPr id="12" name="Text 10"/>
          <p:cNvSpPr/>
          <p:nvPr/>
        </p:nvSpPr>
        <p:spPr>
          <a:xfrm>
            <a:off x="11064240" y="6519672"/>
            <a:ext cx="594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58368" y="1609344"/>
            <a:ext cx="5074920" cy="1572768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D7E7EA">
                <a:alpha val="75000"/>
              </a:srgbClr>
            </a:solidFill>
            <a:prstDash val="solid"/>
          </a:ln>
          <a:effectLst>
            <a:outerShdw sx="100000" sy="100000" kx="0" ky="0" algn="bl" rotWithShape="0" blurRad="19050" dist="15240" dir="27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58368" y="1609344"/>
            <a:ext cx="109728" cy="157276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86968" y="1810512"/>
            <a:ext cx="411480" cy="41148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86968" y="1911096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435608" y="1801368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智能代码生成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932688" y="2185416"/>
            <a:ext cx="4544568" cy="8595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6174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自动分析需求并选择生成策略，支持 HTML、多文件与 Vue 工程，工具调用写入代码文件并流式返回执行过程。</a:t>
            </a:r>
            <a:endParaRPr lang="en-US" sz="1120" dirty="0"/>
          </a:p>
        </p:txBody>
      </p:sp>
      <p:sp>
        <p:nvSpPr>
          <p:cNvPr id="19" name="Shape 17"/>
          <p:cNvSpPr/>
          <p:nvPr/>
        </p:nvSpPr>
        <p:spPr>
          <a:xfrm>
            <a:off x="6309360" y="1609344"/>
            <a:ext cx="5074920" cy="1572768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D7E7EA">
                <a:alpha val="75000"/>
              </a:srgbClr>
            </a:solidFill>
            <a:prstDash val="solid"/>
          </a:ln>
          <a:effectLst>
            <a:outerShdw sx="100000" sy="100000" kx="0" ky="0" algn="bl" rotWithShape="0" blurRad="19050" dist="15240" dir="270000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309360" y="1609344"/>
            <a:ext cx="109728" cy="1572768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537960" y="1810512"/>
            <a:ext cx="411480" cy="41148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537960" y="1911096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7086600" y="1801368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可视化编辑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583680" y="2185416"/>
            <a:ext cx="4544568" cy="8595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6174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生成结果实时预览，用户可选择网页元素并继续与 AI 对话修改页面，形成低门槛迭代体验。</a:t>
            </a:r>
            <a:endParaRPr lang="en-US" sz="1120" dirty="0"/>
          </a:p>
        </p:txBody>
      </p:sp>
      <p:sp>
        <p:nvSpPr>
          <p:cNvPr id="25" name="Shape 23"/>
          <p:cNvSpPr/>
          <p:nvPr/>
        </p:nvSpPr>
        <p:spPr>
          <a:xfrm>
            <a:off x="658368" y="3639312"/>
            <a:ext cx="5074920" cy="1572768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D7E7EA">
                <a:alpha val="75000"/>
              </a:srgbClr>
            </a:solidFill>
            <a:prstDash val="solid"/>
          </a:ln>
          <a:effectLst>
            <a:outerShdw sx="100000" sy="100000" kx="0" ky="0" algn="bl" rotWithShape="0" blurRad="19050" dist="15240" dir="270000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58368" y="3639312"/>
            <a:ext cx="109728" cy="1572768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86968" y="3840480"/>
            <a:ext cx="411480" cy="411480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86968" y="3941064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435608" y="3831336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一键部署分享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932688" y="4215384"/>
            <a:ext cx="4544568" cy="8595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6174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应用可部署到云端，自动截取封面图，提供访问地址与源码下载能力。</a:t>
            </a:r>
            <a:endParaRPr lang="en-US" sz="1120" dirty="0"/>
          </a:p>
        </p:txBody>
      </p:sp>
      <p:sp>
        <p:nvSpPr>
          <p:cNvPr id="31" name="Shape 29"/>
          <p:cNvSpPr/>
          <p:nvPr/>
        </p:nvSpPr>
        <p:spPr>
          <a:xfrm>
            <a:off x="6309360" y="3639312"/>
            <a:ext cx="5074920" cy="1572768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D7E7EA">
                <a:alpha val="75000"/>
              </a:srgbClr>
            </a:solidFill>
            <a:prstDash val="solid"/>
          </a:ln>
          <a:effectLst>
            <a:outerShdw sx="100000" sy="100000" kx="0" ky="0" algn="bl" rotWithShape="0" blurRad="19050" dist="15240" dir="2700000">
              <a:srgbClr val="000000">
                <a:alpha val="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309360" y="3639312"/>
            <a:ext cx="109728" cy="1572768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537960" y="3840480"/>
            <a:ext cx="411480" cy="41148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537960" y="3941064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7086600" y="3831336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企业级管理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6583680" y="4215384"/>
            <a:ext cx="4544568" cy="8595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6174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用户/应用/对话管理、精选应用、限流、缓存、COS、Selenium 截图、Actuator/Prometheus 监控。</a:t>
            </a:r>
            <a:endParaRPr lang="en-US" sz="1120" dirty="0"/>
          </a:p>
        </p:txBody>
      </p:sp>
      <p:sp>
        <p:nvSpPr>
          <p:cNvPr id="37" name="Shape 35"/>
          <p:cNvSpPr/>
          <p:nvPr/>
        </p:nvSpPr>
        <p:spPr>
          <a:xfrm>
            <a:off x="749808" y="5797296"/>
            <a:ext cx="10652760" cy="347472"/>
          </a:xfrm>
          <a:prstGeom prst="roundRect">
            <a:avLst>
              <a:gd name="adj" fmla="val 23684"/>
            </a:avLst>
          </a:prstGeom>
          <a:solidFill>
            <a:srgbClr val="065A82">
              <a:alpha val="95000"/>
            </a:srgbClr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41832" y="5897880"/>
            <a:ext cx="102412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4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价值主线：自然语言需求 → 自动生成 → 实时预览 → 可视化修改 → 部署分享 → 管理监控</a:t>
            </a:r>
            <a:endParaRPr lang="en-US" sz="114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1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AFA"/>
          </a:solidFill>
          <a:ln w="12700">
            <a:solidFill>
              <a:srgbClr val="F1FAF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E5F4F5"/>
          </a:solidFill>
          <a:ln w="12700">
            <a:solidFill>
              <a:srgbClr val="E5F4F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601200" y="-914400"/>
            <a:ext cx="2743200" cy="2743200"/>
          </a:xfrm>
          <a:prstGeom prst="arc">
            <a:avLst/>
          </a:prstGeom>
          <a:solidFill>
            <a:srgbClr val="F1FAFA">
              <a:alpha val="0"/>
            </a:srgbClr>
          </a:solidFill>
          <a:ln w="63500">
            <a:solidFill>
              <a:srgbClr val="78D6C6">
                <a:alpha val="6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530352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66928" y="80467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324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架构与模块：单体完整、微服务拆分并存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9674352" y="658368"/>
            <a:ext cx="1737360" cy="438912"/>
          </a:xfrm>
          <a:prstGeom prst="roundRect">
            <a:avLst>
              <a:gd name="adj" fmla="val 16667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57232" y="731520"/>
            <a:ext cx="7315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北京时间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543032" y="731520"/>
            <a:ext cx="71323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8D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2026-06-18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530352" y="6565392"/>
            <a:ext cx="6035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6174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yu-ai-code-mother · 每日项目状态 · 2026-06-18</a:t>
            </a:r>
            <a:endParaRPr lang="en-US" sz="880" dirty="0"/>
          </a:p>
        </p:txBody>
      </p:sp>
      <p:sp>
        <p:nvSpPr>
          <p:cNvPr id="12" name="Text 10"/>
          <p:cNvSpPr/>
          <p:nvPr/>
        </p:nvSpPr>
        <p:spPr>
          <a:xfrm>
            <a:off x="11064240" y="6519672"/>
            <a:ext cx="594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49808" y="1618488"/>
            <a:ext cx="10680192" cy="786384"/>
          </a:xfrm>
          <a:prstGeom prst="roundRect">
            <a:avLst>
              <a:gd name="adj" fmla="val 16279"/>
            </a:avLst>
          </a:prstGeom>
          <a:solidFill>
            <a:srgbClr val="E5F4F5"/>
          </a:solidFill>
          <a:ln w="12700">
            <a:solidFill>
              <a:srgbClr val="D7E7E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87552" y="1801368"/>
            <a:ext cx="411480" cy="41148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87552" y="1901952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572768" y="1810512"/>
            <a:ext cx="1508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3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前端体验层</a:t>
            </a:r>
            <a:endParaRPr lang="en-US" sz="1330" dirty="0"/>
          </a:p>
        </p:txBody>
      </p:sp>
      <p:sp>
        <p:nvSpPr>
          <p:cNvPr id="17" name="Text 15"/>
          <p:cNvSpPr/>
          <p:nvPr/>
        </p:nvSpPr>
        <p:spPr>
          <a:xfrm>
            <a:off x="3154680" y="1783080"/>
            <a:ext cx="7269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6174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 3 / TS / Ant Design Vue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6174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首页、对话页、实时预览、管理后台</a:t>
            </a:r>
            <a:endParaRPr lang="en-US" sz="1080" dirty="0"/>
          </a:p>
        </p:txBody>
      </p:sp>
      <p:sp>
        <p:nvSpPr>
          <p:cNvPr id="18" name="Shape 16"/>
          <p:cNvSpPr/>
          <p:nvPr/>
        </p:nvSpPr>
        <p:spPr>
          <a:xfrm>
            <a:off x="5833872" y="2368296"/>
            <a:ext cx="384048" cy="274320"/>
          </a:xfrm>
          <a:prstGeom prst="downArrow">
            <a:avLst/>
          </a:prstGeom>
          <a:solidFill>
            <a:srgbClr val="78D6C6"/>
          </a:solidFill>
          <a:ln w="12700">
            <a:solidFill>
              <a:srgbClr val="78D6C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49808" y="2642616"/>
            <a:ext cx="10680192" cy="786384"/>
          </a:xfrm>
          <a:prstGeom prst="roundRect">
            <a:avLst>
              <a:gd name="adj" fmla="val 16279"/>
            </a:avLst>
          </a:prstGeom>
          <a:solidFill>
            <a:srgbClr val="FFFFFF"/>
          </a:solidFill>
          <a:ln w="12700">
            <a:solidFill>
              <a:srgbClr val="D7E7E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87552" y="2825496"/>
            <a:ext cx="411480" cy="41148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87552" y="2926080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572768" y="2834640"/>
            <a:ext cx="1508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3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单体服务层</a:t>
            </a:r>
            <a:endParaRPr lang="en-US" sz="1330" dirty="0"/>
          </a:p>
        </p:txBody>
      </p:sp>
      <p:sp>
        <p:nvSpPr>
          <p:cNvPr id="23" name="Text 21"/>
          <p:cNvSpPr/>
          <p:nvPr/>
        </p:nvSpPr>
        <p:spPr>
          <a:xfrm>
            <a:off x="3154680" y="2807208"/>
            <a:ext cx="7269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6174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Boot 3.5.4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6174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工作流、应用/用户/对话、部署与监控</a:t>
            </a:r>
            <a:endParaRPr lang="en-US" sz="1080" dirty="0"/>
          </a:p>
        </p:txBody>
      </p:sp>
      <p:sp>
        <p:nvSpPr>
          <p:cNvPr id="24" name="Shape 22"/>
          <p:cNvSpPr/>
          <p:nvPr/>
        </p:nvSpPr>
        <p:spPr>
          <a:xfrm>
            <a:off x="5833872" y="3392424"/>
            <a:ext cx="384048" cy="274320"/>
          </a:xfrm>
          <a:prstGeom prst="downArrow">
            <a:avLst/>
          </a:prstGeom>
          <a:solidFill>
            <a:srgbClr val="78D6C6"/>
          </a:solidFill>
          <a:ln w="12700">
            <a:solidFill>
              <a:srgbClr val="78D6C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9808" y="3666744"/>
            <a:ext cx="10680192" cy="786384"/>
          </a:xfrm>
          <a:prstGeom prst="roundRect">
            <a:avLst>
              <a:gd name="adj" fmla="val 16279"/>
            </a:avLst>
          </a:prstGeom>
          <a:solidFill>
            <a:srgbClr val="E5F4F5"/>
          </a:solidFill>
          <a:ln w="12700">
            <a:solidFill>
              <a:srgbClr val="D7E7E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87552" y="3849624"/>
            <a:ext cx="411480" cy="411480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87552" y="3950208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572768" y="3858768"/>
            <a:ext cx="1508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3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能力层</a:t>
            </a:r>
            <a:endParaRPr lang="en-US" sz="1330" dirty="0"/>
          </a:p>
        </p:txBody>
      </p:sp>
      <p:sp>
        <p:nvSpPr>
          <p:cNvPr id="29" name="Text 27"/>
          <p:cNvSpPr/>
          <p:nvPr/>
        </p:nvSpPr>
        <p:spPr>
          <a:xfrm>
            <a:off x="3154680" y="3831336"/>
            <a:ext cx="7269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6174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LangChain4j + LangGraph4j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6174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路由、工具调用、质量检查、图片收集</a:t>
            </a:r>
            <a:endParaRPr lang="en-US" sz="1080" dirty="0"/>
          </a:p>
        </p:txBody>
      </p:sp>
      <p:sp>
        <p:nvSpPr>
          <p:cNvPr id="30" name="Shape 28"/>
          <p:cNvSpPr/>
          <p:nvPr/>
        </p:nvSpPr>
        <p:spPr>
          <a:xfrm>
            <a:off x="5833872" y="4416552"/>
            <a:ext cx="384048" cy="274320"/>
          </a:xfrm>
          <a:prstGeom prst="downArrow">
            <a:avLst/>
          </a:prstGeom>
          <a:solidFill>
            <a:srgbClr val="78D6C6"/>
          </a:solidFill>
          <a:ln w="12700">
            <a:solidFill>
              <a:srgbClr val="78D6C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49808" y="4690872"/>
            <a:ext cx="10680192" cy="786384"/>
          </a:xfrm>
          <a:prstGeom prst="roundRect">
            <a:avLst>
              <a:gd name="adj" fmla="val 16279"/>
            </a:avLst>
          </a:prstGeom>
          <a:solidFill>
            <a:srgbClr val="FFFFFF"/>
          </a:solidFill>
          <a:ln w="12700">
            <a:solidFill>
              <a:srgbClr val="D7E7E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87552" y="4873752"/>
            <a:ext cx="411480" cy="41148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87552" y="4974336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572768" y="4882896"/>
            <a:ext cx="1508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3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基础设施层</a:t>
            </a:r>
            <a:endParaRPr lang="en-US" sz="1330" dirty="0"/>
          </a:p>
        </p:txBody>
      </p:sp>
      <p:sp>
        <p:nvSpPr>
          <p:cNvPr id="35" name="Text 33"/>
          <p:cNvSpPr/>
          <p:nvPr/>
        </p:nvSpPr>
        <p:spPr>
          <a:xfrm>
            <a:off x="3154680" y="4855464"/>
            <a:ext cx="7269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6174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 / Redis / COS / Selenium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6174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 采集配置</a:t>
            </a:r>
            <a:endParaRPr lang="en-US" sz="1080" dirty="0"/>
          </a:p>
        </p:txBody>
      </p:sp>
      <p:sp>
        <p:nvSpPr>
          <p:cNvPr id="36" name="Shape 34"/>
          <p:cNvSpPr/>
          <p:nvPr/>
        </p:nvSpPr>
        <p:spPr>
          <a:xfrm>
            <a:off x="749808" y="5806440"/>
            <a:ext cx="10680192" cy="3657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D7E7E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87552" y="5907024"/>
            <a:ext cx="101498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微服务目录：common · model · client · user · app · ai · screenshot（Dubbo + Nacos，端口与前端代理需明确运行模式）</a:t>
            </a:r>
            <a:endParaRPr lang="en-US" sz="104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1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AFA"/>
          </a:solidFill>
          <a:ln w="12700">
            <a:solidFill>
              <a:srgbClr val="F1FAF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E5F4F5"/>
          </a:solidFill>
          <a:ln w="12700">
            <a:solidFill>
              <a:srgbClr val="E5F4F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601200" y="-914400"/>
            <a:ext cx="2743200" cy="2743200"/>
          </a:xfrm>
          <a:prstGeom prst="arc">
            <a:avLst/>
          </a:prstGeom>
          <a:solidFill>
            <a:srgbClr val="F1FAFA">
              <a:alpha val="0"/>
            </a:srgbClr>
          </a:solidFill>
          <a:ln w="63500">
            <a:solidFill>
              <a:srgbClr val="78D6C6">
                <a:alpha val="6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530352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RECENT CHANGES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66928" y="80467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324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近期进展：状态汇报持续，业务代码稳定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9674352" y="658368"/>
            <a:ext cx="1737360" cy="438912"/>
          </a:xfrm>
          <a:prstGeom prst="roundRect">
            <a:avLst>
              <a:gd name="adj" fmla="val 16667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57232" y="731520"/>
            <a:ext cx="7315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北京时间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543032" y="731520"/>
            <a:ext cx="71323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8D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2026-06-18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530352" y="6565392"/>
            <a:ext cx="6035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6174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yu-ai-code-mother · 每日项目状态 · 2026-06-18</a:t>
            </a:r>
            <a:endParaRPr lang="en-US" sz="880" dirty="0"/>
          </a:p>
        </p:txBody>
      </p:sp>
      <p:sp>
        <p:nvSpPr>
          <p:cNvPr id="12" name="Text 10"/>
          <p:cNvSpPr/>
          <p:nvPr/>
        </p:nvSpPr>
        <p:spPr>
          <a:xfrm>
            <a:off x="11064240" y="6519672"/>
            <a:ext cx="594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49808" y="1536192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最近 7 天提交快照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1005840" y="2788920"/>
            <a:ext cx="996696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86384" y="2551176"/>
            <a:ext cx="457200" cy="45720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40664" y="2212848"/>
            <a:ext cx="5669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06-11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02336" y="3127248"/>
            <a:ext cx="1325880" cy="49377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algn="ctr" indent="0" marL="0">
              <a:buNone/>
            </a:pPr>
            <a:r>
              <a:rPr lang="en-US" sz="860" dirty="0">
                <a:solidFill>
                  <a:srgbClr val="6174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docs: add daily project status report</a:t>
            </a:r>
            <a:endParaRPr lang="en-US" sz="860" dirty="0"/>
          </a:p>
        </p:txBody>
      </p:sp>
      <p:sp>
        <p:nvSpPr>
          <p:cNvPr id="18" name="Shape 16"/>
          <p:cNvSpPr/>
          <p:nvPr/>
        </p:nvSpPr>
        <p:spPr>
          <a:xfrm>
            <a:off x="2414016" y="2551176"/>
            <a:ext cx="457200" cy="45720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368296" y="2212848"/>
            <a:ext cx="5669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06-12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2029968" y="3127248"/>
            <a:ext cx="1325880" cy="49377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algn="ctr" indent="0" marL="0">
              <a:buNone/>
            </a:pPr>
            <a:r>
              <a:rPr lang="en-US" sz="860" dirty="0">
                <a:solidFill>
                  <a:srgbClr val="6174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docs: add daily project status report</a:t>
            </a:r>
            <a:endParaRPr lang="en-US" sz="860" dirty="0"/>
          </a:p>
        </p:txBody>
      </p:sp>
      <p:sp>
        <p:nvSpPr>
          <p:cNvPr id="21" name="Shape 19"/>
          <p:cNvSpPr/>
          <p:nvPr/>
        </p:nvSpPr>
        <p:spPr>
          <a:xfrm>
            <a:off x="4041648" y="2551176"/>
            <a:ext cx="457200" cy="45720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995928" y="2212848"/>
            <a:ext cx="5669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06-13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3657600" y="3127248"/>
            <a:ext cx="1325880" cy="49377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algn="ctr" indent="0" marL="0">
              <a:buNone/>
            </a:pPr>
            <a:r>
              <a:rPr lang="en-US" sz="860" dirty="0">
                <a:solidFill>
                  <a:srgbClr val="6174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docs: refine daily report visuals</a:t>
            </a:r>
            <a:endParaRPr lang="en-US" sz="860" dirty="0"/>
          </a:p>
        </p:txBody>
      </p:sp>
      <p:sp>
        <p:nvSpPr>
          <p:cNvPr id="24" name="Shape 22"/>
          <p:cNvSpPr/>
          <p:nvPr/>
        </p:nvSpPr>
        <p:spPr>
          <a:xfrm>
            <a:off x="5669280" y="2551176"/>
            <a:ext cx="457200" cy="45720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623560" y="2212848"/>
            <a:ext cx="5669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06-14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285232" y="3127248"/>
            <a:ext cx="1325880" cy="49377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algn="ctr" indent="0" marL="0">
              <a:buNone/>
            </a:pPr>
            <a:r>
              <a:rPr lang="en-US" sz="860" dirty="0">
                <a:solidFill>
                  <a:srgbClr val="6174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docs: polish daily status report readability</a:t>
            </a:r>
            <a:endParaRPr lang="en-US" sz="860" dirty="0"/>
          </a:p>
        </p:txBody>
      </p:sp>
      <p:sp>
        <p:nvSpPr>
          <p:cNvPr id="27" name="Shape 25"/>
          <p:cNvSpPr/>
          <p:nvPr/>
        </p:nvSpPr>
        <p:spPr>
          <a:xfrm>
            <a:off x="7296912" y="2551176"/>
            <a:ext cx="457200" cy="45720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251192" y="2212848"/>
            <a:ext cx="5669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06-15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6912864" y="3127248"/>
            <a:ext cx="1325880" cy="49377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algn="ctr" indent="0" marL="0">
              <a:buNone/>
            </a:pPr>
            <a:r>
              <a:rPr lang="en-US" sz="860" dirty="0">
                <a:solidFill>
                  <a:srgbClr val="6174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docs: add daily project status report</a:t>
            </a:r>
            <a:endParaRPr lang="en-US" sz="860" dirty="0"/>
          </a:p>
        </p:txBody>
      </p:sp>
      <p:sp>
        <p:nvSpPr>
          <p:cNvPr id="30" name="Shape 28"/>
          <p:cNvSpPr/>
          <p:nvPr/>
        </p:nvSpPr>
        <p:spPr>
          <a:xfrm>
            <a:off x="8924544" y="2551176"/>
            <a:ext cx="457200" cy="45720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878824" y="2212848"/>
            <a:ext cx="5669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06-16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8540496" y="3127248"/>
            <a:ext cx="1325880" cy="49377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algn="ctr" indent="0" marL="0">
              <a:buNone/>
            </a:pPr>
            <a:r>
              <a:rPr lang="en-US" sz="860" dirty="0">
                <a:solidFill>
                  <a:srgbClr val="6174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docs: improve daily status report layout</a:t>
            </a:r>
            <a:endParaRPr lang="en-US" sz="860" dirty="0"/>
          </a:p>
        </p:txBody>
      </p:sp>
      <p:sp>
        <p:nvSpPr>
          <p:cNvPr id="33" name="Shape 31"/>
          <p:cNvSpPr/>
          <p:nvPr/>
        </p:nvSpPr>
        <p:spPr>
          <a:xfrm>
            <a:off x="10552176" y="2551176"/>
            <a:ext cx="457200" cy="457200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506456" y="2212848"/>
            <a:ext cx="5669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06-18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10168128" y="3127248"/>
            <a:ext cx="1325880" cy="49377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algn="ctr" indent="0" marL="0">
              <a:buNone/>
            </a:pPr>
            <a:r>
              <a:rPr lang="en-US" sz="860" dirty="0">
                <a:solidFill>
                  <a:srgbClr val="6174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本次生成每日项目状态 PPT</a:t>
            </a:r>
            <a:endParaRPr lang="en-US" sz="860" dirty="0"/>
          </a:p>
        </p:txBody>
      </p:sp>
      <p:sp>
        <p:nvSpPr>
          <p:cNvPr id="36" name="Shape 34"/>
          <p:cNvSpPr/>
          <p:nvPr/>
        </p:nvSpPr>
        <p:spPr>
          <a:xfrm>
            <a:off x="841248" y="4608576"/>
            <a:ext cx="2331720" cy="1024128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D7E7EA">
                <a:alpha val="70000"/>
              </a:srgbClr>
            </a:solidFill>
            <a:prstDash val="solid"/>
          </a:ln>
          <a:effectLst>
            <a:outerShdw sx="100000" sy="100000" kx="0" ky="0" algn="bl" rotWithShape="0" blurRad="12700" dist="12700" dir="2700000">
              <a:srgbClr val="000000">
                <a:alpha val="8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1005840" y="4718304"/>
            <a:ext cx="20025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E76F5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3100" dirty="0"/>
          </a:p>
        </p:txBody>
      </p:sp>
      <p:sp>
        <p:nvSpPr>
          <p:cNvPr id="38" name="Text 36"/>
          <p:cNvSpPr/>
          <p:nvPr/>
        </p:nvSpPr>
        <p:spPr>
          <a:xfrm>
            <a:off x="987552" y="5294376"/>
            <a:ext cx="20391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3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近 7 天业务提交</a:t>
            </a:r>
            <a:endParaRPr lang="en-US" sz="1230" dirty="0"/>
          </a:p>
        </p:txBody>
      </p:sp>
      <p:sp>
        <p:nvSpPr>
          <p:cNvPr id="39" name="Text 37"/>
          <p:cNvSpPr/>
          <p:nvPr/>
        </p:nvSpPr>
        <p:spPr>
          <a:xfrm>
            <a:off x="1005840" y="5568696"/>
            <a:ext cx="2002536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>
            <a:lvl1pPr algn="l"/>
          </a:lstStyle>
          <a:p>
            <a:pPr algn="ctr" indent="0" marL="0">
              <a:buNone/>
            </a:pPr>
            <a:r>
              <a:rPr lang="en-US" sz="940" dirty="0">
                <a:solidFill>
                  <a:srgbClr val="6174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提交集中在每日状态报告，未见业务代码 diff</a:t>
            </a:r>
            <a:endParaRPr lang="en-US" sz="940" dirty="0"/>
          </a:p>
        </p:txBody>
      </p:sp>
      <p:sp>
        <p:nvSpPr>
          <p:cNvPr id="40" name="Shape 38"/>
          <p:cNvSpPr/>
          <p:nvPr/>
        </p:nvSpPr>
        <p:spPr>
          <a:xfrm>
            <a:off x="3429000" y="4608576"/>
            <a:ext cx="2331720" cy="1024128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D7E7EA">
                <a:alpha val="70000"/>
              </a:srgbClr>
            </a:solidFill>
            <a:prstDash val="solid"/>
          </a:ln>
          <a:effectLst>
            <a:outerShdw sx="100000" sy="100000" kx="0" ky="0" algn="bl" rotWithShape="0" blurRad="12700" dist="12700" dir="2700000">
              <a:srgbClr val="000000">
                <a:alpha val="8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3593592" y="4718304"/>
            <a:ext cx="20025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6+</a:t>
            </a:r>
            <a:endParaRPr lang="en-US" sz="3100" dirty="0"/>
          </a:p>
        </p:txBody>
      </p:sp>
      <p:sp>
        <p:nvSpPr>
          <p:cNvPr id="42" name="Text 40"/>
          <p:cNvSpPr/>
          <p:nvPr/>
        </p:nvSpPr>
        <p:spPr>
          <a:xfrm>
            <a:off x="3575304" y="5294376"/>
            <a:ext cx="20391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3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报告类提交</a:t>
            </a:r>
            <a:endParaRPr lang="en-US" sz="1230" dirty="0"/>
          </a:p>
        </p:txBody>
      </p:sp>
      <p:sp>
        <p:nvSpPr>
          <p:cNvPr id="43" name="Text 41"/>
          <p:cNvSpPr/>
          <p:nvPr/>
        </p:nvSpPr>
        <p:spPr>
          <a:xfrm>
            <a:off x="3593592" y="5568696"/>
            <a:ext cx="2002536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>
            <a:lvl1pPr algn="l"/>
          </a:lstStyle>
          <a:p>
            <a:pPr algn="ctr" indent="0" marL="0">
              <a:buNone/>
            </a:pPr>
            <a:r>
              <a:rPr lang="en-US" sz="940" dirty="0">
                <a:solidFill>
                  <a:srgbClr val="6174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持续生成与优化每日汇报版式</a:t>
            </a:r>
            <a:endParaRPr lang="en-US" sz="940" dirty="0"/>
          </a:p>
        </p:txBody>
      </p:sp>
      <p:sp>
        <p:nvSpPr>
          <p:cNvPr id="44" name="Shape 42"/>
          <p:cNvSpPr/>
          <p:nvPr/>
        </p:nvSpPr>
        <p:spPr>
          <a:xfrm>
            <a:off x="6016752" y="4608576"/>
            <a:ext cx="2331720" cy="1024128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D7E7EA">
                <a:alpha val="70000"/>
              </a:srgbClr>
            </a:solidFill>
            <a:prstDash val="solid"/>
          </a:ln>
          <a:effectLst>
            <a:outerShdw sx="100000" sy="100000" kx="0" ky="0" algn="bl" rotWithShape="0" blurRad="12700" dist="12700" dir="2700000">
              <a:srgbClr val="000000">
                <a:alpha val="8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6181344" y="4718304"/>
            <a:ext cx="20025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3100" dirty="0"/>
          </a:p>
        </p:txBody>
      </p:sp>
      <p:sp>
        <p:nvSpPr>
          <p:cNvPr id="46" name="Text 44"/>
          <p:cNvSpPr/>
          <p:nvPr/>
        </p:nvSpPr>
        <p:spPr>
          <a:xfrm>
            <a:off x="6163056" y="5294376"/>
            <a:ext cx="20391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3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当前工作分支</a:t>
            </a:r>
            <a:endParaRPr lang="en-US" sz="1230" dirty="0"/>
          </a:p>
        </p:txBody>
      </p:sp>
      <p:sp>
        <p:nvSpPr>
          <p:cNvPr id="47" name="Text 45"/>
          <p:cNvSpPr/>
          <p:nvPr/>
        </p:nvSpPr>
        <p:spPr>
          <a:xfrm>
            <a:off x="6181344" y="5568696"/>
            <a:ext cx="2002536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>
            <a:lvl1pPr algn="l"/>
          </a:lstStyle>
          <a:p>
            <a:pPr algn="ctr" indent="0" marL="0">
              <a:buNone/>
            </a:pPr>
            <a:r>
              <a:rPr lang="en-US" sz="940" dirty="0">
                <a:solidFill>
                  <a:srgbClr val="6174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cursor/bc-...-55ff</a:t>
            </a:r>
            <a:endParaRPr lang="en-US" sz="940" dirty="0"/>
          </a:p>
        </p:txBody>
      </p:sp>
      <p:sp>
        <p:nvSpPr>
          <p:cNvPr id="48" name="Shape 46"/>
          <p:cNvSpPr/>
          <p:nvPr/>
        </p:nvSpPr>
        <p:spPr>
          <a:xfrm>
            <a:off x="8604504" y="4608576"/>
            <a:ext cx="2331720" cy="1024128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D7E7EA">
                <a:alpha val="70000"/>
              </a:srgbClr>
            </a:solidFill>
            <a:prstDash val="solid"/>
          </a:ln>
          <a:effectLst>
            <a:outerShdw sx="100000" sy="100000" kx="0" ky="0" algn="bl" rotWithShape="0" blurRad="12700" dist="12700" dir="2700000">
              <a:srgbClr val="000000">
                <a:alpha val="8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8769096" y="4718304"/>
            <a:ext cx="20025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F4A2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未知</a:t>
            </a:r>
            <a:endParaRPr lang="en-US" sz="3100" dirty="0"/>
          </a:p>
        </p:txBody>
      </p:sp>
      <p:sp>
        <p:nvSpPr>
          <p:cNvPr id="50" name="Text 48"/>
          <p:cNvSpPr/>
          <p:nvPr/>
        </p:nvSpPr>
        <p:spPr>
          <a:xfrm>
            <a:off x="8750808" y="5294376"/>
            <a:ext cx="20391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3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执行状态</a:t>
            </a:r>
            <a:endParaRPr lang="en-US" sz="1230" dirty="0"/>
          </a:p>
        </p:txBody>
      </p:sp>
      <p:sp>
        <p:nvSpPr>
          <p:cNvPr id="51" name="Text 49"/>
          <p:cNvSpPr/>
          <p:nvPr/>
        </p:nvSpPr>
        <p:spPr>
          <a:xfrm>
            <a:off x="8769096" y="5568696"/>
            <a:ext cx="2002536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>
            <a:lvl1pPr algn="l"/>
          </a:lstStyle>
          <a:p>
            <a:pPr algn="ctr" indent="0" marL="0">
              <a:buNone/>
            </a:pPr>
            <a:r>
              <a:rPr lang="en-US" sz="940" dirty="0">
                <a:solidFill>
                  <a:srgbClr val="6174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未发现流水线配置或最近运行记录</a:t>
            </a:r>
            <a:endParaRPr lang="en-US" sz="94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1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AFA"/>
          </a:solidFill>
          <a:ln w="12700">
            <a:solidFill>
              <a:srgbClr val="F1FAF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E5F4F5"/>
          </a:solidFill>
          <a:ln w="12700">
            <a:solidFill>
              <a:srgbClr val="E5F4F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601200" y="-914400"/>
            <a:ext cx="2743200" cy="2743200"/>
          </a:xfrm>
          <a:prstGeom prst="arc">
            <a:avLst/>
          </a:prstGeom>
          <a:solidFill>
            <a:srgbClr val="F1FAFA">
              <a:alpha val="0"/>
            </a:srgbClr>
          </a:solidFill>
          <a:ln w="63500">
            <a:solidFill>
              <a:srgbClr val="78D6C6">
                <a:alpha val="6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530352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66928" y="80467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324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数据/指标要点：当前代码快照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9674352" y="658368"/>
            <a:ext cx="1737360" cy="438912"/>
          </a:xfrm>
          <a:prstGeom prst="roundRect">
            <a:avLst>
              <a:gd name="adj" fmla="val 16667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57232" y="731520"/>
            <a:ext cx="7315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北京时间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543032" y="731520"/>
            <a:ext cx="71323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8D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2026-06-18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530352" y="6565392"/>
            <a:ext cx="6035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6174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yu-ai-code-mother · 每日项目状态 · 2026-06-18</a:t>
            </a:r>
            <a:endParaRPr lang="en-US" sz="880" dirty="0"/>
          </a:p>
        </p:txBody>
      </p:sp>
      <p:sp>
        <p:nvSpPr>
          <p:cNvPr id="12" name="Text 10"/>
          <p:cNvSpPr/>
          <p:nvPr/>
        </p:nvSpPr>
        <p:spPr>
          <a:xfrm>
            <a:off x="11064240" y="6519672"/>
            <a:ext cx="594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58368" y="1591056"/>
            <a:ext cx="3182112" cy="1170432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2700">
            <a:solidFill>
              <a:srgbClr val="D7E7EA">
                <a:alpha val="70000"/>
              </a:srgbClr>
            </a:solidFill>
            <a:prstDash val="solid"/>
          </a:ln>
          <a:effectLst>
            <a:outerShdw sx="100000" sy="100000" kx="0" ky="0" algn="bl" rotWithShape="0" blurRad="12700" dist="12700" dir="2700000">
              <a:srgbClr val="000000">
                <a:alpha val="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22960" y="1700784"/>
            <a:ext cx="28529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154</a:t>
            </a:r>
            <a:endParaRPr lang="en-US" sz="3100" dirty="0"/>
          </a:p>
        </p:txBody>
      </p:sp>
      <p:sp>
        <p:nvSpPr>
          <p:cNvPr id="15" name="Text 13"/>
          <p:cNvSpPr/>
          <p:nvPr/>
        </p:nvSpPr>
        <p:spPr>
          <a:xfrm>
            <a:off x="804672" y="2276856"/>
            <a:ext cx="2889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3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单体后端 Java</a:t>
            </a:r>
            <a:endParaRPr lang="en-US" sz="1230" dirty="0"/>
          </a:p>
        </p:txBody>
      </p:sp>
      <p:sp>
        <p:nvSpPr>
          <p:cNvPr id="16" name="Text 14"/>
          <p:cNvSpPr/>
          <p:nvPr/>
        </p:nvSpPr>
        <p:spPr>
          <a:xfrm>
            <a:off x="822960" y="2551176"/>
            <a:ext cx="28529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40" dirty="0">
                <a:solidFill>
                  <a:srgbClr val="6174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src/main/java 代码文件数</a:t>
            </a:r>
            <a:endParaRPr lang="en-US" sz="940" dirty="0"/>
          </a:p>
        </p:txBody>
      </p:sp>
      <p:sp>
        <p:nvSpPr>
          <p:cNvPr id="17" name="Shape 15"/>
          <p:cNvSpPr/>
          <p:nvPr/>
        </p:nvSpPr>
        <p:spPr>
          <a:xfrm>
            <a:off x="4453128" y="1591056"/>
            <a:ext cx="3182112" cy="1170432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2700">
            <a:solidFill>
              <a:srgbClr val="D7E7EA">
                <a:alpha val="70000"/>
              </a:srgbClr>
            </a:solidFill>
            <a:prstDash val="solid"/>
          </a:ln>
          <a:effectLst>
            <a:outerShdw sx="100000" sy="100000" kx="0" ky="0" algn="bl" rotWithShape="0" blurRad="12700" dist="12700" dir="2700000">
              <a:srgbClr val="000000">
                <a:alpha val="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617720" y="1700784"/>
            <a:ext cx="28529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</a:t>
            </a:r>
            <a:endParaRPr lang="en-US" sz="3100" dirty="0"/>
          </a:p>
        </p:txBody>
      </p:sp>
      <p:sp>
        <p:nvSpPr>
          <p:cNvPr id="19" name="Text 17"/>
          <p:cNvSpPr/>
          <p:nvPr/>
        </p:nvSpPr>
        <p:spPr>
          <a:xfrm>
            <a:off x="4599432" y="2276856"/>
            <a:ext cx="2889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3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后端测试类</a:t>
            </a:r>
            <a:endParaRPr lang="en-US" sz="1230" dirty="0"/>
          </a:p>
        </p:txBody>
      </p:sp>
      <p:sp>
        <p:nvSpPr>
          <p:cNvPr id="20" name="Text 18"/>
          <p:cNvSpPr/>
          <p:nvPr/>
        </p:nvSpPr>
        <p:spPr>
          <a:xfrm>
            <a:off x="4617720" y="2551176"/>
            <a:ext cx="28529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40" dirty="0">
                <a:solidFill>
                  <a:srgbClr val="6174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JUnit/SpringBootTest 为主</a:t>
            </a:r>
            <a:endParaRPr lang="en-US" sz="940" dirty="0"/>
          </a:p>
        </p:txBody>
      </p:sp>
      <p:sp>
        <p:nvSpPr>
          <p:cNvPr id="21" name="Shape 19"/>
          <p:cNvSpPr/>
          <p:nvPr/>
        </p:nvSpPr>
        <p:spPr>
          <a:xfrm>
            <a:off x="8247888" y="1591056"/>
            <a:ext cx="3182112" cy="1170432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2700">
            <a:solidFill>
              <a:srgbClr val="D7E7EA">
                <a:alpha val="70000"/>
              </a:srgbClr>
            </a:solidFill>
            <a:prstDash val="solid"/>
          </a:ln>
          <a:effectLst>
            <a:outerShdw sx="100000" sy="100000" kx="0" ky="0" algn="bl" rotWithShape="0" blurRad="12700" dist="12700" dir="2700000">
              <a:srgbClr val="000000">
                <a:alpha val="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412480" y="1700784"/>
            <a:ext cx="28529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00A89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3100" dirty="0"/>
          </a:p>
        </p:txBody>
      </p:sp>
      <p:sp>
        <p:nvSpPr>
          <p:cNvPr id="23" name="Text 21"/>
          <p:cNvSpPr/>
          <p:nvPr/>
        </p:nvSpPr>
        <p:spPr>
          <a:xfrm>
            <a:off x="8394192" y="2276856"/>
            <a:ext cx="2889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3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微服务模块</a:t>
            </a:r>
            <a:endParaRPr lang="en-US" sz="1230" dirty="0"/>
          </a:p>
        </p:txBody>
      </p:sp>
      <p:sp>
        <p:nvSpPr>
          <p:cNvPr id="24" name="Text 22"/>
          <p:cNvSpPr/>
          <p:nvPr/>
        </p:nvSpPr>
        <p:spPr>
          <a:xfrm>
            <a:off x="8412480" y="2551176"/>
            <a:ext cx="28529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40" dirty="0">
                <a:solidFill>
                  <a:srgbClr val="6174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common/model/client/user/app/ai/screenshot</a:t>
            </a:r>
            <a:endParaRPr lang="en-US" sz="940" dirty="0"/>
          </a:p>
        </p:txBody>
      </p:sp>
      <p:sp>
        <p:nvSpPr>
          <p:cNvPr id="25" name="Shape 23"/>
          <p:cNvSpPr/>
          <p:nvPr/>
        </p:nvSpPr>
        <p:spPr>
          <a:xfrm>
            <a:off x="658368" y="3163824"/>
            <a:ext cx="3182112" cy="1170432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2700">
            <a:solidFill>
              <a:srgbClr val="D7E7EA">
                <a:alpha val="70000"/>
              </a:srgbClr>
            </a:solidFill>
            <a:prstDash val="solid"/>
          </a:ln>
          <a:effectLst>
            <a:outerShdw sx="100000" sy="100000" kx="0" ky="0" algn="bl" rotWithShape="0" blurRad="12700" dist="12700" dir="2700000">
              <a:srgbClr val="000000">
                <a:alpha val="8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822960" y="3273552"/>
            <a:ext cx="28529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F4A2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118</a:t>
            </a:r>
            <a:endParaRPr lang="en-US" sz="3100" dirty="0"/>
          </a:p>
        </p:txBody>
      </p:sp>
      <p:sp>
        <p:nvSpPr>
          <p:cNvPr id="27" name="Text 25"/>
          <p:cNvSpPr/>
          <p:nvPr/>
        </p:nvSpPr>
        <p:spPr>
          <a:xfrm>
            <a:off x="804672" y="3849624"/>
            <a:ext cx="2889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3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微服务 Java</a:t>
            </a:r>
            <a:endParaRPr lang="en-US" sz="1230" dirty="0"/>
          </a:p>
        </p:txBody>
      </p:sp>
      <p:sp>
        <p:nvSpPr>
          <p:cNvPr id="28" name="Text 26"/>
          <p:cNvSpPr/>
          <p:nvPr/>
        </p:nvSpPr>
        <p:spPr>
          <a:xfrm>
            <a:off x="822960" y="4123944"/>
            <a:ext cx="28529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40" dirty="0">
                <a:solidFill>
                  <a:srgbClr val="6174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拆分版主代码文件数</a:t>
            </a:r>
            <a:endParaRPr lang="en-US" sz="940" dirty="0"/>
          </a:p>
        </p:txBody>
      </p:sp>
      <p:sp>
        <p:nvSpPr>
          <p:cNvPr id="29" name="Shape 27"/>
          <p:cNvSpPr/>
          <p:nvPr/>
        </p:nvSpPr>
        <p:spPr>
          <a:xfrm>
            <a:off x="4453128" y="3163824"/>
            <a:ext cx="3182112" cy="1170432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2700">
            <a:solidFill>
              <a:srgbClr val="D7E7EA">
                <a:alpha val="70000"/>
              </a:srgbClr>
            </a:solidFill>
            <a:prstDash val="solid"/>
          </a:ln>
          <a:effectLst>
            <a:outerShdw sx="100000" sy="100000" kx="0" ky="0" algn="bl" rotWithShape="0" blurRad="12700" dist="12700" dir="2700000">
              <a:srgbClr val="000000">
                <a:alpha val="8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4617720" y="3273552"/>
            <a:ext cx="28529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34</a:t>
            </a:r>
            <a:endParaRPr lang="en-US" sz="3100" dirty="0"/>
          </a:p>
        </p:txBody>
      </p:sp>
      <p:sp>
        <p:nvSpPr>
          <p:cNvPr id="31" name="Text 29"/>
          <p:cNvSpPr/>
          <p:nvPr/>
        </p:nvSpPr>
        <p:spPr>
          <a:xfrm>
            <a:off x="4599432" y="3849624"/>
            <a:ext cx="2889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3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前端源码文件</a:t>
            </a:r>
            <a:endParaRPr lang="en-US" sz="1230" dirty="0"/>
          </a:p>
        </p:txBody>
      </p:sp>
      <p:sp>
        <p:nvSpPr>
          <p:cNvPr id="32" name="Text 30"/>
          <p:cNvSpPr/>
          <p:nvPr/>
        </p:nvSpPr>
        <p:spPr>
          <a:xfrm>
            <a:off x="4617720" y="4123944"/>
            <a:ext cx="28529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40" dirty="0">
                <a:solidFill>
                  <a:srgbClr val="6174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 与 TS 源文件合计</a:t>
            </a:r>
            <a:endParaRPr lang="en-US" sz="940" dirty="0"/>
          </a:p>
        </p:txBody>
      </p:sp>
      <p:sp>
        <p:nvSpPr>
          <p:cNvPr id="33" name="Shape 31"/>
          <p:cNvSpPr/>
          <p:nvPr/>
        </p:nvSpPr>
        <p:spPr>
          <a:xfrm>
            <a:off x="8247888" y="3163824"/>
            <a:ext cx="3182112" cy="1170432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2700">
            <a:solidFill>
              <a:srgbClr val="D7E7EA">
                <a:alpha val="70000"/>
              </a:srgbClr>
            </a:solidFill>
            <a:prstDash val="solid"/>
          </a:ln>
          <a:effectLst>
            <a:outerShdw sx="100000" sy="100000" kx="0" ky="0" algn="bl" rotWithShape="0" blurRad="12700" dist="12700" dir="2700000">
              <a:srgbClr val="000000">
                <a:alpha val="8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8412480" y="3273552"/>
            <a:ext cx="28529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E76F5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3100" dirty="0"/>
          </a:p>
        </p:txBody>
      </p:sp>
      <p:sp>
        <p:nvSpPr>
          <p:cNvPr id="35" name="Text 33"/>
          <p:cNvSpPr/>
          <p:nvPr/>
        </p:nvSpPr>
        <p:spPr>
          <a:xfrm>
            <a:off x="8394192" y="3849624"/>
            <a:ext cx="2889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3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配置文件</a:t>
            </a:r>
            <a:endParaRPr lang="en-US" sz="1230" dirty="0"/>
          </a:p>
        </p:txBody>
      </p:sp>
      <p:sp>
        <p:nvSpPr>
          <p:cNvPr id="36" name="Text 34"/>
          <p:cNvSpPr/>
          <p:nvPr/>
        </p:nvSpPr>
        <p:spPr>
          <a:xfrm>
            <a:off x="8412480" y="4123944"/>
            <a:ext cx="28529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40" dirty="0">
                <a:solidFill>
                  <a:srgbClr val="6174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未发现 .github/workflows 等</a:t>
            </a:r>
            <a:endParaRPr lang="en-US" sz="940" dirty="0"/>
          </a:p>
        </p:txBody>
      </p:sp>
      <p:sp>
        <p:nvSpPr>
          <p:cNvPr id="37" name="Shape 35"/>
          <p:cNvSpPr/>
          <p:nvPr/>
        </p:nvSpPr>
        <p:spPr>
          <a:xfrm>
            <a:off x="749808" y="5230368"/>
            <a:ext cx="10652760" cy="685800"/>
          </a:xfrm>
          <a:prstGeom prst="roundRect">
            <a:avLst>
              <a:gd name="adj" fmla="val 16000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60120" y="5431536"/>
            <a:ext cx="10149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指标口径说明：以上为本地工作区静态扫描统计，不代表生产运行量；AI 调用量、部署成功率、用户活跃等业务指标当前未在仓库中留存。</a:t>
            </a:r>
            <a:endParaRPr lang="en-US" sz="114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1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AFA"/>
          </a:solidFill>
          <a:ln w="12700">
            <a:solidFill>
              <a:srgbClr val="F1FAF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E5F4F5"/>
          </a:solidFill>
          <a:ln w="12700">
            <a:solidFill>
              <a:srgbClr val="E5F4F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601200" y="-914400"/>
            <a:ext cx="2743200" cy="2743200"/>
          </a:xfrm>
          <a:prstGeom prst="arc">
            <a:avLst/>
          </a:prstGeom>
          <a:solidFill>
            <a:srgbClr val="F1FAFA">
              <a:alpha val="0"/>
            </a:srgbClr>
          </a:solidFill>
          <a:ln w="63500">
            <a:solidFill>
              <a:srgbClr val="78D6C6">
                <a:alpha val="6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530352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66928" y="80467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324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 / 测试状态：有测试入口，缺自动门禁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9674352" y="658368"/>
            <a:ext cx="1737360" cy="438912"/>
          </a:xfrm>
          <a:prstGeom prst="roundRect">
            <a:avLst>
              <a:gd name="adj" fmla="val 16667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57232" y="731520"/>
            <a:ext cx="7315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北京时间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543032" y="731520"/>
            <a:ext cx="71323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8D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2026-06-18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530352" y="6565392"/>
            <a:ext cx="6035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6174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yu-ai-code-mother · 每日项目状态 · 2026-06-18</a:t>
            </a:r>
            <a:endParaRPr lang="en-US" sz="880" dirty="0"/>
          </a:p>
        </p:txBody>
      </p:sp>
      <p:sp>
        <p:nvSpPr>
          <p:cNvPr id="12" name="Text 10"/>
          <p:cNvSpPr/>
          <p:nvPr/>
        </p:nvSpPr>
        <p:spPr>
          <a:xfrm>
            <a:off x="11064240" y="6519672"/>
            <a:ext cx="594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49808" y="1572768"/>
            <a:ext cx="333756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D7E7EA">
                <a:alpha val="75000"/>
              </a:srgbClr>
            </a:solidFill>
            <a:prstDash val="solid"/>
          </a:ln>
          <a:effectLst>
            <a:outerShdw sx="100000" sy="100000" kx="0" ky="0" algn="bl" rotWithShape="0" blurRad="19050" dist="15240" dir="27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49808" y="1572768"/>
            <a:ext cx="109728" cy="187452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78408" y="1773936"/>
            <a:ext cx="411480" cy="41148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78408" y="1874520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527048" y="1764792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后端测试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024128" y="2148840"/>
            <a:ext cx="2807208" cy="11612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6174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根 pom 包含 spring-boot-starter-test；发现 15 个测试类，覆盖 AI 生成、工作流、图片工具、截图等。</a:t>
            </a:r>
            <a:endParaRPr lang="en-US" sz="1120" dirty="0"/>
          </a:p>
        </p:txBody>
      </p:sp>
      <p:sp>
        <p:nvSpPr>
          <p:cNvPr id="19" name="Shape 17"/>
          <p:cNvSpPr/>
          <p:nvPr/>
        </p:nvSpPr>
        <p:spPr>
          <a:xfrm>
            <a:off x="4425696" y="1572768"/>
            <a:ext cx="333756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D7E7EA">
                <a:alpha val="75000"/>
              </a:srgbClr>
            </a:solidFill>
            <a:prstDash val="solid"/>
          </a:ln>
          <a:effectLst>
            <a:outerShdw sx="100000" sy="100000" kx="0" ky="0" algn="bl" rotWithShape="0" blurRad="19050" dist="15240" dir="270000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425696" y="1572768"/>
            <a:ext cx="109728" cy="187452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654296" y="1773936"/>
            <a:ext cx="411480" cy="41148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654296" y="1874520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202936" y="1764792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前端质量脚本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4700016" y="2148840"/>
            <a:ext cx="2807208" cy="11612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6174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package.json 提供 build、type-check、lint、format；未发现 vitest/jest/playwright 测试脚本。</a:t>
            </a:r>
            <a:endParaRPr lang="en-US" sz="1120" dirty="0"/>
          </a:p>
        </p:txBody>
      </p:sp>
      <p:sp>
        <p:nvSpPr>
          <p:cNvPr id="25" name="Shape 23"/>
          <p:cNvSpPr/>
          <p:nvPr/>
        </p:nvSpPr>
        <p:spPr>
          <a:xfrm>
            <a:off x="8101584" y="1572768"/>
            <a:ext cx="333756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D7E7EA">
                <a:alpha val="75000"/>
              </a:srgbClr>
            </a:solidFill>
            <a:prstDash val="solid"/>
          </a:ln>
          <a:effectLst>
            <a:outerShdw sx="100000" sy="100000" kx="0" ky="0" algn="bl" rotWithShape="0" blurRad="19050" dist="15240" dir="270000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101584" y="1572768"/>
            <a:ext cx="109728" cy="1874520"/>
          </a:xfrm>
          <a:prstGeom prst="rect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330184" y="1773936"/>
            <a:ext cx="411480" cy="41148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330184" y="1874520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8878824" y="1764792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状态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8375904" y="2148840"/>
            <a:ext cx="2807208" cy="11612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6174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未发现 .github/workflows、GitLab CI 或 Jenkinsfile；最近自动化执行状态未知。</a:t>
            </a:r>
            <a:endParaRPr lang="en-US" sz="1120" dirty="0"/>
          </a:p>
        </p:txBody>
      </p:sp>
      <p:sp>
        <p:nvSpPr>
          <p:cNvPr id="31" name="Text 29"/>
          <p:cNvSpPr/>
          <p:nvPr/>
        </p:nvSpPr>
        <p:spPr>
          <a:xfrm>
            <a:off x="786384" y="398678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质量观察</a:t>
            </a:r>
            <a:endParaRPr lang="en-US" sz="1700" dirty="0"/>
          </a:p>
        </p:txBody>
      </p:sp>
      <p:sp>
        <p:nvSpPr>
          <p:cNvPr id="32" name="Shape 30"/>
          <p:cNvSpPr/>
          <p:nvPr/>
        </p:nvSpPr>
        <p:spPr>
          <a:xfrm>
            <a:off x="841248" y="4599432"/>
            <a:ext cx="475488" cy="411480"/>
          </a:xfrm>
          <a:prstGeom prst="hexagon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481328" y="4498848"/>
            <a:ext cx="2331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集成依赖重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1481328" y="4782312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10" dirty="0">
                <a:solidFill>
                  <a:srgbClr val="6174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多项测试可能直连 AI、图片、截图等外部服务，适合按 integration 分层。</a:t>
            </a:r>
            <a:endParaRPr lang="en-US" sz="1010" dirty="0"/>
          </a:p>
        </p:txBody>
      </p:sp>
      <p:sp>
        <p:nvSpPr>
          <p:cNvPr id="35" name="Shape 33"/>
          <p:cNvSpPr/>
          <p:nvPr/>
        </p:nvSpPr>
        <p:spPr>
          <a:xfrm>
            <a:off x="4544568" y="4599432"/>
            <a:ext cx="475488" cy="411480"/>
          </a:xfrm>
          <a:prstGeom prst="hexagon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184648" y="4498848"/>
            <a:ext cx="2331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本地命令明确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5184648" y="4782312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10" dirty="0">
                <a:solidFill>
                  <a:srgbClr val="6174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后端可用 mvn test，前端可用 npm run build / lint，但需先补齐环境。</a:t>
            </a:r>
            <a:endParaRPr lang="en-US" sz="1010" dirty="0"/>
          </a:p>
        </p:txBody>
      </p:sp>
      <p:sp>
        <p:nvSpPr>
          <p:cNvPr id="38" name="Shape 36"/>
          <p:cNvSpPr/>
          <p:nvPr/>
        </p:nvSpPr>
        <p:spPr>
          <a:xfrm>
            <a:off x="8247888" y="4599432"/>
            <a:ext cx="475488" cy="411480"/>
          </a:xfrm>
          <a:prstGeom prst="hexagon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887968" y="4498848"/>
            <a:ext cx="2331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监控配置独立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8887968" y="4782312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10" dirty="0">
                <a:solidFill>
                  <a:srgbClr val="6174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prometheus.yml 指向 /api/actuator/prometheus，需要手动部署 Prometheus。</a:t>
            </a:r>
            <a:endParaRPr lang="en-US" sz="101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1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AFA"/>
          </a:solidFill>
          <a:ln w="12700">
            <a:solidFill>
              <a:srgbClr val="F1FAF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E5F4F5"/>
          </a:solidFill>
          <a:ln w="12700">
            <a:solidFill>
              <a:srgbClr val="E5F4F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601200" y="-914400"/>
            <a:ext cx="2743200" cy="2743200"/>
          </a:xfrm>
          <a:prstGeom prst="arc">
            <a:avLst/>
          </a:prstGeom>
          <a:solidFill>
            <a:srgbClr val="F1FAFA">
              <a:alpha val="0"/>
            </a:srgbClr>
          </a:solidFill>
          <a:ln w="63500">
            <a:solidFill>
              <a:srgbClr val="78D6C6">
                <a:alpha val="6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530352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ITEMS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66928" y="80467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324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未完成项：需明确交付边界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9674352" y="658368"/>
            <a:ext cx="1737360" cy="438912"/>
          </a:xfrm>
          <a:prstGeom prst="roundRect">
            <a:avLst>
              <a:gd name="adj" fmla="val 16667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57232" y="731520"/>
            <a:ext cx="7315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北京时间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543032" y="731520"/>
            <a:ext cx="71323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8D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2026-06-18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530352" y="6565392"/>
            <a:ext cx="6035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6174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yu-ai-code-mother · 每日项目状态 · 2026-06-18</a:t>
            </a:r>
            <a:endParaRPr lang="en-US" sz="880" dirty="0"/>
          </a:p>
        </p:txBody>
      </p:sp>
      <p:sp>
        <p:nvSpPr>
          <p:cNvPr id="12" name="Text 10"/>
          <p:cNvSpPr/>
          <p:nvPr/>
        </p:nvSpPr>
        <p:spPr>
          <a:xfrm>
            <a:off x="11064240" y="6519672"/>
            <a:ext cx="594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49808" y="1691640"/>
            <a:ext cx="324612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D7E7EA">
                <a:alpha val="75000"/>
              </a:srgbClr>
            </a:solidFill>
            <a:prstDash val="solid"/>
          </a:ln>
          <a:effectLst>
            <a:outerShdw sx="100000" sy="100000" kx="0" ky="0" algn="bl" rotWithShape="0" blurRad="19050" dist="15240" dir="27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49808" y="1691640"/>
            <a:ext cx="109728" cy="141732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78408" y="1892808"/>
            <a:ext cx="411480" cy="41148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78408" y="1993392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527048" y="1883664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微服务能力缺口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024128" y="2267712"/>
            <a:ext cx="2715768" cy="7040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6174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高级 LangGraph4j 工作流、监控等能力主要在单体版，微服务版尚未完全对齐。</a:t>
            </a:r>
            <a:endParaRPr lang="en-US" sz="1120" dirty="0"/>
          </a:p>
        </p:txBody>
      </p:sp>
      <p:sp>
        <p:nvSpPr>
          <p:cNvPr id="19" name="Shape 17"/>
          <p:cNvSpPr/>
          <p:nvPr/>
        </p:nvSpPr>
        <p:spPr>
          <a:xfrm>
            <a:off x="4453128" y="1691640"/>
            <a:ext cx="324612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D7E7EA">
                <a:alpha val="75000"/>
              </a:srgbClr>
            </a:solidFill>
            <a:prstDash val="solid"/>
          </a:ln>
          <a:effectLst>
            <a:outerShdw sx="100000" sy="100000" kx="0" ky="0" algn="bl" rotWithShape="0" blurRad="19050" dist="15240" dir="270000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453128" y="1691640"/>
            <a:ext cx="109728" cy="141732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681728" y="1892808"/>
            <a:ext cx="411480" cy="41148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681728" y="1993392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230368" y="1883664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无统一入口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4727448" y="2267712"/>
            <a:ext cx="2715768" cy="7040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6174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微服务模式需分别启动多个服务，前端默认代理仍偏向单体接口。</a:t>
            </a:r>
            <a:endParaRPr lang="en-US" sz="1120" dirty="0"/>
          </a:p>
        </p:txBody>
      </p:sp>
      <p:sp>
        <p:nvSpPr>
          <p:cNvPr id="25" name="Shape 23"/>
          <p:cNvSpPr/>
          <p:nvPr/>
        </p:nvSpPr>
        <p:spPr>
          <a:xfrm>
            <a:off x="8156448" y="1691640"/>
            <a:ext cx="324612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D7E7EA">
                <a:alpha val="75000"/>
              </a:srgbClr>
            </a:solidFill>
            <a:prstDash val="solid"/>
          </a:ln>
          <a:effectLst>
            <a:outerShdw sx="100000" sy="100000" kx="0" ky="0" algn="bl" rotWithShape="0" blurRad="19050" dist="15240" dir="270000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156448" y="1691640"/>
            <a:ext cx="109728" cy="1417320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385048" y="1892808"/>
            <a:ext cx="411480" cy="41148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385048" y="1993392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8933688" y="1883664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运行配置未就绪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8430768" y="2267712"/>
            <a:ext cx="2715768" cy="7040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6174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Key、COS、Pexels、MySQL、Redis、Nacos 等需手工配置。</a:t>
            </a:r>
            <a:endParaRPr lang="en-US" sz="1120" dirty="0"/>
          </a:p>
        </p:txBody>
      </p:sp>
      <p:sp>
        <p:nvSpPr>
          <p:cNvPr id="31" name="Shape 29"/>
          <p:cNvSpPr/>
          <p:nvPr/>
        </p:nvSpPr>
        <p:spPr>
          <a:xfrm>
            <a:off x="2615184" y="3794760"/>
            <a:ext cx="324612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D7E7EA">
                <a:alpha val="75000"/>
              </a:srgbClr>
            </a:solidFill>
            <a:prstDash val="solid"/>
          </a:ln>
          <a:effectLst>
            <a:outerShdw sx="100000" sy="100000" kx="0" ky="0" algn="bl" rotWithShape="0" blurRad="19050" dist="15240" dir="2700000">
              <a:srgbClr val="000000">
                <a:alpha val="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2615184" y="3794760"/>
            <a:ext cx="109728" cy="1417320"/>
          </a:xfrm>
          <a:prstGeom prst="rect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843784" y="3995928"/>
            <a:ext cx="411480" cy="41148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843784" y="4096512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3392424" y="3986784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缺一键环境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2889504" y="4370832"/>
            <a:ext cx="2715768" cy="7040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6174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未发现 docker-compose 或统一编排脚本，本地启动门槛较高。</a:t>
            </a:r>
            <a:endParaRPr lang="en-US" sz="1120" dirty="0"/>
          </a:p>
        </p:txBody>
      </p:sp>
      <p:sp>
        <p:nvSpPr>
          <p:cNvPr id="37" name="Shape 35"/>
          <p:cNvSpPr/>
          <p:nvPr/>
        </p:nvSpPr>
        <p:spPr>
          <a:xfrm>
            <a:off x="6318504" y="3794760"/>
            <a:ext cx="324612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D7E7EA">
                <a:alpha val="75000"/>
              </a:srgbClr>
            </a:solidFill>
            <a:prstDash val="solid"/>
          </a:ln>
          <a:effectLst>
            <a:outerShdw sx="100000" sy="100000" kx="0" ky="0" algn="bl" rotWithShape="0" blurRad="19050" dist="15240" dir="2700000">
              <a:srgbClr val="000000">
                <a:alpha val="8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6318504" y="3794760"/>
            <a:ext cx="109728" cy="141732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547104" y="3995928"/>
            <a:ext cx="411480" cy="411480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547104" y="4096512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7095744" y="3986784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测试分层不足</a:t>
            </a:r>
            <a:endParaRPr lang="en-US" sz="1500" dirty="0"/>
          </a:p>
        </p:txBody>
      </p:sp>
      <p:sp>
        <p:nvSpPr>
          <p:cNvPr id="42" name="Text 40"/>
          <p:cNvSpPr/>
          <p:nvPr/>
        </p:nvSpPr>
        <p:spPr>
          <a:xfrm>
            <a:off x="6592824" y="4370832"/>
            <a:ext cx="2715768" cy="7040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6174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微服务目录未发现 src/test，单体集成测试对外部服务依赖较重。</a:t>
            </a:r>
            <a:endParaRPr lang="en-US" sz="11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1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AFA"/>
          </a:solidFill>
          <a:ln w="12700">
            <a:solidFill>
              <a:srgbClr val="F1FAF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E5F4F5"/>
          </a:solidFill>
          <a:ln w="12700">
            <a:solidFill>
              <a:srgbClr val="E5F4F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601200" y="-914400"/>
            <a:ext cx="2743200" cy="2743200"/>
          </a:xfrm>
          <a:prstGeom prst="arc">
            <a:avLst/>
          </a:prstGeom>
          <a:solidFill>
            <a:srgbClr val="F1FAFA">
              <a:alpha val="0"/>
            </a:srgbClr>
          </a:solidFill>
          <a:ln w="63500">
            <a:solidFill>
              <a:srgbClr val="78D6C6">
                <a:alpha val="6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530352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66928" y="80467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324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风险与阻塞：外部依赖和质量门禁优先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9674352" y="658368"/>
            <a:ext cx="1737360" cy="438912"/>
          </a:xfrm>
          <a:prstGeom prst="roundRect">
            <a:avLst>
              <a:gd name="adj" fmla="val 16667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57232" y="731520"/>
            <a:ext cx="7315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北京时间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543032" y="731520"/>
            <a:ext cx="71323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8D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2026-06-18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530352" y="6565392"/>
            <a:ext cx="6035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6174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yu-ai-code-mother · 每日项目状态 · 2026-06-18</a:t>
            </a:r>
            <a:endParaRPr lang="en-US" sz="880" dirty="0"/>
          </a:p>
        </p:txBody>
      </p:sp>
      <p:sp>
        <p:nvSpPr>
          <p:cNvPr id="12" name="Text 10"/>
          <p:cNvSpPr/>
          <p:nvPr/>
        </p:nvSpPr>
        <p:spPr>
          <a:xfrm>
            <a:off x="11064240" y="6519672"/>
            <a:ext cx="594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 rot="16200000">
            <a:off x="676656" y="1627632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影响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486400" y="5797296"/>
            <a:ext cx="1097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发生概率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234440" y="1627632"/>
            <a:ext cx="4617720" cy="1719072"/>
          </a:xfrm>
          <a:prstGeom prst="roundRect">
            <a:avLst>
              <a:gd name="adj" fmla="val 7447"/>
            </a:avLst>
          </a:prstGeom>
          <a:solidFill>
            <a:srgbClr val="FFFFFF"/>
          </a:solidFill>
          <a:ln w="15240">
            <a:solidFill>
              <a:srgbClr val="F4A261"/>
            </a:solidFill>
            <a:prstDash val="solid"/>
          </a:ln>
          <a:effectLst>
            <a:outerShdw sx="100000" sy="100000" kx="0" ky="0" algn="bl" rotWithShape="0" blurRad="15240" dist="12700" dir="2700000">
              <a:srgbClr val="000000">
                <a:alpha val="7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1234440" y="1627632"/>
            <a:ext cx="4617720" cy="310896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399032" y="1709928"/>
            <a:ext cx="4288536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高影响 / 较低概率</a:t>
            </a:r>
            <a:endParaRPr lang="en-US" sz="1020" dirty="0"/>
          </a:p>
        </p:txBody>
      </p:sp>
      <p:sp>
        <p:nvSpPr>
          <p:cNvPr id="18" name="Text 16"/>
          <p:cNvSpPr/>
          <p:nvPr/>
        </p:nvSpPr>
        <p:spPr>
          <a:xfrm>
            <a:off x="1453896" y="2194560"/>
            <a:ext cx="4178808" cy="10058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110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内嵌 LangChain4j 流式 fork 代码与 遗留调试项 输出，升级或异常链路可能放大维护成本。</a:t>
            </a:r>
            <a:endParaRPr lang="en-US" sz="1110" dirty="0"/>
          </a:p>
        </p:txBody>
      </p:sp>
      <p:sp>
        <p:nvSpPr>
          <p:cNvPr id="19" name="Shape 17"/>
          <p:cNvSpPr/>
          <p:nvPr/>
        </p:nvSpPr>
        <p:spPr>
          <a:xfrm>
            <a:off x="6172200" y="1627632"/>
            <a:ext cx="4617720" cy="1719072"/>
          </a:xfrm>
          <a:prstGeom prst="roundRect">
            <a:avLst>
              <a:gd name="adj" fmla="val 7447"/>
            </a:avLst>
          </a:prstGeom>
          <a:solidFill>
            <a:srgbClr val="FFFFFF"/>
          </a:solidFill>
          <a:ln w="15240">
            <a:solidFill>
              <a:srgbClr val="E76F51"/>
            </a:solidFill>
            <a:prstDash val="solid"/>
          </a:ln>
          <a:effectLst>
            <a:outerShdw sx="100000" sy="100000" kx="0" ky="0" algn="bl" rotWithShape="0" blurRad="15240" dist="12700" dir="2700000">
              <a:srgbClr val="000000">
                <a:alpha val="7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72200" y="1627632"/>
            <a:ext cx="4617720" cy="310896"/>
          </a:xfrm>
          <a:prstGeom prst="rect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336792" y="1709928"/>
            <a:ext cx="4288536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高影响 / 高概率</a:t>
            </a:r>
            <a:endParaRPr lang="en-US" sz="1020" dirty="0"/>
          </a:p>
        </p:txBody>
      </p:sp>
      <p:sp>
        <p:nvSpPr>
          <p:cNvPr id="22" name="Text 20"/>
          <p:cNvSpPr/>
          <p:nvPr/>
        </p:nvSpPr>
        <p:spPr>
          <a:xfrm>
            <a:off x="6391656" y="2194560"/>
            <a:ext cx="4178808" cy="10058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110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API、COS、Pexels、Selenium、MySQL/Redis 等依赖链长，环境缺失会直接阻塞生成、部署、封面链路。</a:t>
            </a:r>
            <a:endParaRPr lang="en-US" sz="1110" dirty="0"/>
          </a:p>
        </p:txBody>
      </p:sp>
      <p:sp>
        <p:nvSpPr>
          <p:cNvPr id="23" name="Shape 21"/>
          <p:cNvSpPr/>
          <p:nvPr/>
        </p:nvSpPr>
        <p:spPr>
          <a:xfrm>
            <a:off x="1234440" y="3675888"/>
            <a:ext cx="4617720" cy="1719072"/>
          </a:xfrm>
          <a:prstGeom prst="roundRect">
            <a:avLst>
              <a:gd name="adj" fmla="val 7447"/>
            </a:avLst>
          </a:prstGeom>
          <a:solidFill>
            <a:srgbClr val="FFFFFF"/>
          </a:solidFill>
          <a:ln w="15240">
            <a:solidFill>
              <a:srgbClr val="1C7293"/>
            </a:solidFill>
            <a:prstDash val="solid"/>
          </a:ln>
          <a:effectLst>
            <a:outerShdw sx="100000" sy="100000" kx="0" ky="0" algn="bl" rotWithShape="0" blurRad="15240" dist="12700" dir="2700000">
              <a:srgbClr val="000000">
                <a:alpha val="7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1234440" y="3675888"/>
            <a:ext cx="4617720" cy="310896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399032" y="3758184"/>
            <a:ext cx="4288536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中影响 / 较低概率</a:t>
            </a:r>
            <a:endParaRPr lang="en-US" sz="1020" dirty="0"/>
          </a:p>
        </p:txBody>
      </p:sp>
      <p:sp>
        <p:nvSpPr>
          <p:cNvPr id="26" name="Text 24"/>
          <p:cNvSpPr/>
          <p:nvPr/>
        </p:nvSpPr>
        <p:spPr>
          <a:xfrm>
            <a:off x="1453896" y="4242816"/>
            <a:ext cx="4178808" cy="10058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110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单体与微服务版本依赖和端口不统一，维护者需避免文档与运行方式混淆。</a:t>
            </a:r>
            <a:endParaRPr lang="en-US" sz="1110" dirty="0"/>
          </a:p>
        </p:txBody>
      </p:sp>
      <p:sp>
        <p:nvSpPr>
          <p:cNvPr id="27" name="Shape 25"/>
          <p:cNvSpPr/>
          <p:nvPr/>
        </p:nvSpPr>
        <p:spPr>
          <a:xfrm>
            <a:off x="6172200" y="3675888"/>
            <a:ext cx="4617720" cy="1719072"/>
          </a:xfrm>
          <a:prstGeom prst="roundRect">
            <a:avLst>
              <a:gd name="adj" fmla="val 7447"/>
            </a:avLst>
          </a:prstGeom>
          <a:solidFill>
            <a:srgbClr val="FFFFFF"/>
          </a:solidFill>
          <a:ln w="15240">
            <a:solidFill>
              <a:srgbClr val="065A82"/>
            </a:solidFill>
            <a:prstDash val="solid"/>
          </a:ln>
          <a:effectLst>
            <a:outerShdw sx="100000" sy="100000" kx="0" ky="0" algn="bl" rotWithShape="0" blurRad="15240" dist="12700" dir="2700000">
              <a:srgbClr val="000000">
                <a:alpha val="7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172200" y="3675888"/>
            <a:ext cx="4617720" cy="310896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36792" y="3758184"/>
            <a:ext cx="4288536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中影响 / 高概率</a:t>
            </a:r>
            <a:endParaRPr lang="en-US" sz="1020" dirty="0"/>
          </a:p>
        </p:txBody>
      </p:sp>
      <p:sp>
        <p:nvSpPr>
          <p:cNvPr id="30" name="Text 28"/>
          <p:cNvSpPr/>
          <p:nvPr/>
        </p:nvSpPr>
        <p:spPr>
          <a:xfrm>
            <a:off x="6391656" y="4242816"/>
            <a:ext cx="4178808" cy="10058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110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无 CI 门禁且测试分层不足，日常改动回归质量依赖人工自检。</a:t>
            </a:r>
            <a:endParaRPr lang="en-US" sz="111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1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AFA"/>
          </a:solidFill>
          <a:ln w="12700">
            <a:solidFill>
              <a:srgbClr val="F1FAF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E5F4F5"/>
          </a:solidFill>
          <a:ln w="12700">
            <a:solidFill>
              <a:srgbClr val="E5F4F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601200" y="-914400"/>
            <a:ext cx="2743200" cy="2743200"/>
          </a:xfrm>
          <a:prstGeom prst="arc">
            <a:avLst/>
          </a:prstGeom>
          <a:solidFill>
            <a:srgbClr val="F1FAFA">
              <a:alpha val="0"/>
            </a:srgbClr>
          </a:solidFill>
          <a:ln w="63500">
            <a:solidFill>
              <a:srgbClr val="78D6C6">
                <a:alpha val="6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530352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66928" y="80467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324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建议下一步：先降低运行与回归成本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9674352" y="658368"/>
            <a:ext cx="1737360" cy="438912"/>
          </a:xfrm>
          <a:prstGeom prst="roundRect">
            <a:avLst>
              <a:gd name="adj" fmla="val 16667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57232" y="731520"/>
            <a:ext cx="7315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北京时间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543032" y="731520"/>
            <a:ext cx="71323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8D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2026-06-18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530352" y="6565392"/>
            <a:ext cx="6035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6174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yu-ai-code-mother · 每日项目状态 · 2026-06-18</a:t>
            </a:r>
            <a:endParaRPr lang="en-US" sz="880" dirty="0"/>
          </a:p>
        </p:txBody>
      </p:sp>
      <p:sp>
        <p:nvSpPr>
          <p:cNvPr id="12" name="Text 10"/>
          <p:cNvSpPr/>
          <p:nvPr/>
        </p:nvSpPr>
        <p:spPr>
          <a:xfrm>
            <a:off x="11064240" y="6519672"/>
            <a:ext cx="594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234440" y="2880360"/>
            <a:ext cx="9692640" cy="0"/>
          </a:xfrm>
          <a:prstGeom prst="line">
            <a:avLst/>
          </a:prstGeom>
          <a:noFill/>
          <a:ln w="31750">
            <a:solidFill>
              <a:srgbClr val="1C729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86384" y="2331720"/>
            <a:ext cx="804672" cy="804672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86384" y="2542032"/>
            <a:ext cx="804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02336" y="3438144"/>
            <a:ext cx="15727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明确默认交付形态</a:t>
            </a:r>
            <a:endParaRPr lang="en-US" sz="1220" dirty="0"/>
          </a:p>
        </p:txBody>
      </p:sp>
      <p:sp>
        <p:nvSpPr>
          <p:cNvPr id="17" name="Text 15"/>
          <p:cNvSpPr/>
          <p:nvPr/>
        </p:nvSpPr>
        <p:spPr>
          <a:xfrm>
            <a:off x="283464" y="3858768"/>
            <a:ext cx="1828800" cy="74980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algn="ctr" indent="0" marL="0">
              <a:buNone/>
            </a:pPr>
            <a:r>
              <a:rPr lang="en-US" sz="970" dirty="0">
                <a:solidFill>
                  <a:srgbClr val="6174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 README 标注单体/微服务成熟度与推荐启动路径。</a:t>
            </a:r>
            <a:endParaRPr lang="en-US" sz="970" dirty="0"/>
          </a:p>
        </p:txBody>
      </p:sp>
      <p:sp>
        <p:nvSpPr>
          <p:cNvPr id="18" name="Shape 16"/>
          <p:cNvSpPr/>
          <p:nvPr/>
        </p:nvSpPr>
        <p:spPr>
          <a:xfrm>
            <a:off x="3054096" y="2331720"/>
            <a:ext cx="804672" cy="804672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054096" y="2542032"/>
            <a:ext cx="804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2670048" y="3438144"/>
            <a:ext cx="15727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补齐一键环境</a:t>
            </a:r>
            <a:endParaRPr lang="en-US" sz="1220" dirty="0"/>
          </a:p>
        </p:txBody>
      </p:sp>
      <p:sp>
        <p:nvSpPr>
          <p:cNvPr id="21" name="Text 19"/>
          <p:cNvSpPr/>
          <p:nvPr/>
        </p:nvSpPr>
        <p:spPr>
          <a:xfrm>
            <a:off x="2551176" y="3858768"/>
            <a:ext cx="1828800" cy="74980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algn="ctr" indent="0" marL="0">
              <a:buNone/>
            </a:pPr>
            <a:r>
              <a:rPr lang="en-US" sz="970" dirty="0">
                <a:solidFill>
                  <a:srgbClr val="6174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提供 docker-compose 或脚本组织 MySQL、Redis、Nacos、Prometheus。</a:t>
            </a:r>
            <a:endParaRPr lang="en-US" sz="970" dirty="0"/>
          </a:p>
        </p:txBody>
      </p:sp>
      <p:sp>
        <p:nvSpPr>
          <p:cNvPr id="22" name="Shape 20"/>
          <p:cNvSpPr/>
          <p:nvPr/>
        </p:nvSpPr>
        <p:spPr>
          <a:xfrm>
            <a:off x="5321808" y="2331720"/>
            <a:ext cx="804672" cy="804672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321808" y="2542032"/>
            <a:ext cx="804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4937760" y="3438144"/>
            <a:ext cx="15727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建立 CI 门禁</a:t>
            </a:r>
            <a:endParaRPr lang="en-US" sz="1220" dirty="0"/>
          </a:p>
        </p:txBody>
      </p:sp>
      <p:sp>
        <p:nvSpPr>
          <p:cNvPr id="25" name="Text 23"/>
          <p:cNvSpPr/>
          <p:nvPr/>
        </p:nvSpPr>
        <p:spPr>
          <a:xfrm>
            <a:off x="4818888" y="3858768"/>
            <a:ext cx="1828800" cy="74980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algn="ctr" indent="0" marL="0">
              <a:buNone/>
            </a:pPr>
            <a:r>
              <a:rPr lang="en-US" sz="970" dirty="0">
                <a:solidFill>
                  <a:srgbClr val="6174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后端 mvn test（Mock 外部服务）+ 前端 build/lint。</a:t>
            </a:r>
            <a:endParaRPr lang="en-US" sz="970" dirty="0"/>
          </a:p>
        </p:txBody>
      </p:sp>
      <p:sp>
        <p:nvSpPr>
          <p:cNvPr id="26" name="Shape 24"/>
          <p:cNvSpPr/>
          <p:nvPr/>
        </p:nvSpPr>
        <p:spPr>
          <a:xfrm>
            <a:off x="7589520" y="2331720"/>
            <a:ext cx="804672" cy="804672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589520" y="2542032"/>
            <a:ext cx="804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7205472" y="3438144"/>
            <a:ext cx="15727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测试分层</a:t>
            </a:r>
            <a:endParaRPr lang="en-US" sz="1220" dirty="0"/>
          </a:p>
        </p:txBody>
      </p:sp>
      <p:sp>
        <p:nvSpPr>
          <p:cNvPr id="29" name="Text 27"/>
          <p:cNvSpPr/>
          <p:nvPr/>
        </p:nvSpPr>
        <p:spPr>
          <a:xfrm>
            <a:off x="7086600" y="3858768"/>
            <a:ext cx="1828800" cy="74980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algn="ctr" indent="0" marL="0">
              <a:buNone/>
            </a:pPr>
            <a:r>
              <a:rPr lang="en-US" sz="970" dirty="0">
                <a:solidFill>
                  <a:srgbClr val="6174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将需 API Key / 浏览器 / 外部服务的测试标记为 integration。</a:t>
            </a:r>
            <a:endParaRPr lang="en-US" sz="970" dirty="0"/>
          </a:p>
        </p:txBody>
      </p:sp>
      <p:sp>
        <p:nvSpPr>
          <p:cNvPr id="30" name="Shape 28"/>
          <p:cNvSpPr/>
          <p:nvPr/>
        </p:nvSpPr>
        <p:spPr>
          <a:xfrm>
            <a:off x="9857232" y="2331720"/>
            <a:ext cx="804672" cy="804672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857232" y="2542032"/>
            <a:ext cx="804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9473184" y="3438144"/>
            <a:ext cx="15727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统一入口与配置</a:t>
            </a:r>
            <a:endParaRPr lang="en-US" sz="1220" dirty="0"/>
          </a:p>
        </p:txBody>
      </p:sp>
      <p:sp>
        <p:nvSpPr>
          <p:cNvPr id="33" name="Text 31"/>
          <p:cNvSpPr/>
          <p:nvPr/>
        </p:nvSpPr>
        <p:spPr>
          <a:xfrm>
            <a:off x="9354312" y="3858768"/>
            <a:ext cx="1828800" cy="74980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algn="ctr" indent="0" marL="0">
              <a:buNone/>
            </a:pPr>
            <a:r>
              <a:rPr lang="en-US" sz="970" dirty="0">
                <a:solidFill>
                  <a:srgbClr val="6174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Gateway 或前端代理配置文档支持两种部署模式切换。</a:t>
            </a:r>
            <a:endParaRPr lang="en-US" sz="970" dirty="0"/>
          </a:p>
        </p:txBody>
      </p:sp>
      <p:sp>
        <p:nvSpPr>
          <p:cNvPr id="34" name="Shape 32"/>
          <p:cNvSpPr/>
          <p:nvPr/>
        </p:nvSpPr>
        <p:spPr>
          <a:xfrm>
            <a:off x="950976" y="5285232"/>
            <a:ext cx="10287000" cy="493776"/>
          </a:xfrm>
          <a:prstGeom prst="roundRect">
            <a:avLst>
              <a:gd name="adj" fmla="val 18519"/>
            </a:avLst>
          </a:prstGeom>
          <a:solidFill>
            <a:srgbClr val="FFFFFF"/>
          </a:solidFill>
          <a:ln w="12700">
            <a:solidFill>
              <a:srgbClr val="D7E7E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0" y="5449824"/>
            <a:ext cx="97840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3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优先级建议：CI / 测试分层与本地一键环境应优先推进，它们能直接降低后续业务迭代和维护成本。</a:t>
            </a:r>
            <a:endParaRPr lang="en-US" sz="113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1295C"/>
          </a:solidFill>
          <a:ln w="12700">
            <a:solidFill>
              <a:srgbClr val="2129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65A82">
              <a:alpha val="82000"/>
            </a:srgbClr>
          </a:solidFill>
          <a:ln w="12700">
            <a:solidFill>
              <a:srgbClr val="065A82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961120" y="0"/>
            <a:ext cx="3246120" cy="6858000"/>
          </a:xfrm>
          <a:prstGeom prst="rect">
            <a:avLst/>
          </a:prstGeom>
          <a:solidFill>
            <a:srgbClr val="1C7293">
              <a:alpha val="80000"/>
            </a:srgbClr>
          </a:solidFill>
          <a:ln w="12700">
            <a:solidFill>
              <a:srgbClr val="1C7293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rot="1200000">
            <a:off x="8046720" y="4389120"/>
            <a:ext cx="3840480" cy="3840480"/>
          </a:xfrm>
          <a:prstGeom prst="arc">
            <a:avLst/>
          </a:prstGeom>
          <a:solidFill>
            <a:srgbClr val="21295C">
              <a:alpha val="0"/>
            </a:srgbClr>
          </a:solidFill>
          <a:ln w="76200">
            <a:solidFill>
              <a:srgbClr val="00A896">
                <a:alpha val="75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71323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78D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总结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13232" y="1243584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能力完整度高，下一阶段重点是工程化保障</a:t>
            </a:r>
            <a:endParaRPr lang="en-US" sz="3600" dirty="0"/>
          </a:p>
        </p:txBody>
      </p:sp>
      <p:sp>
        <p:nvSpPr>
          <p:cNvPr id="8" name="Shape 6"/>
          <p:cNvSpPr/>
          <p:nvPr/>
        </p:nvSpPr>
        <p:spPr>
          <a:xfrm>
            <a:off x="786384" y="2423160"/>
            <a:ext cx="8823960" cy="438912"/>
          </a:xfrm>
          <a:prstGeom prst="roundRect">
            <a:avLst>
              <a:gd name="adj" fmla="val 16667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78D6C6">
                <a:alpha val="5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87552" y="2496312"/>
            <a:ext cx="411480" cy="41148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7552" y="2596896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572768" y="2569464"/>
            <a:ext cx="9601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b="1" dirty="0">
                <a:solidFill>
                  <a:srgbClr val="78D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当前能力</a:t>
            </a:r>
            <a:endParaRPr lang="en-US" sz="1080" dirty="0"/>
          </a:p>
        </p:txBody>
      </p:sp>
      <p:sp>
        <p:nvSpPr>
          <p:cNvPr id="12" name="Text 10"/>
          <p:cNvSpPr/>
          <p:nvPr/>
        </p:nvSpPr>
        <p:spPr>
          <a:xfrm>
            <a:off x="2633472" y="2560320"/>
            <a:ext cx="66751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单体版覆盖 AI 生成、可视化编辑、部署分享、管理监控；微服务版已完成模块拆分。</a:t>
            </a:r>
            <a:endParaRPr lang="en-US" sz="1030" dirty="0"/>
          </a:p>
        </p:txBody>
      </p:sp>
      <p:sp>
        <p:nvSpPr>
          <p:cNvPr id="13" name="Shape 11"/>
          <p:cNvSpPr/>
          <p:nvPr/>
        </p:nvSpPr>
        <p:spPr>
          <a:xfrm>
            <a:off x="786384" y="3136392"/>
            <a:ext cx="8823960" cy="438912"/>
          </a:xfrm>
          <a:prstGeom prst="roundRect">
            <a:avLst>
              <a:gd name="adj" fmla="val 16667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78D6C6">
                <a:alpha val="5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87552" y="3209544"/>
            <a:ext cx="411480" cy="41148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87552" y="3310128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572768" y="3282696"/>
            <a:ext cx="9601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b="1" dirty="0">
                <a:solidFill>
                  <a:srgbClr val="78D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近期状态</a:t>
            </a:r>
            <a:endParaRPr lang="en-US" sz="1080" dirty="0"/>
          </a:p>
        </p:txBody>
      </p:sp>
      <p:sp>
        <p:nvSpPr>
          <p:cNvPr id="17" name="Text 15"/>
          <p:cNvSpPr/>
          <p:nvPr/>
        </p:nvSpPr>
        <p:spPr>
          <a:xfrm>
            <a:off x="2633472" y="3273552"/>
            <a:ext cx="66751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近 7 天以每日汇报文档为主，业务代码保持稳定。</a:t>
            </a:r>
            <a:endParaRPr lang="en-US" sz="1030" dirty="0"/>
          </a:p>
        </p:txBody>
      </p:sp>
      <p:sp>
        <p:nvSpPr>
          <p:cNvPr id="18" name="Shape 16"/>
          <p:cNvSpPr/>
          <p:nvPr/>
        </p:nvSpPr>
        <p:spPr>
          <a:xfrm>
            <a:off x="786384" y="3849624"/>
            <a:ext cx="8823960" cy="438912"/>
          </a:xfrm>
          <a:prstGeom prst="roundRect">
            <a:avLst>
              <a:gd name="adj" fmla="val 16667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78D6C6">
                <a:alpha val="5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87552" y="3922776"/>
            <a:ext cx="411480" cy="411480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87552" y="4023360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572768" y="3995928"/>
            <a:ext cx="9601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b="1" dirty="0">
                <a:solidFill>
                  <a:srgbClr val="78D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主要风险</a:t>
            </a:r>
            <a:endParaRPr lang="en-US" sz="1080" dirty="0"/>
          </a:p>
        </p:txBody>
      </p:sp>
      <p:sp>
        <p:nvSpPr>
          <p:cNvPr id="22" name="Text 20"/>
          <p:cNvSpPr/>
          <p:nvPr/>
        </p:nvSpPr>
        <p:spPr>
          <a:xfrm>
            <a:off x="2633472" y="3986784"/>
            <a:ext cx="66751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外部依赖链长、无 CI 门禁、测试分层不足、双架构运行方式易混淆。</a:t>
            </a:r>
            <a:endParaRPr lang="en-US" sz="1030" dirty="0"/>
          </a:p>
        </p:txBody>
      </p:sp>
      <p:sp>
        <p:nvSpPr>
          <p:cNvPr id="23" name="Shape 21"/>
          <p:cNvSpPr/>
          <p:nvPr/>
        </p:nvSpPr>
        <p:spPr>
          <a:xfrm>
            <a:off x="786384" y="4562856"/>
            <a:ext cx="8823960" cy="438912"/>
          </a:xfrm>
          <a:prstGeom prst="roundRect">
            <a:avLst>
              <a:gd name="adj" fmla="val 16667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78D6C6">
                <a:alpha val="5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87552" y="4636008"/>
            <a:ext cx="411480" cy="41148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87552" y="4736592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572768" y="4709160"/>
            <a:ext cx="9601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b="1" dirty="0">
                <a:solidFill>
                  <a:srgbClr val="78D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行动焦点</a:t>
            </a:r>
            <a:endParaRPr lang="en-US" sz="1080" dirty="0"/>
          </a:p>
        </p:txBody>
      </p:sp>
      <p:sp>
        <p:nvSpPr>
          <p:cNvPr id="27" name="Text 25"/>
          <p:cNvSpPr/>
          <p:nvPr/>
        </p:nvSpPr>
        <p:spPr>
          <a:xfrm>
            <a:off x="2633472" y="4700016"/>
            <a:ext cx="66751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补 CI、补一键环境、明确单体/微服务边界、隔离集成测试。</a:t>
            </a:r>
            <a:endParaRPr lang="en-US" sz="1030" dirty="0"/>
          </a:p>
        </p:txBody>
      </p:sp>
      <p:sp>
        <p:nvSpPr>
          <p:cNvPr id="28" name="Shape 26"/>
          <p:cNvSpPr/>
          <p:nvPr/>
        </p:nvSpPr>
        <p:spPr>
          <a:xfrm>
            <a:off x="9646920" y="1353312"/>
            <a:ext cx="1554480" cy="4023360"/>
          </a:xfrm>
          <a:prstGeom prst="roundRect">
            <a:avLst>
              <a:gd name="adj" fmla="val 10588"/>
            </a:avLst>
          </a:prstGeom>
          <a:solidFill>
            <a:srgbClr val="1C7293">
              <a:alpha val="92000"/>
            </a:srgbClr>
          </a:solidFill>
          <a:ln w="12700">
            <a:solidFill>
              <a:srgbClr val="78D6C6">
                <a:alpha val="6000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857232" y="1828800"/>
            <a:ext cx="1115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PPT</a:t>
            </a:r>
            <a:endParaRPr lang="en-US" sz="2600" dirty="0"/>
          </a:p>
        </p:txBody>
      </p:sp>
      <p:sp>
        <p:nvSpPr>
          <p:cNvPr id="30" name="Text 28"/>
          <p:cNvSpPr/>
          <p:nvPr/>
        </p:nvSpPr>
        <p:spPr>
          <a:xfrm>
            <a:off x="9802368" y="2468880"/>
            <a:ext cx="12618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20" dirty="0">
                <a:solidFill>
                  <a:srgbClr val="D9F7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docs/reports/</a:t>
            </a:r>
            <a:endParaRPr lang="en-US" sz="920" dirty="0"/>
          </a:p>
          <a:p>
            <a:pPr algn="ctr" indent="0" marL="0">
              <a:buNone/>
            </a:pPr>
            <a:r>
              <a:rPr lang="en-US" sz="920" dirty="0">
                <a:solidFill>
                  <a:srgbClr val="D9F7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project-status-2026-06-18.pptx</a:t>
            </a:r>
            <a:endParaRPr lang="en-US" sz="920" dirty="0"/>
          </a:p>
        </p:txBody>
      </p:sp>
      <p:sp>
        <p:nvSpPr>
          <p:cNvPr id="31" name="Text 29"/>
          <p:cNvSpPr/>
          <p:nvPr/>
        </p:nvSpPr>
        <p:spPr>
          <a:xfrm>
            <a:off x="9857232" y="3858768"/>
            <a:ext cx="11155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今日建议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聚焦工程化闭环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yu-ai-code-mother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零代码应用生成平台每日项目状态汇报 2026-06-18</dc:title>
  <dc:subject>每日项目状态汇报</dc:subject>
  <dc:creator>Cursor Automation</dc:creator>
  <cp:lastModifiedBy>Cursor Automation</cp:lastModifiedBy>
  <cp:revision>1</cp:revision>
  <dcterms:created xsi:type="dcterms:W3CDTF">2026-06-18T09:07:52Z</dcterms:created>
  <dcterms:modified xsi:type="dcterms:W3CDTF">2026-06-18T09:07:52Z</dcterms:modified>
</cp:coreProperties>
</file>