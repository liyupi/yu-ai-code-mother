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>
              <a:alpha val="72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-777240"/>
            <a:ext cx="4754880" cy="4754880"/>
          </a:xfrm>
          <a:prstGeom prst="ellipse">
            <a:avLst/>
          </a:prstGeom>
          <a:solidFill>
            <a:srgbClr val="1C7293">
              <a:alpha val="8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3794760"/>
            <a:ext cx="5212080" cy="5212080"/>
          </a:xfrm>
          <a:prstGeom prst="ellipse">
            <a:avLst/>
          </a:prstGeom>
          <a:solidFill>
            <a:srgbClr val="02C39A">
              <a:alpha val="38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720000">
            <a:off x="6400800" y="-320040"/>
            <a:ext cx="4572000" cy="4572000"/>
          </a:xfrm>
          <a:prstGeom prst="arc">
            <a:avLst/>
          </a:prstGeom>
          <a:noFill/>
          <a:ln w="2794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6903720" y="228600"/>
            <a:ext cx="3840480" cy="3840480"/>
          </a:xfrm>
          <a:prstGeom prst="arc">
            <a:avLst/>
          </a:prstGeom>
          <a:noFill/>
          <a:ln w="20320">
            <a:solidFill>
              <a:srgbClr val="02C39A">
                <a:alpha val="4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133856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49808" y="1874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22860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B8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9808" y="2816352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884932"/>
            <a:ext cx="20208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北京时间 2026-06-13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72968" y="2816352"/>
            <a:ext cx="2331720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82696" y="2884932"/>
            <a:ext cx="2112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面向维护者 / 团队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589520" y="1234440"/>
            <a:ext cx="3566160" cy="3337560"/>
          </a:xfrm>
          <a:prstGeom prst="roundRect">
            <a:avLst>
              <a:gd name="adj" fmla="val 2192"/>
            </a:avLst>
          </a:prstGeom>
          <a:solidFill>
            <a:srgbClr val="FFFFFF">
              <a:alpha val="11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1600200"/>
            <a:ext cx="1051560" cy="132588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46720" y="178308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074152" y="2496312"/>
            <a:ext cx="722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生成模式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92440" y="2761488"/>
            <a:ext cx="685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多文件 / Vue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44000" y="1600200"/>
            <a:ext cx="1051560" cy="132588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81160" y="178308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9308592" y="2496312"/>
            <a:ext cx="722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326880" y="2761488"/>
            <a:ext cx="685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/ app / ai 等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909560" y="3063240"/>
            <a:ext cx="1051560" cy="132588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46720" y="324612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8074152" y="3959352"/>
            <a:ext cx="722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测试文件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092440" y="4224528"/>
            <a:ext cx="685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后端单体测试目录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144000" y="3063240"/>
            <a:ext cx="1051560" cy="132588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281160" y="324612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9308592" y="3959352"/>
            <a:ext cx="722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天提交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326880" y="4224528"/>
            <a:ext cx="685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本轮报告未见新增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68096" y="608990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资料来源：README、主模块目录、pom/package 配置、最近提交与代码静态检索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B"/>
          </a:solidFill>
          <a:ln w="12700">
            <a:solidFill>
              <a:srgbClr val="F3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9875520" y="-731520"/>
            <a:ext cx="3108960" cy="3108960"/>
          </a:xfrm>
          <a:prstGeom prst="arc">
            <a:avLst/>
          </a:prstGeom>
          <a:noFill/>
          <a:ln w="25400">
            <a:solidFill>
              <a:srgbClr val="D8EEF2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52760" y="320040"/>
            <a:ext cx="384048" cy="384048"/>
          </a:xfrm>
          <a:prstGeom prst="ellipse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3367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629107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2026-06-13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38404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58368" y="95097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一套以 AI 开发实战与后端架构设计为核心的企业级 AI 代码生成平台。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1508760"/>
            <a:ext cx="33375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86968" y="1709928"/>
            <a:ext cx="420624" cy="420624"/>
          </a:xfrm>
          <a:prstGeom prst="roundRect">
            <a:avLst>
              <a:gd name="adj" fmla="val 4348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180136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35608" y="16916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产品定位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1832" y="2221992"/>
            <a:ext cx="28346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用户输入自然语言需求，平台自动生成网站应用，并支持对话迭代、预览、部署、下载与管理。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4251960" y="1508760"/>
            <a:ext cx="33375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53128" y="1709928"/>
            <a:ext cx="420624" cy="420624"/>
          </a:xfrm>
          <a:prstGeom prst="roundRect">
            <a:avLst>
              <a:gd name="adj" fmla="val 4348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53128" y="180136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01768" y="16916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技术基座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07992" y="2221992"/>
            <a:ext cx="28346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后端基于 Spring Boot 3 / Java 21，AI 能力围绕 LangChain4j 与 LangGraph4j 工作流展开。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7818120" y="1508760"/>
            <a:ext cx="33375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19288" y="1709928"/>
            <a:ext cx="420624" cy="420624"/>
          </a:xfrm>
          <a:prstGeom prst="roundRect">
            <a:avLst>
              <a:gd name="adj" fmla="val 4348"/>
            </a:avLst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19288" y="180136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67928" y="16916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前端形态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74152" y="2221992"/>
            <a:ext cx="28346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TypeScript + Ant Design Vue，覆盖首页、应用对话、应用编辑和后台管理页面。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685800" y="3703320"/>
            <a:ext cx="10469880" cy="1280160"/>
          </a:xfrm>
          <a:prstGeom prst="roundRect">
            <a:avLst>
              <a:gd name="adj" fmla="val 5714"/>
            </a:avLst>
          </a:prstGeom>
          <a:solidFill>
            <a:srgbClr val="D8EEF2"/>
          </a:solidFill>
          <a:ln w="12700">
            <a:solidFill>
              <a:srgbClr val="D8EEF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391363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当前判断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148840" y="3840480"/>
            <a:ext cx="809244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代码库已具备从“提示词 → AI 生成 → 预览/部署 → 管理监控”的主干闭环；近期最重要的工程线索是完成微服务拆分，并保留完整单体项目代码。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97280" y="5440680"/>
            <a:ext cx="9921240" cy="0"/>
          </a:xfrm>
          <a:prstGeom prst="line">
            <a:avLst/>
          </a:prstGeom>
          <a:noFill/>
          <a:ln w="25400">
            <a:solidFill>
              <a:srgbClr val="1C7293">
                <a:alpha val="8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" y="5230368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5349240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8368" y="57150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需求描述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56432" y="523036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56432" y="5349240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108960" y="57150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路由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07024" y="5230368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07024" y="5349240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59552" y="57150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357616" y="523036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57616" y="5349240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010144" y="57150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实时预览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808208" y="5230368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808208" y="5349240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460736" y="57150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部署分享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B"/>
          </a:solidFill>
          <a:ln w="12700">
            <a:solidFill>
              <a:srgbClr val="F3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9875520" y="-731520"/>
            <a:ext cx="3108960" cy="3108960"/>
          </a:xfrm>
          <a:prstGeom prst="arc">
            <a:avLst/>
          </a:prstGeom>
          <a:noFill/>
          <a:ln w="25400">
            <a:solidFill>
              <a:srgbClr val="D8EEF2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52760" y="320040"/>
            <a:ext cx="384048" cy="384048"/>
          </a:xfrm>
          <a:prstGeom prst="ellipse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3367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629107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2026-06-13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38404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模块与架构视图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58368" y="95097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单体项目、微服务改造和前端工程并存，便于教学演进与架构对比。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1417320"/>
            <a:ext cx="3154680" cy="416052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7620">
            <a:solidFill>
              <a:srgbClr val="CFE4EA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171907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单体后端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194560"/>
            <a:ext cx="2514600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src/main：应用、AI、工作流、部署截图、监控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pom.xml：Spring Boot 3.5.4 / Java 21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src/test：核心生成与工作流测试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26280" y="1417320"/>
            <a:ext cx="3154680" cy="416052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7620">
            <a:solidFill>
              <a:srgbClr val="CFE4EA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171907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微服务目录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00600" y="2194560"/>
            <a:ext cx="2514600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/ model / client 共享基础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app / ai / screenshot 业务拆分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+ Nacos 用于跨服务调用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366760" y="1417320"/>
            <a:ext cx="2788920" cy="41605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7620">
            <a:solidFill>
              <a:srgbClr val="CFE4EA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41080" y="171907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前端与运维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41080" y="2194560"/>
            <a:ext cx="2057400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/ TypeScript / Vite / Pinia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 Design Vue 页面与后台管理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prometheus.yml 与 grafana 目录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886200" y="3429000"/>
            <a:ext cx="594360" cy="0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26680" y="3429000"/>
            <a:ext cx="594360" cy="0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B"/>
          </a:solidFill>
          <a:ln w="12700">
            <a:solidFill>
              <a:srgbClr val="F3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9875520" y="-731520"/>
            <a:ext cx="3108960" cy="3108960"/>
          </a:xfrm>
          <a:prstGeom prst="arc">
            <a:avLst/>
          </a:prstGeom>
          <a:noFill/>
          <a:ln w="25400">
            <a:solidFill>
              <a:srgbClr val="D8EEF2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52760" y="320040"/>
            <a:ext cx="384048" cy="384048"/>
          </a:xfrm>
          <a:prstGeom prst="ellipse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3367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629107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2026-06-13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38404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当前核心能力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58368" y="95097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README 与代码入口归纳出的已实现/已配置能力。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1325880"/>
            <a:ext cx="2542032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86968" y="1527048"/>
            <a:ext cx="420624" cy="420624"/>
          </a:xfrm>
          <a:prstGeom prst="roundRect">
            <a:avLst>
              <a:gd name="adj" fmla="val 4348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161848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35608" y="150876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智能代码生成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1832" y="2039112"/>
            <a:ext cx="2039112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支持原生 HTML、原生多文件、Vue 工程模式；AI 路由选择合适生成策略。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3429000" y="1325880"/>
            <a:ext cx="2542032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30168" y="1527048"/>
            <a:ext cx="420624" cy="420624"/>
          </a:xfrm>
          <a:prstGeom prst="roundRect">
            <a:avLst>
              <a:gd name="adj" fmla="val 4348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161848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78808" y="150876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流式对话体验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85032" y="2039112"/>
            <a:ext cx="2039112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后端通过 Flux / SSE 输出生成过程，前端可实时呈现 AI 执行结果。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6172200" y="1325880"/>
            <a:ext cx="2542032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73368" y="1527048"/>
            <a:ext cx="420624" cy="420624"/>
          </a:xfrm>
          <a:prstGeom prst="roundRect">
            <a:avLst>
              <a:gd name="adj" fmla="val 4348"/>
            </a:avLst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73368" y="161848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22008" y="150876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可视化迭代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28232" y="2039112"/>
            <a:ext cx="2039112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生成应用可预览，并围绕对话与页面修改流程承载后续编辑。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8915400" y="1325880"/>
            <a:ext cx="2267712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16568" y="1527048"/>
            <a:ext cx="420624" cy="420624"/>
          </a:xfrm>
          <a:prstGeom prst="roundRect">
            <a:avLst>
              <a:gd name="adj" fmla="val 4348"/>
            </a:avLst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16568" y="161848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65208" y="1508760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部署与下载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71432" y="2039112"/>
            <a:ext cx="1764792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部署后生成访问地址，支持项目源码下载与自动封面截图。</a:t>
            </a:r>
            <a:endParaRPr lang="en-US" sz="1280" dirty="0"/>
          </a:p>
        </p:txBody>
      </p:sp>
      <p:sp>
        <p:nvSpPr>
          <p:cNvPr id="31" name="Shape 29"/>
          <p:cNvSpPr/>
          <p:nvPr/>
        </p:nvSpPr>
        <p:spPr>
          <a:xfrm>
            <a:off x="1234440" y="3703320"/>
            <a:ext cx="27889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435608" y="3904488"/>
            <a:ext cx="420624" cy="420624"/>
          </a:xfrm>
          <a:prstGeom prst="roundRect">
            <a:avLst>
              <a:gd name="adj" fmla="val 4348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35608" y="399592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984248" y="38862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企业管理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490472" y="4416552"/>
            <a:ext cx="22860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用户、应用、精选应用、后台管理与权限校验接口已覆盖主流程。</a:t>
            </a:r>
            <a:endParaRPr lang="en-US" sz="1280" dirty="0"/>
          </a:p>
        </p:txBody>
      </p:sp>
      <p:sp>
        <p:nvSpPr>
          <p:cNvPr id="36" name="Shape 34"/>
          <p:cNvSpPr/>
          <p:nvPr/>
        </p:nvSpPr>
        <p:spPr>
          <a:xfrm>
            <a:off x="4663440" y="3703320"/>
            <a:ext cx="27889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64608" y="3904488"/>
            <a:ext cx="420624" cy="420624"/>
          </a:xfrm>
          <a:prstGeom prst="roundRect">
            <a:avLst>
              <a:gd name="adj" fmla="val 4348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399592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13248" y="38862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性能与安全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919472" y="4416552"/>
            <a:ext cx="22860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限流、Prompt 审查、Redis/Caffeine 缓存、并发优化相关能力已引入。</a:t>
            </a:r>
            <a:endParaRPr lang="en-US" sz="1280" dirty="0"/>
          </a:p>
        </p:txBody>
      </p:sp>
      <p:sp>
        <p:nvSpPr>
          <p:cNvPr id="41" name="Shape 39"/>
          <p:cNvSpPr/>
          <p:nvPr/>
        </p:nvSpPr>
        <p:spPr>
          <a:xfrm>
            <a:off x="8092440" y="3703320"/>
            <a:ext cx="27889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293608" y="3904488"/>
            <a:ext cx="420624" cy="420624"/>
          </a:xfrm>
          <a:prstGeom prst="roundRect">
            <a:avLst>
              <a:gd name="adj" fmla="val 4348"/>
            </a:avLst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93608" y="399592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842248" y="38862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可观测性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348472" y="4416552"/>
            <a:ext cx="22860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暴露 health/info/prometheus，仓库包含 Prometheus 与 Grafana 配置。</a:t>
            </a:r>
            <a:endParaRPr lang="en-US" sz="12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B"/>
          </a:solidFill>
          <a:ln w="12700">
            <a:solidFill>
              <a:srgbClr val="F3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9875520" y="-731520"/>
            <a:ext cx="3108960" cy="3108960"/>
          </a:xfrm>
          <a:prstGeom prst="arc">
            <a:avLst/>
          </a:prstGeom>
          <a:noFill/>
          <a:ln w="25400">
            <a:solidFill>
              <a:srgbClr val="D8EEF2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52760" y="320040"/>
            <a:ext cx="384048" cy="384048"/>
          </a:xfrm>
          <a:prstGeom prst="ellipse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3367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CHANGES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629107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2026-06-13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38404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58368" y="95097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 7 天无新提交；以下为代码库最近一次集中迭代与相邻提交脉络。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1691640"/>
            <a:ext cx="0" cy="4069080"/>
          </a:xfrm>
          <a:prstGeom prst="line">
            <a:avLst/>
          </a:prstGeom>
          <a:noFill/>
          <a:ln w="25400">
            <a:solidFill>
              <a:srgbClr val="1C7293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1832" y="1581912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08760" y="1417320"/>
            <a:ext cx="95097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55648" y="15819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63240" y="15361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微服务改造完成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5074920" y="1527048"/>
            <a:ext cx="5532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新增/整理完整单体代码，同时微服务目录形成 common、model、client、user、app、ai、screenshot 模块。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41832" y="2459736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08760" y="2295144"/>
            <a:ext cx="95097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55648" y="245973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63240" y="24140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+ Nacos 联调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5074920" y="2404872"/>
            <a:ext cx="5532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跨服务调用接入，用户服务、应用服务、截图服务通过内部接口协作。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41832" y="3337560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08760" y="3172968"/>
            <a:ext cx="95097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55648" y="33375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063240" y="32918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可观测性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5074920" y="3282696"/>
            <a:ext cx="5532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 Spring Boot Actuator、Prometheus 暴露与 Grafana 配置，支撑服务状态观察。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41832" y="4215384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08760" y="4050792"/>
            <a:ext cx="95097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55648" y="421538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063240" y="416966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系统优化</a:t>
            </a:r>
            <a:endParaRPr lang="en-US" sz="1420" dirty="0"/>
          </a:p>
        </p:txBody>
      </p:sp>
      <p:sp>
        <p:nvSpPr>
          <p:cNvPr id="31" name="Text 29"/>
          <p:cNvSpPr/>
          <p:nvPr/>
        </p:nvSpPr>
        <p:spPr>
          <a:xfrm>
            <a:off x="5074920" y="4160520"/>
            <a:ext cx="5532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覆盖实时性、并发、Redis 缓存、限流、Prompt 审查和稳定性优化。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41832" y="5093208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08760" y="4928616"/>
            <a:ext cx="95097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55648" y="509320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2025-08-12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063240" y="50474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工作流增强</a:t>
            </a:r>
            <a:endParaRPr lang="en-US" sz="1420" dirty="0"/>
          </a:p>
        </p:txBody>
      </p:sp>
      <p:sp>
        <p:nvSpPr>
          <p:cNvPr id="36" name="Text 34"/>
          <p:cNvSpPr/>
          <p:nvPr/>
        </p:nvSpPr>
        <p:spPr>
          <a:xfrm>
            <a:off x="5074920" y="5038344"/>
            <a:ext cx="5532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工作流、图片并发收集与工具节点能力持续完善。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229600" y="502920"/>
            <a:ext cx="2743200" cy="566928"/>
          </a:xfrm>
          <a:prstGeom prst="roundRect">
            <a:avLst>
              <a:gd name="adj" fmla="val 8065"/>
            </a:avLst>
          </a:prstGeom>
          <a:solidFill>
            <a:srgbClr val="FFF3D8"/>
          </a:solidFill>
          <a:ln w="7620">
            <a:solidFill>
              <a:srgbClr val="F3D49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58200" y="69494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天提交：0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B"/>
          </a:solidFill>
          <a:ln w="12700">
            <a:solidFill>
              <a:srgbClr val="F3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9875520" y="-731520"/>
            <a:ext cx="3108960" cy="3108960"/>
          </a:xfrm>
          <a:prstGeom prst="arc">
            <a:avLst/>
          </a:prstGeom>
          <a:noFill/>
          <a:ln w="25400">
            <a:solidFill>
              <a:srgbClr val="D8EEF2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52760" y="320040"/>
            <a:ext cx="384048" cy="384048"/>
          </a:xfrm>
          <a:prstGeom prst="ellipse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3367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TESTS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629107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2026-06-13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38404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 / 指标要点与测试状态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58368" y="95097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基于仓库静态信息与配置读取，不代表线上运行指标。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141732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16002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50392" y="231343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代码生成类型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2578608"/>
            <a:ext cx="1645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HTML、多文件、Vue 工程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71800" y="141732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08960" y="16002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136392" y="231343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154680" y="2578608"/>
            <a:ext cx="1645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 聚合模块数量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257800" y="141732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0" y="16002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5422392" y="231343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后端测试文件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40680" y="2578608"/>
            <a:ext cx="1645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src/test 发现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543800" y="141732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80960" y="16002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7708392" y="231343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工作流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726680" y="2578608"/>
            <a:ext cx="1645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 未发现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829800" y="1417320"/>
            <a:ext cx="1325880" cy="16459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966960" y="160020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9994392" y="2313432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版本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012680" y="2578608"/>
            <a:ext cx="960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 配置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85800" y="379476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60120" y="4041648"/>
            <a:ext cx="256032" cy="25603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07592" y="40599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测试配置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0120" y="4407408"/>
            <a:ext cx="44348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后端：Spring Boot Test，覆盖代码解析、AI 生成、工作流与截图工具等测试类。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前端：package.json 提供 build、type-check、lint、format 脚本。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6080760" y="379476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55080" y="4041648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02552" y="40599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状态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55080" y="4407408"/>
            <a:ext cx="44348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GitHub Actions 工作流，无法从仓库直接判断自动化流水线状态。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本次报告生成执行了 PPT 文本抽取与占位文本检查。</a:t>
            </a:r>
            <a:endParaRPr lang="en-US" sz="12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B"/>
          </a:solidFill>
          <a:ln w="12700">
            <a:solidFill>
              <a:srgbClr val="F3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9875520" y="-731520"/>
            <a:ext cx="3108960" cy="3108960"/>
          </a:xfrm>
          <a:prstGeom prst="arc">
            <a:avLst/>
          </a:prstGeom>
          <a:noFill/>
          <a:ln w="25400">
            <a:solidFill>
              <a:srgbClr val="D8EEF2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52760" y="320040"/>
            <a:ext cx="384048" cy="384048"/>
          </a:xfrm>
          <a:prstGeom prst="ellipse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3367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629107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2026-06-13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38404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58368" y="95097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从配置、提交说明与项目结构推断的待补齐事项。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1417320"/>
            <a:ext cx="50749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86968" y="1618488"/>
            <a:ext cx="420624" cy="420624"/>
          </a:xfrm>
          <a:prstGeom prst="roundRect">
            <a:avLst>
              <a:gd name="adj" fmla="val 4348"/>
            </a:avLst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170992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35608" y="16002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运行配置产品化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1832" y="2130552"/>
            <a:ext cx="4572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application.yml 中 AI、COS、Pexels、DashScope 等外部服务仍需按环境注入真实配置。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6080760" y="1417320"/>
            <a:ext cx="50749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81928" y="1618488"/>
            <a:ext cx="420624" cy="420624"/>
          </a:xfrm>
          <a:prstGeom prst="roundRect">
            <a:avLst>
              <a:gd name="adj" fmla="val 4348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170992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30568" y="16002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微服务部署闭环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36792" y="2130552"/>
            <a:ext cx="4572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微服务目录已拆分，但仍需补齐统一启动、服务发现、配置中心与部署说明。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685800" y="2788920"/>
            <a:ext cx="50749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86968" y="2990088"/>
            <a:ext cx="420624" cy="420624"/>
          </a:xfrm>
          <a:prstGeom prst="roundRect">
            <a:avLst>
              <a:gd name="adj" fmla="val 4348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308152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35608" y="29718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自动化质量门禁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1832" y="3502152"/>
            <a:ext cx="4572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仓库未发现 CI 工作流，后端测试和前端 build/lint 尚未形成自动检查链路。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6080760" y="2788920"/>
            <a:ext cx="50749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81928" y="2990088"/>
            <a:ext cx="420624" cy="420624"/>
          </a:xfrm>
          <a:prstGeom prst="roundRect">
            <a:avLst>
              <a:gd name="adj" fmla="val 4348"/>
            </a:avLst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308152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30568" y="29718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运行指标看板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36792" y="3502152"/>
            <a:ext cx="4572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Prometheus/Grafana 配置存在，但缺少最近线上指标、告警规则与可用性趋势数据。</a:t>
            </a:r>
            <a:endParaRPr lang="en-US" sz="1280" dirty="0"/>
          </a:p>
        </p:txBody>
      </p:sp>
      <p:sp>
        <p:nvSpPr>
          <p:cNvPr id="31" name="Shape 29"/>
          <p:cNvSpPr/>
          <p:nvPr/>
        </p:nvSpPr>
        <p:spPr>
          <a:xfrm>
            <a:off x="685800" y="4160520"/>
            <a:ext cx="50749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86968" y="4361688"/>
            <a:ext cx="420624" cy="420624"/>
          </a:xfrm>
          <a:prstGeom prst="roundRect">
            <a:avLst>
              <a:gd name="adj" fmla="val 4348"/>
            </a:avLst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6968" y="445312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435608" y="43434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用户体验闭环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41832" y="4873752"/>
            <a:ext cx="4572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可视化编辑、增量修改、精选应用运营等能力需继续以端到端体验验证。</a:t>
            </a:r>
            <a:endParaRPr lang="en-US" sz="1280" dirty="0"/>
          </a:p>
        </p:txBody>
      </p:sp>
      <p:sp>
        <p:nvSpPr>
          <p:cNvPr id="36" name="Shape 34"/>
          <p:cNvSpPr/>
          <p:nvPr/>
        </p:nvSpPr>
        <p:spPr>
          <a:xfrm>
            <a:off x="6080760" y="416052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D8EEF2"/>
          </a:solidFill>
          <a:ln w="12700">
            <a:solidFill>
              <a:srgbClr val="D8EEF2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2512" y="442569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关注原则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06640" y="4325112"/>
            <a:ext cx="32461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先保证生成、部署、管理主路径稳定，再逐步扩大复杂生成模式和可观测性覆盖。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B"/>
          </a:solidFill>
          <a:ln w="12700">
            <a:solidFill>
              <a:srgbClr val="F3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9875520" y="-731520"/>
            <a:ext cx="3108960" cy="3108960"/>
          </a:xfrm>
          <a:prstGeom prst="arc">
            <a:avLst/>
          </a:prstGeom>
          <a:noFill/>
          <a:ln w="25400">
            <a:solidFill>
              <a:srgbClr val="D8EEF2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52760" y="320040"/>
            <a:ext cx="384048" cy="384048"/>
          </a:xfrm>
          <a:prstGeom prst="ellipse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3367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629107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2026-06-13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38404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58368" y="95097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影响可维护性、上线稳定性和团队协作的主要风险。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15087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1728216"/>
            <a:ext cx="384048" cy="38404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8379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35608" y="172821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 AI / 对象存储依赖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14400" y="2221992"/>
            <a:ext cx="2788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 API、COS、图片搜索等服务需要密钥与额度，配置缺失会直接影响核心链路。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0" y="15087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728216"/>
            <a:ext cx="384048" cy="384048"/>
          </a:xfrm>
          <a:prstGeom prst="ellipse">
            <a:avLst/>
          </a:prstGeom>
          <a:solidFill>
            <a:srgbClr val="C44536"/>
          </a:solidFill>
          <a:ln w="12700">
            <a:solidFill>
              <a:srgbClr val="C4453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8379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38928" y="172821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生成结果质量波动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617720" y="2221992"/>
            <a:ext cx="2788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审查与重试已有基础，但复杂 Vue 工程生成仍需更多质量评估和回归样例。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92440" y="15087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21040" y="1728216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18379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42248" y="172821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单体与微服务双轨维护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321040" y="2221992"/>
            <a:ext cx="2788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两套结构并存有利于教学，但也提高重复修复、配置漂移和测试范围判断成本。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514600" y="388620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0" y="410565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421538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64408" y="41056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缺少自动化流水线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2743200" y="4599432"/>
            <a:ext cx="3017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CI 配置，提交后无法自动反馈 Maven 测试、前端构建和格式检查状态。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0" y="388620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629400" y="4105656"/>
            <a:ext cx="384048" cy="384048"/>
          </a:xfrm>
          <a:prstGeom prst="ellipse">
            <a:avLst/>
          </a:prstGeom>
          <a:solidFill>
            <a:srgbClr val="8AA1AD"/>
          </a:solidFill>
          <a:ln w="12700">
            <a:solidFill>
              <a:srgbClr val="8AA1AD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421538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50608" y="41056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运行数据不可见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629400" y="4599432"/>
            <a:ext cx="3017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当前报告无法取得真实调用量、错误率、响应时间、部署成功率等线上指标。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B"/>
          </a:solidFill>
          <a:ln w="12700">
            <a:solidFill>
              <a:srgbClr val="F3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9875520" y="-731520"/>
            <a:ext cx="3108960" cy="3108960"/>
          </a:xfrm>
          <a:prstGeom prst="arc">
            <a:avLst/>
          </a:prstGeom>
          <a:noFill/>
          <a:ln w="25400">
            <a:solidFill>
              <a:srgbClr val="D8EEF2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52760" y="320040"/>
            <a:ext cx="384048" cy="384048"/>
          </a:xfrm>
          <a:prstGeom prst="ellipse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3367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0" y="629107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2026-06-13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38404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建议下一步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58368" y="95097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围绕主路径稳定性、工程治理与可观测数据补齐推进。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1417320"/>
            <a:ext cx="2423160" cy="42519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1417320"/>
            <a:ext cx="242316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581912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质量门禁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2221992"/>
            <a:ext cx="1005840" cy="420624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234086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98448" y="2322576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重点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978408" y="2880360"/>
            <a:ext cx="187452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 GitHub Actions：后端 Maven test、前端 build/type-check/lint。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为生成模式增加样例回归：HTML、多文件、Vue 工程至少各一组。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05840" y="4983480"/>
            <a:ext cx="1783080" cy="0"/>
          </a:xfrm>
          <a:prstGeom prst="line">
            <a:avLst/>
          </a:prstGeom>
          <a:noFill/>
          <a:ln w="25400">
            <a:solidFill>
              <a:srgbClr val="065A82">
                <a:alpha val="8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417320"/>
            <a:ext cx="2423160" cy="42519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0" y="1417320"/>
            <a:ext cx="242316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1581912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部署与配置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03320" y="2221992"/>
            <a:ext cx="1005840" cy="420624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76472" y="234086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87368" y="2322576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重点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3767328" y="2880360"/>
            <a:ext cx="187452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梳理 local/prod/sample 配置边界，减少密钥和环境值散落。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补齐微服务启动顺序、Nacos/Dubbo 依赖和部署说明。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794760" y="4983480"/>
            <a:ext cx="1783080" cy="0"/>
          </a:xfrm>
          <a:prstGeom prst="line">
            <a:avLst/>
          </a:prstGeom>
          <a:noFill/>
          <a:ln w="25400">
            <a:solidFill>
              <a:srgbClr val="1C7293">
                <a:alpha val="8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1417320"/>
            <a:ext cx="2423160" cy="42519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63640" y="1417320"/>
            <a:ext cx="242316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581912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体验闭环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92240" y="2221992"/>
            <a:ext cx="1005840" cy="420624"/>
          </a:xfrm>
          <a:prstGeom prst="roundRect">
            <a:avLst>
              <a:gd name="adj" fmla="val 8696"/>
            </a:avLst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65392" y="234086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76288" y="2322576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重点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6556248" y="2880360"/>
            <a:ext cx="187452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验证创建、对话生成、预览、部署、下载、后台管理端到端流程。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持续打磨可视化编辑与增量修改的错误恢复体验。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583680" y="4983480"/>
            <a:ext cx="1783080" cy="0"/>
          </a:xfrm>
          <a:prstGeom prst="line">
            <a:avLst/>
          </a:prstGeom>
          <a:noFill/>
          <a:ln w="25400">
            <a:solidFill>
              <a:srgbClr val="00A896">
                <a:alpha val="8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52560" y="1417320"/>
            <a:ext cx="2423160" cy="42519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7620">
            <a:solidFill>
              <a:srgbClr val="D7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B3142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052560" y="1417320"/>
            <a:ext cx="242316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81160" y="1581912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运营指标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281160" y="2221992"/>
            <a:ext cx="1005840" cy="420624"/>
          </a:xfrm>
          <a:prstGeom prst="roundRect">
            <a:avLst>
              <a:gd name="adj" fmla="val 8696"/>
            </a:avLst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54312" y="234086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665208" y="2322576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重点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9345168" y="2880360"/>
            <a:ext cx="187452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AI 调用量、失败率、响应耗时、部署成功率纳入仪表盘。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建立成本指标：模型调用次数、缓存命中率、单次生成成本。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9372600" y="4983480"/>
            <a:ext cx="1783080" cy="0"/>
          </a:xfrm>
          <a:prstGeom prst="line">
            <a:avLst/>
          </a:prstGeom>
          <a:noFill/>
          <a:ln w="25400">
            <a:solidFill>
              <a:srgbClr val="02C39A">
                <a:alpha val="8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>
              <a:alpha val="72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-777240"/>
            <a:ext cx="4754880" cy="4754880"/>
          </a:xfrm>
          <a:prstGeom prst="ellipse">
            <a:avLst/>
          </a:prstGeom>
          <a:solidFill>
            <a:srgbClr val="1C7293">
              <a:alpha val="8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3794760"/>
            <a:ext cx="5212080" cy="5212080"/>
          </a:xfrm>
          <a:prstGeom prst="ellipse">
            <a:avLst/>
          </a:prstGeom>
          <a:solidFill>
            <a:srgbClr val="02C39A">
              <a:alpha val="38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720000">
            <a:off x="6400800" y="-320040"/>
            <a:ext cx="4572000" cy="4572000"/>
          </a:xfrm>
          <a:prstGeom prst="arc">
            <a:avLst/>
          </a:prstGeom>
          <a:noFill/>
          <a:ln w="2794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6903720" y="228600"/>
            <a:ext cx="3840480" cy="3840480"/>
          </a:xfrm>
          <a:prstGeom prst="arc">
            <a:avLst/>
          </a:prstGeom>
          <a:noFill/>
          <a:ln w="20320">
            <a:solidFill>
              <a:srgbClr val="02C39A">
                <a:alpha val="4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80467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86384" y="1572768"/>
            <a:ext cx="7498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项目主干能力已经形成，下一阶段重点是把“可运行、可验证、可观测”的工程闭环做扎实。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60120" y="2514600"/>
            <a:ext cx="8961120" cy="475488"/>
          </a:xfrm>
          <a:prstGeom prst="roundRect">
            <a:avLst>
              <a:gd name="adj" fmla="val 769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660904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能力面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31720" y="2624328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生成、流式对话、部署下载、后台管理、监控配置已有基础。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60120" y="3227832"/>
            <a:ext cx="8961120" cy="475488"/>
          </a:xfrm>
          <a:prstGeom prst="roundRect">
            <a:avLst>
              <a:gd name="adj" fmla="val 769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3741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3337560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微服务改造完成是最近一次重要演进，但双轨结构需要治理。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60120" y="3941064"/>
            <a:ext cx="8961120" cy="475488"/>
          </a:xfrm>
          <a:prstGeom prst="roundRect">
            <a:avLst>
              <a:gd name="adj" fmla="val 769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4087368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31720" y="4050792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外部服务配置、生成质量波动、缺少 CI 与真实运行指标是主要短板。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60120" y="4654296"/>
            <a:ext cx="8961120" cy="475488"/>
          </a:xfrm>
          <a:prstGeom prst="roundRect">
            <a:avLst>
              <a:gd name="adj" fmla="val 769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07008" y="480060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31720" y="4764024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优先补质量门禁、端到端验证、配置说明与运行指标看板。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001000" y="5440680"/>
            <a:ext cx="2743200" cy="475488"/>
          </a:xfrm>
          <a:prstGeom prst="roundRect">
            <a:avLst>
              <a:gd name="adj" fmla="val 7692"/>
            </a:avLst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61447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报告文件：docs/reports/project-status-2026-06-13.pptx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83880" y="55961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每日状态 / 中文汇报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2026-06-13</dc:title>
  <dc:subject>AI 零代码应用生成平台每日项目状态</dc:subject>
  <dc:creator>Cursor Automation</dc:creator>
  <cp:lastModifiedBy>Cursor Automation</cp:lastModifiedBy>
  <cp:revision>1</cp:revision>
  <dcterms:created xsi:type="dcterms:W3CDTF">2026-06-13T09:05:57Z</dcterms:created>
  <dcterms:modified xsi:type="dcterms:W3CDTF">2026-06-13T09:05:57Z</dcterms:modified>
</cp:coreProperties>
</file>