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7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-777240"/>
            <a:ext cx="4754880" cy="4754880"/>
          </a:xfrm>
          <a:prstGeom prst="ellipse">
            <a:avLst/>
          </a:prstGeom>
          <a:solidFill>
            <a:srgbClr val="1C7293">
              <a:alpha val="80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0" y="3794760"/>
            <a:ext cx="5212080" cy="5212080"/>
          </a:xfrm>
          <a:prstGeom prst="ellipse">
            <a:avLst/>
          </a:prstGeom>
          <a:solidFill>
            <a:srgbClr val="02C39A">
              <a:alpha val="3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720000">
            <a:off x="6400800" y="-320040"/>
            <a:ext cx="4572000" cy="4572000"/>
          </a:xfrm>
          <a:prstGeom prst="arc">
            <a:avLst/>
          </a:prstGeom>
          <a:noFill/>
          <a:ln w="2794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">
            <a:off x="6903720" y="228600"/>
            <a:ext cx="3840480" cy="3840480"/>
          </a:xfrm>
          <a:prstGeom prst="arc">
            <a:avLst/>
          </a:prstGeom>
          <a:noFill/>
          <a:ln w="20320">
            <a:solidFill>
              <a:srgbClr val="02C39A">
                <a:alpha val="42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133856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49808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9808" y="22860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B8D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9808" y="2816352"/>
            <a:ext cx="2240280" cy="310896"/>
          </a:xfrm>
          <a:prstGeom prst="roundRect">
            <a:avLst>
              <a:gd name="adj" fmla="val 14706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2884932"/>
            <a:ext cx="2020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 2026-06-13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72968" y="2816352"/>
            <a:ext cx="2331720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82696" y="2884932"/>
            <a:ext cx="2112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面向维护者 / 团队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89520" y="1234440"/>
            <a:ext cx="3566160" cy="3337560"/>
          </a:xfrm>
          <a:prstGeom prst="roundRect">
            <a:avLst>
              <a:gd name="adj" fmla="val 2192"/>
            </a:avLst>
          </a:prstGeom>
          <a:solidFill>
            <a:srgbClr val="FFFFFF">
              <a:alpha val="11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09560" y="1600200"/>
            <a:ext cx="1051560" cy="13258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0" y="17830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074152" y="2496312"/>
            <a:ext cx="722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生成模式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092440" y="2761488"/>
            <a:ext cx="685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Vue 等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44000" y="1600200"/>
            <a:ext cx="1051560" cy="13258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81160" y="17830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08592" y="2496312"/>
            <a:ext cx="722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326880" y="2761488"/>
            <a:ext cx="685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模块拆分完成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909560" y="3063240"/>
            <a:ext cx="1051560" cy="13258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046720" y="324612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074152" y="3959352"/>
            <a:ext cx="722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测试文件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092440" y="4224528"/>
            <a:ext cx="685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单体测试目录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0" y="3063240"/>
            <a:ext cx="1051560" cy="13258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281160" y="324612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9308592" y="3959352"/>
            <a:ext cx="722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326880" y="4224528"/>
            <a:ext cx="685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天无新增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8096" y="608990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资料来源：README、主模块目录、pom/package 配置、最近提交与代码静态检索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2760" y="320040"/>
            <a:ext cx="384048" cy="384048"/>
          </a:xfrm>
          <a:prstGeom prst="ellipse">
            <a:avLst/>
          </a:prstGeom>
          <a:solidFill>
            <a:srgbClr val="02C39A">
              <a:alpha val="8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一套以 AI 开发实战与后端架构设计为核心的企业级 AI 代码生成平台。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50876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86968" y="170992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180136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35608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产品定位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1832" y="2221992"/>
            <a:ext cx="28346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用户输入自然语言需求，平台自动生成网站应用，并支持对话迭代、预览、部署、下载与管理。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4251960" y="150876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53128" y="170992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53128" y="180136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01768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技术基座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07992" y="2221992"/>
            <a:ext cx="28346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后端基于 Spring Boot 3 / Java 21，AI 能力围绕 LangChain4j 与 LangGraph4j 工作流展开。</a:t>
            </a:r>
            <a:endParaRPr lang="en-US" sz="1280" dirty="0"/>
          </a:p>
        </p:txBody>
      </p:sp>
      <p:sp>
        <p:nvSpPr>
          <p:cNvPr id="21" name="Shape 19"/>
          <p:cNvSpPr/>
          <p:nvPr/>
        </p:nvSpPr>
        <p:spPr>
          <a:xfrm>
            <a:off x="7818120" y="150876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19288" y="170992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9288" y="180136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67928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前端形态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74152" y="2221992"/>
            <a:ext cx="28346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 + Ant Design Vue，覆盖首页、应用对话、应用编辑和后台管理页面。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685800" y="3703320"/>
            <a:ext cx="10469880" cy="1280160"/>
          </a:xfrm>
          <a:prstGeom prst="roundRect">
            <a:avLst>
              <a:gd name="adj" fmla="val 5714"/>
            </a:avLst>
          </a:prstGeom>
          <a:solidFill>
            <a:srgbClr val="D8EEF2"/>
          </a:solidFill>
          <a:ln w="12700">
            <a:solidFill>
              <a:srgbClr val="D8EEF2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91363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当前判断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48840" y="3840480"/>
            <a:ext cx="809244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代码库已具备从“提示词 → AI 生成 → 预览/部署 → 管理监控”的主干闭环；近期最重要的工程线索是完成微服务拆分，并保留完整单体项目代码。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97280" y="5440680"/>
            <a:ext cx="9921240" cy="0"/>
          </a:xfrm>
          <a:prstGeom prst="line">
            <a:avLst/>
          </a:prstGeom>
          <a:noFill/>
          <a:ln w="25400">
            <a:solidFill>
              <a:srgbClr val="1C7293">
                <a:alpha val="8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" y="52303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" y="534924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" y="5715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需求描述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56432" y="523036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56432" y="534924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108960" y="5715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路由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907024" y="52303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07024" y="534924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59552" y="5715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357616" y="523036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57616" y="534924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10144" y="5715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实时预览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808208" y="52303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808208" y="534924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460736" y="5715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部署分享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2760" y="320040"/>
            <a:ext cx="384048" cy="384048"/>
          </a:xfrm>
          <a:prstGeom prst="ellipse">
            <a:avLst/>
          </a:prstGeom>
          <a:solidFill>
            <a:srgbClr val="02C39A">
              <a:alpha val="8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模块与架构视图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单体项目、微服务改造和前端工程并存，便于教学演进与架构对比。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3154680" cy="416052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7620">
            <a:solidFill>
              <a:srgbClr val="CFE4EA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171907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2194560"/>
            <a:ext cx="2514600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src/main：应用、AI、工作流、部署截图、监控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pom.xml：Spring Boot 3.5.4 / Java 21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src/test：核心生成与工作流测试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26280" y="1417320"/>
            <a:ext cx="3154680" cy="416052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7620">
            <a:solidFill>
              <a:srgbClr val="CFE4EA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00600" y="171907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微服务目录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800600" y="2194560"/>
            <a:ext cx="2514600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 共享基础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ai / screenshot 业务拆分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用于跨服务调用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366760" y="1417320"/>
            <a:ext cx="2788920" cy="41605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7620">
            <a:solidFill>
              <a:srgbClr val="CFE4EA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41080" y="171907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前端与运维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641080" y="2194560"/>
            <a:ext cx="2057400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/ TypeScript / Vite / Pinia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Vue 页面与后台管理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prometheus.yml 与 grafana 目录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886200" y="3429000"/>
            <a:ext cx="594360" cy="0"/>
          </a:xfrm>
          <a:prstGeom prst="line">
            <a:avLst/>
          </a:prstGeom>
          <a:noFill/>
          <a:ln w="2794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26680" y="3429000"/>
            <a:ext cx="594360" cy="0"/>
          </a:xfrm>
          <a:prstGeom prst="line">
            <a:avLst/>
          </a:prstGeom>
          <a:noFill/>
          <a:ln w="27940">
            <a:solidFill>
              <a:srgbClr val="1C7293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2760" y="320040"/>
            <a:ext cx="384048" cy="384048"/>
          </a:xfrm>
          <a:prstGeom prst="ellipse">
            <a:avLst/>
          </a:prstGeom>
          <a:solidFill>
            <a:srgbClr val="02C39A">
              <a:alpha val="8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当前核心能力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README 与代码入口归纳出的已实现/已配置能力。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325880"/>
            <a:ext cx="2542032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86968" y="152704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161848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35608" y="150876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1832" y="2039112"/>
            <a:ext cx="2039112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支持原生 HTML、原生多文件、Vue 工程模式；AI 路由选择合适生成策略。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3429000" y="1325880"/>
            <a:ext cx="2542032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30168" y="152704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30168" y="161848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78808" y="150876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流式对话体验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85032" y="2039112"/>
            <a:ext cx="2039112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后端通过 Flux / SSE 输出生成过程，前端可实时呈现 AI 执行结果。</a:t>
            </a:r>
            <a:endParaRPr lang="en-US" sz="1280" dirty="0"/>
          </a:p>
        </p:txBody>
      </p:sp>
      <p:sp>
        <p:nvSpPr>
          <p:cNvPr id="21" name="Shape 19"/>
          <p:cNvSpPr/>
          <p:nvPr/>
        </p:nvSpPr>
        <p:spPr>
          <a:xfrm>
            <a:off x="6172200" y="1325880"/>
            <a:ext cx="2542032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73368" y="152704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161848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22008" y="150876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可视化迭代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28232" y="2039112"/>
            <a:ext cx="2039112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生成应用可预览，并围绕对话与页面修改流程承载后续编辑。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8915400" y="1325880"/>
            <a:ext cx="2267712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16568" y="152704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16568" y="161848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65208" y="1508760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部署与下载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71432" y="2039112"/>
            <a:ext cx="1764792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部署后生成访问地址，支持项目源码下载与自动封面截图。</a:t>
            </a:r>
            <a:endParaRPr lang="en-US" sz="1280" dirty="0"/>
          </a:p>
        </p:txBody>
      </p:sp>
      <p:sp>
        <p:nvSpPr>
          <p:cNvPr id="31" name="Shape 29"/>
          <p:cNvSpPr/>
          <p:nvPr/>
        </p:nvSpPr>
        <p:spPr>
          <a:xfrm>
            <a:off x="1234440" y="3703320"/>
            <a:ext cx="2788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435608" y="39044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35608" y="39959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984248" y="3886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企业管理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90472" y="4416552"/>
            <a:ext cx="22860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用户、应用、精选应用、后台管理与权限校验接口已覆盖主流程。</a:t>
            </a:r>
            <a:endParaRPr lang="en-US" sz="1280" dirty="0"/>
          </a:p>
        </p:txBody>
      </p:sp>
      <p:sp>
        <p:nvSpPr>
          <p:cNvPr id="36" name="Shape 34"/>
          <p:cNvSpPr/>
          <p:nvPr/>
        </p:nvSpPr>
        <p:spPr>
          <a:xfrm>
            <a:off x="4663440" y="3703320"/>
            <a:ext cx="2788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864608" y="39044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64608" y="39959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13248" y="3886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性能与安全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919472" y="4416552"/>
            <a:ext cx="22860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限流、Prompt 审查、Redis/Caffeine 缓存、并发优化相关能力已引入。</a:t>
            </a:r>
            <a:endParaRPr lang="en-US" sz="1280" dirty="0"/>
          </a:p>
        </p:txBody>
      </p:sp>
      <p:sp>
        <p:nvSpPr>
          <p:cNvPr id="41" name="Shape 39"/>
          <p:cNvSpPr/>
          <p:nvPr/>
        </p:nvSpPr>
        <p:spPr>
          <a:xfrm>
            <a:off x="8092440" y="3703320"/>
            <a:ext cx="2788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293608" y="39044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93608" y="39959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842248" y="3886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348472" y="4416552"/>
            <a:ext cx="22860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暴露 health/info/prometheus，仓库包含 Prometheus 与 Grafana 配置。</a:t>
            </a:r>
            <a:endParaRPr lang="en-US" sz="12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CHANGES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天无新提交；以下为代码库最近一次集中迭代与相邻提交脉络。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0" y="1691640"/>
            <a:ext cx="0" cy="4069080"/>
          </a:xfrm>
          <a:prstGeom prst="line">
            <a:avLst/>
          </a:prstGeom>
          <a:noFill/>
          <a:ln w="25400">
            <a:solidFill>
              <a:srgbClr val="1C7293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" y="1581912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08760" y="1417320"/>
            <a:ext cx="95097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55648" y="158191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63240" y="153619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5074920" y="1527048"/>
            <a:ext cx="5532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新增/整理完整单体代码，同时微服务目录形成 common、model、client、user、app、ai、screenshot 模块。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41832" y="245973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08760" y="2295144"/>
            <a:ext cx="95097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55648" y="245973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63240" y="241401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联调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5074920" y="2404872"/>
            <a:ext cx="5532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跨服务调用接入，用户服务、应用服务、截图服务通过内部接口协作。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41832" y="333756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08760" y="3172968"/>
            <a:ext cx="95097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55648" y="3337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063240" y="32918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</a:t>
            </a:r>
            <a:endParaRPr lang="en-US" sz="1420" dirty="0"/>
          </a:p>
        </p:txBody>
      </p:sp>
      <p:sp>
        <p:nvSpPr>
          <p:cNvPr id="26" name="Text 24"/>
          <p:cNvSpPr/>
          <p:nvPr/>
        </p:nvSpPr>
        <p:spPr>
          <a:xfrm>
            <a:off x="5074920" y="3282696"/>
            <a:ext cx="5532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 Spring Boot Actuator、Prometheus 暴露与 Grafana 配置，支撑服务状态观察。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41832" y="4215384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08760" y="4050792"/>
            <a:ext cx="95097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55648" y="421538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063240" y="416966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系统优化</a:t>
            </a:r>
            <a:endParaRPr lang="en-US" sz="1420" dirty="0"/>
          </a:p>
        </p:txBody>
      </p:sp>
      <p:sp>
        <p:nvSpPr>
          <p:cNvPr id="31" name="Text 29"/>
          <p:cNvSpPr/>
          <p:nvPr/>
        </p:nvSpPr>
        <p:spPr>
          <a:xfrm>
            <a:off x="5074920" y="4160520"/>
            <a:ext cx="5532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覆盖实时性、并发、Redis 缓存、限流、Prompt 审查和稳定性优化。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41832" y="509320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08760" y="4928616"/>
            <a:ext cx="95097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55648" y="509320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2025-08-12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063240" y="504748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工作流增强</a:t>
            </a:r>
            <a:endParaRPr lang="en-US" sz="1420" dirty="0"/>
          </a:p>
        </p:txBody>
      </p:sp>
      <p:sp>
        <p:nvSpPr>
          <p:cNvPr id="36" name="Text 34"/>
          <p:cNvSpPr/>
          <p:nvPr/>
        </p:nvSpPr>
        <p:spPr>
          <a:xfrm>
            <a:off x="5074920" y="5038344"/>
            <a:ext cx="5532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LangGraph4j 工作流、图片并发收集与工具节点能力持续完善。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229600" y="502920"/>
            <a:ext cx="2743200" cy="566928"/>
          </a:xfrm>
          <a:prstGeom prst="roundRect">
            <a:avLst>
              <a:gd name="adj" fmla="val 8065"/>
            </a:avLst>
          </a:prstGeom>
          <a:solidFill>
            <a:srgbClr val="FFF3D8"/>
          </a:solidFill>
          <a:ln w="7620">
            <a:solidFill>
              <a:srgbClr val="F3D49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69494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天提交：0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2760" y="320040"/>
            <a:ext cx="384048" cy="384048"/>
          </a:xfrm>
          <a:prstGeom prst="ellipse">
            <a:avLst/>
          </a:prstGeom>
          <a:solidFill>
            <a:srgbClr val="02C39A">
              <a:alpha val="8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TESTS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指标要点与测试状态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基于仓库静态信息与配置读取，不代表线上运行指标。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50392" y="2313432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代码生成类型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2578608"/>
            <a:ext cx="16459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HTML、多文件、Vue 工程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71800" y="14173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08960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3136392" y="2313432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154680" y="2578608"/>
            <a:ext cx="16459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 聚合模块数量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57800" y="14173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94960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5422392" y="2313432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后端测试文件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40680" y="2578608"/>
            <a:ext cx="16459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src/test 发现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543800" y="14173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680960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7708392" y="2313432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工作流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726680" y="2578608"/>
            <a:ext cx="16459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.github/workflows 未发现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829800" y="1417320"/>
            <a:ext cx="1325880" cy="16459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966960" y="160020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9994392" y="2313432"/>
            <a:ext cx="99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版本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012680" y="2578608"/>
            <a:ext cx="9601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 配置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379476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60120" y="4041648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07592" y="4059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测试配置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60120" y="4407408"/>
            <a:ext cx="44348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2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后端：Spring Boot Test，覆盖代码解析、AI 生成、工作流与截图工具等测试类。</a:t>
            </a:r>
            <a:endParaRPr lang="en-US" sz="1220" dirty="0"/>
          </a:p>
          <a:p>
            <a:pPr marL="342900" indent="-342900">
              <a:buSzPct val="100000"/>
              <a:buChar char="•"/>
            </a:pPr>
            <a:r>
              <a:rPr lang="en-US" sz="122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前端：package.json 提供 build、type-check、lint、format 脚本。</a:t>
            </a:r>
            <a:endParaRPr lang="en-US" sz="1220" dirty="0"/>
          </a:p>
        </p:txBody>
      </p:sp>
      <p:sp>
        <p:nvSpPr>
          <p:cNvPr id="35" name="Shape 33"/>
          <p:cNvSpPr/>
          <p:nvPr/>
        </p:nvSpPr>
        <p:spPr>
          <a:xfrm>
            <a:off x="6080760" y="379476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55080" y="4041648"/>
            <a:ext cx="256032" cy="25603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02552" y="4059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状态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355080" y="4407408"/>
            <a:ext cx="44348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2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GitHub Actions 工作流，无法从仓库直接判断自动化流水线状态。</a:t>
            </a:r>
            <a:endParaRPr lang="en-US" sz="1220" dirty="0"/>
          </a:p>
          <a:p>
            <a:pPr marL="342900" indent="-342900">
              <a:buSzPct val="100000"/>
              <a:buChar char="•"/>
            </a:pPr>
            <a:r>
              <a:rPr lang="en-US" sz="122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本次报告生成执行了 PPT 文本抽取与占位文本检查。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2760" y="320040"/>
            <a:ext cx="384048" cy="384048"/>
          </a:xfrm>
          <a:prstGeom prst="ellipse">
            <a:avLst/>
          </a:prstGeom>
          <a:solidFill>
            <a:srgbClr val="02C39A">
              <a:alpha val="8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从配置、提交说明与项目结构推断的待补齐事项。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86968" y="16184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F4A261"/>
          </a:solidFill>
          <a:ln w="12700">
            <a:solidFill>
              <a:srgbClr val="F4A261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17099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35608" y="16002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运行配置产品化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1832" y="2130552"/>
            <a:ext cx="4572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application.yml 中 AI、COS、Pexels、DashScope 等外部服务仍需按环境注入真实配置。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6080760" y="1417320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81928" y="16184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81928" y="17099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30568" y="16002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微服务部署闭环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6792" y="2130552"/>
            <a:ext cx="4572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微服务目录已拆分，但仍需补齐统一启动、服务发现、配置中心与部署说明。</a:t>
            </a:r>
            <a:endParaRPr lang="en-US" sz="1280" dirty="0"/>
          </a:p>
        </p:txBody>
      </p:sp>
      <p:sp>
        <p:nvSpPr>
          <p:cNvPr id="21" name="Shape 19"/>
          <p:cNvSpPr/>
          <p:nvPr/>
        </p:nvSpPr>
        <p:spPr>
          <a:xfrm>
            <a:off x="685800" y="2788920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86968" y="29900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30815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35608" y="29718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自动化质量门禁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" y="3502152"/>
            <a:ext cx="4572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仓库未发现 CI 工作流，后端测试和前端 build/lint 尚未形成自动检查链路。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6080760" y="2788920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81928" y="29900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81928" y="30815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30568" y="29718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运行指标看板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336792" y="3502152"/>
            <a:ext cx="4572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Prometheus/Grafana 配置存在，但缺少最近线上指标、告警规则与可用性趋势数据。</a:t>
            </a:r>
            <a:endParaRPr lang="en-US" sz="1280" dirty="0"/>
          </a:p>
        </p:txBody>
      </p:sp>
      <p:sp>
        <p:nvSpPr>
          <p:cNvPr id="31" name="Shape 29"/>
          <p:cNvSpPr/>
          <p:nvPr/>
        </p:nvSpPr>
        <p:spPr>
          <a:xfrm>
            <a:off x="685800" y="4160520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86968" y="4361688"/>
            <a:ext cx="420624" cy="420624"/>
          </a:xfrm>
          <a:prstGeom prst="roundRect">
            <a:avLst>
              <a:gd name="adj" fmla="val 4348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6968" y="445312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435608" y="4343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用户体验闭环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41832" y="4873752"/>
            <a:ext cx="4572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可视化编辑、增量修改、精选应用运营等能力需继续以端到端体验验证。</a:t>
            </a:r>
            <a:endParaRPr lang="en-US" sz="1280" dirty="0"/>
          </a:p>
        </p:txBody>
      </p:sp>
      <p:sp>
        <p:nvSpPr>
          <p:cNvPr id="36" name="Shape 34"/>
          <p:cNvSpPr/>
          <p:nvPr/>
        </p:nvSpPr>
        <p:spPr>
          <a:xfrm>
            <a:off x="6080760" y="4160520"/>
            <a:ext cx="5074920" cy="1097280"/>
          </a:xfrm>
          <a:prstGeom prst="roundRect">
            <a:avLst>
              <a:gd name="adj" fmla="val 6667"/>
            </a:avLst>
          </a:prstGeom>
          <a:solidFill>
            <a:srgbClr val="D8EEF2"/>
          </a:solidFill>
          <a:ln w="12700">
            <a:solidFill>
              <a:srgbClr val="D8EEF2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2512" y="442569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关注原则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406640" y="4325112"/>
            <a:ext cx="32461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先保证生成、部署、管理主路径稳定，再逐步扩大复杂生成模式和可观测性覆盖。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2760" y="320040"/>
            <a:ext cx="384048" cy="384048"/>
          </a:xfrm>
          <a:prstGeom prst="ellipse">
            <a:avLst/>
          </a:prstGeom>
          <a:solidFill>
            <a:srgbClr val="02C39A">
              <a:alpha val="8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影响可维护性、上线稳定性和团队协作的主要风险。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50876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1728216"/>
            <a:ext cx="384048" cy="38404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837944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435608" y="17282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AI / 对象存储依赖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14400" y="2221992"/>
            <a:ext cx="27889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 API、COS、图片搜索等服务需要密钥与额度，配置缺失会直接影响核心链路。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150876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17720" y="1728216"/>
            <a:ext cx="384048" cy="384048"/>
          </a:xfrm>
          <a:prstGeom prst="ellipse">
            <a:avLst/>
          </a:prstGeom>
          <a:solidFill>
            <a:srgbClr val="C44536"/>
          </a:solidFill>
          <a:ln w="12700">
            <a:solidFill>
              <a:srgbClr val="C4453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1837944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38928" y="17282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生成结果质量波动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17720" y="2221992"/>
            <a:ext cx="27889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审查与重试已有基础，但复杂 Vue 工程生成仍需更多质量评估和回归样例。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92440" y="150876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321040" y="1728216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1837944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42248" y="17282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单体与微服务双轨维护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321040" y="2221992"/>
            <a:ext cx="27889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两套结构并存有利于教学，但也提高重复修复、配置漂移和测试范围判断成本。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514600" y="388620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0" y="410565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0" y="4215384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64408" y="410565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缺少自动化流水线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2743200" y="4599432"/>
            <a:ext cx="30175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CI 配置，提交后无法自动反馈 Maven 测试、前端构建和格式检查状态。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0" y="388620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29400" y="4105656"/>
            <a:ext cx="384048" cy="384048"/>
          </a:xfrm>
          <a:prstGeom prst="ellipse">
            <a:avLst/>
          </a:prstGeom>
          <a:solidFill>
            <a:srgbClr val="8AA1AD"/>
          </a:solidFill>
          <a:ln w="12700">
            <a:solidFill>
              <a:srgbClr val="8AA1AD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4215384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50608" y="410565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运行数据不可见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6629400" y="4599432"/>
            <a:ext cx="30175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当前报告无法取得真实调用量、错误率、响应时间、部署成功率等线上指标。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B"/>
          </a:solidFill>
          <a:ln w="12700">
            <a:solidFill>
              <a:srgbClr val="F3FA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500000">
            <a:off x="9875520" y="-731520"/>
            <a:ext cx="3108960" cy="3108960"/>
          </a:xfrm>
          <a:prstGeom prst="arc">
            <a:avLst/>
          </a:prstGeom>
          <a:noFill/>
          <a:ln w="25400">
            <a:solidFill>
              <a:srgbClr val="D8EEF2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2760" y="320040"/>
            <a:ext cx="384048" cy="384048"/>
          </a:xfrm>
          <a:prstGeom prst="ellipse">
            <a:avLst/>
          </a:prstGeom>
          <a:solidFill>
            <a:srgbClr val="02C39A">
              <a:alpha val="8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36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0" y="6291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2026-06-13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3840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8368" y="9509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围绕主路径稳定性、工程治理与可观测数据补齐推进。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2423160" cy="4251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85800" y="1417320"/>
            <a:ext cx="2423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581912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质量门禁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2221992"/>
            <a:ext cx="1005840" cy="420624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40864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98448" y="2322576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978408" y="2880360"/>
            <a:ext cx="18745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CI：Maven test + 前端 build/lint。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 3 种生成模式补样例回归。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05840" y="4983480"/>
            <a:ext cx="1783080" cy="0"/>
          </a:xfrm>
          <a:prstGeom prst="line">
            <a:avLst/>
          </a:prstGeom>
          <a:noFill/>
          <a:ln w="25400">
            <a:solidFill>
              <a:srgbClr val="065A82">
                <a:alpha val="8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0" y="1417320"/>
            <a:ext cx="2423160" cy="4251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74720" y="1417320"/>
            <a:ext cx="242316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03320" y="1581912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部署与配置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03320" y="2221992"/>
            <a:ext cx="1005840" cy="420624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76472" y="2340864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87368" y="2322576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3767328" y="2880360"/>
            <a:ext cx="18745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 local/prod 配置边界。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补齐微服务启动与依赖说明。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794760" y="4983480"/>
            <a:ext cx="1783080" cy="0"/>
          </a:xfrm>
          <a:prstGeom prst="line">
            <a:avLst/>
          </a:prstGeom>
          <a:noFill/>
          <a:ln w="25400">
            <a:solidFill>
              <a:srgbClr val="1C7293">
                <a:alpha val="8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63640" y="1417320"/>
            <a:ext cx="2423160" cy="4251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63640" y="1417320"/>
            <a:ext cx="242316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581912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体验闭环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92240" y="2221992"/>
            <a:ext cx="1005840" cy="420624"/>
          </a:xfrm>
          <a:prstGeom prst="roundRect">
            <a:avLst>
              <a:gd name="adj" fmla="val 8696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2340864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76288" y="2322576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6556248" y="2880360"/>
            <a:ext cx="18745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走通创建→生成→部署→下载。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强化编辑失败恢复体验。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583680" y="4983480"/>
            <a:ext cx="1783080" cy="0"/>
          </a:xfrm>
          <a:prstGeom prst="line">
            <a:avLst/>
          </a:prstGeom>
          <a:noFill/>
          <a:ln w="25400">
            <a:solidFill>
              <a:srgbClr val="00A896">
                <a:alpha val="8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52560" y="1417320"/>
            <a:ext cx="2423160" cy="4251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7620">
            <a:solidFill>
              <a:srgbClr val="D7E7EC"/>
            </a:solidFill>
            <a:prstDash val="solid"/>
          </a:ln>
          <a:effectLst>
            <a:outerShdw sx="100000" sy="100000" kx="0" ky="0" algn="bl" rotWithShape="0" blurRad="25400" dist="12700" dir="2700000">
              <a:srgbClr val="0B3142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052560" y="1417320"/>
            <a:ext cx="242316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81160" y="1581912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运营指标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281160" y="2221992"/>
            <a:ext cx="1005840" cy="420624"/>
          </a:xfrm>
          <a:prstGeom prst="roundRect">
            <a:avLst>
              <a:gd name="adj" fmla="val 8696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54312" y="2340864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665208" y="2322576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9345168" y="2880360"/>
            <a:ext cx="18745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采集调用量、失败率、耗时。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跟踪缓存命中与单次成本。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9372600" y="4983480"/>
            <a:ext cx="1783080" cy="0"/>
          </a:xfrm>
          <a:prstGeom prst="line">
            <a:avLst/>
          </a:prstGeom>
          <a:noFill/>
          <a:ln w="25400">
            <a:solidFill>
              <a:srgbClr val="02C39A">
                <a:alpha val="8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7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-777240"/>
            <a:ext cx="4754880" cy="4754880"/>
          </a:xfrm>
          <a:prstGeom prst="ellipse">
            <a:avLst/>
          </a:prstGeom>
          <a:solidFill>
            <a:srgbClr val="1C7293">
              <a:alpha val="80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0" y="3794760"/>
            <a:ext cx="5212080" cy="5212080"/>
          </a:xfrm>
          <a:prstGeom prst="ellipse">
            <a:avLst/>
          </a:prstGeom>
          <a:solidFill>
            <a:srgbClr val="02C39A">
              <a:alpha val="3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720000">
            <a:off x="6400800" y="-320040"/>
            <a:ext cx="4572000" cy="4572000"/>
          </a:xfrm>
          <a:prstGeom prst="arc">
            <a:avLst/>
          </a:prstGeom>
          <a:noFill/>
          <a:ln w="2794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">
            <a:off x="6903720" y="228600"/>
            <a:ext cx="3840480" cy="3840480"/>
          </a:xfrm>
          <a:prstGeom prst="arc">
            <a:avLst/>
          </a:prstGeom>
          <a:noFill/>
          <a:ln w="20320">
            <a:solidFill>
              <a:srgbClr val="02C39A">
                <a:alpha val="42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80467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86384" y="1572768"/>
            <a:ext cx="74980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8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项目主干能力已经形成，下一阶段重点是把“可运行、可验证、可观测”的工程闭环做扎实。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60120" y="2514600"/>
            <a:ext cx="8961120" cy="475488"/>
          </a:xfrm>
          <a:prstGeom prst="roundRect">
            <a:avLst>
              <a:gd name="adj" fmla="val 7692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2660904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能力面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31720" y="2624328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生成、流式对话、部署下载、后台管理、监控配置已有基础。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60120" y="3227832"/>
            <a:ext cx="8961120" cy="475488"/>
          </a:xfrm>
          <a:prstGeom prst="roundRect">
            <a:avLst>
              <a:gd name="adj" fmla="val 7692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7008" y="337413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337560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微服务改造完成是最近一次重要演进，但双轨结构需要治理。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60120" y="3941064"/>
            <a:ext cx="8961120" cy="475488"/>
          </a:xfrm>
          <a:prstGeom prst="roundRect">
            <a:avLst>
              <a:gd name="adj" fmla="val 7692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7008" y="408736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31720" y="4050792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外部服务配置、生成质量波动、缺少 CI 与真实运行指标是主要短板。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0120" y="4654296"/>
            <a:ext cx="8961120" cy="475488"/>
          </a:xfrm>
          <a:prstGeom prst="roundRect">
            <a:avLst>
              <a:gd name="adj" fmla="val 7692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07008" y="480060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行动面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331720" y="4764024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优先补质量门禁、端到端验证、配置说明与运行指标看板。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01000" y="5440680"/>
            <a:ext cx="2743200" cy="475488"/>
          </a:xfrm>
          <a:prstGeom prst="roundRect">
            <a:avLst>
              <a:gd name="adj" fmla="val 7692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614476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报告文件：docs/reports/project-status-2026-06-13.pptx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83880" y="5596128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每日状态 / 中文汇报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2026-06-13</dc:title>
  <dc:subject>AI 零代码应用生成平台每日项目状态</dc:subject>
  <dc:creator>Cursor Automation</dc:creator>
  <cp:lastModifiedBy>Cursor Automation</cp:lastModifiedBy>
  <cp:revision>1</cp:revision>
  <dcterms:created xsi:type="dcterms:W3CDTF">2026-06-13T09:05:57Z</dcterms:created>
  <dcterms:modified xsi:type="dcterms:W3CDTF">2026-06-13T09:05:57Z</dcterms:modified>
</cp:coreProperties>
</file>