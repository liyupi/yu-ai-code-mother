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>
              <a:alpha val="82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0" y="-1097280"/>
            <a:ext cx="6217920" cy="6217920"/>
          </a:xfrm>
          <a:prstGeom prst="arc">
            <a:avLst/>
          </a:prstGeom>
          <a:solidFill>
            <a:srgbClr val="000000">
              <a:alpha val="0"/>
            </a:srgbClr>
          </a:solidFill>
          <a:ln w="50800">
            <a:solidFill>
              <a:srgbClr val="02C39A">
                <a:alpha val="4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052560" y="3840480"/>
            <a:ext cx="2468880" cy="2468880"/>
          </a:xfrm>
          <a:prstGeom prst="ellipse">
            <a:avLst/>
          </a:prstGeom>
          <a:solidFill>
            <a:srgbClr val="1C7293">
              <a:alpha val="8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-822960" y="5029200"/>
            <a:ext cx="2560320" cy="2560320"/>
          </a:xfrm>
          <a:prstGeom prst="ellipse">
            <a:avLst/>
          </a:prstGeom>
          <a:solidFill>
            <a:srgbClr val="00A896">
              <a:alpha val="60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658368"/>
            <a:ext cx="1417320" cy="402336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04672" y="777240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21295C"/>
                </a:solidFill>
              </a:rPr>
              <a:t>DAILY STATUS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13258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F8EF"/>
                </a:solidFill>
              </a:rPr>
              <a:t>AI 零代码应用生成平台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94944" y="26974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FF5"/>
                </a:solidFill>
              </a:rPr>
              <a:t>面向项目维护者/团队 · 基于 README、模块结构与近期 Git 提交自动生成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3232" y="4251960"/>
            <a:ext cx="1664208" cy="1051560"/>
          </a:xfrm>
          <a:prstGeom prst="roundRect">
            <a:avLst>
              <a:gd name="adj" fmla="val 10435"/>
            </a:avLst>
          </a:prstGeom>
          <a:solidFill>
            <a:srgbClr val="065A82"/>
          </a:solidFill>
          <a:ln w="12700">
            <a:solidFill>
              <a:srgbClr val="02C39A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77824" y="4453128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DEDE6"/>
                </a:solidFill>
              </a:rPr>
              <a:t>平台能力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1248" y="478231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AI 生成 / 编辑 / 部署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606040" y="4251960"/>
            <a:ext cx="1664208" cy="1051560"/>
          </a:xfrm>
          <a:prstGeom prst="roundRect">
            <a:avLst>
              <a:gd name="adj" fmla="val 10435"/>
            </a:avLst>
          </a:prstGeom>
          <a:solidFill>
            <a:srgbClr val="1C7293"/>
          </a:solidFill>
          <a:ln w="12700">
            <a:solidFill>
              <a:srgbClr val="02C39A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770632" y="4453128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DEDE6"/>
                </a:solidFill>
              </a:rPr>
              <a:t>当前基线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34056" y="478231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单体 + 微服务模块并存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98848" y="4251960"/>
            <a:ext cx="1664208" cy="1051560"/>
          </a:xfrm>
          <a:prstGeom prst="roundRect">
            <a:avLst>
              <a:gd name="adj" fmla="val 10435"/>
            </a:avLst>
          </a:prstGeom>
          <a:solidFill>
            <a:srgbClr val="065A82"/>
          </a:solidFill>
          <a:ln w="12700">
            <a:solidFill>
              <a:srgbClr val="02C39A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63440" y="4453128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DEDE6"/>
                </a:solidFill>
              </a:rPr>
              <a:t>提交窗口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26864" y="478231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近 7 天无新提交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75320" y="61996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北京时间 2026-07-04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B"/>
          </a:solidFill>
          <a:ln w="12700">
            <a:solidFill>
              <a:srgbClr val="F3FA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07040" y="502920"/>
            <a:ext cx="1097280" cy="1097280"/>
          </a:xfrm>
          <a:prstGeom prst="ellipse">
            <a:avLst/>
          </a:prstGeom>
          <a:solidFill>
            <a:srgbClr val="D8EEF2">
              <a:alpha val="84000"/>
            </a:srgbClr>
          </a:solidFill>
          <a:ln w="12700">
            <a:solidFill>
              <a:srgbClr val="D8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47548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03504" y="98755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284"/>
                </a:solidFill>
              </a:rPr>
              <a:t>定位：对标企业级 AI 代码生成平台，覆盖从需求输入到应用部署分享的闭环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802368" y="475488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948672" y="56235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2026-07-04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1508760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9D9E2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673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Spring Boot 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2075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主要后端形态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3042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284"/>
                </a:solidFill>
              </a:rPr>
              <a:t>Java 21 / Maven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63240" y="1508760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9D9E2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227832" y="1673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</a:rPr>
              <a:t>Vue 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27832" y="2075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前端技术栈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27832" y="23042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284"/>
                </a:solidFill>
              </a:rPr>
              <a:t>TypeScript / Vite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68112" y="1508760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9D9E2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632704" y="1673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</a:rPr>
              <a:t>7 个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632704" y="2075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微服务模块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32704" y="23042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284"/>
                </a:solidFill>
              </a:rPr>
              <a:t>common/model/client/user/app/ai/screenshot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872984" y="1508760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9D9E2">
                <a:alpha val="75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037576" y="1673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15 个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037576" y="2075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测试样例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37576" y="23042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7284"/>
                </a:solidFill>
              </a:rPr>
              <a:t>JUnit 覆盖 AI/工作流/工具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8368" y="2971800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22960" y="313639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22960" y="320954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53312" y="3136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业务闭环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6968" y="3611880"/>
            <a:ext cx="2880360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7284"/>
                </a:solidFill>
              </a:rPr>
              <a:t>用户输入需求后创建应用，AI 流式生成代码，右侧实时预览；完成后可部署、下载源码并分享访问地址。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233672" y="2971800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398264" y="313639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398264" y="320954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28616" y="3136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治理面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62272" y="3611880"/>
            <a:ext cx="2880360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7284"/>
                </a:solidFill>
              </a:rPr>
              <a:t>包含用户管理、应用管理、精选应用、对话历史、权限校验与限流等后台能力。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808976" y="2971800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973568" y="313639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973568" y="320954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03920" y="3136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技术底座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037576" y="3611880"/>
            <a:ext cx="2880360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7284"/>
                </a:solidFill>
              </a:rPr>
              <a:t>LangChain4j/LangGraph4j 负责 AI 服务与工作流；Redis、Caffeine、Prometheus/Grafana 提供缓存和监控支撑。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66928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284"/>
                </a:solidFill>
              </a:rPr>
              <a:t>yu-ai-code-mother · 每日项目状态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18520" y="63825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B"/>
          </a:solidFill>
          <a:ln w="12700">
            <a:solidFill>
              <a:srgbClr val="F3FA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07040" y="502920"/>
            <a:ext cx="1097280" cy="1097280"/>
          </a:xfrm>
          <a:prstGeom prst="ellipse">
            <a:avLst/>
          </a:prstGeom>
          <a:solidFill>
            <a:srgbClr val="D8EEF2">
              <a:alpha val="84000"/>
            </a:srgbClr>
          </a:solidFill>
          <a:ln w="12700">
            <a:solidFill>
              <a:srgbClr val="D8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47548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核心能力地图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03504" y="98755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284"/>
                </a:solidFill>
              </a:rPr>
              <a:t>从代码生成到部署运营，已具备产品级主要链路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802368" y="475488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948672" y="56235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2026-07-04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480060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51560" y="1883664"/>
            <a:ext cx="804672" cy="8046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21762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75688" y="1847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AI 代码生成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75688" y="2240280"/>
            <a:ext cx="31272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7284"/>
                </a:solidFill>
              </a:rPr>
              <a:t>按需求自动路由生成 HTML、多文件或 Vue 项目代码，支持流式输出与工具调用。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3977640"/>
            <a:ext cx="480060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51560" y="4306824"/>
            <a:ext cx="804672" cy="8046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51560" y="459943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75688" y="42702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可视化预览/编辑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75688" y="4663440"/>
            <a:ext cx="31272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7284"/>
                </a:solidFill>
              </a:rPr>
              <a:t>生成应用实时展示，前端具备对话页、应用编辑页与静态资源访问链路。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36208" y="1554480"/>
            <a:ext cx="480060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10528" y="1883664"/>
            <a:ext cx="804672" cy="8046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10528" y="21762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34656" y="1847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一键部署分享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34656" y="2240280"/>
            <a:ext cx="31272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7284"/>
                </a:solidFill>
              </a:rPr>
              <a:t>后端复制生成物到部署目录，生成 deployKey，并支持截图封面与源码下载。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36208" y="3977640"/>
            <a:ext cx="480060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510528" y="4306824"/>
            <a:ext cx="804672" cy="8046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510528" y="459943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34656" y="42702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企业级管理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534656" y="4663440"/>
            <a:ext cx="31272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7284"/>
                </a:solidFill>
              </a:rPr>
              <a:t>管理员应用/用户/对话管理，精选应用配置，权限拦截与通用响应封装。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623560" y="2871216"/>
            <a:ext cx="676656" cy="566928"/>
          </a:xfrm>
          <a:prstGeom prst="chevron">
            <a:avLst/>
          </a:prstGeom>
          <a:solidFill>
            <a:srgbClr val="065A82">
              <a:alpha val="88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886200" y="32186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生成 → 预览 → 部署 → 管理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6928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284"/>
                </a:solidFill>
              </a:rPr>
              <a:t>yu-ai-code-mother · 每日项目状态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018520" y="63825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B"/>
          </a:solidFill>
          <a:ln w="12700">
            <a:solidFill>
              <a:srgbClr val="F3FA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07040" y="502920"/>
            <a:ext cx="1097280" cy="1097280"/>
          </a:xfrm>
          <a:prstGeom prst="ellipse">
            <a:avLst/>
          </a:prstGeom>
          <a:solidFill>
            <a:srgbClr val="D8EEF2">
              <a:alpha val="84000"/>
            </a:srgbClr>
          </a:solidFill>
          <a:ln w="12700">
            <a:solidFill>
              <a:srgbClr val="D8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47548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近期进展快照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03504" y="98755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284"/>
                </a:solidFill>
              </a:rPr>
              <a:t>当前运行日向前 7 天无新增提交；下列为最近提交窗口内的关键工程演进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802368" y="475488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948672" y="56235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2026-07-04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1874520"/>
            <a:ext cx="996696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1664208"/>
            <a:ext cx="438912" cy="438912"/>
          </a:xfrm>
          <a:prstGeom prst="ellipse">
            <a:avLst/>
          </a:prstGeom>
          <a:solidFill>
            <a:srgbClr val="02C39A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18105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331720"/>
            <a:ext cx="212140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25420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2025-08-26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2898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微服务改造完成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1248" y="3337560"/>
            <a:ext cx="16093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D7284"/>
                </a:solidFill>
              </a:rPr>
              <a:t>新增/整理 common、model、client、user、app、ai、screenshot 7 个模块。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529584" y="1664208"/>
            <a:ext cx="438912" cy="438912"/>
          </a:xfrm>
          <a:prstGeom prst="ellipse">
            <a:avLst/>
          </a:prstGeom>
          <a:solidFill>
            <a:srgbClr val="1C7293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529584" y="18105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9544" y="2331720"/>
            <a:ext cx="212140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392424" y="25420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2025-08-14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92424" y="2898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可观测性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456432" y="3337560"/>
            <a:ext cx="16093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D7284"/>
                </a:solidFill>
              </a:rPr>
              <a:t>加入 Prometheus 指标、Grafana 看板与 AI 模型监控上下文。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44768" y="1664208"/>
            <a:ext cx="438912" cy="438912"/>
          </a:xfrm>
          <a:prstGeom prst="ellipse">
            <a:avLst/>
          </a:prstGeom>
          <a:solidFill>
            <a:srgbClr val="1C7293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144768" y="18105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24728" y="2331720"/>
            <a:ext cx="212140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007608" y="25420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2025-08-13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07608" y="2898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系统优化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071616" y="3337560"/>
            <a:ext cx="16093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D7284"/>
                </a:solidFill>
              </a:rPr>
              <a:t>完成限流、Prompt 审查、重试护栏、Redis 缓存和并发优化。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759952" y="1664208"/>
            <a:ext cx="438912" cy="438912"/>
          </a:xfrm>
          <a:prstGeom prst="ellipse">
            <a:avLst/>
          </a:prstGeom>
          <a:solidFill>
            <a:srgbClr val="1C7293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759952" y="18105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439912" y="2331720"/>
            <a:ext cx="212140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622792" y="25420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2025-08-13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22792" y="2898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AI 工作流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686800" y="3337560"/>
            <a:ext cx="16093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D7284"/>
                </a:solidFill>
              </a:rPr>
              <a:t>补充 LangGraph4j 工作流、SSE/Flux 演示与质量检查节点。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31520" y="5074920"/>
            <a:ext cx="10716768" cy="713232"/>
          </a:xfrm>
          <a:prstGeom prst="roundRect">
            <a:avLst>
              <a:gd name="adj" fmla="val 15385"/>
            </a:avLst>
          </a:prstGeom>
          <a:solidFill>
            <a:srgbClr val="E9F7F4"/>
          </a:solidFill>
          <a:ln w="12700">
            <a:solidFill>
              <a:srgbClr val="00A896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87552" y="5321808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近期判断：主线能力已覆盖完整产品闭环，当前更需要把“单体与微服务并存”收敛为清晰运行路径，并补齐自动化验证。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66928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284"/>
                </a:solidFill>
              </a:rPr>
              <a:t>yu-ai-code-mother · 每日项目状态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018520" y="63825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B"/>
          </a:solidFill>
          <a:ln w="12700">
            <a:solidFill>
              <a:srgbClr val="F3FA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07040" y="502920"/>
            <a:ext cx="1097280" cy="1097280"/>
          </a:xfrm>
          <a:prstGeom prst="ellipse">
            <a:avLst/>
          </a:prstGeom>
          <a:solidFill>
            <a:srgbClr val="D8EEF2">
              <a:alpha val="84000"/>
            </a:srgbClr>
          </a:solidFill>
          <a:ln w="12700">
            <a:solidFill>
              <a:srgbClr val="D8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47548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模块结构与职责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03504" y="98755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284"/>
                </a:solidFill>
              </a:rPr>
              <a:t>代码组织已拆出清晰边界，但仍需明确默认交付形态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802368" y="475488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948672" y="56235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2026-07-04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493776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51560" y="1691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单体主应用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176272"/>
            <a:ext cx="4187952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</a:rPr>
              <a:t>src/main/java：AI、控制器、服务、工作流、监控、限流等完整实现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</a:rPr>
              <a:t>src/test/java：AI 生成、LangGraph4j、工具类与截图测试样例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7324D"/>
                </a:solidFill>
              </a:rPr>
              <a:t>prometheus.yml / grafana：监控配置与可视化资产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78992" y="4736592"/>
            <a:ext cx="4315968" cy="475488"/>
          </a:xfrm>
          <a:prstGeom prst="roundRect">
            <a:avLst>
              <a:gd name="adj" fmla="val 19231"/>
            </a:avLst>
          </a:prstGeom>
          <a:solidFill>
            <a:srgbClr val="D8EEF2"/>
          </a:solidFill>
          <a:ln w="12700">
            <a:solidFill>
              <a:srgbClr val="D8EE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25880" y="4901184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当前可作为功能完整基线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1417320"/>
            <a:ext cx="493776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20840" y="1691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微服务目录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720840" y="2212848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9F7F4"/>
          </a:solidFill>
          <a:ln w="12700">
            <a:solidFill>
              <a:srgbClr val="B9D9E2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20840" y="2340864"/>
            <a:ext cx="1691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common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2212848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9F7F4"/>
          </a:solidFill>
          <a:ln w="12700">
            <a:solidFill>
              <a:srgbClr val="B9D9E2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778240" y="2340864"/>
            <a:ext cx="1691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model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2779776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9F7F4"/>
          </a:solidFill>
          <a:ln w="12700">
            <a:solidFill>
              <a:srgbClr val="B9D9E2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20840" y="2907792"/>
            <a:ext cx="1691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client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778240" y="2779776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D8EEF2"/>
          </a:solidFill>
          <a:ln w="12700">
            <a:solidFill>
              <a:srgbClr val="B9D9E2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778240" y="2907792"/>
            <a:ext cx="1691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user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3346704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D8EEF2"/>
          </a:solidFill>
          <a:ln w="12700">
            <a:solidFill>
              <a:srgbClr val="B9D9E2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720840" y="3474720"/>
            <a:ext cx="1691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app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8240" y="3346704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D8EEF2"/>
          </a:solidFill>
          <a:ln w="12700">
            <a:solidFill>
              <a:srgbClr val="B9D9E2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778240" y="3474720"/>
            <a:ext cx="1691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ai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20840" y="3913632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D8EEF2"/>
          </a:solidFill>
          <a:ln w="12700">
            <a:solidFill>
              <a:srgbClr val="B9D9E2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720840" y="4041648"/>
            <a:ext cx="1691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screenshot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48272" y="4590288"/>
            <a:ext cx="427939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284"/>
                </a:solidFill>
              </a:rPr>
              <a:t>Nacos + Dubbo 跨服务调用的拆分形态已提交，报告建议在 README 或运行手册中明确默认启动顺序与生产推荐部署方式。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6928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284"/>
                </a:solidFill>
              </a:rPr>
              <a:t>yu-ai-code-mother · 每日项目状态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018520" y="63825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B"/>
          </a:solidFill>
          <a:ln w="12700">
            <a:solidFill>
              <a:srgbClr val="F3FA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07040" y="502920"/>
            <a:ext cx="1097280" cy="1097280"/>
          </a:xfrm>
          <a:prstGeom prst="ellipse">
            <a:avLst/>
          </a:prstGeom>
          <a:solidFill>
            <a:srgbClr val="D8EEF2">
              <a:alpha val="84000"/>
            </a:srgbClr>
          </a:solidFill>
          <a:ln w="12700">
            <a:solidFill>
              <a:srgbClr val="D8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47548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03504" y="98755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284"/>
                </a:solidFill>
              </a:rPr>
              <a:t>仓库已有监控基础；运行态指标需接入实际环境后持续观测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802368" y="475488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948672" y="56235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2026-07-04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08760"/>
            <a:ext cx="4892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73736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可观测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04872" y="17647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生成链路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404872" y="216712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284"/>
                </a:solidFill>
              </a:rPr>
              <a:t>AI 调用监听器、上下文与 Prometheus registry 已接入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4892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2240" y="173736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多级缓存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891272" y="17647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缓存策略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891272" y="216712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284"/>
                </a:solidFill>
              </a:rPr>
              <a:t>Redis + Caffeine 支撑精选应用等高频查询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3383280"/>
            <a:ext cx="4892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361188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限流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404872" y="36393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请求保护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2404872" y="404164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284"/>
                </a:solidFill>
              </a:rPr>
              <a:t>AI 对话接口按用户限流，降低成本与滥用风险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383280"/>
            <a:ext cx="4892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92240" y="361188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15 文件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891272" y="36393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测试资产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891272" y="404164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284"/>
                </a:solidFill>
              </a:rPr>
              <a:t>覆盖解析、生成、工作流、图片工具与并发场景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97280" y="5285232"/>
            <a:ext cx="9985248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261872" y="5431536"/>
            <a:ext cx="9656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待接入生产数据：日活用户、生成成功率、平均首 token 延迟、部署成功率、单次生成成本、错误率与告警闭环。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284"/>
                </a:solidFill>
              </a:rPr>
              <a:t>yu-ai-code-mother · 每日项目状态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018520" y="63825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B"/>
          </a:solidFill>
          <a:ln w="12700">
            <a:solidFill>
              <a:srgbClr val="F3FA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07040" y="502920"/>
            <a:ext cx="1097280" cy="1097280"/>
          </a:xfrm>
          <a:prstGeom prst="ellipse">
            <a:avLst/>
          </a:prstGeom>
          <a:solidFill>
            <a:srgbClr val="D8EEF2">
              <a:alpha val="84000"/>
            </a:srgbClr>
          </a:solidFill>
          <a:ln w="12700">
            <a:solidFill>
              <a:srgbClr val="D8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47548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03504" y="98755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284"/>
                </a:solidFill>
              </a:rPr>
              <a:t>从教学样例走向可维护产品，主要差距集中在运行路径、自动化与文档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802368" y="475488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948672" y="56235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2026-07-04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1417320"/>
            <a:ext cx="1040587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B9D9E2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78992" y="1536192"/>
            <a:ext cx="320040" cy="3200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78992" y="1641348"/>
            <a:ext cx="320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600200" y="160020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运行手册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46120" y="1591056"/>
            <a:ext cx="7543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284"/>
                </a:solidFill>
              </a:rPr>
              <a:t>单体/微服务两套形态并存，需要明确推荐启动方式、配置依赖与环境变量。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2258568"/>
            <a:ext cx="10405872" cy="566928"/>
          </a:xfrm>
          <a:prstGeom prst="roundRect">
            <a:avLst>
              <a:gd name="adj" fmla="val 16129"/>
            </a:avLst>
          </a:prstGeom>
          <a:solidFill>
            <a:srgbClr val="E9F7F4"/>
          </a:solidFill>
          <a:ln w="12700">
            <a:solidFill>
              <a:srgbClr val="B9D9E2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78992" y="2377440"/>
            <a:ext cx="320040" cy="320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78992" y="2482596"/>
            <a:ext cx="320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244144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测试 / CI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246120" y="2432304"/>
            <a:ext cx="7543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284"/>
                </a:solidFill>
              </a:rPr>
              <a:t>未发现 .github 工作流；Maven/npm 测试与构建脚本存在但未形成自动门禁。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3099816"/>
            <a:ext cx="1040587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B9D9E2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078992" y="3218688"/>
            <a:ext cx="320040" cy="3200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78992" y="3323844"/>
            <a:ext cx="320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328269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生产指标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246120" y="3273552"/>
            <a:ext cx="7543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284"/>
                </a:solidFill>
              </a:rPr>
              <a:t>Prometheus/Grafana 资产已在仓库中，缺少近期运行态数据和稳定性基线。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8680" y="3941064"/>
            <a:ext cx="10405872" cy="566928"/>
          </a:xfrm>
          <a:prstGeom prst="roundRect">
            <a:avLst>
              <a:gd name="adj" fmla="val 16129"/>
            </a:avLst>
          </a:prstGeom>
          <a:solidFill>
            <a:srgbClr val="E9F7F4"/>
          </a:solidFill>
          <a:ln w="12700">
            <a:solidFill>
              <a:srgbClr val="B9D9E2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78992" y="4059936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78992" y="4165092"/>
            <a:ext cx="320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412394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安全配置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246120" y="4114800"/>
            <a:ext cx="7543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284"/>
                </a:solidFill>
              </a:rPr>
              <a:t>AI Key、COS、Redis、Nacos 等依赖需通过样例配置与密钥管理方式统一说明。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68680" y="4782312"/>
            <a:ext cx="1040587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B9D9E2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78992" y="4901184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78992" y="5006340"/>
            <a:ext cx="320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496519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端到端验证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246120" y="4956048"/>
            <a:ext cx="7543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7284"/>
                </a:solidFill>
              </a:rPr>
              <a:t>生成、预览、部署、下载、截图的跨服务 E2E 场景仍需自动化覆盖。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66928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284"/>
                </a:solidFill>
              </a:rPr>
              <a:t>yu-ai-code-mother · 每日项目状态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018520" y="63825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B"/>
          </a:solidFill>
          <a:ln w="12700">
            <a:solidFill>
              <a:srgbClr val="F3FA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07040" y="502920"/>
            <a:ext cx="1097280" cy="1097280"/>
          </a:xfrm>
          <a:prstGeom prst="ellipse">
            <a:avLst/>
          </a:prstGeom>
          <a:solidFill>
            <a:srgbClr val="D8EEF2">
              <a:alpha val="84000"/>
            </a:srgbClr>
          </a:solidFill>
          <a:ln w="12700">
            <a:solidFill>
              <a:srgbClr val="D8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47548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03504" y="98755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284"/>
                </a:solidFill>
              </a:rPr>
              <a:t>风险分为工程一致性、依赖可用性与质量门禁三类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802368" y="475488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948672" y="56235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2026-07-04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1508760"/>
            <a:ext cx="498348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6510">
            <a:solidFill>
              <a:srgbClr val="E76F51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92040" y="1691640"/>
            <a:ext cx="548640" cy="292608"/>
          </a:xfrm>
          <a:prstGeom prst="roundRect">
            <a:avLst>
              <a:gd name="adj" fmla="val 21875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92040" y="1787652"/>
            <a:ext cx="548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高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43000" y="18288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架构分叉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43000" y="22585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D7284"/>
                </a:solidFill>
              </a:rPr>
              <a:t>单体代码与微服务代码同时存在，后续变更可能出现逻辑漂移。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6355080" y="1508760"/>
            <a:ext cx="498348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6510">
            <a:solidFill>
              <a:srgbClr val="F59E0B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424160" y="1691640"/>
            <a:ext cx="548640" cy="292608"/>
          </a:xfrm>
          <a:prstGeom prst="roundRect">
            <a:avLst>
              <a:gd name="adj" fmla="val 2187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24160" y="1787652"/>
            <a:ext cx="548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中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675120" y="18288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外部依赖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75120" y="22585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D7284"/>
                </a:solidFill>
              </a:rPr>
              <a:t>AI 模型、Redis、COS、Selenium/浏览器、Nacos 等依赖缺少本地替身。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822960" y="3566160"/>
            <a:ext cx="498348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6510">
            <a:solidFill>
              <a:srgbClr val="F59E0B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892040" y="3749040"/>
            <a:ext cx="548640" cy="292608"/>
          </a:xfrm>
          <a:prstGeom prst="roundRect">
            <a:avLst>
              <a:gd name="adj" fmla="val 2187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92040" y="3845052"/>
            <a:ext cx="548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中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43000" y="38862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自动化缺口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43000" y="43159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D7284"/>
                </a:solidFill>
              </a:rPr>
              <a:t>未发现仓库 CI 配置，PR 无自动构建/测试反馈会增加回归风险。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6355080" y="3566160"/>
            <a:ext cx="498348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6510">
            <a:solidFill>
              <a:srgbClr val="1C7293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4160" y="3749040"/>
            <a:ext cx="548640" cy="292608"/>
          </a:xfrm>
          <a:prstGeom prst="roundRect">
            <a:avLst>
              <a:gd name="adj" fmla="val 2187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424160" y="3845052"/>
            <a:ext cx="548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中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675120" y="38862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成本与限流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675120" y="43159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D7284"/>
                </a:solidFill>
              </a:rPr>
              <a:t>已有用户限流与重试护栏，但缺少近期用量和成本阈值数据。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932688" y="5687568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阻塞判断：当前无代码层面的硬阻塞；主要阻塞来自缺少环境化验证和自动化质量门禁。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284"/>
                </a:solidFill>
              </a:rPr>
              <a:t>yu-ai-code-mother · 每日项目状态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018520" y="63825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B"/>
          </a:solidFill>
          <a:ln w="12700">
            <a:solidFill>
              <a:srgbClr val="F3FA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64592"/>
            <a:ext cx="12191695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07040" y="502920"/>
            <a:ext cx="1097280" cy="1097280"/>
          </a:xfrm>
          <a:prstGeom prst="ellipse">
            <a:avLst/>
          </a:prstGeom>
          <a:solidFill>
            <a:srgbClr val="D8EEF2">
              <a:alpha val="84000"/>
            </a:srgbClr>
          </a:solidFill>
          <a:ln w="12700">
            <a:solidFill>
              <a:srgbClr val="D8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47548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03504" y="98755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284"/>
                </a:solidFill>
              </a:rPr>
              <a:t>优先把“能运行、能验证、能观测”变成维护者日常工作流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802368" y="475488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948672" y="56235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2026-07-04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2395728" cy="3611880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527048" y="1874520"/>
            <a:ext cx="868680" cy="8686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527048" y="21762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9848" y="303580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收敛运行路径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69848" y="3584448"/>
            <a:ext cx="181051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284"/>
                </a:solidFill>
              </a:rPr>
              <a:t>明确单体与微服务的推荐使用场景；补充启动顺序、依赖服务、样例配置。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1554480"/>
            <a:ext cx="2395728" cy="3611880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15968" y="187452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315968" y="21762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58768" y="303580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建立自动门禁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858768" y="3584448"/>
            <a:ext cx="181051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284"/>
                </a:solidFill>
              </a:rPr>
              <a:t>添加 GitHub Actions 或等价 CI：后端 mvn test、前端 npm run build/type-check。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1554480"/>
            <a:ext cx="2395728" cy="3611880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104888" y="1874520"/>
            <a:ext cx="868680" cy="8686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104888" y="21762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47688" y="303580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补齐 E2E 验证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647688" y="3584448"/>
            <a:ext cx="181051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284"/>
                </a:solidFill>
              </a:rPr>
              <a:t>覆盖创建应用、AI 流式生成、预览、部署、源码下载和截图封面链路。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0" y="1554480"/>
            <a:ext cx="2395728" cy="3611880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12700">
            <a:solidFill>
              <a:srgbClr val="B9D9E2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5B7E9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893808" y="1874520"/>
            <a:ext cx="868680" cy="8686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893808" y="21762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36608" y="303580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固化运营指标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436608" y="3584448"/>
            <a:ext cx="181051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284"/>
                </a:solidFill>
              </a:rPr>
              <a:t>将生成成功率、延迟、成本、部署成功率接入 Grafana 看板并设置阈值。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97280" y="5715000"/>
            <a:ext cx="9921240" cy="420624"/>
          </a:xfrm>
          <a:prstGeom prst="roundRect">
            <a:avLst>
              <a:gd name="adj" fmla="val 21739"/>
            </a:avLst>
          </a:prstGeom>
          <a:solidFill>
            <a:srgbClr val="E9F7F4"/>
          </a:solidFill>
          <a:ln w="1270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325880" y="5856732"/>
            <a:ext cx="9464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</a:rPr>
              <a:t>执行原则：先稳定主链路，再扩展高级工作流与多模型能力。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6928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284"/>
                </a:solidFill>
              </a:rPr>
              <a:t>yu-ai-code-mother · 每日项目状态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018520" y="63825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>
              <a:alpha val="82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0" y="-1097280"/>
            <a:ext cx="6217920" cy="6217920"/>
          </a:xfrm>
          <a:prstGeom prst="arc">
            <a:avLst/>
          </a:prstGeom>
          <a:solidFill>
            <a:srgbClr val="000000">
              <a:alpha val="0"/>
            </a:srgbClr>
          </a:solidFill>
          <a:ln w="50800">
            <a:solidFill>
              <a:srgbClr val="02C39A">
                <a:alpha val="4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052560" y="3840480"/>
            <a:ext cx="2468880" cy="2468880"/>
          </a:xfrm>
          <a:prstGeom prst="ellipse">
            <a:avLst/>
          </a:prstGeom>
          <a:solidFill>
            <a:srgbClr val="1C7293">
              <a:alpha val="8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-822960" y="5029200"/>
            <a:ext cx="2560320" cy="2560320"/>
          </a:xfrm>
          <a:prstGeom prst="ellipse">
            <a:avLst/>
          </a:prstGeom>
          <a:solidFill>
            <a:srgbClr val="00A896">
              <a:alpha val="60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58368" y="74980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13232" y="144475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FF5"/>
                </a:solidFill>
              </a:rPr>
              <a:t>当前项目已具备 AI 零代码应用生成平台的完整业务雏形，下一阶段重点是工程化收敛与持续验证。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9464040" cy="502920"/>
          </a:xfrm>
          <a:prstGeom prst="roundRect">
            <a:avLst>
              <a:gd name="adj" fmla="val 18182"/>
            </a:avLst>
          </a:prstGeom>
          <a:solidFill>
            <a:srgbClr val="065A82">
              <a:alpha val="97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15568" y="250545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能力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48840" y="2496312"/>
            <a:ext cx="7818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</a:rPr>
              <a:t>AI 代码生成、预览、部署、下载、后台管理与监控底座已覆盖。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868680" y="3081528"/>
            <a:ext cx="9464040" cy="502920"/>
          </a:xfrm>
          <a:prstGeom prst="roundRect">
            <a:avLst>
              <a:gd name="adj" fmla="val 18182"/>
            </a:avLst>
          </a:prstGeom>
          <a:solidFill>
            <a:srgbClr val="1C7293">
              <a:alpha val="97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15568" y="325526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变化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148840" y="3246120"/>
            <a:ext cx="7818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</a:rPr>
              <a:t>最近提交集中在微服务改造、可观测性、安全/稳定/成本优化。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868680" y="3831336"/>
            <a:ext cx="9464040" cy="502920"/>
          </a:xfrm>
          <a:prstGeom prst="roundRect">
            <a:avLst>
              <a:gd name="adj" fmla="val 18182"/>
            </a:avLst>
          </a:prstGeom>
          <a:solidFill>
            <a:srgbClr val="065A82">
              <a:alpha val="97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4005072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风险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148840" y="3995928"/>
            <a:ext cx="7818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</a:rPr>
              <a:t>单体与微服务并存、外部依赖多、自动化 CI 缺口需要治理。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868680" y="4581144"/>
            <a:ext cx="9464040" cy="502920"/>
          </a:xfrm>
          <a:prstGeom prst="roundRect">
            <a:avLst>
              <a:gd name="adj" fmla="val 18182"/>
            </a:avLst>
          </a:prstGeom>
          <a:solidFill>
            <a:srgbClr val="1C7293">
              <a:alpha val="97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15568" y="4754880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建议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48840" y="4745736"/>
            <a:ext cx="7818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</a:rPr>
              <a:t>优先补齐运行文档、CI、E2E 验证和运行态指标看板。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8183880" y="544068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5669280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EDE6"/>
                </a:solidFill>
              </a:rPr>
              <a:t>报告路径：docs/reports/project-status-2026-07-04.pptx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56418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END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2026-07-04</dc:title>
  <dc:subject>每日项目状态汇报</dc:subject>
  <dc:creator>Cursor Automation</dc:creator>
  <cp:lastModifiedBy>Cursor Automation</cp:lastModifiedBy>
  <cp:revision>1</cp:revision>
  <dcterms:created xsi:type="dcterms:W3CDTF">2026-07-04T09:05:30Z</dcterms:created>
  <dcterms:modified xsi:type="dcterms:W3CDTF">2026-07-04T09:05:30Z</dcterms:modified>
</cp:coreProperties>
</file>