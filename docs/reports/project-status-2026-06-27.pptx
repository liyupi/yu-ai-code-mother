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84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-914400"/>
            <a:ext cx="4846320" cy="4846320"/>
          </a:xfrm>
          <a:prstGeom prst="arc">
            <a:avLst/>
          </a:prstGeom>
          <a:noFill/>
          <a:ln w="25400">
            <a:solidFill>
              <a:srgbClr val="02C39A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4206240"/>
            <a:ext cx="2468880" cy="2468880"/>
          </a:xfrm>
          <a:prstGeom prst="ellipse">
            <a:avLst/>
          </a:prstGeom>
          <a:solidFill>
            <a:srgbClr val="1C7293">
              <a:alpha val="8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46920" y="685800"/>
            <a:ext cx="1234440" cy="1234440"/>
          </a:xfrm>
          <a:prstGeom prst="ellipse">
            <a:avLst/>
          </a:prstGeom>
          <a:solidFill>
            <a:srgbClr val="00A896">
              <a:alpha val="9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2529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每日项目状态汇报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49808" y="199339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DE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零代码应用生成平台 · yu-ai-code-mother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248716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>
                    <a:alpha val="92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运行日：2026-06-27（北京时间）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49808" y="3063240"/>
            <a:ext cx="1691640" cy="310896"/>
          </a:xfrm>
          <a:prstGeom prst="roundRect">
            <a:avLst>
              <a:gd name="adj" fmla="val 23529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50108"/>
            <a:ext cx="15453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Ocean Gradient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633472" y="3063240"/>
            <a:ext cx="1508760" cy="310896"/>
          </a:xfrm>
          <a:prstGeom prst="roundRect">
            <a:avLst>
              <a:gd name="adj" fmla="val 23529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06624" y="3150108"/>
            <a:ext cx="136245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维护者视角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25112" y="306324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98264" y="3150108"/>
            <a:ext cx="12710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仓库快照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452360" y="1207008"/>
            <a:ext cx="3429000" cy="3611880"/>
          </a:xfrm>
          <a:prstGeom prst="roundRect">
            <a:avLst>
              <a:gd name="adj" fmla="val 3467"/>
            </a:avLst>
          </a:prstGeom>
          <a:solidFill>
            <a:srgbClr val="065A82"/>
          </a:solidFill>
          <a:ln w="12700">
            <a:solidFill>
              <a:srgbClr val="02C39A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18120" y="15727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今日重点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827264" y="1993392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27264" y="2103120"/>
            <a:ext cx="4023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394192" y="2011680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能力面：AI 生成、预览、部署、后台管理已形成闭环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827264" y="2743200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27264" y="2852928"/>
            <a:ext cx="4023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394192" y="2761488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架构面：单体与微服务代码并存，微服务改造已完成教学节点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827264" y="3493008"/>
            <a:ext cx="402336" cy="40233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27264" y="3602736"/>
            <a:ext cx="4023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394192" y="3511296"/>
            <a:ext cx="2057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工程面：测试脚本存在，但缺少 CI 工作流和自动质量门禁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项目定位与当前状态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2/10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3232" y="1600200"/>
            <a:ext cx="4754880" cy="4023360"/>
          </a:xfrm>
          <a:prstGeom prst="roundRect">
            <a:avLst>
              <a:gd name="adj" fmla="val 2727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1938528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企业级 AI 代码生成平台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78992" y="2523744"/>
            <a:ext cx="376732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DD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面向“从需求描述到应用生成、编辑、部署、管理”的全链路教学项目。后端以 Spring Boot 3、LangChain4j、LangGraph4j 为核心，前端以 Vue 3 + TypeScript + Ant Design Vue 提供交互体验。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1078992" y="3822192"/>
            <a:ext cx="301752" cy="30175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99616" y="3895344"/>
            <a:ext cx="2011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当前基线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97280" y="420624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仓库目前保留单体应用代码，同时新增 Maven 微服务聚合工程，适合继续沉淀部署、测试和工程化规范。</a:t>
            </a:r>
            <a:endParaRPr lang="en-US" sz="1320" dirty="0"/>
          </a:p>
        </p:txBody>
      </p:sp>
      <p:sp>
        <p:nvSpPr>
          <p:cNvPr id="17" name="Shape 15"/>
          <p:cNvSpPr/>
          <p:nvPr/>
        </p:nvSpPr>
        <p:spPr>
          <a:xfrm>
            <a:off x="5806440" y="1609344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07608" y="1792224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07608" y="190195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0" y="18105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产品闭环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035040" y="2194560"/>
            <a:ext cx="2057400" cy="6492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创建应用、AI 对话生成、实时预览、下载代码与部署分享。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595360" y="1609344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796528" y="1792224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96528" y="190195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72600" y="181051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工程底座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823960" y="2194560"/>
            <a:ext cx="2057400" cy="6492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MySQL、Redis、缓存、限流、Knife4j、Prometheus 监控端点。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806440" y="3364992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007608" y="3547872"/>
            <a:ext cx="420624" cy="420624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07608" y="365760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35661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架构演进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3950208"/>
            <a:ext cx="2057400" cy="6492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微服务模块拆分为 common/model/client、user/app/ai 与 screenshot。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95360" y="3364992"/>
            <a:ext cx="2514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796528" y="3547872"/>
            <a:ext cx="420624" cy="420624"/>
          </a:xfrm>
          <a:prstGeom prst="ellipse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96528" y="365760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9372600" y="35661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质量现状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823960" y="3950208"/>
            <a:ext cx="2057400" cy="64922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测试目录与构建脚本存在；未发现 GitHub Actions 工作流。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核心能力版图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3/10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1572768"/>
            <a:ext cx="4800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42416" y="1901952"/>
            <a:ext cx="731520" cy="731520"/>
          </a:xfrm>
          <a:prstGeom prst="hexagon">
            <a:avLst/>
          </a:prstGeom>
          <a:solidFill>
            <a:srgbClr val="065A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185416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智能代码生成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965960" y="2286000"/>
            <a:ext cx="3346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根据提示词选择 HTML、多文件或 Vue 项目生成策略，支持 LangChain4j 流式输出与工具调用消息。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6355080" y="1572768"/>
            <a:ext cx="4800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74536" y="1901952"/>
            <a:ext cx="731520" cy="731520"/>
          </a:xfrm>
          <a:prstGeom prst="hexagon">
            <a:avLst/>
          </a:prstGeom>
          <a:solidFill>
            <a:srgbClr val="1C729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93408" y="2185416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9808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可视化编辑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498080" y="2286000"/>
            <a:ext cx="3346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生成应用在右侧 iframe 中实时预览，用户可进入编辑模式选中页面元素并继续对话调整。</a:t>
            </a:r>
            <a:endParaRPr lang="en-US" sz="1260" dirty="0"/>
          </a:p>
        </p:txBody>
      </p:sp>
      <p:sp>
        <p:nvSpPr>
          <p:cNvPr id="21" name="Shape 19"/>
          <p:cNvSpPr/>
          <p:nvPr/>
        </p:nvSpPr>
        <p:spPr>
          <a:xfrm>
            <a:off x="822960" y="3703320"/>
            <a:ext cx="4800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42416" y="4032504"/>
            <a:ext cx="731520" cy="731520"/>
          </a:xfrm>
          <a:prstGeom prst="hexagon">
            <a:avLst/>
          </a:prstGeom>
          <a:solidFill>
            <a:srgbClr val="00A8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4315968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965960" y="3977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一键部署与下载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1965960" y="4416552"/>
            <a:ext cx="3346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应用可部署到云端生成访问地址，创建者可下载生成源码 zip，部署后更新访问信息。</a:t>
            </a:r>
            <a:endParaRPr lang="en-US" sz="1260" dirty="0"/>
          </a:p>
        </p:txBody>
      </p:sp>
      <p:sp>
        <p:nvSpPr>
          <p:cNvPr id="26" name="Shape 24"/>
          <p:cNvSpPr/>
          <p:nvPr/>
        </p:nvSpPr>
        <p:spPr>
          <a:xfrm>
            <a:off x="6355080" y="3703320"/>
            <a:ext cx="4800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74536" y="4032504"/>
            <a:ext cx="731520" cy="731520"/>
          </a:xfrm>
          <a:prstGeom prst="hexagon">
            <a:avLst/>
          </a:prstGeom>
          <a:solidFill>
            <a:srgbClr val="02C3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93408" y="4315968"/>
            <a:ext cx="4937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98080" y="3977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企业级管理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98080" y="4416552"/>
            <a:ext cx="3346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后台提供用户、应用、对话历史管理，并支持精选应用、权限校验、分页查询与缓存。</a:t>
            </a:r>
            <a:endParaRPr lang="en-US" sz="1260" dirty="0"/>
          </a:p>
        </p:txBody>
      </p:sp>
      <p:sp>
        <p:nvSpPr>
          <p:cNvPr id="31" name="Shape 29"/>
          <p:cNvSpPr/>
          <p:nvPr/>
        </p:nvSpPr>
        <p:spPr>
          <a:xfrm>
            <a:off x="4160520" y="3236976"/>
            <a:ext cx="3931920" cy="329184"/>
          </a:xfrm>
          <a:prstGeom prst="roundRect">
            <a:avLst>
              <a:gd name="adj" fmla="val 22222"/>
            </a:avLst>
          </a:prstGeom>
          <a:solidFill>
            <a:srgbClr val="E7F7F5"/>
          </a:solidFill>
          <a:ln w="12700">
            <a:solidFill>
              <a:srgbClr val="D5ECE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43400" y="3346704"/>
            <a:ext cx="356616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需求 → 生成 → 预览 → 迭代 → 部署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主要模块与调用关系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4/10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9808" y="1508760"/>
            <a:ext cx="3154680" cy="3337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49808" y="1508760"/>
            <a:ext cx="3154680" cy="621792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0976" y="17099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前端体验层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0704" y="2395728"/>
            <a:ext cx="242316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 / TypeScript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 Design Vue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/ Vue Router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聊天、预览、编辑、后台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480560" y="1508760"/>
            <a:ext cx="3154680" cy="3337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480560" y="1508760"/>
            <a:ext cx="3154680" cy="62179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81728" y="17099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单体服务层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91456" y="2395728"/>
            <a:ext cx="242316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App/User/ChatHistory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生成门面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与静态资源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11312" y="1508760"/>
            <a:ext cx="3154680" cy="333756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11312" y="1508760"/>
            <a:ext cx="3154680" cy="62179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1709928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微服务演进层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522208" y="2395728"/>
            <a:ext cx="242316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/ model / client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app / ai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096512" y="2743200"/>
            <a:ext cx="502920" cy="56692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27264" y="2743200"/>
            <a:ext cx="502920" cy="566928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8680" y="5266944"/>
            <a:ext cx="10287000" cy="530352"/>
          </a:xfrm>
          <a:prstGeom prst="roundRect">
            <a:avLst>
              <a:gd name="adj" fmla="val 13793"/>
            </a:avLst>
          </a:prstGeom>
          <a:solidFill>
            <a:srgbClr val="E7F7F5"/>
          </a:solidFill>
          <a:ln w="12700">
            <a:solidFill>
              <a:srgbClr val="D5EC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7280" y="5440680"/>
            <a:ext cx="9875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基础设施：MySQL · Redis / Session · Caffeine · COS · Selenium 截图 · Prometheus / Actuator · Knife4j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进展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昨日与近期变更快照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5/10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1481328"/>
            <a:ext cx="2971800" cy="4133088"/>
          </a:xfrm>
          <a:prstGeom prst="roundRect">
            <a:avLst>
              <a:gd name="adj" fmla="val 3692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124712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7 天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124712" y="230428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未发现新提交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124712" y="3072384"/>
            <a:ext cx="2103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40" dirty="0">
                <a:solidFill>
                  <a:srgbClr val="DD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本次日报以 README、模块目录、测试/配置和最近可见提交为依据，不推断运行环境线上数据。</a:t>
            </a:r>
            <a:endParaRPr lang="en-US" sz="1240" dirty="0"/>
          </a:p>
        </p:txBody>
      </p:sp>
      <p:sp>
        <p:nvSpPr>
          <p:cNvPr id="15" name="Shape 13"/>
          <p:cNvSpPr/>
          <p:nvPr/>
        </p:nvSpPr>
        <p:spPr>
          <a:xfrm>
            <a:off x="4617720" y="1664208"/>
            <a:ext cx="0" cy="352044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62272" y="1755648"/>
            <a:ext cx="310896" cy="310896"/>
          </a:xfrm>
          <a:prstGeom prst="ellipse">
            <a:avLst/>
          </a:prstGeom>
          <a:solidFill>
            <a:srgbClr val="02C3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572768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893918c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80760" y="1572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983480" y="184708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微服务改造完成，包含完整单体项目代码</a:t>
            </a:r>
            <a:endParaRPr lang="en-US" sz="1280" dirty="0"/>
          </a:p>
        </p:txBody>
      </p:sp>
      <p:sp>
        <p:nvSpPr>
          <p:cNvPr id="20" name="Shape 18"/>
          <p:cNvSpPr/>
          <p:nvPr/>
        </p:nvSpPr>
        <p:spPr>
          <a:xfrm>
            <a:off x="4462272" y="2706624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83480" y="2523744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966b2e5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80760" y="252374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983480" y="279806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Dubbo + Nacos 跨服务调用中间态</a:t>
            </a:r>
            <a:endParaRPr lang="en-US" sz="1280" dirty="0"/>
          </a:p>
        </p:txBody>
      </p:sp>
      <p:sp>
        <p:nvSpPr>
          <p:cNvPr id="24" name="Shape 22"/>
          <p:cNvSpPr/>
          <p:nvPr/>
        </p:nvSpPr>
        <p:spPr>
          <a:xfrm>
            <a:off x="4462272" y="3657600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83480" y="3474720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0a1acfe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80760" y="347472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83480" y="374904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截图服务拆分与接入</a:t>
            </a:r>
            <a:endParaRPr lang="en-US" sz="1280" dirty="0"/>
          </a:p>
        </p:txBody>
      </p:sp>
      <p:sp>
        <p:nvSpPr>
          <p:cNvPr id="28" name="Shape 26"/>
          <p:cNvSpPr/>
          <p:nvPr/>
        </p:nvSpPr>
        <p:spPr>
          <a:xfrm>
            <a:off x="4462272" y="4608576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983480" y="442569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41a189a 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080760" y="44256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2025-08-26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983480" y="470001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用户、应用、AI、模型、通用模块拆分</a:t>
            </a:r>
            <a:endParaRPr lang="en-US" sz="1280" dirty="0"/>
          </a:p>
        </p:txBody>
      </p:sp>
      <p:sp>
        <p:nvSpPr>
          <p:cNvPr id="32" name="Shape 30"/>
          <p:cNvSpPr/>
          <p:nvPr/>
        </p:nvSpPr>
        <p:spPr>
          <a:xfrm>
            <a:off x="4983480" y="5486400"/>
            <a:ext cx="3977640" cy="310896"/>
          </a:xfrm>
          <a:prstGeom prst="roundRect">
            <a:avLst>
              <a:gd name="adj" fmla="val 23529"/>
            </a:avLst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056632" y="5573268"/>
            <a:ext cx="383133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提示：多个中间态提交明确标注“不要单独使用当前提交”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数据与指标要点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6/10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1536192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50976" y="1682496"/>
            <a:ext cx="1051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5A8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69264" y="2157984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核心产品能力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69264" y="24140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明确列出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90672" y="1536192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236976" y="1682496"/>
            <a:ext cx="1051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255264" y="2157984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微服务模块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255264" y="24140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modules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376672" y="1536192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22976" y="1682496"/>
            <a:ext cx="1051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A89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541264" y="2157984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测试文件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41264" y="24140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单体测试目录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662672" y="1536192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808976" y="1682496"/>
            <a:ext cx="1051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827264" y="2157984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核心数据表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827264" y="24140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user/app/chat_history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948672" y="1536192"/>
            <a:ext cx="19659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889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094976" y="1682496"/>
            <a:ext cx="10515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56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113264" y="2157984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工作流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0113264" y="2414016"/>
            <a:ext cx="1600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.github/workflows 未发现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32688" y="3310128"/>
            <a:ext cx="10104120" cy="1627632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261872" y="3621024"/>
            <a:ext cx="1600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运行指标状态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61872" y="4041648"/>
            <a:ext cx="6858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仓库已提供 Prometheus 抓取配置和 Spring Boot Actuator Prometheus 端点，但本次自动化未连接线上环境，应用生成量、AI 调用量、部署成功率等生产指标需由运行环境补齐。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61872" y="5358384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测试覆盖入口</a:t>
            </a:r>
            <a:endParaRPr lang="en-US" sz="980" dirty="0"/>
          </a:p>
        </p:txBody>
      </p:sp>
      <p:sp>
        <p:nvSpPr>
          <p:cNvPr id="35" name="Shape 33"/>
          <p:cNvSpPr/>
          <p:nvPr/>
        </p:nvSpPr>
        <p:spPr>
          <a:xfrm>
            <a:off x="2606040" y="5340096"/>
            <a:ext cx="5852160" cy="146304"/>
          </a:xfrm>
          <a:prstGeom prst="roundRect">
            <a:avLst>
              <a:gd name="adj" fmla="val 18750"/>
            </a:avLst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06040" y="5340096"/>
            <a:ext cx="4754880" cy="146304"/>
          </a:xfrm>
          <a:prstGeom prst="roundRect">
            <a:avLst>
              <a:gd name="adj" fmla="val 18750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61872" y="5678424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监控配置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2606040" y="5660136"/>
            <a:ext cx="5852160" cy="146304"/>
          </a:xfrm>
          <a:prstGeom prst="roundRect">
            <a:avLst>
              <a:gd name="adj" fmla="val 18750"/>
            </a:avLst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606040" y="5660136"/>
            <a:ext cx="3931920" cy="146304"/>
          </a:xfrm>
          <a:prstGeom prst="roundRect">
            <a:avLst>
              <a:gd name="adj" fmla="val 1875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261872" y="5998464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自动化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2606040" y="5980176"/>
            <a:ext cx="5852160" cy="146304"/>
          </a:xfrm>
          <a:prstGeom prst="roundRect">
            <a:avLst>
              <a:gd name="adj" fmla="val 18750"/>
            </a:avLst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06040" y="5980176"/>
            <a:ext cx="731520" cy="146304"/>
          </a:xfrm>
          <a:prstGeom prst="roundRect">
            <a:avLst>
              <a:gd name="adj" fmla="val 18750"/>
            </a:avLst>
          </a:prstGeom>
          <a:solidFill>
            <a:srgbClr val="D56A6A"/>
          </a:solidFill>
          <a:ln w="12700">
            <a:solidFill>
              <a:srgbClr val="D56A6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 / 测试配置现状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7/10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86384" y="157276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1755648"/>
            <a:ext cx="420624" cy="420624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1865376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63624" y="17739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后端测试资产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14984" y="2157984"/>
            <a:ext cx="2788920" cy="11978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单体项目存在 JUnit 测试：AI 生成、类型路由、工作流、并发、图片工具、代码解析、截图工具等。Maven 包含 spring-boot-starter-test。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4462272" y="157276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1755648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865376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239512" y="17739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前端质量脚本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90872" y="2157984"/>
            <a:ext cx="2788920" cy="11978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 package.json 提供 build、type-check、lint、format、preview 等脚本，基于 Vite、vue-tsc、ESLint、Prettier。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138160" y="1572768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339328" y="1755648"/>
            <a:ext cx="420624" cy="420624"/>
          </a:xfrm>
          <a:prstGeom prst="ellipse">
            <a:avLst/>
          </a:prstGeom>
          <a:solidFill>
            <a:srgbClr val="D56A6A"/>
          </a:solidFill>
          <a:ln w="12700">
            <a:solidFill>
              <a:srgbClr val="D56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339328" y="1865376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915400" y="17739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状态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8366760" y="2157984"/>
            <a:ext cx="2788920" cy="119786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未发现 .github/workflows 配置；无法从仓库内确认最近 CI 运行结果或自动化质量门禁。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>
            <a:off x="914400" y="4160520"/>
            <a:ext cx="10195560" cy="1078992"/>
          </a:xfrm>
          <a:prstGeom prst="roundRect">
            <a:avLst>
              <a:gd name="adj" fmla="val 10169"/>
            </a:avLst>
          </a:prstGeom>
          <a:solidFill>
            <a:srgbClr val="E7F7F5"/>
          </a:solidFill>
          <a:ln w="12700">
            <a:solidFill>
              <a:srgbClr val="D5EC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4440" y="4443984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本次报告验证范围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063240" y="4443984"/>
            <a:ext cx="6949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仅对新生成 PPT 进行内容与占位符检查；未修改业务代码，未执行后端/前端完整业务测试。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风险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未完成项、风险与阻塞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8/10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04672" y="1444752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5840" y="1627632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173736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581912" y="16459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配置落地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33272" y="2029968"/>
            <a:ext cx="46177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application.yml 中仍含 API Key、COS、Pexels、DashScope 等占位配置，需要环境变量化与样例校验。</a:t>
            </a:r>
            <a:endParaRPr lang="en-US" sz="1130" dirty="0"/>
          </a:p>
        </p:txBody>
      </p:sp>
      <p:sp>
        <p:nvSpPr>
          <p:cNvPr id="16" name="Shape 14"/>
          <p:cNvSpPr/>
          <p:nvPr/>
        </p:nvSpPr>
        <p:spPr>
          <a:xfrm>
            <a:off x="804672" y="2798064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2980944"/>
            <a:ext cx="420624" cy="420624"/>
          </a:xfrm>
          <a:prstGeom prst="ellipse">
            <a:avLst/>
          </a:prstGeom>
          <a:solidFill>
            <a:srgbClr val="D56A6A"/>
          </a:solidFill>
          <a:ln w="12700">
            <a:solidFill>
              <a:srgbClr val="D56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09067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581912" y="29992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缺口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33272" y="3383280"/>
            <a:ext cx="46177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无工作流文件，提交后缺少自动构建、测试和前端类型检查。</a:t>
            </a:r>
            <a:endParaRPr lang="en-US" sz="1130" dirty="0"/>
          </a:p>
        </p:txBody>
      </p:sp>
      <p:sp>
        <p:nvSpPr>
          <p:cNvPr id="21" name="Shape 19"/>
          <p:cNvSpPr/>
          <p:nvPr/>
        </p:nvSpPr>
        <p:spPr>
          <a:xfrm>
            <a:off x="804672" y="4151376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05840" y="4334256"/>
            <a:ext cx="420624" cy="42062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43984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581912" y="43525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部署链路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33272" y="4736592"/>
            <a:ext cx="46177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Nacos、Dubbo、Redis、MySQL、截图服务等依赖尚缺少一键本地编排说明。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6327648" y="1444752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528816" y="1627632"/>
            <a:ext cx="420624" cy="420624"/>
          </a:xfrm>
          <a:prstGeom prst="ellipse">
            <a:avLst/>
          </a:prstGeom>
          <a:solidFill>
            <a:srgbClr val="F6C85F"/>
          </a:solidFill>
          <a:ln w="12700">
            <a:solidFill>
              <a:srgbClr val="F6C85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28816" y="1737360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104888" y="164592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成本与稳定性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556248" y="2029968"/>
            <a:ext cx="46177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长上下文、流式输出、推理模型与外部图片服务会放大超时、限流、成本和错误恢复压力。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6327648" y="2798064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528816" y="2980944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28816" y="3090672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104888" y="29992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截图与浏览器环境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556248" y="3383280"/>
            <a:ext cx="46177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Selenium/WebDriver 依赖运行环境，部署时需验证浏览器、字体、沙箱与网络访问。</a:t>
            </a:r>
            <a:endParaRPr lang="en-US" sz="1130" dirty="0"/>
          </a:p>
        </p:txBody>
      </p:sp>
      <p:sp>
        <p:nvSpPr>
          <p:cNvPr id="36" name="Shape 34"/>
          <p:cNvSpPr/>
          <p:nvPr/>
        </p:nvSpPr>
        <p:spPr>
          <a:xfrm>
            <a:off x="6327648" y="4151376"/>
            <a:ext cx="50749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528816" y="4334256"/>
            <a:ext cx="420624" cy="420624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28816" y="4443984"/>
            <a:ext cx="4206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04888" y="435254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双轨代码维护</a:t>
            </a:r>
            <a:endParaRPr lang="en-US" sz="1600" dirty="0"/>
          </a:p>
        </p:txBody>
      </p:sp>
      <p:sp>
        <p:nvSpPr>
          <p:cNvPr id="40" name="Text 38"/>
          <p:cNvSpPr/>
          <p:nvPr/>
        </p:nvSpPr>
        <p:spPr>
          <a:xfrm>
            <a:off x="6556248" y="4736592"/>
            <a:ext cx="4617720" cy="23774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indent="0" marL="0">
              <a:buNone/>
            </a:pPr>
            <a:r>
              <a:rPr lang="en-US" sz="113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单体与微服务并存有利教学，但后续改动需要明确主线，避免逻辑分叉。</a:t>
            </a:r>
            <a:endParaRPr lang="en-US" sz="1130" dirty="0"/>
          </a:p>
        </p:txBody>
      </p:sp>
      <p:sp>
        <p:nvSpPr>
          <p:cNvPr id="41" name="Shape 39"/>
          <p:cNvSpPr/>
          <p:nvPr/>
        </p:nvSpPr>
        <p:spPr>
          <a:xfrm>
            <a:off x="5468112" y="2834640"/>
            <a:ext cx="822960" cy="82296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68112" y="299008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A"/>
          </a:solidFill>
          <a:ln w="12700">
            <a:solidFill>
              <a:srgbClr val="F4FB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0"/>
            <a:ext cx="73152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95560" y="-594360"/>
            <a:ext cx="2651760" cy="2651760"/>
          </a:xfrm>
          <a:prstGeom prst="ellipse">
            <a:avLst/>
          </a:prstGeom>
          <a:solidFill>
            <a:srgbClr val="E7F7F5"/>
          </a:solidFill>
          <a:ln w="12700">
            <a:solidFill>
              <a:srgbClr val="E7F7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384048"/>
            <a:ext cx="91440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57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计划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8869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932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建议的下一步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617220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yu-ai-code-mother · 每日项目状态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104120" y="6172200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2026-06-27 · 9/10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3232" y="1664208"/>
            <a:ext cx="1874520" cy="33375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280160" y="1993392"/>
            <a:ext cx="713232" cy="7132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2267712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23544" y="29260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补齐自动化质量门禁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932688" y="37033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 CI：Maven test、前端 type-check/build、lint 检查。</a:t>
            </a:r>
            <a:endParaRPr lang="en-US" sz="1060" dirty="0"/>
          </a:p>
        </p:txBody>
      </p:sp>
      <p:sp>
        <p:nvSpPr>
          <p:cNvPr id="16" name="Shape 14"/>
          <p:cNvSpPr/>
          <p:nvPr/>
        </p:nvSpPr>
        <p:spPr>
          <a:xfrm>
            <a:off x="2615184" y="3035808"/>
            <a:ext cx="347472" cy="457200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99232" y="1664208"/>
            <a:ext cx="1874520" cy="33375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566160" y="1993392"/>
            <a:ext cx="713232" cy="7132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2267712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9544" y="29260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标准化配置与部署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218688" y="37033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整理环境变量、样例配置、Docker/Compose 或本地启动文档。</a:t>
            </a:r>
            <a:endParaRPr lang="en-US" sz="1060" dirty="0"/>
          </a:p>
        </p:txBody>
      </p:sp>
      <p:sp>
        <p:nvSpPr>
          <p:cNvPr id="22" name="Shape 20"/>
          <p:cNvSpPr/>
          <p:nvPr/>
        </p:nvSpPr>
        <p:spPr>
          <a:xfrm>
            <a:off x="4901184" y="3035808"/>
            <a:ext cx="347472" cy="457200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85232" y="1664208"/>
            <a:ext cx="1874520" cy="33375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852160" y="1993392"/>
            <a:ext cx="713232" cy="7132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52160" y="2267712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95544" y="29260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收敛主线架构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5504688" y="37033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明确单体与微服务的维护边界，避免重复实现继续扩散。</a:t>
            </a:r>
            <a:endParaRPr lang="en-US" sz="1060" dirty="0"/>
          </a:p>
        </p:txBody>
      </p:sp>
      <p:sp>
        <p:nvSpPr>
          <p:cNvPr id="28" name="Shape 26"/>
          <p:cNvSpPr/>
          <p:nvPr/>
        </p:nvSpPr>
        <p:spPr>
          <a:xfrm>
            <a:off x="7187184" y="3035808"/>
            <a:ext cx="347472" cy="457200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71232" y="1664208"/>
            <a:ext cx="1874520" cy="33375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8160" y="1993392"/>
            <a:ext cx="713232" cy="7132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38160" y="2267712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81544" y="29260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建设端到端冒烟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7790688" y="37033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覆盖创建应用、SSE 生成、预览、下载、部署、后台查询。</a:t>
            </a:r>
            <a:endParaRPr lang="en-US" sz="1060" dirty="0"/>
          </a:p>
        </p:txBody>
      </p:sp>
      <p:sp>
        <p:nvSpPr>
          <p:cNvPr id="34" name="Shape 32"/>
          <p:cNvSpPr/>
          <p:nvPr/>
        </p:nvSpPr>
        <p:spPr>
          <a:xfrm>
            <a:off x="9473184" y="3035808"/>
            <a:ext cx="347472" cy="457200"/>
          </a:xfrm>
          <a:prstGeom prst="chevron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857232" y="1664208"/>
            <a:ext cx="1874520" cy="333756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5ECEA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424160" y="1993392"/>
            <a:ext cx="713232" cy="713232"/>
          </a:xfrm>
          <a:prstGeom prst="ellipse">
            <a:avLst/>
          </a:prstGeom>
          <a:solidFill>
            <a:srgbClr val="065A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0" y="2267712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067544" y="29260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93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完善运营指标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10076688" y="370332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6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接入生成量、失败率、AI 调用时延/成本、部署成功率和缓存命中。</a:t>
            </a:r>
            <a:endParaRPr lang="en-US" sz="1060" dirty="0"/>
          </a:p>
        </p:txBody>
      </p:sp>
      <p:sp>
        <p:nvSpPr>
          <p:cNvPr id="40" name="Shape 38"/>
          <p:cNvSpPr/>
          <p:nvPr/>
        </p:nvSpPr>
        <p:spPr>
          <a:xfrm>
            <a:off x="4023360" y="5532120"/>
            <a:ext cx="4069080" cy="310896"/>
          </a:xfrm>
          <a:prstGeom prst="roundRect">
            <a:avLst>
              <a:gd name="adj" fmla="val 23529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096512" y="5618988"/>
            <a:ext cx="392277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优先级建议：先建立质量门禁，再推进部署与指标闭环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5A82">
              <a:alpha val="84000"/>
            </a:srgbClr>
          </a:solidFill>
          <a:ln w="12700">
            <a:solidFill>
              <a:srgbClr val="065A82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0" y="-914400"/>
            <a:ext cx="4846320" cy="4846320"/>
          </a:xfrm>
          <a:prstGeom prst="arc">
            <a:avLst/>
          </a:prstGeom>
          <a:noFill/>
          <a:ln w="25400">
            <a:solidFill>
              <a:srgbClr val="02C39A">
                <a:alpha val="5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4206240"/>
            <a:ext cx="2468880" cy="2468880"/>
          </a:xfrm>
          <a:prstGeom prst="ellipse">
            <a:avLst/>
          </a:prstGeom>
          <a:solidFill>
            <a:srgbClr val="1C7293">
              <a:alpha val="82000"/>
            </a:srgbClr>
          </a:solidFill>
          <a:ln w="12700">
            <a:solidFill>
              <a:srgbClr val="1C7293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46920" y="685800"/>
            <a:ext cx="1234440" cy="1234440"/>
          </a:xfrm>
          <a:prstGeom prst="ellipse">
            <a:avLst/>
          </a:prstGeom>
          <a:solidFill>
            <a:srgbClr val="00A896">
              <a:alpha val="92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78638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总结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86384" y="1481328"/>
            <a:ext cx="7178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D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平台具备产品闭环和架构演进基础，下一阶段重点应从“能力完整”转向“可稳定交付”。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41248" y="2423160"/>
            <a:ext cx="8366760" cy="658368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 w="12700">
            <a:solidFill>
              <a:srgbClr val="02C39A">
                <a:alpha val="5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42416" y="2587752"/>
            <a:ext cx="749808" cy="292608"/>
          </a:xfrm>
          <a:prstGeom prst="roundRect">
            <a:avLst>
              <a:gd name="adj" fmla="val 18750"/>
            </a:avLst>
          </a:prstGeom>
          <a:solidFill>
            <a:srgbClr val="02C3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68376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能力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11680" y="2596896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生成、对话预览、可视化编辑、部署下载、后台管理已形成主干闭环。</a:t>
            </a:r>
            <a:endParaRPr lang="en-US" sz="1370" dirty="0"/>
          </a:p>
        </p:txBody>
      </p:sp>
      <p:sp>
        <p:nvSpPr>
          <p:cNvPr id="13" name="Shape 11"/>
          <p:cNvSpPr/>
          <p:nvPr/>
        </p:nvSpPr>
        <p:spPr>
          <a:xfrm>
            <a:off x="841248" y="3337560"/>
            <a:ext cx="8366760" cy="658368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 w="12700">
            <a:solidFill>
              <a:srgbClr val="02C39A">
                <a:alpha val="5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2416" y="3502152"/>
            <a:ext cx="749808" cy="292608"/>
          </a:xfrm>
          <a:prstGeom prst="roundRect">
            <a:avLst>
              <a:gd name="adj" fmla="val 18750"/>
            </a:avLst>
          </a:prstGeom>
          <a:solidFill>
            <a:srgbClr val="00A8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59816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011680" y="3511296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最近可见提交集中于微服务改造完成，当前 7 天内无新增代码提交。</a:t>
            </a:r>
            <a:endParaRPr lang="en-US" sz="1370" dirty="0"/>
          </a:p>
        </p:txBody>
      </p:sp>
      <p:sp>
        <p:nvSpPr>
          <p:cNvPr id="17" name="Shape 15"/>
          <p:cNvSpPr/>
          <p:nvPr/>
        </p:nvSpPr>
        <p:spPr>
          <a:xfrm>
            <a:off x="841248" y="4251960"/>
            <a:ext cx="8366760" cy="658368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 w="12700">
            <a:solidFill>
              <a:srgbClr val="02C39A">
                <a:alpha val="5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4416552"/>
            <a:ext cx="749808" cy="292608"/>
          </a:xfrm>
          <a:prstGeom prst="roundRect">
            <a:avLst>
              <a:gd name="adj" fmla="val 18750"/>
            </a:avLst>
          </a:prstGeom>
          <a:solidFill>
            <a:srgbClr val="F6C85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4512564"/>
            <a:ext cx="74980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关注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11680" y="4425696"/>
            <a:ext cx="6492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7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配置治理、CI 自动化、依赖编排、测试稳定性和运行指标是近期主要抓手。</a:t>
            </a:r>
            <a:endParaRPr lang="en-US" sz="1370" dirty="0"/>
          </a:p>
        </p:txBody>
      </p:sp>
      <p:sp>
        <p:nvSpPr>
          <p:cNvPr id="21" name="Shape 19"/>
          <p:cNvSpPr/>
          <p:nvPr/>
        </p:nvSpPr>
        <p:spPr>
          <a:xfrm>
            <a:off x="8668512" y="1188720"/>
            <a:ext cx="2286000" cy="4407408"/>
          </a:xfrm>
          <a:prstGeom prst="roundRect">
            <a:avLst>
              <a:gd name="adj" fmla="val 4800"/>
            </a:avLst>
          </a:prstGeom>
          <a:solidFill>
            <a:srgbClr val="1C7293">
              <a:alpha val="90000"/>
            </a:srgbClr>
          </a:solidFill>
          <a:ln w="12700">
            <a:solidFill>
              <a:srgbClr val="1C7293">
                <a:alpha val="65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034272" y="162763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今日建议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015984" y="2240280"/>
            <a:ext cx="1600200" cy="1645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CI 与配置治理作为下一轮工程化基础任务，优先消除“无法确认构建/测试状态”的风险。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887968" y="4846320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80" dirty="0">
                <a:solidFill>
                  <a:srgbClr val="DD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 路径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DDF6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/docs/reports/project-status-2026-06-27.pptx</a:t>
            </a:r>
            <a:endParaRPr lang="en-US" sz="9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yu-ai-code-mother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2026-06-27</dc:title>
  <dc:subject>每日项目状态汇报</dc:subject>
  <dc:creator>Cursor Automation</dc:creator>
  <cp:lastModifiedBy>Cursor Automation</cp:lastModifiedBy>
  <cp:revision>1</cp:revision>
  <dcterms:created xsi:type="dcterms:W3CDTF">2026-06-27T09:07:22Z</dcterms:created>
  <dcterms:modified xsi:type="dcterms:W3CDTF">2026-06-27T09:07:22Z</dcterms:modified>
</cp:coreProperties>
</file>