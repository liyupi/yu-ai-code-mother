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0" y="411480"/>
            <a:ext cx="2194560" cy="219456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420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7" name="Oval 6"/>
          <p:cNvSpPr/>
          <p:nvPr/>
        </p:nvSpPr>
        <p:spPr>
          <a:xfrm>
            <a:off x="9966960" y="1554480"/>
            <a:ext cx="1234440" cy="1234440"/>
          </a:xfrm>
          <a:prstGeom prst="ellipse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7213A"/>
                </a:solidFill>
                <a:latin typeface="Calibri"/>
              </a:rPr>
              <a:t>Vue</a:t>
            </a:r>
          </a:p>
        </p:txBody>
      </p:sp>
      <p:sp>
        <p:nvSpPr>
          <p:cNvPr id="8" name="Oval 7"/>
          <p:cNvSpPr/>
          <p:nvPr/>
        </p:nvSpPr>
        <p:spPr>
          <a:xfrm>
            <a:off x="8092440" y="2331720"/>
            <a:ext cx="1097280" cy="1097280"/>
          </a:xfrm>
          <a:prstGeom prst="ellipse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07213A"/>
                </a:solidFill>
                <a:latin typeface="Calibri"/>
              </a:rPr>
              <a:t>SB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8368"/>
            <a:ext cx="109728" cy="1005840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6583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每日项目状态汇报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9844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CFF2EC"/>
                </a:solidFill>
                <a:latin typeface="Microsoft YaHei"/>
              </a:rPr>
              <a:t>AI 零代码应用生成平台（yu-ai-code-mother）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084831"/>
            <a:ext cx="7406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面向项目维护者/团队 · 范围覆盖 README、主要模块目录、近 7 天提交与测试配置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60520"/>
            <a:ext cx="27889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15968"/>
            <a:ext cx="24871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7213A"/>
                </a:solidFill>
                <a:latin typeface="Microsoft YaHei"/>
              </a:rPr>
              <a:t>北京时间 2026-06-29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4160520"/>
            <a:ext cx="4114800" cy="658368"/>
          </a:xfrm>
          <a:prstGeom prst="round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0791" y="4315968"/>
            <a:ext cx="37673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7213A"/>
                </a:solidFill>
                <a:latin typeface="Microsoft YaHei"/>
              </a:rPr>
              <a:t>分支 cursor/bc-40ead4c0-...-98c5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6364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CFF2EC"/>
                </a:solidFill>
                <a:latin typeface="Microsoft YaHei"/>
              </a:rPr>
              <a:t>自动化生成 · Ocean Gradient / Teal Trust 配色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54864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754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7213A"/>
                </a:solidFill>
                <a:latin typeface="Calibri"/>
              </a:rPr>
              <a:t>项目概览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717E"/>
                </a:solidFill>
                <a:latin typeface="Microsoft YaHei"/>
              </a:rPr>
              <a:t>定位：企业级 AI 代码生成与应用发布平台，同时保留单体版与微服务演进版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43891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0749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3749039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1600200"/>
            <a:ext cx="420624" cy="420624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60020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一句话摘要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75688"/>
            <a:ext cx="4617720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用户通过自然语言描述需求，平台调用 AI 生成 HTML/多文件/Vue 工程代码，支持实时预览、可视化点选修改、一键部署分享和后台治理。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1325880" cy="25603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6761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架构视图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8800"/>
            <a:ext cx="50749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2331720"/>
            <a:ext cx="868680" cy="86868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Vue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4612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7213A"/>
                </a:solidFill>
                <a:latin typeface="Microsoft YaHei"/>
              </a:rPr>
              <a:t>Vue 前端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2331720"/>
            <a:ext cx="868680" cy="868680"/>
          </a:xfrm>
          <a:prstGeom prst="ellipse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单体后端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4612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7213A"/>
                </a:solidFill>
                <a:latin typeface="Microsoft YaHei"/>
              </a:rPr>
              <a:t>单体后端</a:t>
            </a:r>
          </a:p>
        </p:txBody>
      </p:sp>
      <p:sp>
        <p:nvSpPr>
          <p:cNvPr id="20" name="Oval 19"/>
          <p:cNvSpPr/>
          <p:nvPr/>
        </p:nvSpPr>
        <p:spPr>
          <a:xfrm>
            <a:off x="10012680" y="2331720"/>
            <a:ext cx="868680" cy="868680"/>
          </a:xfrm>
          <a:prstGeom prst="ellipse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7213A"/>
                </a:solidFill>
                <a:latin typeface="Calibri"/>
              </a:rPr>
              <a:t>微服务版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24612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7213A"/>
                </a:solidFill>
                <a:latin typeface="Microsoft YaHei"/>
              </a:rPr>
              <a:t>微服务版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0064" y="2743200"/>
            <a:ext cx="658368" cy="36576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0848" y="2743200"/>
            <a:ext cx="713232" cy="36576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45262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92"/>
              </a:spcAft>
              <a:defRPr sz="1220">
                <a:solidFill>
                  <a:srgbClr val="2B3F4D"/>
                </a:solidFill>
                <a:latin typeface="Microsoft YaHei"/>
              </a:defRPr>
            </a:pPr>
            <a:r>
              <a:t>• Spring Boot 3 + LangChain4j + LangGraph4j 承载 AI 后端</a:t>
            </a:r>
          </a:p>
          <a:p>
            <a:pPr>
              <a:spcAft>
                <a:spcPts val="792"/>
              </a:spcAft>
              <a:defRPr sz="1220">
                <a:solidFill>
                  <a:srgbClr val="2B3F4D"/>
                </a:solidFill>
                <a:latin typeface="Microsoft YaHei"/>
              </a:defRPr>
            </a:pPr>
            <a:r>
              <a:t>• Spring Cloud Alibaba + Dubbo + Nacos 体现微服务拆分方向</a:t>
            </a:r>
          </a:p>
          <a:p>
            <a:pPr>
              <a:spcAft>
                <a:spcPts val="792"/>
              </a:spcAft>
              <a:defRPr sz="1220">
                <a:solidFill>
                  <a:srgbClr val="2B3F4D"/>
                </a:solidFill>
                <a:latin typeface="Microsoft YaHei"/>
              </a:defRPr>
            </a:pPr>
            <a:r>
              <a:t>• MySQL / Redis / COS / Selenium / Prometheus 提供支撑能力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413248"/>
            <a:ext cx="214884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5522976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008991"/>
                </a:solidFill>
                <a:latin typeface="Calibri"/>
              </a:rPr>
              <a:t>386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594360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受管文件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4952" y="5413248"/>
            <a:ext cx="214884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9544" y="5522976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3EBFBE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9544" y="594360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微服务模块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04104" y="5413248"/>
            <a:ext cx="214884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8696" y="5522976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4AA471"/>
                </a:solidFill>
                <a:latin typeface="Calibr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8696" y="594360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Java 测试类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63256" y="5413248"/>
            <a:ext cx="214884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5522976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5AD49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594360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前端页面组件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6446520"/>
            <a:ext cx="10927080" cy="9144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717E"/>
                </a:solidFill>
                <a:latin typeface="Microsoft YaHei"/>
              </a:rPr>
              <a:t>yu-ai-code-mother · 每日项目状态 · 北京时间 2026-06-29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65105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C717E"/>
                </a:solidFill>
                <a:latin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54864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754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7213A"/>
                </a:solidFill>
                <a:latin typeface="Calibri"/>
              </a:rPr>
              <a:t>当前核心能力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717E"/>
                </a:solidFill>
                <a:latin typeface="Microsoft YaHei"/>
              </a:rPr>
              <a:t>从 README 与现有代码结构归纳的主要产品能力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43891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1600200"/>
            <a:ext cx="420624" cy="420624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60020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AI 智能代码生成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7568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按需求选择 HTML / 多文件 / Vue 工程策略，通过工具调用写入代码，并以 SSE 实时返回生成过程。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4808" y="1600200"/>
            <a:ext cx="420624" cy="420624"/>
          </a:xfrm>
          <a:prstGeom prst="ellipse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160020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可视化编辑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7568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生成应用可实时预览，前端支持 iframe 点选元素并结合 AI 对话修改页面。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443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944368"/>
            <a:ext cx="73152" cy="1234440"/>
          </a:xfrm>
          <a:prstGeom prst="rect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3127248"/>
            <a:ext cx="420624" cy="420624"/>
          </a:xfrm>
          <a:prstGeom prst="ellipse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8" y="3127248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一键部署与分享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02736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后端复制生成结果到部署目录、生成访问地址，并支持异步截图封面与源码下载。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944368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944368"/>
            <a:ext cx="73152" cy="1234440"/>
          </a:xfrm>
          <a:prstGeom prst="rect">
            <a:avLst/>
          </a:prstGeom>
          <a:solidFill>
            <a:srgbClr val="4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64808" y="3127248"/>
            <a:ext cx="420624" cy="420624"/>
          </a:xfrm>
          <a:prstGeom prst="ellipse">
            <a:avLst/>
          </a:prstGeom>
          <a:solidFill>
            <a:srgbClr val="4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MG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3127248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企业级后台治理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02736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覆盖用户、应用、精选、对话管理，结合 Redis Session、Redisson 限流与监控指标。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80560"/>
            <a:ext cx="108356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480560"/>
            <a:ext cx="73152" cy="932688"/>
          </a:xfrm>
          <a:prstGeom prst="rect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6968" y="4663440"/>
            <a:ext cx="420624" cy="420624"/>
          </a:xfrm>
          <a:prstGeom prst="ellipse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WF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35608" y="4663440"/>
            <a:ext cx="9921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AI 工作流能力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38928"/>
            <a:ext cx="103784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LangGraph4j 流水线覆盖图片采集、Prompt 增强、路由、代码生成、质量检查与项目构建，是后续产品化编排的核心抓手。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" y="6446520"/>
            <a:ext cx="10927080" cy="9144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717E"/>
                </a:solidFill>
                <a:latin typeface="Microsoft YaHei"/>
              </a:rPr>
              <a:t>yu-ai-code-mother · 每日项目状态 · 北京时间 2026-06-29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65105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C717E"/>
                </a:solidFill>
                <a:latin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54864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754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7213A"/>
                </a:solidFill>
                <a:latin typeface="Calibri"/>
              </a:rPr>
              <a:t>主要模块与职责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717E"/>
                </a:solidFill>
                <a:latin typeface="Microsoft YaHei"/>
              </a:rPr>
              <a:t>当前仓库的交付形态和演进方向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43891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1325880" cy="25603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360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单体后端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37360"/>
            <a:ext cx="34015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37360"/>
            <a:ext cx="73152" cy="352044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920240"/>
            <a:ext cx="420624" cy="420624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1920240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根目录 Spring Boot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95728"/>
            <a:ext cx="2944368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完整业务链路：用户/应用/对话/部署、AI 生成、LangGraph4j 工作流、监控、限流。默认端口 8123，context-path /api。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353312"/>
            <a:ext cx="1325880" cy="25603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0360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微服务版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737360"/>
            <a:ext cx="34015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737360"/>
            <a:ext cx="73152" cy="3520440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36008" y="1920240"/>
            <a:ext cx="420624" cy="420624"/>
          </a:xfrm>
          <a:prstGeom prst="ellipse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1920240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Maven 多模块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395728"/>
            <a:ext cx="2944368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common / model / client / user / app / ai / screenshot 共 7 个模块，体现 Spring Cloud + Dubbo + Nacos 的拆分路线。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353312"/>
            <a:ext cx="1325880" cy="25603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40360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1737360"/>
            <a:ext cx="340156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79" y="1737360"/>
            <a:ext cx="73152" cy="3520440"/>
          </a:xfrm>
          <a:prstGeom prst="rect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85047" y="1920240"/>
            <a:ext cx="420624" cy="420624"/>
          </a:xfrm>
          <a:prstGeom prst="ellipse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7" y="1920240"/>
            <a:ext cx="24871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Vue 3 + TypeScript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2395728"/>
            <a:ext cx="2944368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首页、AI 对话生成页、应用编辑、用户登录注册、管理员应用/用户管理；UI 基于 Ant Design Vue。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513832"/>
            <a:ext cx="10378440" cy="493776"/>
          </a:xfrm>
          <a:prstGeom prst="round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650992"/>
            <a:ext cx="10012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7213A"/>
                </a:solidFill>
                <a:latin typeface="Microsoft YaHei"/>
              </a:rPr>
              <a:t>关键判断：单体版更接近完整可运行交付，微服务版用于架构演进与教学拆分，部分高级能力仍需迁移或整合。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6446520"/>
            <a:ext cx="10927080" cy="9144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717E"/>
                </a:solidFill>
                <a:latin typeface="Microsoft YaHei"/>
              </a:rPr>
              <a:t>yu-ai-code-mother · 每日项目状态 · 北京时间 2026-06-29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65105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C717E"/>
                </a:solidFill>
                <a:latin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54864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754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7213A"/>
                </a:solidFill>
                <a:latin typeface="Calibri"/>
              </a:rPr>
              <a:t>昨日 / 近期变更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717E"/>
                </a:solidFill>
                <a:latin typeface="Microsoft YaHei"/>
              </a:rPr>
              <a:t>近 7 天无新增提交；以下为最近可见提交基线与当前分支状态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43891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417320"/>
            <a:ext cx="109728" cy="40690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453896"/>
            <a:ext cx="438912" cy="438912"/>
          </a:xfrm>
          <a:prstGeom prst="ellipse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近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17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213A"/>
                </a:solidFill>
                <a:latin typeface="Calibri"/>
              </a:rPr>
              <a:t>近 7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417320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40" b="0">
                <a:solidFill>
                  <a:srgbClr val="2B3F4D"/>
                </a:solidFill>
                <a:latin typeface="Microsoft YaHei"/>
              </a:rPr>
              <a:t>git log --since=7 days ago 未发现新提交，昨日无仓库层面的新增变更。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240280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当前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037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213A"/>
                </a:solidFill>
                <a:latin typeface="Calibri"/>
              </a:rPr>
              <a:t>当前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203704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40" b="0">
                <a:solidFill>
                  <a:srgbClr val="2B3F4D"/>
                </a:solidFill>
                <a:latin typeface="Microsoft YaHei"/>
              </a:rPr>
              <a:t>893918c · master 快照；当前 feature 分支与远端 master 基线一致，生成报告前工作区干净。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026664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最近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990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213A"/>
                </a:solidFill>
                <a:latin typeface="Calibri"/>
              </a:rPr>
              <a:t>最近提交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990088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40" b="0">
                <a:solidFill>
                  <a:srgbClr val="2B3F4D"/>
                </a:solidFill>
                <a:latin typeface="Microsoft YaHei"/>
              </a:rPr>
              <a:t>2025-08-26 “教程第 14 期 - 微服务改造完成（包含完整单体项目代码）”。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3813048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改造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76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213A"/>
                </a:solidFill>
                <a:latin typeface="Calibri"/>
              </a:rPr>
              <a:t>改造范围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776472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40" b="0">
                <a:solidFill>
                  <a:srgbClr val="2B3F4D"/>
                </a:solidFill>
                <a:latin typeface="Microsoft YaHei"/>
              </a:rPr>
              <a:t>同日提交序列覆盖服务接口、用户服务、AI 模块、应用服务、截图服务、Dubbo + Nacos 调用。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59943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Calibri"/>
              </a:rPr>
              <a:t>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62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213A"/>
                </a:solidFill>
                <a:latin typeface="Calibri"/>
              </a:rPr>
              <a:t>状态含义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562856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40" b="0">
                <a:solidFill>
                  <a:srgbClr val="2B3F4D"/>
                </a:solidFill>
                <a:latin typeface="Microsoft YaHei"/>
              </a:rPr>
              <a:t>近期重点从功能扩展转向双架构整理、微服务可运行性与自动化验证补齐。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715000"/>
            <a:ext cx="105613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824728"/>
            <a:ext cx="10149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C717E"/>
                </a:solidFill>
                <a:latin typeface="Microsoft YaHei"/>
              </a:rPr>
              <a:t>说明：本页提交信息来自本地 git fetch origin master 后的 git log；无 CI 运行记录可补充。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6446520"/>
            <a:ext cx="10927080" cy="9144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717E"/>
                </a:solidFill>
                <a:latin typeface="Microsoft YaHei"/>
              </a:rPr>
              <a:t>yu-ai-code-mother · 每日项目状态 · 北京时间 2026-06-29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65105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C717E"/>
                </a:solidFill>
                <a:latin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54864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754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7213A"/>
                </a:solidFill>
                <a:latin typeface="Calibri"/>
              </a:rPr>
              <a:t>数据 / 指标要点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717E"/>
                </a:solidFill>
                <a:latin typeface="Microsoft YaHei"/>
              </a:rPr>
              <a:t>代码库快照指标；线上业务指标暂未接入本次汇报数据源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43891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166420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27048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008991"/>
                </a:solidFill>
                <a:latin typeface="Calibri"/>
              </a:rPr>
              <a:t>386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4767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Git 受管文件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417320"/>
            <a:ext cx="166420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1527048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005364"/>
                </a:solidFill>
                <a:latin typeface="Calibri"/>
              </a:rPr>
              <a:t>183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194767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根后端文件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73168" y="1417320"/>
            <a:ext cx="166420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527048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3EBFBE"/>
                </a:solidFill>
                <a:latin typeface="Calibri"/>
              </a:rPr>
              <a:t>139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4767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微服务文件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3136" y="1417320"/>
            <a:ext cx="166420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1527048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5AD49"/>
                </a:solidFill>
                <a:latin typeface="Calibri"/>
              </a:rPr>
              <a:t>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194767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前端文件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3104" y="1417320"/>
            <a:ext cx="166420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1527048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4AA471"/>
                </a:solidFill>
                <a:latin typeface="Calibri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194767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Java 测试类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606040"/>
            <a:ext cx="166420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2715768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DA5252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136392"/>
            <a:ext cx="13350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5C717E"/>
                </a:solidFill>
                <a:latin typeface="Microsoft YaHei"/>
              </a:rPr>
              <a:t>Maven POM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2606040"/>
            <a:ext cx="83667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71800" y="2852928"/>
            <a:ext cx="1325880" cy="256032"/>
          </a:xfrm>
          <a:prstGeom prst="round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2903220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指标口径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246120"/>
            <a:ext cx="7543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92"/>
              </a:spcAft>
              <a:defRPr sz="1280">
                <a:solidFill>
                  <a:srgbClr val="2B3F4D"/>
                </a:solidFill>
                <a:latin typeface="Microsoft YaHei"/>
              </a:defRPr>
            </a:pPr>
            <a:r>
              <a:t>• 文件数来自 git ls-files，对当前分支快照负责，不代表运行时规模。</a:t>
            </a:r>
          </a:p>
          <a:p>
            <a:pPr>
              <a:spcAft>
                <a:spcPts val="792"/>
              </a:spcAft>
              <a:defRPr sz="1280">
                <a:solidFill>
                  <a:srgbClr val="2B3F4D"/>
                </a:solidFill>
                <a:latin typeface="Microsoft YaHei"/>
              </a:defRPr>
            </a:pPr>
            <a:r>
              <a:t>• 业务侧指标（活跃用户、生成次数、部署成功率、AI 成本）本仓库未提供数据源，本页不做推测。</a:t>
            </a:r>
          </a:p>
          <a:p>
            <a:pPr>
              <a:spcAft>
                <a:spcPts val="792"/>
              </a:spcAft>
              <a:defRPr sz="1280">
                <a:solidFill>
                  <a:srgbClr val="2B3F4D"/>
                </a:solidFill>
                <a:latin typeface="Microsoft YaHei"/>
              </a:defRPr>
            </a:pPr>
            <a:r>
              <a:t>• Prometheus 配置存在，可作为后续采集 AI 调用量、接口耗时、错误率的接入点。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892040"/>
            <a:ext cx="9784080" cy="109728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4736592"/>
            <a:ext cx="4480560" cy="438912"/>
          </a:xfrm>
          <a:prstGeom prst="rect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7213A"/>
                </a:solidFill>
                <a:latin typeface="Microsoft YaHei"/>
              </a:rPr>
              <a:t>根后端 183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4736592"/>
            <a:ext cx="3401568" cy="438912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5239512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7213A"/>
                </a:solidFill>
                <a:latin typeface="Microsoft YaHei"/>
              </a:rPr>
              <a:t>微服务 139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50808" y="4736592"/>
            <a:ext cx="1325880" cy="438912"/>
          </a:xfrm>
          <a:prstGeom prst="rect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50808" y="523951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7213A"/>
                </a:solidFill>
                <a:latin typeface="Microsoft YaHei"/>
              </a:rPr>
              <a:t>前端 54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76688" y="4736592"/>
            <a:ext cx="246888" cy="438912"/>
          </a:xfrm>
          <a:prstGeom prst="rect">
            <a:avLst/>
          </a:prstGeom>
          <a:solidFill>
            <a:srgbClr val="5C7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5239512"/>
            <a:ext cx="24688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07213A"/>
                </a:solidFill>
                <a:latin typeface="Microsoft YaHei"/>
              </a:rPr>
              <a:t>其他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42432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5C717E"/>
                </a:solidFill>
                <a:latin typeface="Microsoft YaHei"/>
              </a:rPr>
              <a:t>代码分布可见后端能力占比最高，微服务演进版已形成独立模块规模。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6446520"/>
            <a:ext cx="10927080" cy="9144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717E"/>
                </a:solidFill>
                <a:latin typeface="Microsoft YaHei"/>
              </a:rPr>
              <a:t>yu-ai-code-mother · 每日项目状态 · 北京时间 2026-06-29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65105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C717E"/>
                </a:solidFill>
                <a:latin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54864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754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7213A"/>
                </a:solidFill>
                <a:latin typeface="Calibri"/>
              </a:rPr>
              <a:t>测试与 CI 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717E"/>
                </a:solidFill>
                <a:latin typeface="Microsoft YaHei"/>
              </a:rPr>
              <a:t>存在本地测试与构建脚本，但尚未形成仓库内 CI/CD 流水线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43891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33375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1600200"/>
            <a:ext cx="420624" cy="420624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60020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后端测试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75688"/>
            <a:ext cx="297180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根单体模块发现 14 个 JUnit 测试类，覆盖代码解析、AI 生成、LangGraph 工作流、图片工具与截图工具等场景。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41732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417320"/>
            <a:ext cx="73152" cy="3337560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8576" y="1600200"/>
            <a:ext cx="420624" cy="420624"/>
          </a:xfrm>
          <a:prstGeom prst="ellipse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160020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前端质量脚本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075688"/>
            <a:ext cx="297180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package.json 提供 build、type-check、lint、format；未发现 Vitest/Jest/Cypress 等前端自动化测试。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17320"/>
            <a:ext cx="73152" cy="3337560"/>
          </a:xfrm>
          <a:prstGeom prst="rect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9328" y="1600200"/>
            <a:ext cx="420624" cy="420624"/>
          </a:xfrm>
          <a:prstGeom prst="ellipse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160020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CI/CD 与监控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075688"/>
            <a:ext cx="297180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未发现 .github/workflows、Jenkinsfile、Dockerfile、docker-compose；prometheus.yml 可抓取 /api/actuator/prometheus。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257800"/>
            <a:ext cx="104698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413248"/>
            <a:ext cx="10012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7213A"/>
                </a:solidFill>
                <a:latin typeface="Microsoft YaHei"/>
              </a:rPr>
              <a:t>最近状态：无 CI 配置，因此没有可读取的最新流水线结果；现有测试更偏联调/演示型，受外部 AI、图片搜索、截图环境影响。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6446520"/>
            <a:ext cx="10927080" cy="9144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717E"/>
                </a:solidFill>
                <a:latin typeface="Microsoft YaHei"/>
              </a:rPr>
              <a:t>yu-ai-code-mother · 每日项目状态 · 北京时间 2026-06-29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65105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C717E"/>
                </a:solidFill>
                <a:latin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54864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754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7213A"/>
                </a:solidFill>
                <a:latin typeface="Calibri"/>
              </a:rPr>
              <a:t>风险与阻塞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717E"/>
                </a:solidFill>
                <a:latin typeface="Microsoft YaHei"/>
              </a:rPr>
              <a:t>需要维护者优先确认的交付风险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43891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472184"/>
            <a:ext cx="402336" cy="402336"/>
          </a:xfrm>
          <a:prstGeom prst="ellipse">
            <a:avLst/>
          </a:prstGeom>
          <a:solidFill>
            <a:srgbClr val="D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144475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30" b="1">
                <a:solidFill>
                  <a:srgbClr val="07213A"/>
                </a:solidFill>
                <a:latin typeface="Calibri"/>
              </a:rPr>
              <a:t>双架构并存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7"/>
            <a:ext cx="7543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单体版完整度更高，微服务版部分高级能力尚未迁移，容易产生维护分叉。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48840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9264" y="2295144"/>
            <a:ext cx="402336" cy="402336"/>
          </a:xfrm>
          <a:prstGeom prst="ellipse">
            <a:avLst/>
          </a:prstGeom>
          <a:solidFill>
            <a:srgbClr val="D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26771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30" b="1">
                <a:solidFill>
                  <a:srgbClr val="07213A"/>
                </a:solidFill>
                <a:latin typeface="Calibri"/>
              </a:rPr>
              <a:t>工作流集成缺口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58568"/>
            <a:ext cx="7543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LangGraph 生成节点仍有固定 appId 的实现痕迹，正式 App 链路需继续打通。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71800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9264" y="3118104"/>
            <a:ext cx="402336" cy="402336"/>
          </a:xfrm>
          <a:prstGeom prst="ellipse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09067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30" b="1">
                <a:solidFill>
                  <a:srgbClr val="07213A"/>
                </a:solidFill>
                <a:latin typeface="Calibri"/>
              </a:rPr>
              <a:t>外部依赖较重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081528"/>
            <a:ext cx="7543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AI 模型、图片搜索、COS、MySQL、Redis、Nacos、Selenium 等配置影响开箱验证。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94760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3941064"/>
            <a:ext cx="402336" cy="402336"/>
          </a:xfrm>
          <a:prstGeom prst="ellipse">
            <a:avLst/>
          </a:prstGeom>
          <a:solidFill>
            <a:srgbClr val="D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391363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30" b="1">
                <a:solidFill>
                  <a:srgbClr val="07213A"/>
                </a:solidFill>
                <a:latin typeface="Calibri"/>
              </a:rPr>
              <a:t>自动化验证不足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904488"/>
            <a:ext cx="7543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无仓库内 CI；集成测试依赖真实外部服务，缺少 mock 与稳定冒烟集。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617720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" y="4764024"/>
            <a:ext cx="402336" cy="402336"/>
          </a:xfrm>
          <a:prstGeom prst="ellipse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73659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30" b="1">
                <a:solidFill>
                  <a:srgbClr val="07213A"/>
                </a:solidFill>
                <a:latin typeface="Calibri"/>
              </a:rPr>
              <a:t>依赖与调试残留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727448"/>
            <a:ext cx="7543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LangGraph4j 使用 RC 版本，微服务 AI 模块包含 fork 源码和少量待处理标记/调试输出。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6446520"/>
            <a:ext cx="10927080" cy="9144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717E"/>
                </a:solidFill>
                <a:latin typeface="Microsoft YaHei"/>
              </a:rPr>
              <a:t>yu-ai-code-mother · 每日项目状态 · 北京时间 2026-06-29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65105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C717E"/>
                </a:solidFill>
                <a:latin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"/>
            <a:ext cx="12191695" cy="54864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75488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7213A"/>
                </a:solidFill>
                <a:latin typeface="Calibri"/>
              </a:rPr>
              <a:t>建议下一步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41832"/>
            <a:ext cx="8138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5C717E"/>
                </a:solidFill>
                <a:latin typeface="Microsoft YaHei"/>
              </a:rPr>
              <a:t>以降低集成风险、提升可验证性为优先级</a:t>
            </a:r>
          </a:p>
        </p:txBody>
      </p:sp>
      <p:sp>
        <p:nvSpPr>
          <p:cNvPr id="7" name="Oval 6"/>
          <p:cNvSpPr/>
          <p:nvPr/>
        </p:nvSpPr>
        <p:spPr>
          <a:xfrm>
            <a:off x="10698480" y="438912"/>
            <a:ext cx="438912" cy="43891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96012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1600200"/>
            <a:ext cx="420624" cy="420624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60020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确定主交付路径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75688"/>
            <a:ext cx="46177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明确单体版与微服务版的维护边界、启动文档与发布口径。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1732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417320"/>
            <a:ext cx="73152" cy="960120"/>
          </a:xfrm>
          <a:prstGeom prst="rect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600200"/>
            <a:ext cx="420624" cy="420624"/>
          </a:xfrm>
          <a:prstGeom prst="ellipse">
            <a:avLst/>
          </a:prstGeom>
          <a:solidFill>
            <a:srgbClr val="3EB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60020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打通工作流主链路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075688"/>
            <a:ext cx="46177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将 LangGraph4j 流水线接入正式 App 对话/生成流程，移除固定 appId 实现。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517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73152" cy="960120"/>
          </a:xfrm>
          <a:prstGeom prst="rect">
            <a:avLst/>
          </a:prstGeom>
          <a:solidFill>
            <a:srgbClr val="4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2834640"/>
            <a:ext cx="420624" cy="420624"/>
          </a:xfrm>
          <a:prstGeom prst="ellipse">
            <a:avLst/>
          </a:prstGeom>
          <a:solidFill>
            <a:srgbClr val="4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283464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补齐自动化验证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310128"/>
            <a:ext cx="46177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建立后端 smoke test + 前端 type-check/build 的 CI，并隔离外部 AI 依赖。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2651760"/>
            <a:ext cx="5074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2651760"/>
            <a:ext cx="73152" cy="960120"/>
          </a:xfrm>
          <a:prstGeom prst="rect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2834640"/>
            <a:ext cx="420624" cy="420624"/>
          </a:xfrm>
          <a:prstGeom prst="ellipse">
            <a:avLst/>
          </a:prstGeom>
          <a:solidFill>
            <a:srgbClr val="F5A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834640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沉淀配置模板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310128"/>
            <a:ext cx="461772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提供 application-example.yml 与环境变量说明，降低本地启动成本。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8620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F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86200"/>
            <a:ext cx="73152" cy="960120"/>
          </a:xfrm>
          <a:prstGeom prst="rect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4069080"/>
            <a:ext cx="420624" cy="420624"/>
          </a:xfrm>
          <a:prstGeom prst="ellipse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069080"/>
            <a:ext cx="9738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213A"/>
                </a:solidFill>
                <a:latin typeface="Calibri"/>
              </a:rPr>
              <a:t>监控指标落地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544568"/>
            <a:ext cx="101955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>
                <a:solidFill>
                  <a:srgbClr val="2B3F4D"/>
                </a:solidFill>
                <a:latin typeface="Microsoft YaHei"/>
              </a:rPr>
              <a:t>围绕生成次数、耗时、错误率、部署成功率、AI 调用成本建立 Dashboard。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486400"/>
            <a:ext cx="10424160" cy="411480"/>
          </a:xfrm>
          <a:prstGeom prst="round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596128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30" b="1">
                <a:solidFill>
                  <a:srgbClr val="07213A"/>
                </a:solidFill>
                <a:latin typeface="Microsoft YaHei"/>
              </a:rPr>
              <a:t>优先级建议：先让“可运行、可验证、可观测”闭环稳定，再推进微服务能力补齐。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6446520"/>
            <a:ext cx="10927080" cy="9144"/>
          </a:xfrm>
          <a:prstGeom prst="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651052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C717E"/>
                </a:solidFill>
                <a:latin typeface="Microsoft YaHei"/>
              </a:rPr>
              <a:t>yu-ai-code-mother · 每日项目状态 · 北京时间 2026-06-29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65105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5C717E"/>
                </a:solidFill>
                <a:latin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6583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FF2EC"/>
                </a:solidFill>
                <a:latin typeface="Microsoft YaHei"/>
              </a:rPr>
              <a:t>项目能力完整度高，下一阶段关键在于架构收敛与工程化验证。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0126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92"/>
              </a:spcAft>
              <a:defRPr sz="1530">
                <a:solidFill>
                  <a:srgbClr val="FFFFFF"/>
                </a:solidFill>
                <a:latin typeface="Microsoft YaHei"/>
              </a:defRPr>
            </a:pPr>
            <a:r>
              <a:t>• 产品主线清晰：对话生成、可视化编辑、部署分享、管理后台已形成完整叙事。</a:t>
            </a:r>
          </a:p>
          <a:p>
            <a:pPr>
              <a:spcAft>
                <a:spcPts val="792"/>
              </a:spcAft>
              <a:defRPr sz="1530">
                <a:solidFill>
                  <a:srgbClr val="FFFFFF"/>
                </a:solidFill>
                <a:latin typeface="Microsoft YaHei"/>
              </a:defRPr>
            </a:pPr>
            <a:r>
              <a:t>• 技术栈丰富：Spring Boot 3、LangChain4j、LangGraph4j、Vue 3 与微服务组件并行。</a:t>
            </a:r>
          </a:p>
          <a:p>
            <a:pPr>
              <a:spcAft>
                <a:spcPts val="792"/>
              </a:spcAft>
              <a:defRPr sz="1530">
                <a:solidFill>
                  <a:srgbClr val="FFFFFF"/>
                </a:solidFill>
                <a:latin typeface="Microsoft YaHei"/>
              </a:defRPr>
            </a:pPr>
            <a:r>
              <a:t>• 近期提交静默：近 7 天无新增提交，最近基线为第 14 期微服务改造完成。</a:t>
            </a:r>
          </a:p>
          <a:p>
            <a:pPr>
              <a:spcAft>
                <a:spcPts val="792"/>
              </a:spcAft>
              <a:defRPr sz="1530">
                <a:solidFill>
                  <a:srgbClr val="FFFFFF"/>
                </a:solidFill>
                <a:latin typeface="Microsoft YaHei"/>
              </a:defRPr>
            </a:pPr>
            <a:r>
              <a:t>• 主要短板集中在 CI 缺失、外部依赖重、双架构并存和工作流主链路整合。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10287000" cy="621792"/>
          </a:xfrm>
          <a:prstGeom prst="roundRect">
            <a:avLst/>
          </a:prstGeom>
          <a:solidFill>
            <a:srgbClr val="CF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965192"/>
            <a:ext cx="9829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7213A"/>
                </a:solidFill>
                <a:latin typeface="Microsoft YaHei"/>
              </a:rPr>
              <a:t>今日建议：优先补齐最小 CI 和配置模板，随后推进 LangGraph 工作流与正式生成链路合流。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355080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Microsoft YaHei"/>
              </a:rPr>
              <a:t>PPT 路径：docs/reports/project-status-2026-06-29.pptx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635508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