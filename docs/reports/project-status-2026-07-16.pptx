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3B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">
            <a:off x="7909560" y="-1097280"/>
            <a:ext cx="5303520" cy="5303520"/>
          </a:xfrm>
          <a:prstGeom prst="arc">
            <a:avLst/>
          </a:prstGeom>
          <a:solidFill>
            <a:srgbClr val="028090">
              <a:alpha val="42000"/>
            </a:srgbClr>
          </a:solidFill>
          <a:ln w="38100">
            <a:solidFill>
              <a:srgbClr val="00A896">
                <a:alpha val="6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2300000">
            <a:off x="8732520" y="2423160"/>
            <a:ext cx="4389120" cy="4389120"/>
          </a:xfrm>
          <a:prstGeom prst="arc">
            <a:avLst/>
          </a:prstGeom>
          <a:solidFill>
            <a:srgbClr val="02C39A">
              <a:alpha val="30000"/>
            </a:srgbClr>
          </a:solidFill>
          <a:ln w="25400">
            <a:solidFill>
              <a:srgbClr val="7FDBDA">
                <a:alpha val="5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378440" y="594360"/>
            <a:ext cx="292608" cy="29260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" y="658368"/>
            <a:ext cx="2468880" cy="347472"/>
          </a:xfrm>
          <a:prstGeom prst="roundRect">
            <a:avLst>
              <a:gd name="adj" fmla="val 21053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667512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DAILY PROJECT STATUS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713232" y="1828800"/>
            <a:ext cx="7132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7FDBD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yu-ai-code-mother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713232" y="2487168"/>
            <a:ext cx="7772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每日项目状态汇报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749808" y="3675888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DEAE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AI 零代码应用生成平台 · 面向项目维护者 / 团队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13232" y="4956048"/>
            <a:ext cx="4800600" cy="896112"/>
          </a:xfrm>
          <a:prstGeom prst="roundRect">
            <a:avLst>
              <a:gd name="adj" fmla="val 8163"/>
            </a:avLst>
          </a:prstGeom>
          <a:solidFill>
            <a:srgbClr val="065A82">
              <a:alpha val="88000"/>
            </a:srgbClr>
          </a:solidFill>
          <a:ln w="12700">
            <a:solidFill>
              <a:srgbClr val="028090">
                <a:alpha val="8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120" y="5166360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2026 · 07 · 16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090672" y="5202936"/>
            <a:ext cx="2057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7FDBD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北京时间 17:00  |  自动化生成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27080" y="274320"/>
            <a:ext cx="749808" cy="749808"/>
          </a:xfrm>
          <a:prstGeom prst="ellipse">
            <a:avLst/>
          </a:prstGeom>
          <a:solidFill>
            <a:srgbClr val="DDF4F4">
              <a:alpha val="90000"/>
            </a:srgbClr>
          </a:solidFill>
          <a:ln w="12700">
            <a:solidFill>
              <a:srgbClr val="DDF4F4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11301984" y="640080"/>
            <a:ext cx="310896" cy="310896"/>
          </a:xfrm>
          <a:prstGeom prst="ellipse">
            <a:avLst/>
          </a:prstGeom>
          <a:solidFill>
            <a:srgbClr val="02C39A">
              <a:alpha val="70000"/>
            </a:srgbClr>
          </a:solidFill>
          <a:ln w="12700">
            <a:solidFill>
              <a:srgbClr val="02C39A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594360" y="347472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94360" y="612648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73B4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一页结论：功能闭环，维护与质量门禁偏弱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94360" y="6236208"/>
            <a:ext cx="10972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425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  ·  2026-07-16  ·  02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94360" y="1481328"/>
            <a:ext cx="251460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CDE5E3"/>
            </a:solidFill>
            <a:prstDash val="solid"/>
          </a:ln>
          <a:effectLst>
            <a:outerShdw sx="100000" sy="100000" kx="0" ky="0" algn="bl" rotWithShape="0" blurRad="25400" dist="50800" dir="2700000">
              <a:srgbClr val="073B4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594360" y="1481328"/>
            <a:ext cx="82296" cy="129844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850392" y="1645920"/>
            <a:ext cx="20756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3100" dirty="0"/>
          </a:p>
        </p:txBody>
      </p:sp>
      <p:sp>
        <p:nvSpPr>
          <p:cNvPr id="10" name="Text 8"/>
          <p:cNvSpPr/>
          <p:nvPr/>
        </p:nvSpPr>
        <p:spPr>
          <a:xfrm>
            <a:off x="850392" y="2121408"/>
            <a:ext cx="2075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3A4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核心能力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50392" y="2414016"/>
            <a:ext cx="20756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25B6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生成 / 编辑 / 部署 / 管理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310128" y="1481328"/>
            <a:ext cx="251460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CDE5E3"/>
            </a:solidFill>
            <a:prstDash val="solid"/>
          </a:ln>
          <a:effectLst>
            <a:outerShdw sx="100000" sy="100000" kx="0" ky="0" algn="bl" rotWithShape="0" blurRad="25400" dist="50800" dir="2700000">
              <a:srgbClr val="073B4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3310128" y="1481328"/>
            <a:ext cx="82296" cy="129844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3566160" y="1645920"/>
            <a:ext cx="20756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00A8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3100" dirty="0"/>
          </a:p>
        </p:txBody>
      </p:sp>
      <p:sp>
        <p:nvSpPr>
          <p:cNvPr id="15" name="Text 13"/>
          <p:cNvSpPr/>
          <p:nvPr/>
        </p:nvSpPr>
        <p:spPr>
          <a:xfrm>
            <a:off x="3566160" y="2121408"/>
            <a:ext cx="2075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3A4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代码生成模式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566160" y="2414016"/>
            <a:ext cx="20756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25B6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HTML / 多文件 / Vue 工程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025896" y="1481328"/>
            <a:ext cx="251460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CDE5E3"/>
            </a:solidFill>
            <a:prstDash val="solid"/>
          </a:ln>
          <a:effectLst>
            <a:outerShdw sx="100000" sy="100000" kx="0" ky="0" algn="bl" rotWithShape="0" blurRad="25400" dist="50800" dir="2700000">
              <a:srgbClr val="073B4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6025896" y="1481328"/>
            <a:ext cx="82296" cy="129844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6281928" y="1645920"/>
            <a:ext cx="20756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4A2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3100" dirty="0"/>
          </a:p>
        </p:txBody>
      </p:sp>
      <p:sp>
        <p:nvSpPr>
          <p:cNvPr id="20" name="Text 18"/>
          <p:cNvSpPr/>
          <p:nvPr/>
        </p:nvSpPr>
        <p:spPr>
          <a:xfrm>
            <a:off x="6281928" y="2121408"/>
            <a:ext cx="2075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3A4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近 7 天提交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281928" y="2414016"/>
            <a:ext cx="20756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25B6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master 无新增代码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8741664" y="1481328"/>
            <a:ext cx="251460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CDE5E3"/>
            </a:solidFill>
            <a:prstDash val="solid"/>
          </a:ln>
          <a:effectLst>
            <a:outerShdw sx="100000" sy="100000" kx="0" ky="0" algn="bl" rotWithShape="0" blurRad="25400" dist="50800" dir="2700000">
              <a:srgbClr val="073B4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8741664" y="1481328"/>
            <a:ext cx="82296" cy="1298448"/>
          </a:xfrm>
          <a:prstGeom prst="rect">
            <a:avLst/>
          </a:prstGeom>
          <a:solidFill>
            <a:srgbClr val="D95D5D"/>
          </a:solidFill>
          <a:ln w="12700">
            <a:solidFill>
              <a:srgbClr val="D95D5D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8997696" y="1645920"/>
            <a:ext cx="20756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D95D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3100" dirty="0"/>
          </a:p>
        </p:txBody>
      </p:sp>
      <p:sp>
        <p:nvSpPr>
          <p:cNvPr id="25" name="Text 23"/>
          <p:cNvSpPr/>
          <p:nvPr/>
        </p:nvSpPr>
        <p:spPr>
          <a:xfrm>
            <a:off x="8997696" y="2121408"/>
            <a:ext cx="2075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3A4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自建 CI 工作流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997696" y="2414016"/>
            <a:ext cx="20756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25B6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无 PR / Push 质量门禁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594360" y="3127248"/>
            <a:ext cx="10661904" cy="2450592"/>
          </a:xfrm>
          <a:prstGeom prst="roundRect">
            <a:avLst>
              <a:gd name="adj" fmla="val 2985"/>
            </a:avLst>
          </a:prstGeom>
          <a:solidFill>
            <a:srgbClr val="073B4C"/>
          </a:solidFill>
          <a:ln w="12700">
            <a:solidFill>
              <a:srgbClr val="073B4C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896112" y="3438144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2C39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当前判断</a:t>
            </a:r>
            <a:endParaRPr lang="en-US" sz="2100" dirty="0"/>
          </a:p>
        </p:txBody>
      </p:sp>
      <p:sp>
        <p:nvSpPr>
          <p:cNvPr id="29" name="Text 27"/>
          <p:cNvSpPr/>
          <p:nvPr/>
        </p:nvSpPr>
        <p:spPr>
          <a:xfrm>
            <a:off x="2240280" y="3364992"/>
            <a:ext cx="8366760" cy="1645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19075" indent="-219075"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单体版已覆盖 AI 生成、可视化修改、部署分享和企业管理的完整主链路。</a:t>
            </a:r>
            <a:endParaRPr lang="en-US" sz="1500" dirty="0"/>
          </a:p>
          <a:p>
            <a:pPr marL="219075" indent="-219075"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微服务拆分已交付，但前端默认仍连接单体；工作流、监控与测试尚未完全对齐。</a:t>
            </a:r>
            <a:endParaRPr lang="en-US" sz="1500" dirty="0"/>
          </a:p>
          <a:p>
            <a:pPr marL="219075" indent="-219075"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最近稳定基线为 893918c（2025-08-26），当前主要风险是长期无代码演进与无 CI。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7699248" y="5074920"/>
            <a:ext cx="3182112" cy="347472"/>
          </a:xfrm>
          <a:prstGeom prst="roundRect">
            <a:avLst>
              <a:gd name="adj" fmla="val 21053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7699248" y="5084064"/>
            <a:ext cx="3182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建议：先补质量门禁，再收敛主架构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27080" y="274320"/>
            <a:ext cx="749808" cy="749808"/>
          </a:xfrm>
          <a:prstGeom prst="ellipse">
            <a:avLst/>
          </a:prstGeom>
          <a:solidFill>
            <a:srgbClr val="DDF4F4">
              <a:alpha val="90000"/>
            </a:srgbClr>
          </a:solidFill>
          <a:ln w="12700">
            <a:solidFill>
              <a:srgbClr val="DDF4F4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11301984" y="640080"/>
            <a:ext cx="310896" cy="310896"/>
          </a:xfrm>
          <a:prstGeom prst="ellipse">
            <a:avLst/>
          </a:prstGeom>
          <a:solidFill>
            <a:srgbClr val="02C39A">
              <a:alpha val="70000"/>
            </a:srgbClr>
          </a:solidFill>
          <a:ln w="12700">
            <a:solidFill>
              <a:srgbClr val="02C39A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594360" y="347472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94360" y="612648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73B4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项目概览：单体主交付，微服务并行演进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94360" y="6236208"/>
            <a:ext cx="10972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425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  ·  2026-07-16  ·  03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94360" y="1417320"/>
            <a:ext cx="2999232" cy="2880360"/>
          </a:xfrm>
          <a:prstGeom prst="roundRect">
            <a:avLst>
              <a:gd name="adj" fmla="val 2540"/>
            </a:avLst>
          </a:prstGeom>
          <a:solidFill>
            <a:srgbClr val="FFFFFF"/>
          </a:solidFill>
          <a:ln w="12700">
            <a:solidFill>
              <a:srgbClr val="CDE5E3"/>
            </a:solidFill>
            <a:prstDash val="solid"/>
          </a:ln>
          <a:effectLst>
            <a:outerShdw sx="100000" sy="100000" kx="0" ky="0" algn="bl" rotWithShape="0" blurRad="25400" dist="50800" dir="2700000">
              <a:srgbClr val="073B4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822960" y="1645920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822960" y="1673352"/>
            <a:ext cx="4754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435608" y="1673352"/>
            <a:ext cx="19293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LANE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435608" y="1901952"/>
            <a:ext cx="19293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3A4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Vue 3 前端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50392" y="2377440"/>
            <a:ext cx="2487168" cy="1709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425B6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首页创建、AI 对话、实时预览、可视化点选编辑与管理后台。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142232" y="1417320"/>
            <a:ext cx="2999232" cy="2880360"/>
          </a:xfrm>
          <a:prstGeom prst="roundRect">
            <a:avLst>
              <a:gd name="adj" fmla="val 2540"/>
            </a:avLst>
          </a:prstGeom>
          <a:solidFill>
            <a:srgbClr val="FFFFFF"/>
          </a:solidFill>
          <a:ln w="12700">
            <a:solidFill>
              <a:srgbClr val="CDE5E3"/>
            </a:solidFill>
            <a:prstDash val="solid"/>
          </a:ln>
          <a:effectLst>
            <a:outerShdw sx="100000" sy="100000" kx="0" ky="0" algn="bl" rotWithShape="0" blurRad="25400" dist="50800" dir="2700000">
              <a:srgbClr val="073B4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4370832" y="1645920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4370832" y="1673352"/>
            <a:ext cx="4754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4983480" y="1673352"/>
            <a:ext cx="19293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LANE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983480" y="1901952"/>
            <a:ext cx="19293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3A4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单体后端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398264" y="2377440"/>
            <a:ext cx="2487168" cy="1709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425B6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Spring Boot 3 + Java 21；当前默认联调入口，承载完整业务与监控。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690104" y="1417320"/>
            <a:ext cx="2999232" cy="2880360"/>
          </a:xfrm>
          <a:prstGeom prst="roundRect">
            <a:avLst>
              <a:gd name="adj" fmla="val 2540"/>
            </a:avLst>
          </a:prstGeom>
          <a:solidFill>
            <a:srgbClr val="FFFFFF"/>
          </a:solidFill>
          <a:ln w="12700">
            <a:solidFill>
              <a:srgbClr val="CDE5E3"/>
            </a:solidFill>
            <a:prstDash val="solid"/>
          </a:ln>
          <a:effectLst>
            <a:outerShdw sx="100000" sy="100000" kx="0" ky="0" algn="bl" rotWithShape="0" blurRad="25400" dist="50800" dir="2700000">
              <a:srgbClr val="073B4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7918704" y="1645920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7918704" y="1673352"/>
            <a:ext cx="4754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8531352" y="1673352"/>
            <a:ext cx="19293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LANE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531352" y="1901952"/>
            <a:ext cx="19293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3A4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微服务后端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7946136" y="2377440"/>
            <a:ext cx="2487168" cy="1709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425B6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7 个 Maven 子模块；Dubbo Triple + Nacos，处于能力对齐阶段。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3648456" y="2468880"/>
            <a:ext cx="329184" cy="640080"/>
          </a:xfrm>
          <a:prstGeom prst="chevron">
            <a:avLst/>
          </a:prstGeom>
          <a:solidFill>
            <a:srgbClr val="7FDBDA"/>
          </a:solidFill>
          <a:ln w="12700">
            <a:solidFill>
              <a:srgbClr val="7FDBDA"/>
            </a:solidFill>
            <a:prstDash val="solid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7196328" y="2468880"/>
            <a:ext cx="329184" cy="640080"/>
          </a:xfrm>
          <a:prstGeom prst="chevron">
            <a:avLst/>
          </a:prstGeom>
          <a:solidFill>
            <a:srgbClr val="7FDBDA"/>
          </a:solidFill>
          <a:ln w="12700">
            <a:solidFill>
              <a:srgbClr val="7FDBDA"/>
            </a:solidFill>
            <a:prstDash val="solid"/>
          </a:ln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594360" y="4681728"/>
            <a:ext cx="10094976" cy="841248"/>
          </a:xfrm>
          <a:prstGeom prst="roundRect">
            <a:avLst>
              <a:gd name="adj" fmla="val 8696"/>
            </a:avLst>
          </a:prstGeom>
          <a:solidFill>
            <a:srgbClr val="DDF4F4"/>
          </a:solidFill>
          <a:ln w="12700">
            <a:solidFill>
              <a:srgbClr val="CDE5E3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868680" y="4928616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默认联调路径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2194560" y="4864608"/>
            <a:ext cx="8001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3A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前端  →  http://localhost:8123/api  →  单体后端  →  MySQL / Redis / AI 服务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27080" y="274320"/>
            <a:ext cx="749808" cy="749808"/>
          </a:xfrm>
          <a:prstGeom prst="ellipse">
            <a:avLst/>
          </a:prstGeom>
          <a:solidFill>
            <a:srgbClr val="DDF4F4">
              <a:alpha val="90000"/>
            </a:srgbClr>
          </a:solidFill>
          <a:ln w="12700">
            <a:solidFill>
              <a:srgbClr val="DDF4F4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11301984" y="640080"/>
            <a:ext cx="310896" cy="310896"/>
          </a:xfrm>
          <a:prstGeom prst="ellipse">
            <a:avLst/>
          </a:prstGeom>
          <a:solidFill>
            <a:srgbClr val="02C39A">
              <a:alpha val="70000"/>
            </a:srgbClr>
          </a:solidFill>
          <a:ln w="12700">
            <a:solidFill>
              <a:srgbClr val="02C39A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594360" y="347472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CAPABILITIES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94360" y="612648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73B4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核心能力：从需求到上线的完整生成链路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94360" y="6236208"/>
            <a:ext cx="10972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425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  ·  2026-07-16  ·  04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94360" y="1371600"/>
            <a:ext cx="5239512" cy="2029968"/>
          </a:xfrm>
          <a:prstGeom prst="roundRect">
            <a:avLst>
              <a:gd name="adj" fmla="val 3604"/>
            </a:avLst>
          </a:prstGeom>
          <a:solidFill>
            <a:srgbClr val="FFFFFF"/>
          </a:solidFill>
          <a:ln w="12700">
            <a:solidFill>
              <a:srgbClr val="CDE5E3"/>
            </a:solidFill>
            <a:prstDash val="solid"/>
          </a:ln>
          <a:effectLst>
            <a:outerShdw sx="100000" sy="100000" kx="0" ky="0" algn="bl" rotWithShape="0" blurRad="25400" dist="50800" dir="2700000">
              <a:srgbClr val="073B4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822960" y="1600200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822960" y="1627632"/>
            <a:ext cx="4754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435608" y="1627632"/>
            <a:ext cx="41696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435608" y="1856232"/>
            <a:ext cx="41696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3A4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智能代码生成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50392" y="2331720"/>
            <a:ext cx="4727448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425B6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AI 自动路由三种策略；SSE 流式输出；Vue 工程支持 Tool Calling 写入代码文件。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035040" y="1371600"/>
            <a:ext cx="5239512" cy="2029968"/>
          </a:xfrm>
          <a:prstGeom prst="roundRect">
            <a:avLst>
              <a:gd name="adj" fmla="val 3604"/>
            </a:avLst>
          </a:prstGeom>
          <a:solidFill>
            <a:srgbClr val="FFFFFF"/>
          </a:solidFill>
          <a:ln w="12700">
            <a:solidFill>
              <a:srgbClr val="CDE5E3"/>
            </a:solidFill>
            <a:prstDash val="solid"/>
          </a:ln>
          <a:effectLst>
            <a:outerShdw sx="100000" sy="100000" kx="0" ky="0" algn="bl" rotWithShape="0" blurRad="25400" dist="50800" dir="2700000">
              <a:srgbClr val="073B4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6263640" y="1600200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263640" y="1627632"/>
            <a:ext cx="4754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6876288" y="1627632"/>
            <a:ext cx="41696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876288" y="1856232"/>
            <a:ext cx="41696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3A4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可视化编辑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291072" y="2331720"/>
            <a:ext cx="4727448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425B6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iframe 实时预览；点选页面元素并携带上下文与 AI 对话，持续迭代页面。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94360" y="3675888"/>
            <a:ext cx="5239512" cy="2029968"/>
          </a:xfrm>
          <a:prstGeom prst="roundRect">
            <a:avLst>
              <a:gd name="adj" fmla="val 3604"/>
            </a:avLst>
          </a:prstGeom>
          <a:solidFill>
            <a:srgbClr val="FFFFFF"/>
          </a:solidFill>
          <a:ln w="12700">
            <a:solidFill>
              <a:srgbClr val="CDE5E3"/>
            </a:solidFill>
            <a:prstDash val="solid"/>
          </a:ln>
          <a:effectLst>
            <a:outerShdw sx="100000" sy="100000" kx="0" ky="0" algn="bl" rotWithShape="0" blurRad="25400" dist="50800" dir="2700000">
              <a:srgbClr val="073B4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822960" y="3904488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822960" y="3931920"/>
            <a:ext cx="4754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1435608" y="3931920"/>
            <a:ext cx="41696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1435608" y="4160520"/>
            <a:ext cx="41696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3A4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一键部署与分享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850392" y="4636008"/>
            <a:ext cx="4727448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425B6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自动构建 Vue 产物、部署到本地目录、生成访问地址、截图封面并支持源码 ZIP 下载。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035040" y="3675888"/>
            <a:ext cx="5239512" cy="2029968"/>
          </a:xfrm>
          <a:prstGeom prst="roundRect">
            <a:avLst>
              <a:gd name="adj" fmla="val 3604"/>
            </a:avLst>
          </a:prstGeom>
          <a:solidFill>
            <a:srgbClr val="FFFFFF"/>
          </a:solidFill>
          <a:ln w="12700">
            <a:solidFill>
              <a:srgbClr val="CDE5E3"/>
            </a:solidFill>
            <a:prstDash val="solid"/>
          </a:ln>
          <a:effectLst>
            <a:outerShdw sx="100000" sy="100000" kx="0" ky="0" algn="bl" rotWithShape="0" blurRad="25400" dist="50800" dir="2700000">
              <a:srgbClr val="073B4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6263640" y="3904488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6263640" y="3931920"/>
            <a:ext cx="4754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6876288" y="3931920"/>
            <a:ext cx="41696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OPERATE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876288" y="4160520"/>
            <a:ext cx="41696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3A4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企业级管理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6291072" y="4636008"/>
            <a:ext cx="4727448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425B6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用户 / 应用 / 对话管理、精选应用、Redis 会话与限流、Prometheus / Grafana 观测。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27080" y="274320"/>
            <a:ext cx="749808" cy="749808"/>
          </a:xfrm>
          <a:prstGeom prst="ellipse">
            <a:avLst/>
          </a:prstGeom>
          <a:solidFill>
            <a:srgbClr val="DDF4F4">
              <a:alpha val="90000"/>
            </a:srgbClr>
          </a:solidFill>
          <a:ln w="12700">
            <a:solidFill>
              <a:srgbClr val="DDF4F4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11301984" y="640080"/>
            <a:ext cx="310896" cy="310896"/>
          </a:xfrm>
          <a:prstGeom prst="ellipse">
            <a:avLst/>
          </a:prstGeom>
          <a:solidFill>
            <a:srgbClr val="02C39A">
              <a:alpha val="70000"/>
            </a:srgbClr>
          </a:solidFill>
          <a:ln w="12700">
            <a:solidFill>
              <a:srgbClr val="02C39A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594360" y="347472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94360" y="612648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73B4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架构现状：业务主链路稳定，进阶能力尚未收口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94360" y="6236208"/>
            <a:ext cx="10972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425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  ·  2026-07-16  ·  05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94360" y="1371600"/>
            <a:ext cx="7388352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CDE5E3"/>
            </a:solidFill>
            <a:prstDash val="solid"/>
          </a:ln>
          <a:effectLst>
            <a:outerShdw sx="100000" sy="100000" kx="0" ky="0" algn="bl" rotWithShape="0" blurRad="25400" dist="50800" dir="2700000">
              <a:srgbClr val="073B4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594360" y="1371600"/>
            <a:ext cx="1298448" cy="713232"/>
          </a:xfrm>
          <a:prstGeom prst="roundRect">
            <a:avLst>
              <a:gd name="adj" fmla="val 7692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685800" y="1572768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体验层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2130552" y="1554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73A4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Vue 3 · Ant Design Vue · Pinia · 可视化编辑器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94360" y="2304288"/>
            <a:ext cx="7388352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CDE5E3"/>
            </a:solidFill>
            <a:prstDash val="solid"/>
          </a:ln>
          <a:effectLst>
            <a:outerShdw sx="100000" sy="100000" kx="0" ky="0" algn="bl" rotWithShape="0" blurRad="25400" dist="50800" dir="2700000">
              <a:srgbClr val="073B4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594360" y="2304288"/>
            <a:ext cx="1298448" cy="713232"/>
          </a:xfrm>
          <a:prstGeom prst="roundRect">
            <a:avLst>
              <a:gd name="adj" fmla="val 7692"/>
            </a:avLst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85800" y="2505456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业务层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2130552" y="248716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73A4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App / User / Chat / Deploy / Download / Admin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94360" y="3236976"/>
            <a:ext cx="7388352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CDE5E3"/>
            </a:solidFill>
            <a:prstDash val="solid"/>
          </a:ln>
          <a:effectLst>
            <a:outerShdw sx="100000" sy="100000" kx="0" ky="0" algn="bl" rotWithShape="0" blurRad="25400" dist="50800" dir="2700000">
              <a:srgbClr val="073B4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594360" y="3236976"/>
            <a:ext cx="1298448" cy="713232"/>
          </a:xfrm>
          <a:prstGeom prst="roundRect">
            <a:avLst>
              <a:gd name="adj" fmla="val 7692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685800" y="3438144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AI 层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2130552" y="341985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73A4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LangChain4j · 路由 · Tool Calling · Redis Memory · 输入护轨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94360" y="4169664"/>
            <a:ext cx="7388352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CDE5E3"/>
            </a:solidFill>
            <a:prstDash val="solid"/>
          </a:ln>
          <a:effectLst>
            <a:outerShdw sx="100000" sy="100000" kx="0" ky="0" algn="bl" rotWithShape="0" blurRad="25400" dist="50800" dir="2700000">
              <a:srgbClr val="073B4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594360" y="4169664"/>
            <a:ext cx="1298448" cy="713232"/>
          </a:xfrm>
          <a:prstGeom prst="roundRect">
            <a:avLst>
              <a:gd name="adj" fmla="val 7692"/>
            </a:avLst>
          </a:prstGeom>
          <a:solidFill>
            <a:srgbClr val="073B4C"/>
          </a:solidFill>
          <a:ln w="12700">
            <a:solidFill>
              <a:srgbClr val="073B4C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685800" y="4370832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基础层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2130552" y="435254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73A4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MySQL · Redis · Caffeine · COS · Selenium · Prometheus / Grafana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8302752" y="1371600"/>
            <a:ext cx="2962656" cy="3511296"/>
          </a:xfrm>
          <a:prstGeom prst="roundRect">
            <a:avLst>
              <a:gd name="adj" fmla="val 2469"/>
            </a:avLst>
          </a:prstGeom>
          <a:solidFill>
            <a:srgbClr val="073B4C"/>
          </a:solidFill>
          <a:ln w="12700">
            <a:solidFill>
              <a:srgbClr val="073B4C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8622792" y="173736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2C39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进阶工作流</a:t>
            </a:r>
            <a:endParaRPr lang="en-US" sz="2100" dirty="0"/>
          </a:p>
        </p:txBody>
      </p:sp>
      <p:sp>
        <p:nvSpPr>
          <p:cNvPr id="25" name="Shape 23"/>
          <p:cNvSpPr/>
          <p:nvPr/>
        </p:nvSpPr>
        <p:spPr>
          <a:xfrm>
            <a:off x="8650224" y="2340864"/>
            <a:ext cx="201168" cy="20116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8988552" y="2331720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图片收集</a:t>
            </a:r>
            <a:endParaRPr lang="en-US" sz="1350" dirty="0"/>
          </a:p>
        </p:txBody>
      </p:sp>
      <p:sp>
        <p:nvSpPr>
          <p:cNvPr id="27" name="Shape 25"/>
          <p:cNvSpPr/>
          <p:nvPr/>
        </p:nvSpPr>
        <p:spPr>
          <a:xfrm>
            <a:off x="8650224" y="2734056"/>
            <a:ext cx="201168" cy="20116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8988552" y="2724912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Prompt 增强</a:t>
            </a:r>
            <a:endParaRPr lang="en-US" sz="1350" dirty="0"/>
          </a:p>
        </p:txBody>
      </p:sp>
      <p:sp>
        <p:nvSpPr>
          <p:cNvPr id="29" name="Shape 27"/>
          <p:cNvSpPr/>
          <p:nvPr/>
        </p:nvSpPr>
        <p:spPr>
          <a:xfrm>
            <a:off x="8650224" y="3127248"/>
            <a:ext cx="201168" cy="20116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8988552" y="3118104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智能路由</a:t>
            </a:r>
            <a:endParaRPr lang="en-US" sz="1350" dirty="0"/>
          </a:p>
        </p:txBody>
      </p:sp>
      <p:sp>
        <p:nvSpPr>
          <p:cNvPr id="31" name="Shape 29"/>
          <p:cNvSpPr/>
          <p:nvPr/>
        </p:nvSpPr>
        <p:spPr>
          <a:xfrm>
            <a:off x="8650224" y="3520440"/>
            <a:ext cx="201168" cy="20116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8988552" y="3511296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代码生成</a:t>
            </a:r>
            <a:endParaRPr lang="en-US" sz="1350" dirty="0"/>
          </a:p>
        </p:txBody>
      </p:sp>
      <p:sp>
        <p:nvSpPr>
          <p:cNvPr id="33" name="Shape 31"/>
          <p:cNvSpPr/>
          <p:nvPr/>
        </p:nvSpPr>
        <p:spPr>
          <a:xfrm>
            <a:off x="8650224" y="3913632"/>
            <a:ext cx="201168" cy="20116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8988552" y="3904488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质量检查</a:t>
            </a:r>
            <a:endParaRPr lang="en-US" sz="1350" dirty="0"/>
          </a:p>
        </p:txBody>
      </p:sp>
      <p:sp>
        <p:nvSpPr>
          <p:cNvPr id="35" name="Shape 33"/>
          <p:cNvSpPr/>
          <p:nvPr/>
        </p:nvSpPr>
        <p:spPr>
          <a:xfrm>
            <a:off x="8650224" y="4306824"/>
            <a:ext cx="201168" cy="20116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8988552" y="4297680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项目构建</a:t>
            </a:r>
            <a:endParaRPr lang="en-US" sz="1350" dirty="0"/>
          </a:p>
        </p:txBody>
      </p:sp>
      <p:sp>
        <p:nvSpPr>
          <p:cNvPr id="37" name="Shape 35"/>
          <p:cNvSpPr/>
          <p:nvPr/>
        </p:nvSpPr>
        <p:spPr>
          <a:xfrm>
            <a:off x="8211312" y="5184648"/>
            <a:ext cx="3154680" cy="347472"/>
          </a:xfrm>
          <a:prstGeom prst="roundRect">
            <a:avLst>
              <a:gd name="adj" fmla="val 21053"/>
            </a:avLst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p/>
        </p:txBody>
      </p:sp>
      <p:sp>
        <p:nvSpPr>
          <p:cNvPr id="38" name="Text 36"/>
          <p:cNvSpPr/>
          <p:nvPr/>
        </p:nvSpPr>
        <p:spPr>
          <a:xfrm>
            <a:off x="8211312" y="5193792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73B4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当前仅 /workflow 演示，未进入主对话链路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27080" y="274320"/>
            <a:ext cx="749808" cy="749808"/>
          </a:xfrm>
          <a:prstGeom prst="ellipse">
            <a:avLst/>
          </a:prstGeom>
          <a:solidFill>
            <a:srgbClr val="DDF4F4">
              <a:alpha val="90000"/>
            </a:srgbClr>
          </a:solidFill>
          <a:ln w="12700">
            <a:solidFill>
              <a:srgbClr val="DDF4F4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11301984" y="640080"/>
            <a:ext cx="310896" cy="310896"/>
          </a:xfrm>
          <a:prstGeom prst="ellipse">
            <a:avLst/>
          </a:prstGeom>
          <a:solidFill>
            <a:srgbClr val="02C39A">
              <a:alpha val="70000"/>
            </a:srgbClr>
          </a:solidFill>
          <a:ln w="12700">
            <a:solidFill>
              <a:srgbClr val="02C39A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594360" y="347472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 PROGRESS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94360" y="612648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73B4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近期进展：近 7 天无代码变更，稳定基线未移动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94360" y="6236208"/>
            <a:ext cx="10972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425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  ·  2026-07-16  ·  06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94360" y="1371600"/>
            <a:ext cx="2834640" cy="4343400"/>
          </a:xfrm>
          <a:prstGeom prst="roundRect">
            <a:avLst>
              <a:gd name="adj" fmla="val 2581"/>
            </a:avLst>
          </a:prstGeom>
          <a:solidFill>
            <a:srgbClr val="073B4C"/>
          </a:solidFill>
          <a:ln w="12700">
            <a:solidFill>
              <a:srgbClr val="073B4C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987552" y="1874520"/>
            <a:ext cx="2057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6600" dirty="0"/>
          </a:p>
        </p:txBody>
      </p:sp>
      <p:sp>
        <p:nvSpPr>
          <p:cNvPr id="9" name="Text 7"/>
          <p:cNvSpPr/>
          <p:nvPr/>
        </p:nvSpPr>
        <p:spPr>
          <a:xfrm>
            <a:off x="914400" y="290779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近 7 天代码提交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41248" y="3474720"/>
            <a:ext cx="23408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500"/>
              </a:spcAft>
              <a:buNone/>
            </a:pPr>
            <a:r>
              <a:rPr sz="1250">
                <a:solidFill>
                  <a:srgbClr val="BDEAE6"/>
                </a:solidFill>
              </a:rPr>
              <a:t>2026-07-09 — 07-16</a:t>
            </a:r>
            <a:endParaRPr lang="en-US" sz="1350" dirty="0"/>
          </a:p>
          <a:p>
            <a:pPr algn="l"/>
            <a:r>
              <a:rPr sz="1250">
                <a:solidFill>
                  <a:srgbClr val="BDEAE6"/>
                </a:solidFill>
              </a:rPr>
              <a:t>master 分支</a:t>
            </a:r>
          </a:p>
        </p:txBody>
      </p:sp>
      <p:sp>
        <p:nvSpPr>
          <p:cNvPr id="11" name="Shape 9"/>
          <p:cNvSpPr/>
          <p:nvPr/>
        </p:nvSpPr>
        <p:spPr>
          <a:xfrm>
            <a:off x="1097280" y="4809744"/>
            <a:ext cx="1810512" cy="347472"/>
          </a:xfrm>
          <a:prstGeom prst="roundRect">
            <a:avLst>
              <a:gd name="adj" fmla="val 21053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1097280" y="4818888"/>
            <a:ext cx="1810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状态：无新增功能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3913632" y="1444752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73A4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最近有效里程碑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4224528" y="1993392"/>
            <a:ext cx="0" cy="3337560"/>
          </a:xfrm>
          <a:prstGeom prst="line">
            <a:avLst/>
          </a:prstGeom>
          <a:noFill/>
          <a:ln w="38100">
            <a:solidFill>
              <a:srgbClr val="CDE5E3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4078224" y="1993392"/>
            <a:ext cx="301752" cy="301752"/>
          </a:xfrm>
          <a:prstGeom prst="ellipse">
            <a:avLst/>
          </a:prstGeom>
          <a:solidFill>
            <a:srgbClr val="028090"/>
          </a:solidFill>
          <a:ln w="254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4617720" y="1965960"/>
            <a:ext cx="13258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2025-08-26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989320" y="1947672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73A4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微服务改造完成</a:t>
            </a:r>
            <a:endParaRPr lang="en-US" sz="1550" dirty="0"/>
          </a:p>
        </p:txBody>
      </p:sp>
      <p:sp>
        <p:nvSpPr>
          <p:cNvPr id="18" name="Shape 16"/>
          <p:cNvSpPr/>
          <p:nvPr/>
        </p:nvSpPr>
        <p:spPr>
          <a:xfrm>
            <a:off x="9372600" y="1920240"/>
            <a:ext cx="1298448" cy="347472"/>
          </a:xfrm>
          <a:prstGeom prst="roundRect">
            <a:avLst>
              <a:gd name="adj" fmla="val 21053"/>
            </a:avLst>
          </a:prstGeom>
          <a:solidFill>
            <a:srgbClr val="E7F5F3"/>
          </a:solidFill>
          <a:ln w="12700">
            <a:solidFill>
              <a:srgbClr val="E7F5F3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9372600" y="1929384"/>
            <a:ext cx="1298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2809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893918c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078224" y="2834640"/>
            <a:ext cx="301752" cy="301752"/>
          </a:xfrm>
          <a:prstGeom prst="ellipse">
            <a:avLst/>
          </a:prstGeom>
          <a:solidFill>
            <a:srgbClr val="00A896"/>
          </a:solidFill>
          <a:ln w="254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4617720" y="2807208"/>
            <a:ext cx="13258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2025-08-14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5989320" y="2788920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73A4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可观测性完成</a:t>
            </a:r>
            <a:endParaRPr lang="en-US" sz="1550" dirty="0"/>
          </a:p>
        </p:txBody>
      </p:sp>
      <p:sp>
        <p:nvSpPr>
          <p:cNvPr id="23" name="Shape 21"/>
          <p:cNvSpPr/>
          <p:nvPr/>
        </p:nvSpPr>
        <p:spPr>
          <a:xfrm>
            <a:off x="9372600" y="2761488"/>
            <a:ext cx="1298448" cy="347472"/>
          </a:xfrm>
          <a:prstGeom prst="roundRect">
            <a:avLst>
              <a:gd name="adj" fmla="val 21053"/>
            </a:avLst>
          </a:prstGeom>
          <a:solidFill>
            <a:srgbClr val="E7F5F3"/>
          </a:solidFill>
          <a:ln w="12700">
            <a:solidFill>
              <a:srgbClr val="E7F5F3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9372600" y="2770632"/>
            <a:ext cx="1298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A89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18c86bc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078224" y="3675888"/>
            <a:ext cx="301752" cy="301752"/>
          </a:xfrm>
          <a:prstGeom prst="ellipse">
            <a:avLst/>
          </a:prstGeom>
          <a:solidFill>
            <a:srgbClr val="065A82"/>
          </a:solidFill>
          <a:ln w="254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4617720" y="3648456"/>
            <a:ext cx="13258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2025-08-14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5989320" y="3630168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73A4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部署上线</a:t>
            </a:r>
            <a:endParaRPr lang="en-US" sz="1550" dirty="0"/>
          </a:p>
        </p:txBody>
      </p:sp>
      <p:sp>
        <p:nvSpPr>
          <p:cNvPr id="28" name="Shape 26"/>
          <p:cNvSpPr/>
          <p:nvPr/>
        </p:nvSpPr>
        <p:spPr>
          <a:xfrm>
            <a:off x="9372600" y="3602736"/>
            <a:ext cx="1298448" cy="347472"/>
          </a:xfrm>
          <a:prstGeom prst="roundRect">
            <a:avLst>
              <a:gd name="adj" fmla="val 21053"/>
            </a:avLst>
          </a:prstGeom>
          <a:solidFill>
            <a:srgbClr val="E7F5F3"/>
          </a:solidFill>
          <a:ln w="12700">
            <a:solidFill>
              <a:srgbClr val="E7F5F3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9372600" y="3611880"/>
            <a:ext cx="1298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65A8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ad303cc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4078224" y="4517136"/>
            <a:ext cx="301752" cy="301752"/>
          </a:xfrm>
          <a:prstGeom prst="ellipse">
            <a:avLst/>
          </a:prstGeom>
          <a:solidFill>
            <a:srgbClr val="073B4C"/>
          </a:solidFill>
          <a:ln w="254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4617720" y="4489704"/>
            <a:ext cx="13258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7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2025-08-12—13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5989320" y="4471416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73A4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AI 工作流与系统优化</a:t>
            </a:r>
            <a:endParaRPr lang="en-US" sz="1550" dirty="0"/>
          </a:p>
        </p:txBody>
      </p:sp>
      <p:sp>
        <p:nvSpPr>
          <p:cNvPr id="33" name="Shape 31"/>
          <p:cNvSpPr/>
          <p:nvPr/>
        </p:nvSpPr>
        <p:spPr>
          <a:xfrm>
            <a:off x="9372600" y="4443984"/>
            <a:ext cx="1298448" cy="347472"/>
          </a:xfrm>
          <a:prstGeom prst="roundRect">
            <a:avLst>
              <a:gd name="adj" fmla="val 21053"/>
            </a:avLst>
          </a:prstGeom>
          <a:solidFill>
            <a:srgbClr val="E7F5F3"/>
          </a:solidFill>
          <a:ln w="12700">
            <a:solidFill>
              <a:srgbClr val="E7F5F3"/>
            </a:solidFill>
            <a:prstDash val="solid"/>
          </a:ln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9372600" y="4453128"/>
            <a:ext cx="1298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73B4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 10–11 期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3913632" y="5166360"/>
            <a:ext cx="6903720" cy="566928"/>
          </a:xfrm>
          <a:prstGeom prst="roundRect">
            <a:avLst>
              <a:gd name="adj" fmla="val 9677"/>
            </a:avLst>
          </a:prstGeom>
          <a:solidFill>
            <a:srgbClr val="FFF2E6"/>
          </a:solidFill>
          <a:ln w="12700">
            <a:solidFill>
              <a:srgbClr val="F6D0AC"/>
            </a:solidFill>
            <a:prstDash val="solid"/>
          </a:ln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4160520" y="5340096"/>
            <a:ext cx="6446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23A1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提示：第 14 期多个中间提交明确标注不可单独使用；应以 893918c 为基线。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27080" y="274320"/>
            <a:ext cx="749808" cy="749808"/>
          </a:xfrm>
          <a:prstGeom prst="ellipse">
            <a:avLst/>
          </a:prstGeom>
          <a:solidFill>
            <a:srgbClr val="DDF4F4">
              <a:alpha val="90000"/>
            </a:srgbClr>
          </a:solidFill>
          <a:ln w="12700">
            <a:solidFill>
              <a:srgbClr val="DDF4F4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11301984" y="640080"/>
            <a:ext cx="310896" cy="310896"/>
          </a:xfrm>
          <a:prstGeom prst="ellipse">
            <a:avLst/>
          </a:prstGeom>
          <a:solidFill>
            <a:srgbClr val="02C39A">
              <a:alpha val="70000"/>
            </a:srgbClr>
          </a:solidFill>
          <a:ln w="12700">
            <a:solidFill>
              <a:srgbClr val="02C39A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594360" y="347472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 &amp; QUALITY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94360" y="612648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73B4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数据与质量：测试资产存在，但自动化验证链缺失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94360" y="6236208"/>
            <a:ext cx="10972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425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  ·  2026-07-16  ·  07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94360" y="1371600"/>
            <a:ext cx="2487168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CDE5E3"/>
            </a:solidFill>
            <a:prstDash val="solid"/>
          </a:ln>
          <a:effectLst>
            <a:outerShdw sx="100000" sy="100000" kx="0" ky="0" algn="bl" rotWithShape="0" blurRad="25400" dist="50800" dir="2700000">
              <a:srgbClr val="073B4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594360" y="1371600"/>
            <a:ext cx="82296" cy="129844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850392" y="1536192"/>
            <a:ext cx="20482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</a:t>
            </a:r>
            <a:endParaRPr lang="en-US" sz="3100" dirty="0"/>
          </a:p>
        </p:txBody>
      </p:sp>
      <p:sp>
        <p:nvSpPr>
          <p:cNvPr id="10" name="Text 8"/>
          <p:cNvSpPr/>
          <p:nvPr/>
        </p:nvSpPr>
        <p:spPr>
          <a:xfrm>
            <a:off x="850392" y="2011680"/>
            <a:ext cx="20482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3A4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单体测试类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50392" y="2304288"/>
            <a:ext cx="20482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25B6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JUnit 5 + SpringBootTest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291840" y="1371600"/>
            <a:ext cx="2487168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CDE5E3"/>
            </a:solidFill>
            <a:prstDash val="solid"/>
          </a:ln>
          <a:effectLst>
            <a:outerShdw sx="100000" sy="100000" kx="0" ky="0" algn="bl" rotWithShape="0" blurRad="25400" dist="50800" dir="2700000">
              <a:srgbClr val="073B4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3291840" y="1371600"/>
            <a:ext cx="82296" cy="1298448"/>
          </a:xfrm>
          <a:prstGeom prst="rect">
            <a:avLst/>
          </a:prstGeom>
          <a:solidFill>
            <a:srgbClr val="D95D5D"/>
          </a:solidFill>
          <a:ln w="12700">
            <a:solidFill>
              <a:srgbClr val="D95D5D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3547872" y="1536192"/>
            <a:ext cx="20482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D95D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3100" dirty="0"/>
          </a:p>
        </p:txBody>
      </p:sp>
      <p:sp>
        <p:nvSpPr>
          <p:cNvPr id="15" name="Text 13"/>
          <p:cNvSpPr/>
          <p:nvPr/>
        </p:nvSpPr>
        <p:spPr>
          <a:xfrm>
            <a:off x="3547872" y="2011680"/>
            <a:ext cx="20482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3A4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微服务测试类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547872" y="2304288"/>
            <a:ext cx="20482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25B6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拆分后尚无测试资产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989320" y="1371600"/>
            <a:ext cx="2487168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CDE5E3"/>
            </a:solidFill>
            <a:prstDash val="solid"/>
          </a:ln>
          <a:effectLst>
            <a:outerShdw sx="100000" sy="100000" kx="0" ky="0" algn="bl" rotWithShape="0" blurRad="25400" dist="50800" dir="2700000">
              <a:srgbClr val="073B4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5989320" y="1371600"/>
            <a:ext cx="82296" cy="129844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6245352" y="1536192"/>
            <a:ext cx="20482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4A2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3100" dirty="0"/>
          </a:p>
        </p:txBody>
      </p:sp>
      <p:sp>
        <p:nvSpPr>
          <p:cNvPr id="20" name="Text 18"/>
          <p:cNvSpPr/>
          <p:nvPr/>
        </p:nvSpPr>
        <p:spPr>
          <a:xfrm>
            <a:off x="6245352" y="2011680"/>
            <a:ext cx="20482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3A4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前端测试脚本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245352" y="2304288"/>
            <a:ext cx="20482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25B6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仅 lint / type-check / build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8686800" y="1371600"/>
            <a:ext cx="2578608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CDE5E3"/>
            </a:solidFill>
            <a:prstDash val="solid"/>
          </a:ln>
          <a:effectLst>
            <a:outerShdw sx="100000" sy="100000" kx="0" ky="0" algn="bl" rotWithShape="0" blurRad="25400" dist="50800" dir="2700000">
              <a:srgbClr val="073B4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8686800" y="1371600"/>
            <a:ext cx="82296" cy="1298448"/>
          </a:xfrm>
          <a:prstGeom prst="rect">
            <a:avLst/>
          </a:prstGeom>
          <a:solidFill>
            <a:srgbClr val="D95D5D"/>
          </a:solidFill>
          <a:ln w="12700">
            <a:solidFill>
              <a:srgbClr val="D95D5D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8942832" y="1536192"/>
            <a:ext cx="213969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D95D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3100" dirty="0"/>
          </a:p>
        </p:txBody>
      </p:sp>
      <p:sp>
        <p:nvSpPr>
          <p:cNvPr id="25" name="Text 23"/>
          <p:cNvSpPr/>
          <p:nvPr/>
        </p:nvSpPr>
        <p:spPr>
          <a:xfrm>
            <a:off x="8942832" y="2011680"/>
            <a:ext cx="2139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3A4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仓库 CI 工作流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942832" y="2304288"/>
            <a:ext cx="21396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25B6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未发现 .github/workflows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594360" y="3090672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73A4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当前质量链路</a:t>
            </a:r>
            <a:endParaRPr lang="en-US" sz="2100" dirty="0"/>
          </a:p>
        </p:txBody>
      </p:sp>
      <p:sp>
        <p:nvSpPr>
          <p:cNvPr id="28" name="Shape 26"/>
          <p:cNvSpPr/>
          <p:nvPr/>
        </p:nvSpPr>
        <p:spPr>
          <a:xfrm>
            <a:off x="594360" y="3657600"/>
            <a:ext cx="2029968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25400">
            <a:solidFill>
              <a:srgbClr val="028090"/>
            </a:solidFill>
            <a:prstDash val="solid"/>
          </a:ln>
          <a:effectLst>
            <a:outerShdw sx="100000" sy="100000" kx="0" ky="0" algn="bl" rotWithShape="0" blurRad="25400" dist="50800" dir="2700000">
              <a:srgbClr val="073B4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758952" y="3840480"/>
            <a:ext cx="393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700" dirty="0"/>
          </a:p>
        </p:txBody>
      </p:sp>
      <p:sp>
        <p:nvSpPr>
          <p:cNvPr id="30" name="Text 28"/>
          <p:cNvSpPr/>
          <p:nvPr/>
        </p:nvSpPr>
        <p:spPr>
          <a:xfrm>
            <a:off x="1216152" y="3813048"/>
            <a:ext cx="1170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A4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代码提交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758952" y="4279392"/>
            <a:ext cx="162763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425B6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人工触发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2743200" y="4005072"/>
            <a:ext cx="201168" cy="384048"/>
          </a:xfrm>
          <a:prstGeom prst="chevron">
            <a:avLst/>
          </a:prstGeom>
          <a:solidFill>
            <a:srgbClr val="CDE5E3"/>
          </a:solidFill>
          <a:ln w="12700">
            <a:solidFill>
              <a:srgbClr val="CDE5E3"/>
            </a:solidFill>
            <a:prstDash val="solid"/>
          </a:ln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>
            <a:off x="3035808" y="3657600"/>
            <a:ext cx="2029968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25400">
            <a:solidFill>
              <a:srgbClr val="00A896"/>
            </a:solidFill>
            <a:prstDash val="solid"/>
          </a:ln>
          <a:effectLst>
            <a:outerShdw sx="100000" sy="100000" kx="0" ky="0" algn="bl" rotWithShape="0" blurRad="25400" dist="50800" dir="2700000">
              <a:srgbClr val="073B4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3200400" y="3840480"/>
            <a:ext cx="393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A8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700" dirty="0"/>
          </a:p>
        </p:txBody>
      </p:sp>
      <p:sp>
        <p:nvSpPr>
          <p:cNvPr id="35" name="Text 33"/>
          <p:cNvSpPr/>
          <p:nvPr/>
        </p:nvSpPr>
        <p:spPr>
          <a:xfrm>
            <a:off x="3657600" y="3813048"/>
            <a:ext cx="1170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A4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编译 / 构建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3200400" y="4279392"/>
            <a:ext cx="162763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425B6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本地执行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5184648" y="4005072"/>
            <a:ext cx="201168" cy="384048"/>
          </a:xfrm>
          <a:prstGeom prst="chevron">
            <a:avLst/>
          </a:prstGeom>
          <a:solidFill>
            <a:srgbClr val="CDE5E3"/>
          </a:solidFill>
          <a:ln w="12700">
            <a:solidFill>
              <a:srgbClr val="CDE5E3"/>
            </a:solidFill>
            <a:prstDash val="solid"/>
          </a:ln>
        </p:spPr>
        <p:txBody>
          <a:bodyPr/>
          <a:p/>
        </p:txBody>
      </p:sp>
      <p:sp>
        <p:nvSpPr>
          <p:cNvPr id="38" name="Shape 36"/>
          <p:cNvSpPr/>
          <p:nvPr/>
        </p:nvSpPr>
        <p:spPr>
          <a:xfrm>
            <a:off x="5477256" y="3657600"/>
            <a:ext cx="2029968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25400">
            <a:solidFill>
              <a:srgbClr val="F4A261"/>
            </a:solidFill>
            <a:prstDash val="solid"/>
          </a:ln>
          <a:effectLst>
            <a:outerShdw sx="100000" sy="100000" kx="0" ky="0" algn="bl" rotWithShape="0" blurRad="25400" dist="50800" dir="2700000">
              <a:srgbClr val="073B4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39" name="Text 37"/>
          <p:cNvSpPr/>
          <p:nvPr/>
        </p:nvSpPr>
        <p:spPr>
          <a:xfrm>
            <a:off x="5641848" y="3840480"/>
            <a:ext cx="393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A2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700" dirty="0"/>
          </a:p>
        </p:txBody>
      </p:sp>
      <p:sp>
        <p:nvSpPr>
          <p:cNvPr id="40" name="Text 38"/>
          <p:cNvSpPr/>
          <p:nvPr/>
        </p:nvSpPr>
        <p:spPr>
          <a:xfrm>
            <a:off x="6099048" y="3813048"/>
            <a:ext cx="1170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A4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测试</a:t>
            </a:r>
            <a:endParaRPr lang="en-US" sz="1500" dirty="0"/>
          </a:p>
        </p:txBody>
      </p:sp>
      <p:sp>
        <p:nvSpPr>
          <p:cNvPr id="41" name="Text 39"/>
          <p:cNvSpPr/>
          <p:nvPr/>
        </p:nvSpPr>
        <p:spPr>
          <a:xfrm>
            <a:off x="5641848" y="4279392"/>
            <a:ext cx="162763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425B6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依赖外部服务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7626096" y="4005072"/>
            <a:ext cx="201168" cy="384048"/>
          </a:xfrm>
          <a:prstGeom prst="chevron">
            <a:avLst/>
          </a:prstGeom>
          <a:solidFill>
            <a:srgbClr val="CDE5E3"/>
          </a:solidFill>
          <a:ln w="12700">
            <a:solidFill>
              <a:srgbClr val="CDE5E3"/>
            </a:solidFill>
            <a:prstDash val="solid"/>
          </a:ln>
        </p:spPr>
        <p:txBody>
          <a:bodyPr/>
          <a:p/>
        </p:txBody>
      </p:sp>
      <p:sp>
        <p:nvSpPr>
          <p:cNvPr id="43" name="Shape 41"/>
          <p:cNvSpPr/>
          <p:nvPr/>
        </p:nvSpPr>
        <p:spPr>
          <a:xfrm>
            <a:off x="7918704" y="3657600"/>
            <a:ext cx="2029968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25400">
            <a:solidFill>
              <a:srgbClr val="D95D5D"/>
            </a:solidFill>
            <a:prstDash val="solid"/>
          </a:ln>
          <a:effectLst>
            <a:outerShdw sx="100000" sy="100000" kx="0" ky="0" algn="bl" rotWithShape="0" blurRad="25400" dist="50800" dir="2700000">
              <a:srgbClr val="073B4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44" name="Text 42"/>
          <p:cNvSpPr/>
          <p:nvPr/>
        </p:nvSpPr>
        <p:spPr>
          <a:xfrm>
            <a:off x="8083296" y="3840480"/>
            <a:ext cx="393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95D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700" dirty="0"/>
          </a:p>
        </p:txBody>
      </p:sp>
      <p:sp>
        <p:nvSpPr>
          <p:cNvPr id="45" name="Text 43"/>
          <p:cNvSpPr/>
          <p:nvPr/>
        </p:nvSpPr>
        <p:spPr>
          <a:xfrm>
            <a:off x="8540496" y="3813048"/>
            <a:ext cx="1170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A4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PR 门禁</a:t>
            </a:r>
            <a:endParaRPr lang="en-US" sz="1500" dirty="0"/>
          </a:p>
        </p:txBody>
      </p:sp>
      <p:sp>
        <p:nvSpPr>
          <p:cNvPr id="46" name="Text 44"/>
          <p:cNvSpPr/>
          <p:nvPr/>
        </p:nvSpPr>
        <p:spPr>
          <a:xfrm>
            <a:off x="8083296" y="4279392"/>
            <a:ext cx="162763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425B6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尚未配置</a:t>
            </a:r>
            <a:endParaRPr lang="en-US" sz="1150" dirty="0"/>
          </a:p>
        </p:txBody>
      </p:sp>
      <p:sp>
        <p:nvSpPr>
          <p:cNvPr id="47" name="Shape 45"/>
          <p:cNvSpPr/>
          <p:nvPr/>
        </p:nvSpPr>
        <p:spPr>
          <a:xfrm>
            <a:off x="594360" y="5138928"/>
            <a:ext cx="9354312" cy="566928"/>
          </a:xfrm>
          <a:prstGeom prst="roundRect">
            <a:avLst>
              <a:gd name="adj" fmla="val 9677"/>
            </a:avLst>
          </a:prstGeom>
          <a:solidFill>
            <a:srgbClr val="DDF4F4"/>
          </a:solidFill>
          <a:ln w="12700">
            <a:solidFill>
              <a:srgbClr val="CDE5E3"/>
            </a:solidFill>
            <a:prstDash val="solid"/>
          </a:ln>
        </p:spPr>
        <p:txBody>
          <a:bodyPr/>
          <a:p/>
        </p:txBody>
      </p:sp>
      <p:sp>
        <p:nvSpPr>
          <p:cNvPr id="48" name="Text 46"/>
          <p:cNvSpPr/>
          <p:nvPr/>
        </p:nvSpPr>
        <p:spPr>
          <a:xfrm>
            <a:off x="822960" y="5312664"/>
            <a:ext cx="1261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2809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运行指标说明</a:t>
            </a:r>
            <a:endParaRPr lang="en-US" sz="1350" dirty="0"/>
          </a:p>
        </p:txBody>
      </p:sp>
      <p:sp>
        <p:nvSpPr>
          <p:cNvPr id="49" name="Text 47"/>
          <p:cNvSpPr/>
          <p:nvPr/>
        </p:nvSpPr>
        <p:spPr>
          <a:xfrm>
            <a:off x="2176272" y="5303520"/>
            <a:ext cx="7452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3A4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仓库含 Prometheus / Grafana 配置，但未提交生产运行样本，本报告不推测调用量、耗时或错误率。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27080" y="274320"/>
            <a:ext cx="749808" cy="749808"/>
          </a:xfrm>
          <a:prstGeom prst="ellipse">
            <a:avLst/>
          </a:prstGeom>
          <a:solidFill>
            <a:srgbClr val="DDF4F4">
              <a:alpha val="90000"/>
            </a:srgbClr>
          </a:solidFill>
          <a:ln w="12700">
            <a:solidFill>
              <a:srgbClr val="DDF4F4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11301984" y="640080"/>
            <a:ext cx="310896" cy="310896"/>
          </a:xfrm>
          <a:prstGeom prst="ellipse">
            <a:avLst/>
          </a:prstGeom>
          <a:solidFill>
            <a:srgbClr val="02C39A">
              <a:alpha val="70000"/>
            </a:srgbClr>
          </a:solidFill>
          <a:ln w="12700">
            <a:solidFill>
              <a:srgbClr val="02C39A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594360" y="347472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 &amp; BLOCKERS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94360" y="612648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73B4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风险与问题：先解决质量门禁和架构分叉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94360" y="6236208"/>
            <a:ext cx="10972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425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  ·  2026-07-16  ·  08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94360" y="1371600"/>
            <a:ext cx="5239512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CDE5E3"/>
            </a:solidFill>
            <a:prstDash val="solid"/>
          </a:ln>
          <a:effectLst>
            <a:outerShdw sx="100000" sy="100000" kx="0" ky="0" algn="bl" rotWithShape="0" blurRad="25400" dist="50800" dir="2700000">
              <a:srgbClr val="073B4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850392" y="1627632"/>
            <a:ext cx="566928" cy="566928"/>
          </a:xfrm>
          <a:prstGeom prst="ellipse">
            <a:avLst/>
          </a:prstGeom>
          <a:solidFill>
            <a:srgbClr val="D95D5D"/>
          </a:solidFill>
          <a:ln w="12700">
            <a:solidFill>
              <a:srgbClr val="D95D5D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850392" y="1764792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高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645920" y="1627632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73A4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长期无代码演进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1645920" y="2121408"/>
            <a:ext cx="37764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425B6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master 最近代码提交距今约 11 个月，依赖升级与问题修复可能滞后。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035040" y="1371600"/>
            <a:ext cx="5239512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CDE5E3"/>
            </a:solidFill>
            <a:prstDash val="solid"/>
          </a:ln>
          <a:effectLst>
            <a:outerShdw sx="100000" sy="100000" kx="0" ky="0" algn="bl" rotWithShape="0" blurRad="25400" dist="50800" dir="2700000">
              <a:srgbClr val="073B4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6291072" y="1627632"/>
            <a:ext cx="566928" cy="566928"/>
          </a:xfrm>
          <a:prstGeom prst="ellipse">
            <a:avLst/>
          </a:prstGeom>
          <a:solidFill>
            <a:srgbClr val="D95D5D"/>
          </a:solidFill>
          <a:ln w="12700">
            <a:solidFill>
              <a:srgbClr val="D95D5D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291072" y="1764792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高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086600" y="1627632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73A4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无自建 CI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7086600" y="2121408"/>
            <a:ext cx="37764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425B6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PR / Push 不自动编译、测试或构建，回归风险依赖人工发现。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94360" y="3273552"/>
            <a:ext cx="5239512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CDE5E3"/>
            </a:solidFill>
            <a:prstDash val="solid"/>
          </a:ln>
          <a:effectLst>
            <a:outerShdw sx="100000" sy="100000" kx="0" ky="0" algn="bl" rotWithShape="0" blurRad="25400" dist="50800" dir="2700000">
              <a:srgbClr val="073B4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850392" y="3529584"/>
            <a:ext cx="566928" cy="566928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850392" y="3666744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中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645920" y="3529584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73A4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双架构并存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1645920" y="4023360"/>
            <a:ext cx="37764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425B6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单体与微服务入口、能力不完全一致，维护者与使用者容易选错主路径。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035040" y="3273552"/>
            <a:ext cx="5239512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CDE5E3"/>
            </a:solidFill>
            <a:prstDash val="solid"/>
          </a:ln>
          <a:effectLst>
            <a:outerShdw sx="100000" sy="100000" kx="0" ky="0" algn="bl" rotWithShape="0" blurRad="25400" dist="50800" dir="2700000">
              <a:srgbClr val="073B4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6291072" y="3529584"/>
            <a:ext cx="566928" cy="566928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291072" y="3666744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中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086600" y="3529584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73A4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测试外部依赖重</a:t>
            </a:r>
            <a:endParaRPr lang="en-US" sz="1900" dirty="0"/>
          </a:p>
        </p:txBody>
      </p:sp>
      <p:sp>
        <p:nvSpPr>
          <p:cNvPr id="26" name="Text 24"/>
          <p:cNvSpPr/>
          <p:nvPr/>
        </p:nvSpPr>
        <p:spPr>
          <a:xfrm>
            <a:off x="7086600" y="4023360"/>
            <a:ext cx="37764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425B6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SpringBootTest 依赖 MySQL、Redis、API Key；微服务和前端缺少测试资产。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594360" y="5193792"/>
            <a:ext cx="10680192" cy="530352"/>
          </a:xfrm>
          <a:prstGeom prst="roundRect">
            <a:avLst>
              <a:gd name="adj" fmla="val 10345"/>
            </a:avLst>
          </a:prstGeom>
          <a:solidFill>
            <a:srgbClr val="073B4C"/>
          </a:solidFill>
          <a:ln w="12700">
            <a:solidFill>
              <a:srgbClr val="073B4C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868680" y="5340096"/>
            <a:ext cx="10104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阻塞条件：MySQL / Redis / AI Key；微服务另需 Nacos + Dubbo；部署截图依赖 COS 与 Selenium。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27080" y="274320"/>
            <a:ext cx="749808" cy="749808"/>
          </a:xfrm>
          <a:prstGeom prst="ellipse">
            <a:avLst/>
          </a:prstGeom>
          <a:solidFill>
            <a:srgbClr val="DDF4F4">
              <a:alpha val="90000"/>
            </a:srgbClr>
          </a:solidFill>
          <a:ln w="12700">
            <a:solidFill>
              <a:srgbClr val="DDF4F4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11301984" y="640080"/>
            <a:ext cx="310896" cy="310896"/>
          </a:xfrm>
          <a:prstGeom prst="ellipse">
            <a:avLst/>
          </a:prstGeom>
          <a:solidFill>
            <a:srgbClr val="02C39A">
              <a:alpha val="70000"/>
            </a:srgbClr>
          </a:solidFill>
          <a:ln w="12700">
            <a:solidFill>
              <a:srgbClr val="02C39A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594360" y="347472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ACTIONS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94360" y="612648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73B4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下一步计划：建立门禁、收敛架构、补齐闭环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94360" y="6236208"/>
            <a:ext cx="10972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425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  ·  2026-07-16  ·  09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94360" y="1417320"/>
            <a:ext cx="3035808" cy="4251960"/>
          </a:xfrm>
          <a:prstGeom prst="roundRect">
            <a:avLst>
              <a:gd name="adj" fmla="val 2410"/>
            </a:avLst>
          </a:prstGeom>
          <a:solidFill>
            <a:srgbClr val="FFFFFF"/>
          </a:solidFill>
          <a:ln w="12700">
            <a:solidFill>
              <a:srgbClr val="CDE5E3"/>
            </a:solidFill>
            <a:prstDash val="solid"/>
          </a:ln>
          <a:effectLst>
            <a:outerShdw sx="100000" sy="100000" kx="0" ky="0" algn="bl" rotWithShape="0" blurRad="25400" dist="50800" dir="2700000">
              <a:srgbClr val="073B4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850392" y="1682496"/>
            <a:ext cx="713232" cy="438912"/>
          </a:xfrm>
          <a:prstGeom prst="roundRect">
            <a:avLst>
              <a:gd name="adj" fmla="val 16667"/>
            </a:avLst>
          </a:prstGeom>
          <a:solidFill>
            <a:srgbClr val="D95D5D"/>
          </a:solidFill>
          <a:ln w="12700">
            <a:solidFill>
              <a:srgbClr val="D95D5D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850392" y="1783080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P0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" y="2359152"/>
            <a:ext cx="248716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73A4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建立最小 CI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905256" y="3145536"/>
            <a:ext cx="246888" cy="246888"/>
          </a:xfrm>
          <a:prstGeom prst="ellipse">
            <a:avLst/>
          </a:prstGeom>
          <a:solidFill>
            <a:srgbClr val="D95D5D"/>
          </a:solidFill>
          <a:ln w="12700">
            <a:solidFill>
              <a:srgbClr val="D95D5D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905256" y="3191256"/>
            <a:ext cx="2468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1307592" y="3127248"/>
            <a:ext cx="1965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25B6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后端编译 + 可隔离测试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905256" y="3803904"/>
            <a:ext cx="246888" cy="246888"/>
          </a:xfrm>
          <a:prstGeom prst="ellipse">
            <a:avLst/>
          </a:prstGeom>
          <a:solidFill>
            <a:srgbClr val="D95D5D"/>
          </a:solidFill>
          <a:ln w="12700">
            <a:solidFill>
              <a:srgbClr val="D95D5D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905256" y="3849624"/>
            <a:ext cx="2468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1307592" y="3785616"/>
            <a:ext cx="1965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25B6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前端 type-check + build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905256" y="4462272"/>
            <a:ext cx="246888" cy="246888"/>
          </a:xfrm>
          <a:prstGeom prst="ellipse">
            <a:avLst/>
          </a:prstGeom>
          <a:solidFill>
            <a:srgbClr val="D95D5D"/>
          </a:solidFill>
          <a:ln w="12700">
            <a:solidFill>
              <a:srgbClr val="D95D5D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05256" y="4507992"/>
            <a:ext cx="2468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1307592" y="4443984"/>
            <a:ext cx="1965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25B6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设置 PR 必须通过的检查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94360" y="5413248"/>
            <a:ext cx="3035808" cy="256032"/>
          </a:xfrm>
          <a:prstGeom prst="rect">
            <a:avLst/>
          </a:prstGeom>
          <a:solidFill>
            <a:srgbClr val="D95D5D"/>
          </a:solidFill>
          <a:ln w="12700">
            <a:solidFill>
              <a:srgbClr val="D95D5D"/>
            </a:solidFill>
            <a:prstDash val="solid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4114800" y="1417320"/>
            <a:ext cx="3035808" cy="4251960"/>
          </a:xfrm>
          <a:prstGeom prst="roundRect">
            <a:avLst>
              <a:gd name="adj" fmla="val 2410"/>
            </a:avLst>
          </a:prstGeom>
          <a:solidFill>
            <a:srgbClr val="FFFFFF"/>
          </a:solidFill>
          <a:ln w="12700">
            <a:solidFill>
              <a:srgbClr val="CDE5E3"/>
            </a:solidFill>
            <a:prstDash val="solid"/>
          </a:ln>
          <a:effectLst>
            <a:outerShdw sx="100000" sy="100000" kx="0" ky="0" algn="bl" rotWithShape="0" blurRad="25400" dist="50800" dir="2700000">
              <a:srgbClr val="073B4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4370832" y="1682496"/>
            <a:ext cx="713232" cy="438912"/>
          </a:xfrm>
          <a:prstGeom prst="roundRect">
            <a:avLst>
              <a:gd name="adj" fmla="val 16667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4370832" y="1783080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P1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389120" y="2359152"/>
            <a:ext cx="248716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73A4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收敛主运行路径</a:t>
            </a:r>
            <a:endParaRPr lang="en-US" sz="2100" dirty="0"/>
          </a:p>
        </p:txBody>
      </p:sp>
      <p:sp>
        <p:nvSpPr>
          <p:cNvPr id="25" name="Shape 23"/>
          <p:cNvSpPr/>
          <p:nvPr/>
        </p:nvSpPr>
        <p:spPr>
          <a:xfrm>
            <a:off x="4425696" y="3145536"/>
            <a:ext cx="246888" cy="24688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4425696" y="3191256"/>
            <a:ext cx="2468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4828032" y="3127248"/>
            <a:ext cx="1965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25B6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文档明确单体 / 微服务定位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4425696" y="3803904"/>
            <a:ext cx="246888" cy="24688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4425696" y="3849624"/>
            <a:ext cx="2468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4828032" y="3785616"/>
            <a:ext cx="1965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25B6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统一 API 入口或接入网关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4425696" y="4462272"/>
            <a:ext cx="246888" cy="24688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4425696" y="4507992"/>
            <a:ext cx="2468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4828032" y="4443984"/>
            <a:ext cx="1965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25B6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补齐微服务监控与健康检查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4114800" y="5413248"/>
            <a:ext cx="3035808" cy="25603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p/>
        </p:txBody>
      </p:sp>
      <p:sp>
        <p:nvSpPr>
          <p:cNvPr id="35" name="Shape 33"/>
          <p:cNvSpPr/>
          <p:nvPr/>
        </p:nvSpPr>
        <p:spPr>
          <a:xfrm>
            <a:off x="7635240" y="1417320"/>
            <a:ext cx="3035808" cy="4251960"/>
          </a:xfrm>
          <a:prstGeom prst="roundRect">
            <a:avLst>
              <a:gd name="adj" fmla="val 2410"/>
            </a:avLst>
          </a:prstGeom>
          <a:solidFill>
            <a:srgbClr val="FFFFFF"/>
          </a:solidFill>
          <a:ln w="12700">
            <a:solidFill>
              <a:srgbClr val="CDE5E3"/>
            </a:solidFill>
            <a:prstDash val="solid"/>
          </a:ln>
          <a:effectLst>
            <a:outerShdw sx="100000" sy="100000" kx="0" ky="0" algn="bl" rotWithShape="0" blurRad="25400" dist="50800" dir="2700000">
              <a:srgbClr val="073B4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36" name="Shape 34"/>
          <p:cNvSpPr/>
          <p:nvPr/>
        </p:nvSpPr>
        <p:spPr>
          <a:xfrm>
            <a:off x="7891272" y="1682496"/>
            <a:ext cx="713232" cy="438912"/>
          </a:xfrm>
          <a:prstGeom prst="roundRect">
            <a:avLst>
              <a:gd name="adj" fmla="val 16667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7891272" y="1783080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P2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7909560" y="2359152"/>
            <a:ext cx="248716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73A4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完善 AI 质量闭环</a:t>
            </a:r>
            <a:endParaRPr lang="en-US" sz="2100" dirty="0"/>
          </a:p>
        </p:txBody>
      </p:sp>
      <p:sp>
        <p:nvSpPr>
          <p:cNvPr id="39" name="Shape 37"/>
          <p:cNvSpPr/>
          <p:nvPr/>
        </p:nvSpPr>
        <p:spPr>
          <a:xfrm>
            <a:off x="7946136" y="3145536"/>
            <a:ext cx="246888" cy="246888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p/>
        </p:txBody>
      </p:sp>
      <p:sp>
        <p:nvSpPr>
          <p:cNvPr id="40" name="Text 38"/>
          <p:cNvSpPr/>
          <p:nvPr/>
        </p:nvSpPr>
        <p:spPr>
          <a:xfrm>
            <a:off x="7946136" y="3191256"/>
            <a:ext cx="2468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8348472" y="3127248"/>
            <a:ext cx="1965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25B6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将 LangGraph4j 接入主链路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7946136" y="3803904"/>
            <a:ext cx="246888" cy="246888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p/>
        </p:txBody>
      </p:sp>
      <p:sp>
        <p:nvSpPr>
          <p:cNvPr id="43" name="Text 41"/>
          <p:cNvSpPr/>
          <p:nvPr/>
        </p:nvSpPr>
        <p:spPr>
          <a:xfrm>
            <a:off x="7946136" y="3849624"/>
            <a:ext cx="2468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8348472" y="3785616"/>
            <a:ext cx="1965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25B6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恢复可用的输出护轨</a:t>
            </a:r>
            <a:endParaRPr lang="en-US" sz="1400" dirty="0"/>
          </a:p>
        </p:txBody>
      </p:sp>
      <p:sp>
        <p:nvSpPr>
          <p:cNvPr id="45" name="Shape 43"/>
          <p:cNvSpPr/>
          <p:nvPr/>
        </p:nvSpPr>
        <p:spPr>
          <a:xfrm>
            <a:off x="7946136" y="4462272"/>
            <a:ext cx="246888" cy="246888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p/>
        </p:txBody>
      </p:sp>
      <p:sp>
        <p:nvSpPr>
          <p:cNvPr id="46" name="Text 44"/>
          <p:cNvSpPr/>
          <p:nvPr/>
        </p:nvSpPr>
        <p:spPr>
          <a:xfrm>
            <a:off x="7946136" y="4507992"/>
            <a:ext cx="2468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8348472" y="4443984"/>
            <a:ext cx="1965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25B6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清理补丁 TODO 与调试输出</a:t>
            </a:r>
            <a:endParaRPr lang="en-US" sz="1400" dirty="0"/>
          </a:p>
        </p:txBody>
      </p:sp>
      <p:sp>
        <p:nvSpPr>
          <p:cNvPr id="48" name="Shape 46"/>
          <p:cNvSpPr/>
          <p:nvPr/>
        </p:nvSpPr>
        <p:spPr>
          <a:xfrm>
            <a:off x="7635240" y="5413248"/>
            <a:ext cx="3035808" cy="25603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p/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73B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">
            <a:off x="7909560" y="-1097280"/>
            <a:ext cx="5303520" cy="5303520"/>
          </a:xfrm>
          <a:prstGeom prst="arc">
            <a:avLst/>
          </a:prstGeom>
          <a:solidFill>
            <a:srgbClr val="028090">
              <a:alpha val="42000"/>
            </a:srgbClr>
          </a:solidFill>
          <a:ln w="38100">
            <a:solidFill>
              <a:srgbClr val="00A896">
                <a:alpha val="6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 rot="12300000">
            <a:off x="8732520" y="2423160"/>
            <a:ext cx="4389120" cy="4389120"/>
          </a:xfrm>
          <a:prstGeom prst="arc">
            <a:avLst/>
          </a:prstGeom>
          <a:solidFill>
            <a:srgbClr val="02C39A">
              <a:alpha val="30000"/>
            </a:srgbClr>
          </a:solidFill>
          <a:ln w="25400">
            <a:solidFill>
              <a:srgbClr val="7FDBDA">
                <a:alpha val="5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10378440" y="594360"/>
            <a:ext cx="292608" cy="29260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713232" y="640080"/>
            <a:ext cx="1645920" cy="347472"/>
          </a:xfrm>
          <a:prstGeom prst="roundRect">
            <a:avLst>
              <a:gd name="adj" fmla="val 21053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13232" y="649224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BOTTOM LINE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713232" y="1481328"/>
            <a:ext cx="81381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主功能已交付，下一阶段要把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“可运行”升级为“可持续维护”</a:t>
            </a:r>
            <a:endParaRPr lang="en-US" sz="4000" dirty="0"/>
          </a:p>
        </p:txBody>
      </p:sp>
      <p:sp>
        <p:nvSpPr>
          <p:cNvPr id="8" name="Shape 6"/>
          <p:cNvSpPr/>
          <p:nvPr/>
        </p:nvSpPr>
        <p:spPr>
          <a:xfrm>
            <a:off x="713232" y="3822192"/>
            <a:ext cx="2697480" cy="1389888"/>
          </a:xfrm>
          <a:prstGeom prst="roundRect">
            <a:avLst>
              <a:gd name="adj" fmla="val 5263"/>
            </a:avLst>
          </a:prstGeom>
          <a:solidFill>
            <a:srgbClr val="065A82">
              <a:alpha val="92000"/>
            </a:srgbClr>
          </a:solidFill>
          <a:ln w="12700">
            <a:solidFill>
              <a:srgbClr val="028090">
                <a:alpha val="7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941832" y="4059936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1554480" y="40416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功能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68680" y="4590288"/>
            <a:ext cx="24231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生成—编辑—部署—管理链路完整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3703320" y="3822192"/>
            <a:ext cx="2697480" cy="1389888"/>
          </a:xfrm>
          <a:prstGeom prst="roundRect">
            <a:avLst>
              <a:gd name="adj" fmla="val 5263"/>
            </a:avLst>
          </a:prstGeom>
          <a:solidFill>
            <a:srgbClr val="065A82">
              <a:alpha val="92000"/>
            </a:srgbClr>
          </a:solidFill>
          <a:ln w="12700">
            <a:solidFill>
              <a:srgbClr val="028090">
                <a:alpha val="7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3931920" y="4059936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4544568" y="40416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现状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858768" y="4590288"/>
            <a:ext cx="24231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近 7 天零提交，稳定基线未变化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693408" y="3822192"/>
            <a:ext cx="2697480" cy="1389888"/>
          </a:xfrm>
          <a:prstGeom prst="roundRect">
            <a:avLst>
              <a:gd name="adj" fmla="val 5263"/>
            </a:avLst>
          </a:prstGeom>
          <a:solidFill>
            <a:srgbClr val="028090"/>
          </a:solidFill>
          <a:ln w="12700">
            <a:solidFill>
              <a:srgbClr val="02C39A">
                <a:alpha val="7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6922008" y="4059936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7534656" y="40416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重点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848856" y="4590288"/>
            <a:ext cx="24231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CI 门禁与架构收敛优先级最高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713232" y="6181344"/>
            <a:ext cx="10698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DEAE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资料范围：README、主要模块、最近提交、测试与 CI 配置  |  生成日期：2026-07-16（北京时间）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erif CJK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yu-ai-code-mother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yu-ai-code-mother 每日项目状态汇报 2026-07-16</dc:title>
  <dc:subject>每日项目状态汇报</dc:subject>
  <dc:creator>yu-ai-code-mother automation</dc:creator>
  <cp:lastModifiedBy>yu-ai-code-mother automation</cp:lastModifiedBy>
  <cp:revision>1</cp:revision>
  <dcterms:created xsi:type="dcterms:W3CDTF">2026-07-16T09:06:07Z</dcterms:created>
  <dcterms:modified xsi:type="dcterms:W3CDTF">2026-07-16T09:06:07Z</dcterms:modified>
</cp:coreProperties>
</file>