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12A36"/>
          </a:solidFill>
          <a:ln w="12700">
            <a:solidFill>
              <a:srgbClr val="012A3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320040" cy="51435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583680" y="0"/>
            <a:ext cx="2560320" cy="5143500"/>
          </a:xfrm>
          <a:prstGeom prst="rect">
            <a:avLst/>
          </a:prstGeom>
          <a:solidFill>
            <a:srgbClr val="014F5E"/>
          </a:solidFill>
          <a:ln w="12700">
            <a:solidFill>
              <a:srgbClr val="014F5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903720" y="1371600"/>
            <a:ext cx="1920240" cy="1920240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406640" y="1874520"/>
            <a:ext cx="914400" cy="914400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11430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STATUS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40080" y="1600200"/>
            <a:ext cx="5669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AI 零代码应用生成平台</a:t>
            </a:r>
            <a:endParaRPr lang="en-US" sz="3600" dirty="0"/>
          </a:p>
        </p:txBody>
      </p:sp>
      <p:sp>
        <p:nvSpPr>
          <p:cNvPr id="9" name="Text 7"/>
          <p:cNvSpPr/>
          <p:nvPr/>
        </p:nvSpPr>
        <p:spPr>
          <a:xfrm>
            <a:off x="640080" y="233172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每日项目状态汇报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640080" y="310896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D4EE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yu-ai-code-mother  ·  2026-07-30（北京时间）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40080" y="43434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4EE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受众：项目维护者 / 研发团队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766560" y="365760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状态日报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766560" y="402336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Teal Trust 配色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2F8F8"/>
          </a:solidFill>
          <a:ln w="12700">
            <a:solidFill>
              <a:srgbClr val="F2F8F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256032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14F5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项目概览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457200" y="71323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3D55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教学向企业级 AI 代码生成平台 · 单体 + 微服务双形态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1143000"/>
            <a:ext cx="4023360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57200" y="1143000"/>
            <a:ext cx="109728" cy="141732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77240" y="1399032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14F5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定位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777240" y="1828800"/>
            <a:ext cx="3474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D55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用户描述需求后，AI 生成可预览、可编辑、可部署的 Web 应用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754880" y="1143000"/>
            <a:ext cx="4023360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754880" y="1143000"/>
            <a:ext cx="109728" cy="1417320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074920" y="1399032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14F5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技术栈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5074920" y="1828800"/>
            <a:ext cx="3474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D55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 Boot 3.5、LangChain4j、LangGraph4j、Vue 3、Redis、Dubbo/Nacos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57200" y="2788920"/>
            <a:ext cx="4023360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57200" y="2788920"/>
            <a:ext cx="109728" cy="1417320"/>
          </a:xfrm>
          <a:prstGeom prst="rect">
            <a:avLst/>
          </a:prstGeom>
          <a:solidFill>
            <a:srgbClr val="014F5E"/>
          </a:solidFill>
          <a:ln w="12700">
            <a:solidFill>
              <a:srgbClr val="014F5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77240" y="3044952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14F5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代码形态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777240" y="3474720"/>
            <a:ext cx="3474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D55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单体 src/ 完整可用；微服务 7 模块已拆分（教程第 14 期完成态）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4754880" y="2788920"/>
            <a:ext cx="4023360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754880" y="2788920"/>
            <a:ext cx="109728" cy="141732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074920" y="3044952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14F5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规模快照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5074920" y="3474720"/>
            <a:ext cx="3474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D55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后端约 146 个 Java 文件；前端 17 个 Vue 页；15 个测试类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457200" y="4800600"/>
            <a:ext cx="6858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D55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yu-ai-code-mother  ·  每日状态  ·  2026-07-30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7772400" y="480060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3D55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10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2F8F8"/>
          </a:solidFill>
          <a:ln w="12700">
            <a:solidFill>
              <a:srgbClr val="F2F8F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256032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14F5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核心能力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457200" y="71323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3D55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四大产品能力构成平台主价值链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1097280"/>
            <a:ext cx="8229600" cy="749808"/>
          </a:xfrm>
          <a:prstGeom prst="roundRect">
            <a:avLst>
              <a:gd name="adj" fmla="val 9756"/>
            </a:avLst>
          </a:prstGeom>
          <a:solidFill>
            <a:srgbClr val="FFFFFF"/>
          </a:solidFill>
          <a:ln/>
        </p:spPr>
      </p:sp>
      <p:sp>
        <p:nvSpPr>
          <p:cNvPr id="7" name="Shape 5"/>
          <p:cNvSpPr/>
          <p:nvPr/>
        </p:nvSpPr>
        <p:spPr>
          <a:xfrm>
            <a:off x="640080" y="1243584"/>
            <a:ext cx="822960" cy="457200"/>
          </a:xfrm>
          <a:prstGeom prst="roundRect">
            <a:avLst>
              <a:gd name="adj" fmla="val 12000"/>
            </a:avLst>
          </a:prstGeom>
          <a:solidFill>
            <a:srgbClr val="028090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1298448"/>
            <a:ext cx="822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691640" y="1225296"/>
            <a:ext cx="6675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14F5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智能代码生成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691640" y="1517904"/>
            <a:ext cx="6675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D55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需求理解、策略路由与工具调用，流式输出执行过程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57200" y="1965960"/>
            <a:ext cx="8229600" cy="749808"/>
          </a:xfrm>
          <a:prstGeom prst="roundRect">
            <a:avLst>
              <a:gd name="adj" fmla="val 9756"/>
            </a:avLst>
          </a:prstGeom>
          <a:solidFill>
            <a:srgbClr val="FFFFFF"/>
          </a:solidFill>
          <a:ln/>
        </p:spPr>
      </p:sp>
      <p:sp>
        <p:nvSpPr>
          <p:cNvPr id="12" name="Shape 10"/>
          <p:cNvSpPr/>
          <p:nvPr/>
        </p:nvSpPr>
        <p:spPr>
          <a:xfrm>
            <a:off x="640080" y="2112264"/>
            <a:ext cx="822960" cy="457200"/>
          </a:xfrm>
          <a:prstGeom prst="roundRect">
            <a:avLst>
              <a:gd name="adj" fmla="val 12000"/>
            </a:avLst>
          </a:prstGeom>
          <a:solidFill>
            <a:srgbClr val="028090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" y="2167128"/>
            <a:ext cx="822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691640" y="2093976"/>
            <a:ext cx="6675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14F5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可视化编辑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691640" y="2386584"/>
            <a:ext cx="6675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D55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选中页面元素与 AI 对话，支持全量修改与工程增量修改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57200" y="2834640"/>
            <a:ext cx="8229600" cy="749808"/>
          </a:xfrm>
          <a:prstGeom prst="roundRect">
            <a:avLst>
              <a:gd name="adj" fmla="val 9756"/>
            </a:avLst>
          </a:prstGeom>
          <a:solidFill>
            <a:srgbClr val="FFFFFF"/>
          </a:solidFill>
          <a:ln/>
        </p:spPr>
      </p:sp>
      <p:sp>
        <p:nvSpPr>
          <p:cNvPr id="17" name="Shape 15"/>
          <p:cNvSpPr/>
          <p:nvPr/>
        </p:nvSpPr>
        <p:spPr>
          <a:xfrm>
            <a:off x="640080" y="2980944"/>
            <a:ext cx="822960" cy="457200"/>
          </a:xfrm>
          <a:prstGeom prst="roundRect">
            <a:avLst>
              <a:gd name="adj" fmla="val 12000"/>
            </a:avLst>
          </a:prstGeom>
          <a:solidFill>
            <a:srgbClr val="028090"/>
          </a:solidFill>
          <a:ln/>
        </p:spPr>
      </p:sp>
      <p:sp>
        <p:nvSpPr>
          <p:cNvPr id="18" name="Text 16"/>
          <p:cNvSpPr/>
          <p:nvPr/>
        </p:nvSpPr>
        <p:spPr>
          <a:xfrm>
            <a:off x="640080" y="3035808"/>
            <a:ext cx="822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691640" y="2962656"/>
            <a:ext cx="6675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14F5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一键部署分享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1691640" y="3255264"/>
            <a:ext cx="6675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D55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云端部署、自动截图封面、可访问地址与源码下载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457200" y="3703320"/>
            <a:ext cx="8229600" cy="749808"/>
          </a:xfrm>
          <a:prstGeom prst="roundRect">
            <a:avLst>
              <a:gd name="adj" fmla="val 9756"/>
            </a:avLst>
          </a:prstGeom>
          <a:solidFill>
            <a:srgbClr val="FFFFFF"/>
          </a:solidFill>
          <a:ln/>
        </p:spPr>
      </p:sp>
      <p:sp>
        <p:nvSpPr>
          <p:cNvPr id="22" name="Shape 20"/>
          <p:cNvSpPr/>
          <p:nvPr/>
        </p:nvSpPr>
        <p:spPr>
          <a:xfrm>
            <a:off x="640080" y="3849624"/>
            <a:ext cx="822960" cy="457200"/>
          </a:xfrm>
          <a:prstGeom prst="roundRect">
            <a:avLst>
              <a:gd name="adj" fmla="val 12000"/>
            </a:avLst>
          </a:prstGeom>
          <a:solidFill>
            <a:srgbClr val="028090"/>
          </a:solidFill>
          <a:ln/>
        </p:spPr>
      </p:sp>
      <p:sp>
        <p:nvSpPr>
          <p:cNvPr id="23" name="Text 21"/>
          <p:cNvSpPr/>
          <p:nvPr/>
        </p:nvSpPr>
        <p:spPr>
          <a:xfrm>
            <a:off x="640080" y="3904488"/>
            <a:ext cx="822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1691640" y="3831336"/>
            <a:ext cx="6675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14F5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企业级管理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1691640" y="4123944"/>
            <a:ext cx="6675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D55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用户与应用管理、精选案例、AI 与系统监控看板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457200" y="4800600"/>
            <a:ext cx="6858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D55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yu-ai-code-mother  ·  每日状态  ·  2026-07-30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7772400" y="480060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3D55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10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2F8F8"/>
          </a:solidFill>
          <a:ln w="12700">
            <a:solidFill>
              <a:srgbClr val="F2F8F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256032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14F5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近期进展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457200" y="71323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3D55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近 7 日业务提交为空；关注开放 Issue / PR 与日报连续性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1097280"/>
            <a:ext cx="2880360" cy="3383280"/>
          </a:xfrm>
          <a:prstGeom prst="roundRect">
            <a:avLst>
              <a:gd name="adj" fmla="val 3810"/>
            </a:avLst>
          </a:prstGeom>
          <a:solidFill>
            <a:srgbClr val="014F5E"/>
          </a:solidFill>
          <a:ln/>
        </p:spPr>
      </p:sp>
      <p:sp>
        <p:nvSpPr>
          <p:cNvPr id="7" name="Text 5"/>
          <p:cNvSpPr/>
          <p:nvPr/>
        </p:nvSpPr>
        <p:spPr>
          <a:xfrm>
            <a:off x="685800" y="137160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近 7 日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85800" y="1828800"/>
            <a:ext cx="2468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</a:t>
            </a:r>
            <a:endParaRPr lang="en-US" sz="6400" dirty="0"/>
          </a:p>
        </p:txBody>
      </p:sp>
      <p:sp>
        <p:nvSpPr>
          <p:cNvPr id="9" name="Text 7"/>
          <p:cNvSpPr/>
          <p:nvPr/>
        </p:nvSpPr>
        <p:spPr>
          <a:xfrm>
            <a:off x="685800" y="269748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D4EE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业务代码提交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85800" y="3246120"/>
            <a:ext cx="2468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4EE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主线仍停留在 2025-08-26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D4EE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教程第 14 期微服务完成态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D4EE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HEAD：893918c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611880" y="1097280"/>
            <a:ext cx="5074920" cy="749808"/>
          </a:xfrm>
          <a:prstGeom prst="roundRect">
            <a:avLst>
              <a:gd name="adj" fmla="val 9756"/>
            </a:avLst>
          </a:prstGeom>
          <a:solidFill>
            <a:srgbClr val="FFFFFF"/>
          </a:solidFill>
          <a:ln/>
        </p:spPr>
      </p:sp>
      <p:sp>
        <p:nvSpPr>
          <p:cNvPr id="12" name="Shape 10"/>
          <p:cNvSpPr/>
          <p:nvPr/>
        </p:nvSpPr>
        <p:spPr>
          <a:xfrm>
            <a:off x="3749040" y="1271016"/>
            <a:ext cx="822960" cy="402336"/>
          </a:xfrm>
          <a:prstGeom prst="roundRect">
            <a:avLst>
              <a:gd name="adj" fmla="val 13636"/>
            </a:avLst>
          </a:prstGeom>
          <a:solidFill>
            <a:srgbClr val="D6F0ED"/>
          </a:solidFill>
          <a:ln/>
        </p:spPr>
      </p:sp>
      <p:sp>
        <p:nvSpPr>
          <p:cNvPr id="13" name="Text 11"/>
          <p:cNvSpPr/>
          <p:nvPr/>
        </p:nvSpPr>
        <p:spPr>
          <a:xfrm>
            <a:off x="3749040" y="1335024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昨日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754880" y="1207008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14F5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日报自动化持续产出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754880" y="1499616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D55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2026-07-29 状态 PPT 已生成（PR #69 Draft）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3611880" y="1965960"/>
            <a:ext cx="5074920" cy="749808"/>
          </a:xfrm>
          <a:prstGeom prst="roundRect">
            <a:avLst>
              <a:gd name="adj" fmla="val 9756"/>
            </a:avLst>
          </a:prstGeom>
          <a:solidFill>
            <a:srgbClr val="FFFFFF"/>
          </a:solidFill>
          <a:ln/>
        </p:spPr>
      </p:sp>
      <p:sp>
        <p:nvSpPr>
          <p:cNvPr id="17" name="Shape 15"/>
          <p:cNvSpPr/>
          <p:nvPr/>
        </p:nvSpPr>
        <p:spPr>
          <a:xfrm>
            <a:off x="3749040" y="2139696"/>
            <a:ext cx="822960" cy="402336"/>
          </a:xfrm>
          <a:prstGeom prst="roundRect">
            <a:avLst>
              <a:gd name="adj" fmla="val 13636"/>
            </a:avLst>
          </a:prstGeom>
          <a:solidFill>
            <a:srgbClr val="D6F0ED"/>
          </a:solidFill>
          <a:ln/>
        </p:spPr>
      </p:sp>
      <p:sp>
        <p:nvSpPr>
          <p:cNvPr id="18" name="Text 16"/>
          <p:cNvSpPr/>
          <p:nvPr/>
        </p:nvSpPr>
        <p:spPr>
          <a:xfrm>
            <a:off x="3749040" y="2203704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07-26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754880" y="2075688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14F5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You.com 搜索能力提案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4754880" y="2368296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D55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Issue #65 与 PR #66 待评审合入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3611880" y="2834640"/>
            <a:ext cx="5074920" cy="749808"/>
          </a:xfrm>
          <a:prstGeom prst="roundRect">
            <a:avLst>
              <a:gd name="adj" fmla="val 9756"/>
            </a:avLst>
          </a:prstGeom>
          <a:solidFill>
            <a:srgbClr val="FFFFFF"/>
          </a:solidFill>
          <a:ln/>
        </p:spPr>
      </p:sp>
      <p:sp>
        <p:nvSpPr>
          <p:cNvPr id="22" name="Shape 20"/>
          <p:cNvSpPr/>
          <p:nvPr/>
        </p:nvSpPr>
        <p:spPr>
          <a:xfrm>
            <a:off x="3749040" y="3008376"/>
            <a:ext cx="822960" cy="402336"/>
          </a:xfrm>
          <a:prstGeom prst="roundRect">
            <a:avLst>
              <a:gd name="adj" fmla="val 13636"/>
            </a:avLst>
          </a:prstGeom>
          <a:solidFill>
            <a:srgbClr val="D6F0ED"/>
          </a:solidFill>
          <a:ln/>
        </p:spPr>
      </p:sp>
      <p:sp>
        <p:nvSpPr>
          <p:cNvPr id="23" name="Text 21"/>
          <p:cNvSpPr/>
          <p:nvPr/>
        </p:nvSpPr>
        <p:spPr>
          <a:xfrm>
            <a:off x="3749040" y="3072384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主线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754880" y="2944368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14F5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微服务拆分完成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4754880" y="3236976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D55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user、app、ai、screenshot、client、common、model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3611880" y="3703320"/>
            <a:ext cx="5074920" cy="749808"/>
          </a:xfrm>
          <a:prstGeom prst="roundRect">
            <a:avLst>
              <a:gd name="adj" fmla="val 9756"/>
            </a:avLst>
          </a:prstGeom>
          <a:solidFill>
            <a:srgbClr val="FFFFFF"/>
          </a:solidFill>
          <a:ln/>
        </p:spPr>
      </p:sp>
      <p:sp>
        <p:nvSpPr>
          <p:cNvPr id="27" name="Shape 25"/>
          <p:cNvSpPr/>
          <p:nvPr/>
        </p:nvSpPr>
        <p:spPr>
          <a:xfrm>
            <a:off x="3749040" y="3877056"/>
            <a:ext cx="822960" cy="402336"/>
          </a:xfrm>
          <a:prstGeom prst="roundRect">
            <a:avLst>
              <a:gd name="adj" fmla="val 13636"/>
            </a:avLst>
          </a:prstGeom>
          <a:solidFill>
            <a:srgbClr val="D6F0ED"/>
          </a:solidFill>
          <a:ln/>
        </p:spPr>
      </p:sp>
      <p:sp>
        <p:nvSpPr>
          <p:cNvPr id="28" name="Text 26"/>
          <p:cNvSpPr/>
          <p:nvPr/>
        </p:nvSpPr>
        <p:spPr>
          <a:xfrm>
            <a:off x="3749040" y="3941064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存量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4754880" y="3813048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14F5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可观测与系统优化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4754880" y="4105656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D55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限流、缓存、Prompt 审查、Prometheus/Grafana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457200" y="4800600"/>
            <a:ext cx="6858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D55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yu-ai-code-mother  ·  每日状态  ·  2026-07-30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7772400" y="480060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3D55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10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2F8F8"/>
          </a:solidFill>
          <a:ln w="12700">
            <a:solidFill>
              <a:srgbClr val="F2F8F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256032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14F5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模块架构要点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457200" y="71323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3D55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单体与微服务并存，便于教学对照与渐进迁移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1097280"/>
            <a:ext cx="4069080" cy="3383280"/>
          </a:xfrm>
          <a:prstGeom prst="roundRect">
            <a:avLst>
              <a:gd name="adj" fmla="val 2703"/>
            </a:avLst>
          </a:prstGeom>
          <a:solidFill>
            <a:srgbClr val="FFFFFF"/>
          </a:solidFill>
          <a:ln/>
        </p:spPr>
      </p:sp>
      <p:sp>
        <p:nvSpPr>
          <p:cNvPr id="7" name="Shape 5"/>
          <p:cNvSpPr/>
          <p:nvPr/>
        </p:nvSpPr>
        <p:spPr>
          <a:xfrm>
            <a:off x="457200" y="1097280"/>
            <a:ext cx="4069080" cy="50292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118872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单体应用（src/）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85800" y="1828800"/>
            <a:ext cx="361188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/ core / langgraph4j 生成链路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应用、用户、对话、工作流 SSE 接口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监控与限流保障稳定性与成本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个测试类覆盖路由与工作流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前端 Vue3：用户 / 应用 / 管理后台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800600" y="1097280"/>
            <a:ext cx="3886200" cy="3383280"/>
          </a:xfrm>
          <a:prstGeom prst="roundRect">
            <a:avLst>
              <a:gd name="adj" fmla="val 2703"/>
            </a:avLst>
          </a:prstGeom>
          <a:solidFill>
            <a:srgbClr val="FFFFFF"/>
          </a:solidFill>
          <a:ln/>
        </p:spPr>
      </p:sp>
      <p:sp>
        <p:nvSpPr>
          <p:cNvPr id="11" name="Shape 9"/>
          <p:cNvSpPr/>
          <p:nvPr/>
        </p:nvSpPr>
        <p:spPr>
          <a:xfrm>
            <a:off x="4800600" y="1097280"/>
            <a:ext cx="3886200" cy="502920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983480" y="118872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微服务（7 模块）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4983480" y="1801368"/>
            <a:ext cx="292608" cy="292608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40680" y="1783080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14F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yu-ai-code-user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7635240" y="1783080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D55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用户服务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983480" y="2167128"/>
            <a:ext cx="292608" cy="292608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40680" y="2148840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14F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yu-ai-code-app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7635240" y="2148840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D55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应用服务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983480" y="2532888"/>
            <a:ext cx="292608" cy="292608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440680" y="2514600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14F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yu-ai-code-ai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7635240" y="2514600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D55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生成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4983480" y="2898648"/>
            <a:ext cx="292608" cy="292608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440680" y="2880360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14F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yu-ai-code-screenshot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7635240" y="2880360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D55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截图服务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4983480" y="3264408"/>
            <a:ext cx="292608" cy="292608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440680" y="3246120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14F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yu-ai-code-client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7635240" y="3246120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D55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RPC 接口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4983480" y="3630168"/>
            <a:ext cx="292608" cy="292608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440680" y="3611880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14F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yu-ai-code-common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7635240" y="3611880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D55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通用能力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4983480" y="3995928"/>
            <a:ext cx="292608" cy="292608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440680" y="3977640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14F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yu-ai-code-model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7635240" y="3977640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D55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数据模型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457200" y="4800600"/>
            <a:ext cx="6858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D55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yu-ai-code-mother  ·  每日状态  ·  2026-07-30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7772400" y="480060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3D55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10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2F8F8"/>
          </a:solidFill>
          <a:ln w="12700">
            <a:solidFill>
              <a:srgbClr val="F2F8F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256032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14F5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数据 / 指标要点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457200" y="71323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3D55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运行指标尚未接入日报流水线；以下为仓库侧可量化快照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1143000"/>
            <a:ext cx="2011680" cy="173736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57200" y="1325880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02809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15</a:t>
            </a:r>
            <a:endParaRPr lang="en-US" sz="3600" dirty="0"/>
          </a:p>
        </p:txBody>
      </p:sp>
      <p:sp>
        <p:nvSpPr>
          <p:cNvPr id="8" name="Text 6"/>
          <p:cNvSpPr/>
          <p:nvPr/>
        </p:nvSpPr>
        <p:spPr>
          <a:xfrm>
            <a:off x="548640" y="205740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14F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单元/集成测试类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48640" y="24231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D55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单体侧覆盖核心链路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2628900" y="1143000"/>
            <a:ext cx="2011680" cy="173736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2628900" y="1325880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02809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</a:t>
            </a:r>
            <a:endParaRPr lang="en-US" sz="3600" dirty="0"/>
          </a:p>
        </p:txBody>
      </p:sp>
      <p:sp>
        <p:nvSpPr>
          <p:cNvPr id="12" name="Text 10"/>
          <p:cNvSpPr/>
          <p:nvPr/>
        </p:nvSpPr>
        <p:spPr>
          <a:xfrm>
            <a:off x="2720340" y="205740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14F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微服务模块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2720340" y="24231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D55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Dubbo + Nacos 跨服务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800600" y="1143000"/>
            <a:ext cx="2011680" cy="173736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4800600" y="1325880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02809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3600" dirty="0"/>
          </a:p>
        </p:txBody>
      </p:sp>
      <p:sp>
        <p:nvSpPr>
          <p:cNvPr id="16" name="Text 14"/>
          <p:cNvSpPr/>
          <p:nvPr/>
        </p:nvSpPr>
        <p:spPr>
          <a:xfrm>
            <a:off x="4892040" y="205740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14F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开放 Issues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892040" y="24231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D55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#5 与 #65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972300" y="1143000"/>
            <a:ext cx="2011680" cy="173736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6972300" y="1325880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02809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—</a:t>
            </a:r>
            <a:endParaRPr lang="en-US" sz="3600" dirty="0"/>
          </a:p>
        </p:txBody>
      </p:sp>
      <p:sp>
        <p:nvSpPr>
          <p:cNvPr id="20" name="Text 18"/>
          <p:cNvSpPr/>
          <p:nvPr/>
        </p:nvSpPr>
        <p:spPr>
          <a:xfrm>
            <a:off x="7063740" y="205740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14F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生产调用量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7063740" y="24231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D55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待接入监控导出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457200" y="3108960"/>
            <a:ext cx="8229600" cy="1371600"/>
          </a:xfrm>
          <a:prstGeom prst="roundRect">
            <a:avLst>
              <a:gd name="adj" fmla="val 6667"/>
            </a:avLst>
          </a:prstGeom>
          <a:solidFill>
            <a:srgbClr val="E6F9F4"/>
          </a:solidFill>
          <a:ln/>
        </p:spPr>
      </p:sp>
      <p:sp>
        <p:nvSpPr>
          <p:cNvPr id="23" name="Text 21"/>
          <p:cNvSpPr/>
          <p:nvPr/>
        </p:nvSpPr>
        <p:spPr>
          <a:xfrm>
            <a:off x="685800" y="324612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14F5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已有可观测基础（第 13 期）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685800" y="3703320"/>
            <a:ext cx="7772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Prometheus 与 Grafana AI 模型看板已入库。建议将 Token 用量、生成成功率、P95 延迟、部署成功率导出到日报指标区，替代当前「待接入」说明。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457200" y="4800600"/>
            <a:ext cx="6858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D55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yu-ai-code-mother  ·  每日状态  ·  2026-07-30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7772400" y="480060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3D55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10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2F8F8"/>
          </a:solidFill>
          <a:ln w="12700">
            <a:solidFill>
              <a:srgbClr val="F2F8F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256032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14F5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风险与问题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457200" y="71323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3D55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按影响优先级排列，便于维护者排期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1097280"/>
            <a:ext cx="8229600" cy="749808"/>
          </a:xfrm>
          <a:prstGeom prst="roundRect">
            <a:avLst>
              <a:gd name="adj" fmla="val 9756"/>
            </a:avLst>
          </a:prstGeom>
          <a:solidFill>
            <a:srgbClr val="FFFFFF"/>
          </a:solidFill>
          <a:ln/>
        </p:spPr>
      </p:sp>
      <p:sp>
        <p:nvSpPr>
          <p:cNvPr id="7" name="Shape 5"/>
          <p:cNvSpPr/>
          <p:nvPr/>
        </p:nvSpPr>
        <p:spPr>
          <a:xfrm>
            <a:off x="640080" y="1271016"/>
            <a:ext cx="502920" cy="402336"/>
          </a:xfrm>
          <a:prstGeom prst="roundRect">
            <a:avLst>
              <a:gd name="adj" fmla="val 13636"/>
            </a:avLst>
          </a:prstGeom>
          <a:solidFill>
            <a:srgbClr val="FDECEC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1335024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C11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高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325880" y="1207008"/>
            <a:ext cx="7132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14F5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Vue 生成 reason-content 缺失（#5）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325880" y="1508760"/>
            <a:ext cx="7132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D55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DeepSeek thinking 模式工具调用报错，影响 VUE_PROJECT 主路径可用性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57200" y="1965960"/>
            <a:ext cx="8229600" cy="749808"/>
          </a:xfrm>
          <a:prstGeom prst="roundRect">
            <a:avLst>
              <a:gd name="adj" fmla="val 9756"/>
            </a:avLst>
          </a:prstGeom>
          <a:solidFill>
            <a:srgbClr val="FFFFFF"/>
          </a:solidFill>
          <a:ln/>
        </p:spPr>
      </p:sp>
      <p:sp>
        <p:nvSpPr>
          <p:cNvPr id="12" name="Shape 10"/>
          <p:cNvSpPr/>
          <p:nvPr/>
        </p:nvSpPr>
        <p:spPr>
          <a:xfrm>
            <a:off x="640080" y="2139696"/>
            <a:ext cx="502920" cy="402336"/>
          </a:xfrm>
          <a:prstGeom prst="roundRect">
            <a:avLst>
              <a:gd name="adj" fmla="val 13636"/>
            </a:avLst>
          </a:prstGeom>
          <a:solidFill>
            <a:srgbClr val="FFF4E5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" y="2203704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8A6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中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325880" y="2075688"/>
            <a:ext cx="7132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14F5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You.com 工具 PR 待审（#66 / #65）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325880" y="2377440"/>
            <a:ext cx="7132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D55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功能已实现且可合并，缺评审与密钥配置说明，合入节奏不确定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57200" y="2834640"/>
            <a:ext cx="8229600" cy="749808"/>
          </a:xfrm>
          <a:prstGeom prst="roundRect">
            <a:avLst>
              <a:gd name="adj" fmla="val 9756"/>
            </a:avLst>
          </a:prstGeom>
          <a:solidFill>
            <a:srgbClr val="FFFFFF"/>
          </a:solidFill>
          <a:ln/>
        </p:spPr>
      </p:sp>
      <p:sp>
        <p:nvSpPr>
          <p:cNvPr id="17" name="Shape 15"/>
          <p:cNvSpPr/>
          <p:nvPr/>
        </p:nvSpPr>
        <p:spPr>
          <a:xfrm>
            <a:off x="640080" y="3008376"/>
            <a:ext cx="502920" cy="402336"/>
          </a:xfrm>
          <a:prstGeom prst="roundRect">
            <a:avLst>
              <a:gd name="adj" fmla="val 13636"/>
            </a:avLst>
          </a:prstGeom>
          <a:solidFill>
            <a:srgbClr val="FFF4E5"/>
          </a:solidFill>
          <a:ln/>
        </p:spPr>
      </p:sp>
      <p:sp>
        <p:nvSpPr>
          <p:cNvPr id="18" name="Text 16"/>
          <p:cNvSpPr/>
          <p:nvPr/>
        </p:nvSpPr>
        <p:spPr>
          <a:xfrm>
            <a:off x="640080" y="3072384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8A6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中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325880" y="2944368"/>
            <a:ext cx="7132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14F5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主线业务提交长期停滞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1325880" y="3246120"/>
            <a:ext cx="7132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D55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自 2025-08-26 后无业务变更；日报 Draft PR 堆积，维护信号偏弱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457200" y="3703320"/>
            <a:ext cx="8229600" cy="749808"/>
          </a:xfrm>
          <a:prstGeom prst="roundRect">
            <a:avLst>
              <a:gd name="adj" fmla="val 9756"/>
            </a:avLst>
          </a:prstGeom>
          <a:solidFill>
            <a:srgbClr val="FFFFFF"/>
          </a:solidFill>
          <a:ln/>
        </p:spPr>
      </p:sp>
      <p:sp>
        <p:nvSpPr>
          <p:cNvPr id="22" name="Shape 20"/>
          <p:cNvSpPr/>
          <p:nvPr/>
        </p:nvSpPr>
        <p:spPr>
          <a:xfrm>
            <a:off x="640080" y="3877056"/>
            <a:ext cx="502920" cy="402336"/>
          </a:xfrm>
          <a:prstGeom prst="roundRect">
            <a:avLst>
              <a:gd name="adj" fmla="val 13636"/>
            </a:avLst>
          </a:prstGeom>
          <a:solidFill>
            <a:srgbClr val="D6F0ED"/>
          </a:solidFill>
          <a:ln/>
        </p:spPr>
      </p:sp>
      <p:sp>
        <p:nvSpPr>
          <p:cNvPr id="23" name="Text 21"/>
          <p:cNvSpPr/>
          <p:nvPr/>
        </p:nvSpPr>
        <p:spPr>
          <a:xfrm>
            <a:off x="640080" y="3941064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7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低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1325880" y="3813048"/>
            <a:ext cx="7132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14F5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缺少业务 CI 门禁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1325880" y="4114800"/>
            <a:ext cx="7132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D55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无 GitHub Actions 工作流；仅有历史 Copilot 检查，回归依赖人工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457200" y="4800600"/>
            <a:ext cx="6858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D55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yu-ai-code-mother  ·  每日状态  ·  2026-07-30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7772400" y="480060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3D55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10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2F8F8"/>
          </a:solidFill>
          <a:ln w="12700">
            <a:solidFill>
              <a:srgbClr val="F2F8F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256032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14F5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未完成项与下一步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457200" y="71323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3D55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建议按「修复主路径 → 合入增强 → 加固工程」推进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1097280"/>
            <a:ext cx="4023360" cy="3383280"/>
          </a:xfrm>
          <a:prstGeom prst="roundRect">
            <a:avLst>
              <a:gd name="adj" fmla="val 2703"/>
            </a:avLst>
          </a:prstGeom>
          <a:solidFill>
            <a:srgbClr val="FFFFFF"/>
          </a:solidFill>
          <a:ln/>
        </p:spPr>
      </p:sp>
      <p:sp>
        <p:nvSpPr>
          <p:cNvPr id="7" name="Text 5"/>
          <p:cNvSpPr/>
          <p:nvPr/>
        </p:nvSpPr>
        <p:spPr>
          <a:xfrm>
            <a:off x="685800" y="128016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14F5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未完成 / 待办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685800" y="1828800"/>
            <a:ext cx="356616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修复 #5：reasoning_content 兼容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评审并合入 #66 You.com 搜索工具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补充 youcom 密钥与配置运维说明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梳理历史 Draft 日报 PR 合入策略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将 Grafana 指标纳入日报指标区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754880" y="1097280"/>
            <a:ext cx="3931920" cy="3383280"/>
          </a:xfrm>
          <a:prstGeom prst="roundRect">
            <a:avLst>
              <a:gd name="adj" fmla="val 2703"/>
            </a:avLst>
          </a:prstGeom>
          <a:solidFill>
            <a:srgbClr val="014F5E"/>
          </a:solidFill>
          <a:ln/>
        </p:spPr>
      </p:sp>
      <p:sp>
        <p:nvSpPr>
          <p:cNvPr id="10" name="Text 8"/>
          <p:cNvSpPr/>
          <p:nvPr/>
        </p:nvSpPr>
        <p:spPr>
          <a:xfrm>
            <a:off x="4983480" y="128016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2C39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建议下一步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5029200" y="1828800"/>
            <a:ext cx="292608" cy="292608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029200" y="1847088"/>
            <a:ext cx="2926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1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486400" y="182880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优先修复 #5，恢复 Vue 生成主路径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5029200" y="2286000"/>
            <a:ext cx="292608" cy="292608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029200" y="2304288"/>
            <a:ext cx="2926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1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486400" y="228600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完成 #66 代码评审与合入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5029200" y="2743200"/>
            <a:ext cx="292608" cy="292608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029200" y="2761488"/>
            <a:ext cx="2926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1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5486400" y="274320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新增最小 CI：编译 + 单测门禁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5029200" y="3200400"/>
            <a:ext cx="292608" cy="292608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029200" y="3218688"/>
            <a:ext cx="2926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1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5486400" y="320040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接入 Token 与成功率等运行指标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5029200" y="3657600"/>
            <a:ext cx="292608" cy="292608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029200" y="3675888"/>
            <a:ext cx="2926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1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5486400" y="365760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评估微服务与单体同步维护成本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457200" y="4800600"/>
            <a:ext cx="6858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D55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yu-ai-code-mother  ·  每日状态  ·  2026-07-30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7772400" y="480060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3D55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10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2F8F8"/>
          </a:solidFill>
          <a:ln w="12700">
            <a:solidFill>
              <a:srgbClr val="F2F8F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256032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14F5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CI / 测试状态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457200" y="71323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3D55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仓库无业务向 GitHub Actions；测试以本地 Maven 用例为主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1097280"/>
            <a:ext cx="8229600" cy="960120"/>
          </a:xfrm>
          <a:prstGeom prst="roundRect">
            <a:avLst>
              <a:gd name="adj" fmla="val 9524"/>
            </a:avLst>
          </a:prstGeom>
          <a:solidFill>
            <a:srgbClr val="FFF4E5"/>
          </a:solidFill>
          <a:ln/>
        </p:spPr>
      </p:sp>
      <p:sp>
        <p:nvSpPr>
          <p:cNvPr id="7" name="Text 5"/>
          <p:cNvSpPr/>
          <p:nvPr/>
        </p:nvSpPr>
        <p:spPr>
          <a:xfrm>
            <a:off x="685800" y="123444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14F5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结论：无持续集成流水线配置（无 .github/workflows）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85800" y="160020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D55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最近 Actions 记录仅为 Copilot 访问检查（2026-03 成功），不能作为构建或测试门禁依据。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57200" y="2286000"/>
            <a:ext cx="2743200" cy="210312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/>
        </p:spPr>
      </p:sp>
      <p:sp>
        <p:nvSpPr>
          <p:cNvPr id="10" name="Shape 8"/>
          <p:cNvSpPr/>
          <p:nvPr/>
        </p:nvSpPr>
        <p:spPr>
          <a:xfrm>
            <a:off x="457200" y="2286000"/>
            <a:ext cx="2743200" cy="10972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0080" y="260604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14F5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测试资产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640080" y="3108960"/>
            <a:ext cx="23774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D55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单体侧 15 个测试类，覆盖 AI 路由、Facade、LangGraph 工作流与工具。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3337560" y="2286000"/>
            <a:ext cx="2743200" cy="210312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/>
        </p:spPr>
      </p:sp>
      <p:sp>
        <p:nvSpPr>
          <p:cNvPr id="14" name="Shape 12"/>
          <p:cNvSpPr/>
          <p:nvPr/>
        </p:nvSpPr>
        <p:spPr>
          <a:xfrm>
            <a:off x="3337560" y="2286000"/>
            <a:ext cx="2743200" cy="10972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520440" y="260604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14F5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运行依赖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3520440" y="3108960"/>
            <a:ext cx="23774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D55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多数用例依赖外部 API Key 与 Redis，无密钥环境难以自动全绿。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6217920" y="2286000"/>
            <a:ext cx="2743200" cy="210312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/>
        </p:spPr>
      </p:sp>
      <p:sp>
        <p:nvSpPr>
          <p:cNvPr id="18" name="Shape 16"/>
          <p:cNvSpPr/>
          <p:nvPr/>
        </p:nvSpPr>
        <p:spPr>
          <a:xfrm>
            <a:off x="6217920" y="2286000"/>
            <a:ext cx="2743200" cy="10972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400800" y="260604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14F5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建议门禁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6400800" y="3108960"/>
            <a:ext cx="23774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D55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先加 compile 与可离线单测；密钥相关用例标为 integration 并默认跳过。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57200" y="4800600"/>
            <a:ext cx="6858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D55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yu-ai-code-mother  ·  每日状态  ·  2026-07-30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7772400" y="480060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3D55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10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12A36"/>
          </a:solidFill>
          <a:ln w="12700">
            <a:solidFill>
              <a:srgbClr val="012A3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41148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总结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457200" y="9601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平台能力完整，近期节奏偏静；优先打通 Vue 生成主路径与工程门禁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" y="1508760"/>
            <a:ext cx="4023360" cy="1143000"/>
          </a:xfrm>
          <a:prstGeom prst="roundRect">
            <a:avLst>
              <a:gd name="adj" fmla="val 8000"/>
            </a:avLst>
          </a:prstGeom>
          <a:solidFill>
            <a:srgbClr val="014F5E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1709928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能力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31520" y="2057400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生成、可视化编辑、部署分享、管理监控四条主线齐备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754880" y="1508760"/>
            <a:ext cx="4023360" cy="1143000"/>
          </a:xfrm>
          <a:prstGeom prst="roundRect">
            <a:avLst>
              <a:gd name="adj" fmla="val 8000"/>
            </a:avLst>
          </a:prstGeom>
          <a:solidFill>
            <a:srgbClr val="014F5E"/>
          </a:solidFill>
          <a:ln/>
        </p:spPr>
      </p:sp>
      <p:sp>
        <p:nvSpPr>
          <p:cNvPr id="10" name="Text 8"/>
          <p:cNvSpPr/>
          <p:nvPr/>
        </p:nvSpPr>
        <p:spPr>
          <a:xfrm>
            <a:off x="5029200" y="1709928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变更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5029200" y="2057400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近 7 日无业务提交；开放 #5、#65，PR #66 待审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57200" y="2834640"/>
            <a:ext cx="4023360" cy="1143000"/>
          </a:xfrm>
          <a:prstGeom prst="roundRect">
            <a:avLst>
              <a:gd name="adj" fmla="val 8000"/>
            </a:avLst>
          </a:prstGeom>
          <a:solidFill>
            <a:srgbClr val="014F5E"/>
          </a:solidFill>
          <a:ln/>
        </p:spPr>
      </p:sp>
      <p:sp>
        <p:nvSpPr>
          <p:cNvPr id="13" name="Text 11"/>
          <p:cNvSpPr/>
          <p:nvPr/>
        </p:nvSpPr>
        <p:spPr>
          <a:xfrm>
            <a:off x="731520" y="3035808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风险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731520" y="3383280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Vue 生成缺陷阻断体验；CI 与运行指标仍缺失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4754880" y="2834640"/>
            <a:ext cx="4023360" cy="1143000"/>
          </a:xfrm>
          <a:prstGeom prst="roundRect">
            <a:avLst>
              <a:gd name="adj" fmla="val 8000"/>
            </a:avLst>
          </a:prstGeom>
          <a:solidFill>
            <a:srgbClr val="014F5E"/>
          </a:solidFill>
          <a:ln/>
        </p:spPr>
      </p:sp>
      <p:sp>
        <p:nvSpPr>
          <p:cNvPr id="16" name="Text 14"/>
          <p:cNvSpPr/>
          <p:nvPr/>
        </p:nvSpPr>
        <p:spPr>
          <a:xfrm>
            <a:off x="5029200" y="3035808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行动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5029200" y="3383280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修 #5 → 合 #66 → 最小 CI → 指标进日报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457200" y="4754880"/>
            <a:ext cx="6858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A9A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yu-ai-code-mother  ·  每日状态  ·  2026-07-30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7772400" y="475488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A9A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10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每日项目状态汇报 2026-07-30</dc:title>
  <dc:subject>AI 零代码应用生成平台项目状态</dc:subject>
  <dc:creator>yu-ai-code-mother 自动化日报</dc:creator>
  <cp:lastModifiedBy>yu-ai-code-mother 自动化日报</cp:lastModifiedBy>
  <cp:revision>1</cp:revision>
  <dcterms:created xsi:type="dcterms:W3CDTF">2026-07-30T09:11:36Z</dcterms:created>
  <dcterms:modified xsi:type="dcterms:W3CDTF">2026-07-30T09:11:36Z</dcterms:modified>
</cp:coreProperties>
</file>