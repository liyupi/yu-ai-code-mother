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640080"/>
            <a:ext cx="3840480" cy="3840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005840"/>
            <a:ext cx="3108960" cy="3108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389120"/>
            <a:ext cx="4572000" cy="1280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212080"/>
            <a:ext cx="3108960" cy="3108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667512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rgbClr val="02C39A"/>
                </a:solidFill>
                <a:latin typeface="Calibri"/>
              </a:rPr>
              <a:t>AI 零代码应用生成平台 · yu-ai-code-mother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0" i="0">
                <a:solidFill>
                  <a:srgbClr val="E7F7F4"/>
                </a:solidFill>
                <a:latin typeface="Calibri"/>
              </a:rPr>
              <a:t>运行日：2026-06-15（北京时间）</a:t>
            </a:r>
            <a:br/>
            <a:r>
              <a:rPr sz="1600" b="0" i="0">
                <a:solidFill>
                  <a:srgbClr val="E7F7F4"/>
                </a:solidFill>
                <a:latin typeface="Calibri"/>
              </a:rPr>
              <a:t>受众：项目维护者 / 团队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88920"/>
            <a:ext cx="3246120" cy="2148840"/>
          </a:xfrm>
          <a:prstGeom prst="roundRect">
            <a:avLst/>
          </a:prstGeom>
          <a:solidFill>
            <a:srgbClr val="0A4E5C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303580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Status 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566160"/>
            <a:ext cx="25146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0000"/>
              </a:lnSpc>
              <a:defRPr sz="1320">
                <a:solidFill>
                  <a:srgbClr val="E7F7F4"/>
                </a:solidFill>
                <a:latin typeface="Calibri"/>
              </a:defRPr>
            </a:pPr>
            <a:r>
              <a:t>README / 模块结构</a:t>
            </a:r>
          </a:p>
          <a:p>
            <a:pPr>
              <a:lnSpc>
                <a:spcPct val="110000"/>
              </a:lnSpc>
              <a:defRPr sz="1320">
                <a:solidFill>
                  <a:srgbClr val="E7F7F4"/>
                </a:solidFill>
                <a:latin typeface="Calibri"/>
              </a:defRPr>
            </a:pPr>
            <a:r>
              <a:t>近期 Git 提交</a:t>
            </a:r>
          </a:p>
          <a:p>
            <a:pPr>
              <a:lnSpc>
                <a:spcPct val="110000"/>
              </a:lnSpc>
              <a:defRPr sz="1320">
                <a:solidFill>
                  <a:srgbClr val="E7F7F4"/>
                </a:solidFill>
                <a:latin typeface="Calibri"/>
              </a:defRPr>
            </a:pPr>
            <a:r>
              <a:t>测试与监控配置</a:t>
            </a:r>
          </a:p>
          <a:p>
            <a:pPr>
              <a:lnSpc>
                <a:spcPct val="110000"/>
              </a:lnSpc>
              <a:defRPr sz="1320">
                <a:solidFill>
                  <a:srgbClr val="E7F7F4"/>
                </a:solidFill>
                <a:latin typeface="Calibri"/>
              </a:defRPr>
            </a:pPr>
            <a:r>
              <a:t>维护风险与建议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E7F7F4"/>
                </a:solidFill>
                <a:latin typeface="Calibri"/>
              </a:rPr>
              <a:t>yu-ai-code-mother · 每日项目状态 · 2026-06-15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以 Spring Boot 3 + LangChain4j / LangGraph4j + Vue 3 构建的 AI 应用生成平台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788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6916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82496"/>
            <a:ext cx="1783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产品定位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84832"/>
            <a:ext cx="1828799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 i="0">
                <a:solidFill>
                  <a:srgbClr val="5B7378"/>
                </a:solidFill>
                <a:latin typeface="Calibri"/>
              </a:rPr>
              <a:t>面向“用自然语言生成网站应用”的零代码平台，覆盖创建、对话生成、预览、部署、管理。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2" y="1481328"/>
            <a:ext cx="2788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16916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792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82496"/>
            <a:ext cx="1783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后端形态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84832"/>
            <a:ext cx="1828799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 i="0">
                <a:solidFill>
                  <a:srgbClr val="5B7378"/>
                </a:solidFill>
                <a:latin typeface="Calibri"/>
              </a:rPr>
              <a:t>单体项目保留完整业务闭环，同时包含按 common / model / client / user / app / ai / screenshot 拆分的微服务模块。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1481328"/>
            <a:ext cx="2788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12864" y="169164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1792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1682496"/>
            <a:ext cx="1783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前端形态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2084832"/>
            <a:ext cx="1828799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 i="0">
                <a:solidFill>
                  <a:srgbClr val="5B7378"/>
                </a:solidFill>
                <a:latin typeface="Calibri"/>
              </a:rPr>
              <a:t>Vue 3 + TypeScript + Ant Design Vue，提供首页、应用对话、应用编辑与管理后台页面。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154680"/>
            <a:ext cx="10881360" cy="1572768"/>
          </a:xfrm>
          <a:prstGeom prst="roundRect">
            <a:avLst/>
          </a:prstGeom>
          <a:solidFill>
            <a:srgbClr val="04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41985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100" b="1" i="0">
                <a:solidFill>
                  <a:srgbClr val="02C39A"/>
                </a:solidFill>
                <a:latin typeface="Calibri"/>
              </a:rPr>
              <a:t>当前判断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3558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项目已具备可演示的核心产品链路，并在架构层面完成微服务化样例与可观测性配置；下一阶段重点应从“功能齐备”转向“环境可复制、质量可回归、数据可度量”。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07492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5193792"/>
            <a:ext cx="2185415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28090"/>
                </a:solidFill>
                <a:latin typeface="Georgia"/>
              </a:rPr>
              <a:t>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769864"/>
            <a:ext cx="2112263" cy="1371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Git 跟踪文件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507492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6704" y="5193792"/>
            <a:ext cx="2185415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0A896"/>
                </a:solidFill>
                <a:latin typeface="Georg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769864"/>
            <a:ext cx="2112263" cy="1371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微服务子模块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88736" y="507492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5193792"/>
            <a:ext cx="2185415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2C39A"/>
                </a:solidFill>
                <a:latin typeface="Georgia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98464" y="5769864"/>
            <a:ext cx="2112263" cy="1371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后端测试文件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07492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5193792"/>
            <a:ext cx="2185415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F3A712"/>
                </a:solidFill>
                <a:latin typeface="Georgia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5769864"/>
            <a:ext cx="2112263" cy="1371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近 7 天提交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当前核心能力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README 与主要模块显示的可用能力（面向维护者视角）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074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6276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2821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18488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智能代码生成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208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按需求描述自动选择 HTML / 多文件 / Vue 项目生成策略，支持流式输出与工具调用。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417320"/>
            <a:ext cx="5074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1627632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72821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18488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可视化对话编辑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0208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生成结果可在前端实时预览，并通过对话继续调整应用页面与交互。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16352"/>
            <a:ext cx="5074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026664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127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017520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部署、截图与源码下载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4198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后端包含部署、静态资源访问、网页截图与项目下载服务，支撑分享闭环。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816352"/>
            <a:ext cx="5074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0488" y="3026664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127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017520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管理与运营支撑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198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用户、应用、聊天历史管理，精选应用设置，Actuator / Prometheus / Grafana 监控配置。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1051560" y="4754880"/>
            <a:ext cx="2148840" cy="658368"/>
          </a:xfrm>
          <a:prstGeom prst="chevro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4965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需求输入</a:t>
            </a:r>
          </a:p>
        </p:txBody>
      </p:sp>
      <p:sp>
        <p:nvSpPr>
          <p:cNvPr id="29" name="Chevron 28"/>
          <p:cNvSpPr/>
          <p:nvPr/>
        </p:nvSpPr>
        <p:spPr>
          <a:xfrm>
            <a:off x="3703320" y="4754880"/>
            <a:ext cx="2148840" cy="658368"/>
          </a:xfrm>
          <a:prstGeom prst="chevr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04487" y="4965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AI 路由</a:t>
            </a:r>
          </a:p>
        </p:txBody>
      </p:sp>
      <p:sp>
        <p:nvSpPr>
          <p:cNvPr id="31" name="Chevron 30"/>
          <p:cNvSpPr/>
          <p:nvPr/>
        </p:nvSpPr>
        <p:spPr>
          <a:xfrm>
            <a:off x="6355079" y="4754880"/>
            <a:ext cx="2148840" cy="658368"/>
          </a:xfrm>
          <a:prstGeom prst="chevro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7" y="4965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代码生成</a:t>
            </a:r>
          </a:p>
        </p:txBody>
      </p:sp>
      <p:sp>
        <p:nvSpPr>
          <p:cNvPr id="33" name="Chevron 32"/>
          <p:cNvSpPr/>
          <p:nvPr/>
        </p:nvSpPr>
        <p:spPr>
          <a:xfrm>
            <a:off x="9006840" y="4754880"/>
            <a:ext cx="2148840" cy="658368"/>
          </a:xfrm>
          <a:prstGeom prst="chevro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4965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预览部署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50992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360" b="0" i="0">
                <a:solidFill>
                  <a:srgbClr val="5B7378"/>
                </a:solidFill>
                <a:latin typeface="Calibri"/>
              </a:rPr>
              <a:t>能力链路：从用户提示词到应用交付，后端已覆盖 AI 决策、文件生成、项目构建、部署分享等关键节点。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模块与架构视图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单体代码保留完整链路，微服务模块提供拆分后的演进方向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926080" cy="56692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96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Vue 前端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1911095"/>
            <a:ext cx="0" cy="347473"/>
          </a:xfrm>
          <a:prstGeom prst="line">
            <a:avLst/>
          </a:prstGeom>
          <a:ln w="16510">
            <a:solidFill>
              <a:srgbClr val="5B73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286000"/>
            <a:ext cx="2926080" cy="5669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973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Spring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871216"/>
            <a:ext cx="0" cy="347472"/>
          </a:xfrm>
          <a:prstGeom prst="line">
            <a:avLst/>
          </a:prstGeom>
          <a:ln w="16510">
            <a:solidFill>
              <a:srgbClr val="5B73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246120"/>
            <a:ext cx="2926080" cy="56692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1985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AI 生成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0280" y="3831335"/>
            <a:ext cx="0" cy="347473"/>
          </a:xfrm>
          <a:prstGeom prst="line">
            <a:avLst/>
          </a:prstGeom>
          <a:ln w="16510">
            <a:solidFill>
              <a:srgbClr val="5B73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4206240"/>
            <a:ext cx="2926080" cy="56692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7997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存储 / 部署 / 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900" b="1" i="0">
                <a:solidFill>
                  <a:srgbClr val="043A46"/>
                </a:solidFill>
                <a:latin typeface="Georgia"/>
              </a:rPr>
              <a:t>主链路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307592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1307592"/>
            <a:ext cx="146304" cy="60350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142646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common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145389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通用工具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307592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307592"/>
            <a:ext cx="146304" cy="6035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42646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145389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实体 / DTO / VO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2148840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2148840"/>
            <a:ext cx="146304" cy="6035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226771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8" y="229514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Dubbo 接口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148840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2148840"/>
            <a:ext cx="146304" cy="60350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31" y="226771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29514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用户服务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2990088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2990088"/>
            <a:ext cx="146304" cy="6035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3752" y="3108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4728" y="313639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应用服务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990088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990088"/>
            <a:ext cx="146304" cy="6035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108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313639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AI 能力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3831336"/>
            <a:ext cx="2834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17720" y="3831336"/>
            <a:ext cx="146304" cy="60350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395020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20" b="1" i="0">
                <a:solidFill>
                  <a:srgbClr val="043A46"/>
                </a:solidFill>
                <a:latin typeface="Calibri"/>
              </a:rPr>
              <a:t>screenshot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4728" y="39776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5B7378"/>
                </a:solidFill>
                <a:latin typeface="Calibri"/>
              </a:rPr>
              <a:t>截图服务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4956048"/>
            <a:ext cx="612648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0" i="0">
                <a:solidFill>
                  <a:srgbClr val="5B7378"/>
                </a:solidFill>
                <a:latin typeface="Calibri"/>
              </a:rPr>
              <a:t>微服务拆分已经具备清晰边界，但仍需用端到端环境、服务发现配置与契约测试来验证可运维性。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昨日 / 近期变更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最近 7 天无提交；以下为当前仓库最近提交历史中的主要变化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1828800"/>
            <a:ext cx="9509760" cy="0"/>
          </a:xfrm>
          <a:prstGeom prst="line">
            <a:avLst/>
          </a:prstGeom>
          <a:ln w="381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508760" y="1591056"/>
            <a:ext cx="457200" cy="4572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430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1" i="0">
                <a:solidFill>
                  <a:srgbClr val="5B7378"/>
                </a:solidFill>
                <a:latin typeface="Calibri"/>
              </a:rPr>
              <a:t>2025-08-26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420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426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32888"/>
            <a:ext cx="13258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微服务改造完成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35224"/>
            <a:ext cx="1371599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补齐 7 个微服务模块，并包含完整单体项目代码。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1591056"/>
            <a:ext cx="457200" cy="4572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1430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1" i="0">
                <a:solidFill>
                  <a:srgbClr val="5B7378"/>
                </a:solidFill>
                <a:latin typeface="Calibri"/>
              </a:rPr>
              <a:t>2025-08-14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33172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2542032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26426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532888"/>
            <a:ext cx="13258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可观测性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935224"/>
            <a:ext cx="1371599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加入 Prometheus 配置、Grafana 面板和 AI 模型指标采集。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1591056"/>
            <a:ext cx="457200" cy="45720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430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1" i="0">
                <a:solidFill>
                  <a:srgbClr val="5B7378"/>
                </a:solidFill>
                <a:latin typeface="Calibri"/>
              </a:rPr>
              <a:t>2025-08-14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33172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2542032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6426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532888"/>
            <a:ext cx="13258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部署上线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935224"/>
            <a:ext cx="1371599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增加生产配置样例和前端生产环境配置。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0" y="1591056"/>
            <a:ext cx="457200" cy="457200"/>
          </a:xfrm>
          <a:prstGeom prst="ellipse">
            <a:avLst/>
          </a:prstGeom>
          <a:solidFill>
            <a:srgbClr val="F3A7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1430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1" i="0">
                <a:solidFill>
                  <a:srgbClr val="5B7378"/>
                </a:solidFill>
                <a:latin typeface="Calibri"/>
              </a:rPr>
              <a:t>2025-08-13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331720"/>
            <a:ext cx="2331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0808" y="2542032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0808" y="26426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532888"/>
            <a:ext cx="13258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系统优化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35224"/>
            <a:ext cx="1371599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20" b="0" i="0">
                <a:solidFill>
                  <a:srgbClr val="5B7378"/>
                </a:solidFill>
                <a:latin typeface="Calibri"/>
              </a:rPr>
              <a:t>覆盖成本、稳定性、安全限流、Prompt 审查与并发缓存优化。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4343400"/>
            <a:ext cx="9966960" cy="868680"/>
          </a:xfrm>
          <a:prstGeom prst="roundRect">
            <a:avLst/>
          </a:prstGeom>
          <a:solidFill>
            <a:srgbClr val="E7F7F4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459028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043A46"/>
                </a:solidFill>
                <a:latin typeface="Calibri"/>
              </a:rPr>
              <a:t>维护提示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4544568"/>
            <a:ext cx="7863840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00" b="0" i="0">
                <a:solidFill>
                  <a:srgbClr val="5B7378"/>
                </a:solidFill>
                <a:latin typeface="Calibri"/>
              </a:rPr>
              <a:t>当前 cron 运行时未发现过去 7 天内的新提交，因此本期报告将“近期变更”限定为仓库最近提交历史，而非昨日新增代码。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数据 / 指标要点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基于仓库静态扫描；运行态业务指标需接入生产数据后更新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28090"/>
                </a:solidFill>
                <a:latin typeface="Georgia"/>
              </a:rPr>
              <a:t>386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0824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跟踪文件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44475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0A896"/>
                </a:solidFill>
                <a:latin typeface="Georgia"/>
              </a:rPr>
              <a:t>272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020824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Java 主代码文件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25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144475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2C39A"/>
                </a:solidFill>
                <a:latin typeface="Georgia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020824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后端测试文件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325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144475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028090"/>
                </a:solidFill>
                <a:latin typeface="Georgia"/>
              </a:rPr>
              <a:t>16+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020824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前端 Vue 组件 / 页面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144475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900" b="1" i="0">
                <a:solidFill>
                  <a:srgbClr val="F3A712"/>
                </a:solidFill>
                <a:latin typeface="Georg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2020824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50" b="0" i="0">
                <a:solidFill>
                  <a:srgbClr val="5B7378"/>
                </a:solidFill>
                <a:latin typeface="Calibri"/>
              </a:rPr>
              <a:t>GitHub Actions 工作流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85292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0632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1638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054096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测试入口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45643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后端使用 Maven + spring-boot-starter-test；前端 package.json 暴露 build、type-check、lint。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285292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17136" y="30632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31638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054096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监控入口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45643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Actuator 暴露 health / info / prometheus，prometheus.yml 抓取 /api/actuator/prometheus。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54696" y="285292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55864" y="3063240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31638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3054096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 i="0">
                <a:solidFill>
                  <a:srgbClr val="043A46"/>
                </a:solidFill>
                <a:latin typeface="Calibri"/>
              </a:rPr>
              <a:t>CI 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345643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仓库未发现 .github/workflows 配置；最近自动化测试状态无法从 CI 读取。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83717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20" b="0" i="0">
                <a:solidFill>
                  <a:srgbClr val="5B7378"/>
                </a:solidFill>
                <a:latin typeface="Calibri"/>
              </a:rPr>
              <a:t>代码规模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4800600"/>
            <a:ext cx="8046720" cy="201168"/>
          </a:xfrm>
          <a:prstGeom prst="roundRect">
            <a:avLst/>
          </a:prstGeom>
          <a:solidFill>
            <a:srgbClr val="D3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31720" y="4800600"/>
            <a:ext cx="6598310" cy="20116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20" b="0" i="0">
                <a:solidFill>
                  <a:srgbClr val="5B7378"/>
                </a:solidFill>
                <a:latin typeface="Calibri"/>
              </a:rPr>
              <a:t>测试资产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720" y="5212080"/>
            <a:ext cx="8046720" cy="201168"/>
          </a:xfrm>
          <a:prstGeom prst="roundRect">
            <a:avLst/>
          </a:prstGeom>
          <a:solidFill>
            <a:srgbClr val="D3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331720" y="5212080"/>
            <a:ext cx="1770278" cy="20116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66013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20" b="0" i="0">
                <a:solidFill>
                  <a:srgbClr val="5B7378"/>
                </a:solidFill>
                <a:latin typeface="Calibri"/>
              </a:rPr>
              <a:t>CI 自动化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31720" y="5623560"/>
            <a:ext cx="8046720" cy="201168"/>
          </a:xfrm>
          <a:prstGeom prst="roundRect">
            <a:avLst/>
          </a:prstGeom>
          <a:solidFill>
            <a:srgbClr val="D3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331720" y="5623560"/>
            <a:ext cx="402336" cy="201168"/>
          </a:xfrm>
          <a:prstGeom prst="round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800" b="1" i="0">
                <a:solidFill>
                  <a:srgbClr val="043A46"/>
                </a:solidFill>
                <a:latin typeface="Georgia"/>
              </a:rPr>
              <a:t>未完成项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0" i="0">
                <a:solidFill>
                  <a:srgbClr val="5B7378"/>
                </a:solidFill>
                <a:latin typeface="Calibri"/>
              </a:rPr>
              <a:t>从仓库配置、README 注意事项和维护视角归纳的待闭环事项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80" b="1" i="0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Oval 6"/>
          <p:cNvSpPr/>
          <p:nvPr/>
        </p:nvSpPr>
        <p:spPr>
          <a:xfrm>
            <a:off x="850392" y="132588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72184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307592"/>
            <a:ext cx="9464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426464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043A46"/>
                </a:solidFill>
                <a:latin typeface="Calibri"/>
              </a:rPr>
              <a:t>环境配置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399032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外部 AI、COS、Pexels、DashScope、Redis、MySQL 等服务需要按环境注入真实配置。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176272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22576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157984"/>
            <a:ext cx="9464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2276856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043A46"/>
                </a:solidFill>
                <a:latin typeface="Calibri"/>
              </a:rPr>
              <a:t>部署闭环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249424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部署服务、静态资源域名、应用封面截图与下载链路需要在目标环境完成联调。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026664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17296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008376"/>
            <a:ext cx="9464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12724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043A46"/>
                </a:solidFill>
                <a:latin typeface="Calibri"/>
              </a:rPr>
              <a:t>自动化质量门禁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099816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尚未发现 CI 工作流，需固化后端测试、前端类型检查和构建流程。</a:t>
            </a:r>
          </a:p>
        </p:txBody>
      </p:sp>
      <p:sp>
        <p:nvSpPr>
          <p:cNvPr id="22" name="Oval 21"/>
          <p:cNvSpPr/>
          <p:nvPr/>
        </p:nvSpPr>
        <p:spPr>
          <a:xfrm>
            <a:off x="850392" y="3877056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023360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3858768"/>
            <a:ext cx="9464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9776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043A46"/>
                </a:solidFill>
                <a:latin typeface="Calibri"/>
              </a:rPr>
              <a:t>微服务运行验证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950208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Dubbo / Nacos 跨服务调用边界已拆分，仍需环境级启动与契约验证。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" y="4727448"/>
            <a:ext cx="475488" cy="475488"/>
          </a:xfrm>
          <a:prstGeom prst="ellipse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873752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4709160"/>
            <a:ext cx="9464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82803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043A46"/>
                </a:solidFill>
                <a:latin typeface="Calibri"/>
              </a:rPr>
              <a:t>运行态指标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800600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60" b="0" i="0">
                <a:solidFill>
                  <a:srgbClr val="5B7378"/>
                </a:solidFill>
                <a:latin typeface="Calibri"/>
              </a:rPr>
              <a:t>产品指标、AI 成本、模型延迟、失败率尚未由真实监控数据回填。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5B7378"/>
                </a:solidFill>
                <a:latin typeface="Calibri"/>
              </a:rPr>
              <a:t>yu-ai-code-mother · 每日项目状态 · 2026-06-15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3800" b="1">
                <a:solidFill>
                  <a:srgbClr val="043A46"/>
                </a:solidFill>
                <a:latin typeface="Georgia"/>
              </a:rPr>
              <a:t>风险与阻塞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350" b="0">
                <a:solidFill>
                  <a:srgbClr val="5B7378"/>
                </a:solidFill>
                <a:latin typeface="Calibri"/>
              </a:rPr>
              <a:t>关注影响演示、上线和维护效率的风险项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780" b="1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609344"/>
            <a:ext cx="566928" cy="566928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15361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40" b="1">
                <a:solidFill>
                  <a:srgbClr val="043A46"/>
                </a:solidFill>
                <a:latin typeface="Calibri"/>
              </a:rPr>
              <a:t>外部依赖可用性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1874519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>
                <a:solidFill>
                  <a:srgbClr val="5B7378"/>
                </a:solidFill>
                <a:latin typeface="Calibri"/>
              </a:rPr>
              <a:t>AI 模型、图片搜索、对象存储、数据库和缓存均依赖外部配置，缺失会直接阻断核心流程。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37160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1656" y="1609344"/>
            <a:ext cx="566928" cy="566928"/>
          </a:xfrm>
          <a:prstGeom prst="ellipse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013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Calibri"/>
              </a:rPr>
              <a:t>中高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15361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40" b="1">
                <a:solidFill>
                  <a:srgbClr val="043A46"/>
                </a:solidFill>
                <a:latin typeface="Calibri"/>
              </a:rPr>
              <a:t>AI 成本与稳定性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1874519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>
                <a:solidFill>
                  <a:srgbClr val="5B7378"/>
                </a:solidFill>
                <a:latin typeface="Calibri"/>
              </a:rPr>
              <a:t>流式生成、推理模型和多工具调用可能带来成本、超时和重试放大。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670048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2907791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998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5" y="28346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40" b="1">
                <a:solidFill>
                  <a:srgbClr val="043A46"/>
                </a:solidFill>
                <a:latin typeface="Calibri"/>
              </a:rPr>
              <a:t>截图 / 部署环境差异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3172968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>
                <a:solidFill>
                  <a:srgbClr val="5B7378"/>
                </a:solidFill>
                <a:latin typeface="Calibri"/>
              </a:rPr>
              <a:t>Selenium、浏览器驱动、静态资源托管在不同机器上容易出现兼容性问题。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2670048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1656" y="2907791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998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28346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40" b="1">
                <a:solidFill>
                  <a:srgbClr val="043A46"/>
                </a:solidFill>
                <a:latin typeface="Calibri"/>
              </a:rPr>
              <a:t>前后端契约漂移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172968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>
                <a:solidFill>
                  <a:srgbClr val="5B7378"/>
                </a:solidFill>
                <a:latin typeface="Calibri"/>
              </a:rPr>
              <a:t>前端依赖后端 OpenAPI / SSE 行为，缺少 CI 契约检查时回归风险增加。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432" y="3968496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57600" y="420624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439826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133087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40" b="1">
                <a:solidFill>
                  <a:srgbClr val="043A46"/>
                </a:solidFill>
                <a:latin typeface="Calibri"/>
              </a:rPr>
              <a:t>微服务迁移复杂度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7141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80" b="0">
                <a:solidFill>
                  <a:srgbClr val="5B7378"/>
                </a:solidFill>
                <a:latin typeface="Calibri"/>
              </a:rPr>
              <a:t>服务边界、注册发现、跨服务调用与单体兼容路径需要持续验证。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5650992"/>
            <a:ext cx="9966960" cy="420624"/>
          </a:xfrm>
          <a:prstGeom prst="roundRect">
            <a:avLst/>
          </a:prstGeom>
          <a:solidFill>
            <a:srgbClr val="FD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760720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40" b="1">
                <a:solidFill>
                  <a:srgbClr val="D64550"/>
                </a:solidFill>
                <a:latin typeface="Calibri"/>
              </a:rPr>
              <a:t>优先处理顺序：配置完整性 → 端到端部署链路 → 自动化测试 / CI → 成本与监控阈值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>
                <a:solidFill>
                  <a:srgbClr val="5B7378"/>
                </a:solidFill>
                <a:latin typeface="Calibri"/>
              </a:rPr>
              <a:t>yu-ai-code-mother · 每日项目状态 · 2026-06-15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3800" b="1">
                <a:solidFill>
                  <a:srgbClr val="043A46"/>
                </a:solidFill>
                <a:latin typeface="Georgia"/>
              </a:rPr>
              <a:t>建议的下一步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350" b="0">
                <a:solidFill>
                  <a:srgbClr val="5B7378"/>
                </a:solidFill>
                <a:latin typeface="Calibri"/>
              </a:rPr>
              <a:t>以可运行、可回归、可观测为下一阶段主线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780" b="1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1243584" cy="4526280"/>
          </a:xfrm>
          <a:prstGeom prst="roundRect">
            <a:avLst/>
          </a:prstGeom>
          <a:solidFill>
            <a:srgbClr val="04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99232"/>
            <a:ext cx="987552" cy="7863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800" b="1">
                <a:solidFill>
                  <a:srgbClr val="02C39A"/>
                </a:solidFill>
                <a:latin typeface="Georgia"/>
              </a:rPr>
              <a:t>NEXT</a:t>
            </a:r>
            <a:br/>
            <a:r>
              <a:rPr sz="1800" b="1">
                <a:solidFill>
                  <a:srgbClr val="02C39A"/>
                </a:solidFill>
                <a:latin typeface="Georgia"/>
              </a:rPr>
              <a:t>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481328"/>
            <a:ext cx="42245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41448" y="1755648"/>
            <a:ext cx="493776" cy="49377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1892808"/>
            <a:ext cx="219456" cy="1280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4592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建立 CI 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56816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0">
                <a:solidFill>
                  <a:srgbClr val="5B7378"/>
                </a:solidFill>
                <a:latin typeface="Calibri"/>
              </a:rPr>
              <a:t>后端 mvn test、前端 type-check / build / lint 分阶段接入，先形成最小质量门禁。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481328"/>
            <a:ext cx="42245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9168" y="1755648"/>
            <a:ext cx="493776" cy="49377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4" y="1892808"/>
            <a:ext cx="219456" cy="1280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64592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完善环境样例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956816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0">
                <a:solidFill>
                  <a:srgbClr val="5B7378"/>
                </a:solidFill>
                <a:latin typeface="Calibri"/>
              </a:rPr>
              <a:t>梳理本地、测试、生产配置模板，明确必填密钥、服务地址与启动顺序。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2779776"/>
            <a:ext cx="42245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41448" y="3054096"/>
            <a:ext cx="493776" cy="49377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9464" y="3191256"/>
            <a:ext cx="219456" cy="1280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4436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验证端到端主流程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255264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0">
                <a:solidFill>
                  <a:srgbClr val="5B7378"/>
                </a:solidFill>
                <a:latin typeface="Calibri"/>
              </a:rPr>
              <a:t>覆盖创建应用、AI 生成、SSE 回放、预览、部署、截图、源码下载。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779776"/>
            <a:ext cx="42245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9168" y="3054096"/>
            <a:ext cx="493776" cy="49377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7184" y="3191256"/>
            <a:ext cx="219456" cy="1280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94436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补齐关键监控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255264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0">
                <a:solidFill>
                  <a:srgbClr val="5B7378"/>
                </a:solidFill>
                <a:latin typeface="Calibri"/>
              </a:rPr>
              <a:t>将 AI 调用次数、延迟、失败率、Token 成本和部署成功率纳入仪表盘。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35424" y="4078224"/>
            <a:ext cx="42245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36592" y="4352544"/>
            <a:ext cx="493776" cy="49377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4489704"/>
            <a:ext cx="219456" cy="1280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4104" y="424281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稳定微服务演进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4104" y="455371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0">
                <a:solidFill>
                  <a:srgbClr val="5B7378"/>
                </a:solidFill>
                <a:latin typeface="Calibri"/>
              </a:rPr>
              <a:t>用契约测试和环境脚本验证 Dubbo / Nacos 服务边界，保留单体回退路径。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40280" y="5532120"/>
            <a:ext cx="8833104" cy="475488"/>
          </a:xfrm>
          <a:prstGeom prst="roundRect">
            <a:avLst/>
          </a:prstGeom>
          <a:solidFill>
            <a:srgbClr val="E7F7F4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7168" y="5650992"/>
            <a:ext cx="8321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50" b="1">
                <a:solidFill>
                  <a:srgbClr val="043A46"/>
                </a:solidFill>
                <a:latin typeface="Calibri"/>
              </a:rPr>
              <a:t>建议先把“能稳定跑完一条真实生成链路”作为验收线，再逐步扩大到微服务部署、运营指标和性能成本优化。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>
                <a:solidFill>
                  <a:srgbClr val="5B7378"/>
                </a:solidFill>
                <a:latin typeface="Calibri"/>
              </a:rPr>
              <a:t>yu-ai-code-mother · 每日项目状态 · 2026-06-15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3800" b="1">
                <a:solidFill>
                  <a:srgbClr val="043A46"/>
                </a:solidFill>
                <a:latin typeface="Georgia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350" b="0">
                <a:solidFill>
                  <a:srgbClr val="5B7378"/>
                </a:solidFill>
                <a:latin typeface="Calibri"/>
              </a:rPr>
              <a:t>当前项目状态与维护建议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438912"/>
            <a:ext cx="1417320" cy="3291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7272" y="5029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780" b="1">
                <a:solidFill>
                  <a:srgbClr val="043A46"/>
                </a:solidFill>
                <a:latin typeface="Calibri"/>
              </a:rPr>
              <a:t>PROJECT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971800" cy="4526280"/>
          </a:xfrm>
          <a:prstGeom prst="roundRect">
            <a:avLst/>
          </a:prstGeom>
          <a:solidFill>
            <a:srgbClr val="04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" y="4434840"/>
            <a:ext cx="1737360" cy="1737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1691640"/>
            <a:ext cx="1005840" cy="10058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2100" b="1">
                <a:solidFill>
                  <a:srgbClr val="02C39A"/>
                </a:solidFill>
                <a:latin typeface="Georgia"/>
              </a:rPr>
              <a:t>STATUS</a:t>
            </a:r>
            <a:br/>
            <a:r>
              <a:rPr sz="2100" b="1">
                <a:solidFill>
                  <a:srgbClr val="02C39A"/>
                </a:solidFill>
                <a:latin typeface="Georgia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481328"/>
            <a:ext cx="71323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600" b="1">
                <a:solidFill>
                  <a:srgbClr val="043A46"/>
                </a:solidFill>
                <a:latin typeface="Georgia"/>
              </a:rPr>
              <a:t>结论：平台核心能力完整，工程化闭环仍需加强。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377440"/>
            <a:ext cx="30906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2377440"/>
            <a:ext cx="146304" cy="9326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254203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能力面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83464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20" b="0">
                <a:solidFill>
                  <a:srgbClr val="5B7378"/>
                </a:solidFill>
                <a:latin typeface="Calibri"/>
              </a:rPr>
              <a:t>已覆盖 AI 生成、对话编辑、部署分享、管理后台与监控基础。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377440"/>
            <a:ext cx="30906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377440"/>
            <a:ext cx="146304" cy="9326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54203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进展面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83464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20" b="0">
                <a:solidFill>
                  <a:srgbClr val="5B7378"/>
                </a:solidFill>
                <a:latin typeface="Calibri"/>
              </a:rPr>
              <a:t>最近历史聚焦微服务改造、可观测性、部署上线与系统优化。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611880"/>
            <a:ext cx="30906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80" y="3611880"/>
            <a:ext cx="146304" cy="932688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377647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风险面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06908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20" b="0">
                <a:solidFill>
                  <a:srgbClr val="5B7378"/>
                </a:solidFill>
                <a:latin typeface="Calibri"/>
              </a:rPr>
              <a:t>主要阻塞来自外部配置、端到端环境、自动化测试与运行态指标缺失。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3611880"/>
            <a:ext cx="30906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3611880"/>
            <a:ext cx="146304" cy="9326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0416" y="377647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520" b="1">
                <a:solidFill>
                  <a:srgbClr val="043A46"/>
                </a:solidFill>
                <a:latin typeface="Calibri"/>
              </a:rPr>
              <a:t>行动面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406908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20" b="0">
                <a:solidFill>
                  <a:srgbClr val="5B7378"/>
                </a:solidFill>
                <a:latin typeface="Calibri"/>
              </a:rPr>
              <a:t>先补 CI 与环境模板，再验证主链路并沉淀监控指标。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5166360"/>
            <a:ext cx="7040880" cy="566928"/>
          </a:xfrm>
          <a:prstGeom prst="roundRect">
            <a:avLst/>
          </a:prstGeom>
          <a:solidFill>
            <a:srgbClr val="E7F7F4"/>
          </a:solidFill>
          <a:ln>
            <a:solidFill>
              <a:srgbClr val="D3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321808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60" b="1">
                <a:solidFill>
                  <a:srgbClr val="5B7378"/>
                </a:solidFill>
                <a:latin typeface="Calibri"/>
              </a:rPr>
              <a:t>下一次日报建议补入：CI 执行结果、核心链路成功率、AI 调用成本 / 延迟、部署成功率。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28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>
                <a:solidFill>
                  <a:srgbClr val="5B7378"/>
                </a:solidFill>
                <a:latin typeface="Calibri"/>
              </a:rPr>
              <a:t>yu-ai-code-mother · 每日项目状态 · 2026-06-15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 - 2026-06-15</dc:title>
  <dc:subject>AI 零代码应用生成平台每日项目状态</dc:subject>
  <dc:creator>Cursor Automation</dc:creator>
  <cp:keywords>yu-ai-code-mother, project status, daily report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