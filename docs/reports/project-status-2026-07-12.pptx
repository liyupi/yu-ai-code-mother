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21295C">
              <a:alpha val="86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1920240" cy="6858000"/>
          </a:xfrm>
          <a:prstGeom prst="rect">
            <a:avLst/>
          </a:prstGeom>
          <a:solidFill>
            <a:srgbClr val="065A82">
              <a:alpha val="86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1920240" cy="6858000"/>
          </a:xfrm>
          <a:prstGeom prst="rect">
            <a:avLst/>
          </a:prstGeom>
          <a:solidFill>
            <a:srgbClr val="1C7293">
              <a:alpha val="86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1920240" cy="6858000"/>
          </a:xfrm>
          <a:prstGeom prst="rect">
            <a:avLst/>
          </a:prstGeom>
          <a:solidFill>
            <a:srgbClr val="028090">
              <a:alpha val="86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0"/>
            <a:ext cx="1920240" cy="6858000"/>
          </a:xfrm>
          <a:prstGeom prst="rect">
            <a:avLst/>
          </a:prstGeom>
          <a:solidFill>
            <a:srgbClr val="065A82">
              <a:alpha val="86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1920240" cy="6858000"/>
          </a:xfrm>
          <a:prstGeom prst="rect">
            <a:avLst/>
          </a:prstGeom>
          <a:solidFill>
            <a:srgbClr val="21295C">
              <a:alpha val="86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0"/>
            <a:ext cx="1920240" cy="6858000"/>
          </a:xfrm>
          <a:prstGeom prst="rect">
            <a:avLst/>
          </a:prstGeom>
          <a:solidFill>
            <a:srgbClr val="16324F">
              <a:alpha val="86000"/>
            </a:srgbClr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-548640"/>
            <a:ext cx="4480560" cy="448056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005840" y="4389120"/>
            <a:ext cx="2834640" cy="283464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5331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零代码应用生成平台（yu-ai-code-mother）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6700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D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2026-07-12  |  面向项目维护者 / 团队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407408"/>
            <a:ext cx="2194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13432" y="4572000"/>
            <a:ext cx="384048" cy="384048"/>
          </a:xfrm>
          <a:prstGeom prst="ellipse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96696" y="51755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主要工程块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96696" y="53949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 / 微服务 / Vue 前端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246120" y="4407408"/>
            <a:ext cx="2194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4572000"/>
            <a:ext cx="384048" cy="384048"/>
          </a:xfrm>
          <a:prstGeom prst="ellipse">
            <a:avLst/>
          </a:prstGeom>
          <a:solidFill>
            <a:srgbClr val="00A896">
              <a:alpha val="88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465576" y="51755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65576" y="53949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715000" y="4407408"/>
            <a:ext cx="2194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51192" y="4572000"/>
            <a:ext cx="384048" cy="384048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6168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5934456" y="51755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CI 配置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34456" y="53949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235440" y="123444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125272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241280" y="1234440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125272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28048" y="1517904"/>
            <a:ext cx="1005840" cy="0"/>
          </a:xfrm>
          <a:prstGeom prst="line">
            <a:avLst/>
          </a:prstGeom>
          <a:noFill/>
          <a:ln w="12700">
            <a:solidFill>
              <a:srgbClr val="BFFCF4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5440" y="219456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221284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28048" y="1517904"/>
            <a:ext cx="0" cy="960120"/>
          </a:xfrm>
          <a:prstGeom prst="line">
            <a:avLst/>
          </a:prstGeom>
          <a:noFill/>
          <a:ln w="12700">
            <a:solidFill>
              <a:srgbClr val="BFFCF4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1280" y="2194560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221284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528048" y="1517904"/>
            <a:ext cx="1005840" cy="960120"/>
          </a:xfrm>
          <a:prstGeom prst="line">
            <a:avLst/>
          </a:prstGeom>
          <a:noFill/>
          <a:ln w="12700">
            <a:solidFill>
              <a:srgbClr val="BFFCF4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315468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317296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528048" y="1517904"/>
            <a:ext cx="0" cy="1920240"/>
          </a:xfrm>
          <a:prstGeom prst="line">
            <a:avLst/>
          </a:prstGeom>
          <a:noFill/>
          <a:ln w="12700">
            <a:solidFill>
              <a:srgbClr val="BFFCF4">
                <a:alpha val="6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4407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 / Teal Trust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32520" y="4754880"/>
            <a:ext cx="2743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深色封面 + 浅色内容页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卡片、时间线、风险矩阵与数据 callout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02336"/>
            <a:ext cx="56692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310896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项目概览：定位、架构与当前状态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49640" y="6446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 | 2026-07-12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078992"/>
            <a:ext cx="109728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35024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533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27048" y="1307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项目定位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78408" y="1764792"/>
            <a:ext cx="3063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Spring Boot 3 + LangChain4j + Vue 3 打造企业级 AI 代码生成平台，覆盖需求输入、代码生成、预览编辑、部署分享和后台管理链路。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58368" y="3273552"/>
            <a:ext cx="370332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273552"/>
            <a:ext cx="109728" cy="2029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52958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4787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27048" y="3502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技术栈轮廓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78408" y="3959352"/>
            <a:ext cx="306324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后端：Java 21 / Spring Boot / MyBatis-Flex / Redis / Caffeine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AI：DeepSeek + 通义千问路由、LangGraph4j 工作流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/ Vite 7 / Ant Design Vue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4800600" y="1069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一屏看状态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0600" y="16002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33872" y="1764792"/>
            <a:ext cx="384048" cy="384048"/>
          </a:xfrm>
          <a:prstGeom prst="ellipse">
            <a:avLst/>
          </a:prstGeom>
          <a:solidFill>
            <a:srgbClr val="1C7293">
              <a:alpha val="8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17647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020056" y="2368296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0056" y="258775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/ 微服务 / 前端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693408" y="16002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26680" y="1764792"/>
            <a:ext cx="384048" cy="384048"/>
          </a:xfrm>
          <a:prstGeom prst="ellipse">
            <a:avLst/>
          </a:prstGeom>
          <a:solidFill>
            <a:srgbClr val="00A896">
              <a:alpha val="88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17647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6912864" y="2368296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12864" y="258775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586216" y="16002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19488" y="1764792"/>
            <a:ext cx="384048" cy="384048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7384" y="17647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8805672" y="2368296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805672" y="258775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集中在单体 src/test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479024" y="160020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1009376" y="1764792"/>
            <a:ext cx="384048" cy="384048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80192" y="17647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10698480" y="2368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文件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698480" y="25877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本地未发现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800600" y="3273552"/>
            <a:ext cx="685800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20640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主要模块目录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138928" y="3977640"/>
            <a:ext cx="1965960" cy="310896"/>
          </a:xfrm>
          <a:prstGeom prst="roundRect">
            <a:avLst>
              <a:gd name="adj" fmla="val 29412"/>
            </a:avLst>
          </a:prstGeom>
          <a:solidFill>
            <a:srgbClr val="065A82">
              <a:alpha val="98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403250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0" y="4023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96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完整单体后端，包含 AI 生成、工作流、管理与监控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138928" y="4389120"/>
            <a:ext cx="1965960" cy="310896"/>
          </a:xfrm>
          <a:prstGeom prst="roundRect">
            <a:avLst>
              <a:gd name="adj" fmla="val 29412"/>
            </a:avLst>
          </a:prstGeom>
          <a:solidFill>
            <a:srgbClr val="028090">
              <a:alpha val="9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444398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yu-ai-code-mother-microservice/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1520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96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个子模块，Dubbo + Nacos 方向的拆分实现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38928" y="4800600"/>
            <a:ext cx="1965960" cy="310896"/>
          </a:xfrm>
          <a:prstGeom prst="roundRect">
            <a:avLst>
              <a:gd name="adj" fmla="val 29412"/>
            </a:avLst>
          </a:prstGeom>
          <a:solidFill>
            <a:srgbClr val="00A896">
              <a:alpha val="98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485546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yu-ai-code-mother-frontend/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315200" y="4846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96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前端，承接生成、编辑、部署与管理 UI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02336"/>
            <a:ext cx="56692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310896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核心能力：从需求到可分享应用的闭环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49640" y="6446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 | 2026-07-12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207008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207008"/>
            <a:ext cx="109728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46304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813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18488" y="14356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智能代码生成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69848" y="1892808"/>
            <a:ext cx="4434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用户输入需求后，AI 自动选择 HTML / 多文件 / Vue 工程策略；通过工具调用读写文件，并以 SSE/Flux 流式输出过程。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309360" y="1207008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207008"/>
            <a:ext cx="109728" cy="1874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14630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4813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14356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9400" y="1892808"/>
            <a:ext cx="4434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生成应用实时预览，支持元素选中、编辑模式与 AI 对话修改页面，降低从生成到调优的交互成本。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36576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657600"/>
            <a:ext cx="109728" cy="1874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91363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319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18488" y="3886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一键部署分享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69848" y="4343400"/>
            <a:ext cx="4434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后端生成可访问地址，结合 Selenium 截图与腾讯云 COS 存储封面；支持源码打包下载。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309360" y="36576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3657600"/>
            <a:ext cx="109728" cy="1874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391363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9319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78040" y="3886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企业级后台管理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629400" y="4343400"/>
            <a:ext cx="4434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用户、应用、对话历史 CRUD，精选应用配置，权限拦截、Redis Session、Redisson 限流与多级缓存。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5422392" y="2834640"/>
            <a:ext cx="1234440" cy="12344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319125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闭环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02336"/>
            <a:ext cx="56692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310896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架构视图：单体完整、微服务拆分进行中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49640" y="6446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 | 2026-07-12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709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前端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1122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生成/编辑/管理 UI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90088" y="1856232"/>
            <a:ext cx="411480" cy="411480"/>
          </a:xfrm>
          <a:prstGeom prst="chevron">
            <a:avLst/>
          </a:prstGeom>
          <a:solidFill>
            <a:srgbClr val="6B8794">
              <a:alpha val="55000"/>
            </a:srgbClr>
          </a:solidFill>
          <a:ln w="12700">
            <a:solidFill>
              <a:srgbClr val="6B879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50876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85032" y="1709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 src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21122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完整业务主链路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24728" y="1856232"/>
            <a:ext cx="411480" cy="411480"/>
          </a:xfrm>
          <a:prstGeom prst="chevron">
            <a:avLst/>
          </a:prstGeom>
          <a:solidFill>
            <a:srgbClr val="6B8794">
              <a:alpha val="55000"/>
            </a:srgbClr>
          </a:solidFill>
          <a:ln w="12700">
            <a:solidFill>
              <a:srgbClr val="6B879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0876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1709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微服务集群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21122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模块拆分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59368" y="1856232"/>
            <a:ext cx="411480" cy="411480"/>
          </a:xfrm>
          <a:prstGeom prst="chevron">
            <a:avLst/>
          </a:prstGeom>
          <a:solidFill>
            <a:srgbClr val="6B8794">
              <a:alpha val="55000"/>
            </a:srgbClr>
          </a:solidFill>
          <a:ln w="12700">
            <a:solidFill>
              <a:srgbClr val="6B879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50876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54312" y="1709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外部与基础设施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54312" y="21122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Redis / MySQL / COS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3310128"/>
            <a:ext cx="34564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310128"/>
            <a:ext cx="109728" cy="20299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56616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5844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18488" y="3538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单体侧完整能力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69848" y="3995928"/>
            <a:ext cx="281635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 WorkflowSseController、LangGraph4j 工作流、AI 工具调用、业务 CRUD、监控指标与截图/部署能力，是当前更完整的验证路径。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4498848" y="3310128"/>
            <a:ext cx="34564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98848" y="3310128"/>
            <a:ext cx="109728" cy="2029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56616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844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67528" y="3538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微服务侧拆分成果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818888" y="3995928"/>
            <a:ext cx="281635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common、model、client、user、app、ai、screenshot 模块已形成；Dubbo + Nacos 跨服务调用方向明确。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8247888" y="3310128"/>
            <a:ext cx="315468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47888" y="3310128"/>
            <a:ext cx="109728" cy="2029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356616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35844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16568" y="3538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仍需对齐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567928" y="3995928"/>
            <a:ext cx="251460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微服务尚未覆盖全部 LangGraph 工作流、监控与统一入口能力；部署编排文档和 Gateway 仍待补齐。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02336"/>
            <a:ext cx="56692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310896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近期进展：近 7 天以报告文档为主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49640" y="6446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 | 2026-07-12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115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提交时间线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1664208"/>
            <a:ext cx="0" cy="4114800"/>
          </a:xfrm>
          <a:prstGeom prst="line">
            <a:avLst/>
          </a:prstGeom>
          <a:noFill/>
          <a:ln w="25400">
            <a:solidFill>
              <a:srgbClr val="CDE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57276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9105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5544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893918c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417320" y="188366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96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期：微服务改造完成，包含完整单体代码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804672" y="296265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8094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9443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2026-07-05 ~ 07-11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46120" y="29443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c75d4c5...5e55ef0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417320" y="32735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96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天可见提交均为每日项目状态 PPT / 视觉微调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804672" y="4352544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37083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2026-07-12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46120" y="43342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本次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1417320" y="46634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96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新增今天的项目状态汇报文件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806440" y="11430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1143000"/>
            <a:ext cx="1097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62472" y="139903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4173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137160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 / 近期变更摘要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1264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当前分支未发现近 7 天业务代码变更；仓库可见的近期提交集中在 docs/reports 日报文件。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806440" y="26974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06440" y="2697480"/>
            <a:ext cx="109728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62472" y="295351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29718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292608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业务主线状态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12648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HEAD 仍为 2025-08-26 的微服务改造完成提交；单体和微服务代码未在本次任务中修改。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806440" y="4251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06440" y="4251960"/>
            <a:ext cx="109728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62472" y="450799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452628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44805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报告类迭代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612648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07-05 至 07-11 已连续生成日报 PPT；07-11 另有标题字体与视觉优化提交。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02336"/>
            <a:ext cx="56692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310896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指标要点：测试与 CI 静态口径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49640" y="6446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 | 2026-07-12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14300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48840" y="1307592"/>
            <a:ext cx="384048" cy="384048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69264" y="19110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213055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集中在单体 src/test/java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063240" y="114300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1307592"/>
            <a:ext cx="384048" cy="384048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282696" y="19110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CI 文件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82696" y="213055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workflow/Jenkins/GitLab CI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376672" y="114300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75704" y="1307592"/>
            <a:ext cx="384048" cy="384048"/>
          </a:xfrm>
          <a:prstGeom prst="ellipse">
            <a:avLst/>
          </a:prstGeom>
          <a:solidFill>
            <a:srgbClr val="1C7293">
              <a:alpha val="8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596128" y="19110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 Actions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96128" y="213055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Copilot 检查，均成功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690104" y="114300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89136" y="1307592"/>
            <a:ext cx="384048" cy="384048"/>
          </a:xfrm>
          <a:prstGeom prst="ellipse">
            <a:avLst/>
          </a:prstGeom>
          <a:solidFill>
            <a:srgbClr val="00A896">
              <a:alpha val="88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91272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09560" y="19110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前端质量脚本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09560" y="213055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type-check / lint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49808" y="288036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2880360"/>
            <a:ext cx="109728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313639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15468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18488" y="310896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测试状态说明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069848" y="3566160"/>
            <a:ext cx="42062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仓库内未发现通用 CI 流水线，当前环境未执行完整测试。多数 AI 工作流测试依赖真实模型、密钥与外部服务，直接纳入 CI 容易产生不稳定和成本风险。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5989320" y="288036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91072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静态健康信号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309360" y="37033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73568" y="3758184"/>
            <a:ext cx="2743200" cy="109728"/>
          </a:xfrm>
          <a:prstGeom prst="rect">
            <a:avLst/>
          </a:prstGeom>
          <a:solidFill>
            <a:srgbClr val="D7EBE9"/>
          </a:solidFill>
          <a:ln w="12700">
            <a:solidFill>
              <a:srgbClr val="D7EBE9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73568" y="3758184"/>
            <a:ext cx="27432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096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配置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73568" y="4151376"/>
            <a:ext cx="2743200" cy="109728"/>
          </a:xfrm>
          <a:prstGeom prst="rect">
            <a:avLst/>
          </a:prstGeom>
          <a:solidFill>
            <a:srgbClr val="D7EBE9"/>
          </a:solidFill>
          <a:ln w="12700">
            <a:solidFill>
              <a:srgbClr val="D7EBE9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73568" y="4151376"/>
            <a:ext cx="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4897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前端测试框架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73568" y="4544568"/>
            <a:ext cx="2743200" cy="109728"/>
          </a:xfrm>
          <a:prstGeom prst="rect">
            <a:avLst/>
          </a:prstGeom>
          <a:solidFill>
            <a:srgbClr val="D7EBE9"/>
          </a:solidFill>
          <a:ln w="12700">
            <a:solidFill>
              <a:srgbClr val="D7EBE9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73568" y="4544568"/>
            <a:ext cx="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882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配置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973568" y="4937760"/>
            <a:ext cx="2743200" cy="109728"/>
          </a:xfrm>
          <a:prstGeom prst="rect">
            <a:avLst/>
          </a:prstGeom>
          <a:solidFill>
            <a:srgbClr val="D7EBE9"/>
          </a:solidFill>
          <a:ln w="12700">
            <a:solidFill>
              <a:srgbClr val="D7EBE9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73568" y="4937760"/>
            <a:ext cx="9144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02336"/>
            <a:ext cx="56692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310896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风险与阻塞：稳定性、成本与双架构漂移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49640" y="6446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 | 2026-07-12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风险矩阵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1627632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627632"/>
            <a:ext cx="109728" cy="1600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83664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019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18488" y="1856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外部服务强依赖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69848" y="2313432"/>
            <a:ext cx="4160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/ 通义 / COS / Pexels / Nacos / Redis / MySQL 任一不可用都会影响核心链路。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407408" y="1856232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E76F51">
              <a:alpha val="98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911096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1627632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627632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188366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19019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68312" y="1856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测试真实调用 AI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19672" y="2313432"/>
            <a:ext cx="4160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集成测试若不 Mock，CI 运行会受密钥、网络、费用和模型稳定性影响。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857232" y="1856232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F59E0B">
              <a:alpha val="9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30384" y="1911096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高波动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" y="379476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794760"/>
            <a:ext cx="10972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40507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06908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18488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单体与微服务功能漂移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69848" y="4480560"/>
            <a:ext cx="4160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微服务未完全对齐 LangGraph、监控和入口能力，双架构维护成本上升。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4407408" y="4023360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028090">
              <a:alpha val="9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078224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中影响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99632" y="379476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99632" y="3794760"/>
            <a:ext cx="109728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405079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406908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68312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配置与 RC 依赖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519672" y="4480560"/>
            <a:ext cx="4160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多处 API Key/服务地址需要手动配置；LangGraph4j RC 版本存在 API 变化风险。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9857232" y="4023360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00A896">
              <a:alpha val="98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30384" y="4078224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中风险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12191695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02336"/>
            <a:ext cx="56692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310896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建议下一步：先稳主链路，再补工程化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549640" y="6446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 | 2026-07-12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1938528" cy="868680"/>
          </a:xfrm>
          <a:prstGeom prst="chevron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明确运行模式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34640"/>
            <a:ext cx="109728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0632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明确运行模式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51560" y="3520440"/>
            <a:ext cx="12984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短期以单体后端 + 前端作为主验证链路，微服务先补齐启动条件。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2990088" y="1417320"/>
            <a:ext cx="1938528" cy="868680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36392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57016" y="16824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CI 基线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71800" y="28346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71800" y="2834640"/>
            <a:ext cx="10972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0632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CI 基线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291840" y="3520440"/>
            <a:ext cx="12984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编译/测试、前端 build/type-check 分层执行；AI 相关测试先 Mock。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5230368" y="1417320"/>
            <a:ext cx="1938528" cy="86868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76672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97296" y="16824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评估前端重构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12080" y="28346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2834640"/>
            <a:ext cx="109728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30632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评估前端重构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532120" y="3520440"/>
            <a:ext cx="12984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合并已有 composables/页面拆分思路，降低 AppChatPage 维护成本。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470648" y="1417320"/>
            <a:ext cx="1938528" cy="86868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16952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37576" y="16824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补齐微服务缺口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52360" y="28346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52360" y="2834640"/>
            <a:ext cx="109728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0632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补齐微服务缺口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772400" y="3520440"/>
            <a:ext cx="12984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迁移工作流、监控、Health 接口，或通过 Gateway 统一入口。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9710928" y="1417320"/>
            <a:ext cx="1938528" cy="8686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857232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77856" y="16824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完善环境模板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692640" y="28346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692640" y="2834640"/>
            <a:ext cx="10972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12680" y="30632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完善环境模板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10012680" y="3520440"/>
            <a:ext cx="12984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docker-compose 与 env 示例，覆盖 MySQL、Redis、Nacos 与外部密钥。</a:t>
            </a:r>
            <a:endParaRPr lang="en-US" sz="1070" dirty="0"/>
          </a:p>
        </p:txBody>
      </p:sp>
      <p:sp>
        <p:nvSpPr>
          <p:cNvPr id="42" name="Text 40"/>
          <p:cNvSpPr/>
          <p:nvPr/>
        </p:nvSpPr>
        <p:spPr>
          <a:xfrm>
            <a:off x="1143000" y="55961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优先级原则：先让主链路可稳定验证，再把微服务、CI 和环境编排逐步纳入同一交付面。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21295C">
              <a:alpha val="86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1920240" cy="6858000"/>
          </a:xfrm>
          <a:prstGeom prst="rect">
            <a:avLst/>
          </a:prstGeom>
          <a:solidFill>
            <a:srgbClr val="065A82">
              <a:alpha val="86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1920240" cy="6858000"/>
          </a:xfrm>
          <a:prstGeom prst="rect">
            <a:avLst/>
          </a:prstGeom>
          <a:solidFill>
            <a:srgbClr val="1C7293">
              <a:alpha val="86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1920240" cy="6858000"/>
          </a:xfrm>
          <a:prstGeom prst="rect">
            <a:avLst/>
          </a:prstGeom>
          <a:solidFill>
            <a:srgbClr val="028090">
              <a:alpha val="86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0"/>
            <a:ext cx="1920240" cy="6858000"/>
          </a:xfrm>
          <a:prstGeom prst="rect">
            <a:avLst/>
          </a:prstGeom>
          <a:solidFill>
            <a:srgbClr val="065A82">
              <a:alpha val="86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1920240" cy="6858000"/>
          </a:xfrm>
          <a:prstGeom prst="rect">
            <a:avLst/>
          </a:prstGeom>
          <a:solidFill>
            <a:srgbClr val="21295C">
              <a:alpha val="86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0"/>
            <a:ext cx="1920240" cy="6858000"/>
          </a:xfrm>
          <a:prstGeom prst="rect">
            <a:avLst/>
          </a:prstGeom>
          <a:solidFill>
            <a:srgbClr val="16324F">
              <a:alpha val="86000"/>
            </a:srgbClr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-548640"/>
            <a:ext cx="4480560" cy="448056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005840" y="4389120"/>
            <a:ext cx="2834640" cy="283464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8229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1248" y="15361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项目能力完整度较高，但工程化闭环仍是下一阶段的关键。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2788920"/>
            <a:ext cx="3017520" cy="1572768"/>
          </a:xfrm>
          <a:prstGeom prst="roundRect">
            <a:avLst>
              <a:gd name="adj" fmla="val 4651"/>
            </a:avLst>
          </a:prstGeom>
          <a:solidFill>
            <a:srgbClr val="F2FBFA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788920"/>
            <a:ext cx="109728" cy="15727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" y="304495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0632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017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能力面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23774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已覆盖 AI 生成、可视化编辑、部署分享、后台管理和监控基础。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2788920"/>
            <a:ext cx="3017520" cy="1572768"/>
          </a:xfrm>
          <a:prstGeom prst="roundRect">
            <a:avLst>
              <a:gd name="adj" fmla="val 4651"/>
            </a:avLst>
          </a:prstGeom>
          <a:solidFill>
            <a:srgbClr val="F2FBFA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2788920"/>
            <a:ext cx="109728" cy="15727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304495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0632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017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进展面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09160" y="3474720"/>
            <a:ext cx="23774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当前分支近期无业务代码变化，近 7 天主要是日报交付。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09560" y="2788920"/>
            <a:ext cx="3017520" cy="1572768"/>
          </a:xfrm>
          <a:prstGeom prst="roundRect">
            <a:avLst>
              <a:gd name="adj" fmla="val 4651"/>
            </a:avLst>
          </a:prstGeom>
          <a:solidFill>
            <a:srgbClr val="F2FBFA"/>
          </a:solidFill>
          <a:ln w="8890">
            <a:solidFill>
              <a:srgbClr val="D8EEE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09560" y="2788920"/>
            <a:ext cx="109728" cy="1572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65592" y="304495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30632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240" y="3017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行动面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229600" y="3474720"/>
            <a:ext cx="23774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建议优先补 CI 基线、Mock AI 测试和微服务功能对齐。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57400" y="5074920"/>
            <a:ext cx="79095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92000"/>
            </a:srgbClr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报告文件：docs/reports/project-status-2026-07-12.pptx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2026-07-12</dc:title>
  <dc:subject>每日项目状态</dc:subject>
  <dc:creator>Cursor Agent</dc:creator>
  <cp:lastModifiedBy>Cursor Agent</cp:lastModifiedBy>
  <cp:revision>1</cp:revision>
  <dcterms:created xsi:type="dcterms:W3CDTF">2026-07-12T09:05:34Z</dcterms:created>
  <dcterms:modified xsi:type="dcterms:W3CDTF">2026-07-12T09:05:34Z</dcterms:modified>
</cp:coreProperties>
</file>