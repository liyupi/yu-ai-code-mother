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8334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83344"/>
          </a:solidFill>
          <a:ln w="12700">
            <a:solidFill>
              <a:srgbClr val="083344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 rot="480000">
            <a:off x="7955280" y="-182880"/>
            <a:ext cx="4480560" cy="7406640"/>
          </a:xfrm>
          <a:prstGeom prst="rect">
            <a:avLst/>
          </a:prstGeom>
          <a:solidFill>
            <a:srgbClr val="028090">
              <a:alpha val="88000"/>
            </a:srgbClr>
          </a:solidFill>
          <a:ln w="12700">
            <a:solidFill>
              <a:srgbClr val="028090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 rot="480000">
            <a:off x="9692640" y="-365760"/>
            <a:ext cx="2011680" cy="7680960"/>
          </a:xfrm>
          <a:prstGeom prst="rect">
            <a:avLst/>
          </a:prstGeom>
          <a:solidFill>
            <a:srgbClr val="02C39A">
              <a:alpha val="85000"/>
            </a:srgbClr>
          </a:solidFill>
          <a:ln w="12700">
            <a:solidFill>
              <a:srgbClr val="02C39A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20040" y="5303520"/>
            <a:ext cx="1097280" cy="1097280"/>
          </a:xfrm>
          <a:prstGeom prst="arc">
            <a:avLst/>
          </a:prstGeom>
          <a:noFill/>
          <a:ln w="25400">
            <a:solidFill>
              <a:srgbClr val="00A896">
                <a:alpha val="9000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13232" y="658368"/>
            <a:ext cx="5303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spc="120" kern="0" dirty="0">
                <a:solidFill>
                  <a:srgbClr val="BDEF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零代码应用生成平台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676656" y="1234440"/>
            <a:ext cx="67665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3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每日项目状态汇报</a:t>
            </a:r>
            <a:endParaRPr lang="en-US" sz="4300" dirty="0"/>
          </a:p>
        </p:txBody>
      </p:sp>
      <p:sp>
        <p:nvSpPr>
          <p:cNvPr id="8" name="Text 6"/>
          <p:cNvSpPr/>
          <p:nvPr/>
        </p:nvSpPr>
        <p:spPr>
          <a:xfrm>
            <a:off x="713232" y="2066544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2026-07-07 | 北京时间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713232" y="2788920"/>
            <a:ext cx="5715000" cy="1051560"/>
          </a:xfrm>
          <a:prstGeom prst="roundRect">
            <a:avLst>
              <a:gd name="adj" fmla="val 13913"/>
            </a:avLst>
          </a:prstGeom>
          <a:solidFill>
            <a:srgbClr val="FFFFFF">
              <a:alpha val="10000"/>
            </a:srgbClr>
          </a:solidFill>
          <a:ln w="15240">
            <a:solidFill>
              <a:srgbClr val="7FE5D1">
                <a:alpha val="8000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32688" y="3044952"/>
            <a:ext cx="5257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EAFB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基于 Spring Boot 3 + LangChain4j/LangGraph4j + Vue 3 的企业级 AI 代码生成平台。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932688" y="3401568"/>
            <a:ext cx="5303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BDEF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面向项目维护者与团队，用于同步能力边界、近期状态、测试缺口与下一步建议。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8183880" y="1051560"/>
            <a:ext cx="1078992" cy="1078992"/>
          </a:xfrm>
          <a:prstGeom prst="ellipse">
            <a:avLst/>
          </a:prstGeom>
          <a:solidFill>
            <a:srgbClr val="02C39A">
              <a:alpha val="94000"/>
            </a:srgbClr>
          </a:solidFill>
          <a:ln w="12700">
            <a:solidFill>
              <a:srgbClr val="FFFFFF">
                <a:alpha val="1500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257032" y="1453896"/>
            <a:ext cx="93268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2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Spring Boot</a:t>
            </a:r>
            <a:endParaRPr lang="en-US" sz="920" dirty="0"/>
          </a:p>
        </p:txBody>
      </p:sp>
      <p:sp>
        <p:nvSpPr>
          <p:cNvPr id="14" name="Shape 12"/>
          <p:cNvSpPr/>
          <p:nvPr/>
        </p:nvSpPr>
        <p:spPr>
          <a:xfrm>
            <a:off x="9464040" y="1874520"/>
            <a:ext cx="1078992" cy="1078992"/>
          </a:xfrm>
          <a:prstGeom prst="ellipse">
            <a:avLst/>
          </a:prstGeom>
          <a:solidFill>
            <a:srgbClr val="00A896">
              <a:alpha val="94000"/>
            </a:srgbClr>
          </a:solidFill>
          <a:ln w="12700">
            <a:solidFill>
              <a:srgbClr val="FFFFFF">
                <a:alpha val="1500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9537192" y="2276856"/>
            <a:ext cx="93268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2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Vue 3</a:t>
            </a:r>
            <a:endParaRPr lang="en-US" sz="920" dirty="0"/>
          </a:p>
        </p:txBody>
      </p:sp>
      <p:sp>
        <p:nvSpPr>
          <p:cNvPr id="16" name="Shape 14"/>
          <p:cNvSpPr/>
          <p:nvPr/>
        </p:nvSpPr>
        <p:spPr>
          <a:xfrm>
            <a:off x="7909560" y="2852928"/>
            <a:ext cx="1078992" cy="1078992"/>
          </a:xfrm>
          <a:prstGeom prst="ellipse">
            <a:avLst/>
          </a:prstGeom>
          <a:solidFill>
            <a:srgbClr val="02C39A">
              <a:alpha val="94000"/>
            </a:srgbClr>
          </a:solidFill>
          <a:ln w="12700">
            <a:solidFill>
              <a:srgbClr val="FFFFFF">
                <a:alpha val="15000"/>
              </a:srgbClr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982712" y="3255264"/>
            <a:ext cx="93268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2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LangGraph4j</a:t>
            </a:r>
            <a:endParaRPr lang="en-US" sz="920" dirty="0"/>
          </a:p>
        </p:txBody>
      </p:sp>
      <p:sp>
        <p:nvSpPr>
          <p:cNvPr id="18" name="Shape 16"/>
          <p:cNvSpPr/>
          <p:nvPr/>
        </p:nvSpPr>
        <p:spPr>
          <a:xfrm>
            <a:off x="9710928" y="3840480"/>
            <a:ext cx="1078992" cy="1078992"/>
          </a:xfrm>
          <a:prstGeom prst="ellipse">
            <a:avLst/>
          </a:prstGeom>
          <a:solidFill>
            <a:srgbClr val="00A896">
              <a:alpha val="94000"/>
            </a:srgbClr>
          </a:solidFill>
          <a:ln w="12700">
            <a:solidFill>
              <a:srgbClr val="FFFFFF">
                <a:alpha val="15000"/>
              </a:srgbClr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9784080" y="4242816"/>
            <a:ext cx="93268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2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SSE</a:t>
            </a:r>
            <a:endParaRPr lang="en-US" sz="920" dirty="0"/>
          </a:p>
        </p:txBody>
      </p:sp>
      <p:sp>
        <p:nvSpPr>
          <p:cNvPr id="20" name="Shape 18"/>
          <p:cNvSpPr/>
          <p:nvPr/>
        </p:nvSpPr>
        <p:spPr>
          <a:xfrm>
            <a:off x="7543800" y="4800600"/>
            <a:ext cx="1078992" cy="1078992"/>
          </a:xfrm>
          <a:prstGeom prst="ellipse">
            <a:avLst/>
          </a:prstGeom>
          <a:solidFill>
            <a:srgbClr val="02C39A">
              <a:alpha val="94000"/>
            </a:srgbClr>
          </a:solidFill>
          <a:ln w="12700">
            <a:solidFill>
              <a:srgbClr val="FFFFFF">
                <a:alpha val="15000"/>
              </a:srgbClr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616952" y="5202936"/>
            <a:ext cx="93268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2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Dubbo/Nacos</a:t>
            </a:r>
            <a:endParaRPr lang="en-US" sz="920" dirty="0"/>
          </a:p>
        </p:txBody>
      </p:sp>
      <p:sp>
        <p:nvSpPr>
          <p:cNvPr id="22" name="Text 20"/>
          <p:cNvSpPr/>
          <p:nvPr/>
        </p:nvSpPr>
        <p:spPr>
          <a:xfrm>
            <a:off x="713232" y="6355080"/>
            <a:ext cx="6035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1D9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自动生成报告，仅新增/更新 docs/reports 下的 PPT 文件</a:t>
            </a:r>
            <a:endParaRPr lang="en-US" sz="10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6FB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BFA"/>
          </a:solidFill>
          <a:ln w="12700">
            <a:solidFill>
              <a:srgbClr val="F6FBF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01168" y="0"/>
            <a:ext cx="73152" cy="6858000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0835640" y="-365760"/>
            <a:ext cx="1188720" cy="1188720"/>
          </a:xfrm>
          <a:prstGeom prst="arc">
            <a:avLst/>
          </a:prstGeom>
          <a:noFill/>
          <a:ln w="38100">
            <a:solidFill>
              <a:srgbClr val="02C39A">
                <a:alpha val="7500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21792" y="411480"/>
            <a:ext cx="7498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6323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项目概览</a:t>
            </a:r>
            <a:endParaRPr lang="en-US" sz="3600" dirty="0"/>
          </a:p>
        </p:txBody>
      </p:sp>
      <p:sp>
        <p:nvSpPr>
          <p:cNvPr id="7" name="Text 5"/>
          <p:cNvSpPr/>
          <p:nvPr/>
        </p:nvSpPr>
        <p:spPr>
          <a:xfrm>
            <a:off x="8412480" y="502920"/>
            <a:ext cx="3108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E74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仓库扫描与 README 归纳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713232" y="1115568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状态一句话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713232" y="1444752"/>
            <a:ext cx="6400800" cy="1325880"/>
          </a:xfrm>
          <a:prstGeom prst="roundRect">
            <a:avLst>
              <a:gd name="adj" fmla="val 8276"/>
            </a:avLst>
          </a:prstGeom>
          <a:solidFill>
            <a:srgbClr val="FFFFFF"/>
          </a:solidFill>
          <a:ln w="12700">
            <a:solidFill>
              <a:srgbClr val="D8E6E3"/>
            </a:solidFill>
            <a:prstDash val="solid"/>
          </a:ln>
          <a:effectLst>
            <a:outerShdw sx="100000" sy="100000" kx="0" ky="0" algn="bl" rotWithShape="0" blurRad="12700" dist="12700" dir="2700000">
              <a:srgbClr val="9BB8B5">
                <a:alpha val="14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960120" y="1737360"/>
            <a:ext cx="5897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1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项目处于“功能完整、双架构并存”的教学/工程样板阶段：单体版能力最全，微服务版已完成模块拆分与 Dubbo/Nacos 集成；近 7 天主线无代码变更，CI 与微服务测试仍需补齐。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7452360" y="1261872"/>
            <a:ext cx="1170432" cy="1005840"/>
          </a:xfrm>
          <a:prstGeom prst="roundRect">
            <a:avLst>
              <a:gd name="adj" fmla="val 10909"/>
            </a:avLst>
          </a:prstGeom>
          <a:solidFill>
            <a:srgbClr val="FFFFFF"/>
          </a:solidFill>
          <a:ln w="12700">
            <a:solidFill>
              <a:srgbClr val="D8E6E3"/>
            </a:solidFill>
            <a:prstDash val="solid"/>
          </a:ln>
          <a:effectLst>
            <a:outerShdw sx="100000" sy="100000" kx="0" ky="0" algn="bl" rotWithShape="0" blurRad="12700" dist="12700" dir="2700000">
              <a:srgbClr val="9BB8B5">
                <a:alpha val="14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7589520" y="1417320"/>
            <a:ext cx="89611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02809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7562088" y="1892808"/>
            <a:ext cx="950976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5E74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代码生成模式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8842248" y="1261872"/>
            <a:ext cx="1170432" cy="1005840"/>
          </a:xfrm>
          <a:prstGeom prst="roundRect">
            <a:avLst>
              <a:gd name="adj" fmla="val 10909"/>
            </a:avLst>
          </a:prstGeom>
          <a:solidFill>
            <a:srgbClr val="FFFFFF"/>
          </a:solidFill>
          <a:ln w="12700">
            <a:solidFill>
              <a:srgbClr val="D8E6E3"/>
            </a:solidFill>
            <a:prstDash val="solid"/>
          </a:ln>
          <a:effectLst>
            <a:outerShdw sx="100000" sy="100000" kx="0" ky="0" algn="bl" rotWithShape="0" blurRad="12700" dist="12700" dir="2700000">
              <a:srgbClr val="9BB8B5">
                <a:alpha val="14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8979408" y="1417320"/>
            <a:ext cx="89611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00A89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7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8951976" y="1892808"/>
            <a:ext cx="950976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5E74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微服务子模块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10222992" y="1261872"/>
            <a:ext cx="1170432" cy="1005840"/>
          </a:xfrm>
          <a:prstGeom prst="roundRect">
            <a:avLst>
              <a:gd name="adj" fmla="val 10909"/>
            </a:avLst>
          </a:prstGeom>
          <a:solidFill>
            <a:srgbClr val="FFFFFF"/>
          </a:solidFill>
          <a:ln w="12700">
            <a:solidFill>
              <a:srgbClr val="D8E6E3"/>
            </a:solidFill>
            <a:prstDash val="solid"/>
          </a:ln>
          <a:effectLst>
            <a:outerShdw sx="100000" sy="100000" kx="0" ky="0" algn="bl" rotWithShape="0" blurRad="12700" dist="12700" dir="2700000">
              <a:srgbClr val="9BB8B5">
                <a:alpha val="14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10360152" y="1417320"/>
            <a:ext cx="89611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02C39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15</a:t>
            </a:r>
            <a:endParaRPr lang="en-US" sz="2800" dirty="0"/>
          </a:p>
        </p:txBody>
      </p:sp>
      <p:sp>
        <p:nvSpPr>
          <p:cNvPr id="19" name="Text 17"/>
          <p:cNvSpPr/>
          <p:nvPr/>
        </p:nvSpPr>
        <p:spPr>
          <a:xfrm>
            <a:off x="10332720" y="1892808"/>
            <a:ext cx="950976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5E74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单体测试类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713232" y="315468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关键能力拼图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713232" y="3584448"/>
            <a:ext cx="5166360" cy="841248"/>
          </a:xfrm>
          <a:prstGeom prst="roundRect">
            <a:avLst>
              <a:gd name="adj" fmla="val 13043"/>
            </a:avLst>
          </a:prstGeom>
          <a:solidFill>
            <a:srgbClr val="FFFFFF"/>
          </a:solidFill>
          <a:ln w="12700">
            <a:solidFill>
              <a:srgbClr val="D8E6E3"/>
            </a:solidFill>
            <a:prstDash val="solid"/>
          </a:ln>
          <a:effectLst>
            <a:outerShdw sx="100000" sy="100000" kx="0" ky="0" algn="bl" rotWithShape="0" blurRad="12700" dist="12700" dir="2700000">
              <a:srgbClr val="9BB8B5">
                <a:alpha val="14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914400" y="3785616"/>
            <a:ext cx="420624" cy="420624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914400" y="3895344"/>
            <a:ext cx="42062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1517904" y="3749040"/>
            <a:ext cx="1463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智能生成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1517904" y="4023360"/>
            <a:ext cx="4069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70" dirty="0">
                <a:solidFill>
                  <a:srgbClr val="5E74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自然语言输入，AI 路由选择 HTML / 多文件 / Vue 工程生成策略。</a:t>
            </a:r>
            <a:endParaRPr lang="en-US" sz="1070" dirty="0"/>
          </a:p>
        </p:txBody>
      </p:sp>
      <p:sp>
        <p:nvSpPr>
          <p:cNvPr id="26" name="Shape 24"/>
          <p:cNvSpPr/>
          <p:nvPr/>
        </p:nvSpPr>
        <p:spPr>
          <a:xfrm>
            <a:off x="6245352" y="3584448"/>
            <a:ext cx="5166360" cy="841248"/>
          </a:xfrm>
          <a:prstGeom prst="roundRect">
            <a:avLst>
              <a:gd name="adj" fmla="val 13043"/>
            </a:avLst>
          </a:prstGeom>
          <a:solidFill>
            <a:srgbClr val="F0FFFA"/>
          </a:solidFill>
          <a:ln w="12700">
            <a:solidFill>
              <a:srgbClr val="D8E6E3"/>
            </a:solidFill>
            <a:prstDash val="solid"/>
          </a:ln>
          <a:effectLst>
            <a:outerShdw sx="100000" sy="100000" kx="0" ky="0" algn="bl" rotWithShape="0" blurRad="12700" dist="12700" dir="2700000">
              <a:srgbClr val="9BB8B5">
                <a:alpha val="14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6446520" y="3785616"/>
            <a:ext cx="420624" cy="420624"/>
          </a:xfrm>
          <a:prstGeom prst="ellipse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446520" y="3895344"/>
            <a:ext cx="42062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7050024" y="3749040"/>
            <a:ext cx="1463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可视化编辑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7050024" y="4023360"/>
            <a:ext cx="4069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70" dirty="0">
                <a:solidFill>
                  <a:srgbClr val="5E74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iframe 预览、元素点选与 AI 对话改页面，缩短调试链路。</a:t>
            </a:r>
            <a:endParaRPr lang="en-US" sz="1070" dirty="0"/>
          </a:p>
        </p:txBody>
      </p:sp>
      <p:sp>
        <p:nvSpPr>
          <p:cNvPr id="31" name="Shape 29"/>
          <p:cNvSpPr/>
          <p:nvPr/>
        </p:nvSpPr>
        <p:spPr>
          <a:xfrm>
            <a:off x="713232" y="4727448"/>
            <a:ext cx="5166360" cy="841248"/>
          </a:xfrm>
          <a:prstGeom prst="roundRect">
            <a:avLst>
              <a:gd name="adj" fmla="val 13043"/>
            </a:avLst>
          </a:prstGeom>
          <a:solidFill>
            <a:srgbClr val="FFFFFF"/>
          </a:solidFill>
          <a:ln w="12700">
            <a:solidFill>
              <a:srgbClr val="D8E6E3"/>
            </a:solidFill>
            <a:prstDash val="solid"/>
          </a:ln>
          <a:effectLst>
            <a:outerShdw sx="100000" sy="100000" kx="0" ky="0" algn="bl" rotWithShape="0" blurRad="12700" dist="12700" dir="2700000">
              <a:srgbClr val="9BB8B5">
                <a:alpha val="14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914400" y="4928616"/>
            <a:ext cx="420624" cy="420624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914400" y="5038344"/>
            <a:ext cx="42062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1517904" y="4892040"/>
            <a:ext cx="1463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部署分享</a:t>
            </a:r>
            <a:endParaRPr lang="en-US" sz="1400" dirty="0"/>
          </a:p>
        </p:txBody>
      </p:sp>
      <p:sp>
        <p:nvSpPr>
          <p:cNvPr id="35" name="Text 33"/>
          <p:cNvSpPr/>
          <p:nvPr/>
        </p:nvSpPr>
        <p:spPr>
          <a:xfrm>
            <a:off x="1517904" y="5166360"/>
            <a:ext cx="4069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70" dirty="0">
                <a:solidFill>
                  <a:srgbClr val="5E74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部署地址、封面截图与项目源码下载形成交付闭环。</a:t>
            </a:r>
            <a:endParaRPr lang="en-US" sz="1070" dirty="0"/>
          </a:p>
        </p:txBody>
      </p:sp>
      <p:sp>
        <p:nvSpPr>
          <p:cNvPr id="36" name="Shape 34"/>
          <p:cNvSpPr/>
          <p:nvPr/>
        </p:nvSpPr>
        <p:spPr>
          <a:xfrm>
            <a:off x="6245352" y="4727448"/>
            <a:ext cx="5166360" cy="841248"/>
          </a:xfrm>
          <a:prstGeom prst="roundRect">
            <a:avLst>
              <a:gd name="adj" fmla="val 13043"/>
            </a:avLst>
          </a:prstGeom>
          <a:solidFill>
            <a:srgbClr val="F0FFFA"/>
          </a:solidFill>
          <a:ln w="12700">
            <a:solidFill>
              <a:srgbClr val="D8E6E3"/>
            </a:solidFill>
            <a:prstDash val="solid"/>
          </a:ln>
          <a:effectLst>
            <a:outerShdw sx="100000" sy="100000" kx="0" ky="0" algn="bl" rotWithShape="0" blurRad="12700" dist="12700" dir="2700000">
              <a:srgbClr val="9BB8B5">
                <a:alpha val="14000"/>
              </a:srgbClr>
            </a:outerShdw>
          </a:effectLst>
        </p:spPr>
      </p:sp>
      <p:sp>
        <p:nvSpPr>
          <p:cNvPr id="37" name="Shape 35"/>
          <p:cNvSpPr/>
          <p:nvPr/>
        </p:nvSpPr>
        <p:spPr>
          <a:xfrm>
            <a:off x="6446520" y="4928616"/>
            <a:ext cx="420624" cy="420624"/>
          </a:xfrm>
          <a:prstGeom prst="ellipse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6446520" y="5038344"/>
            <a:ext cx="42062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7050024" y="4892040"/>
            <a:ext cx="1463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后台监控</a:t>
            </a:r>
            <a:endParaRPr lang="en-US" sz="1400" dirty="0"/>
          </a:p>
        </p:txBody>
      </p:sp>
      <p:sp>
        <p:nvSpPr>
          <p:cNvPr id="40" name="Text 38"/>
          <p:cNvSpPr/>
          <p:nvPr/>
        </p:nvSpPr>
        <p:spPr>
          <a:xfrm>
            <a:off x="7050024" y="5166360"/>
            <a:ext cx="4069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70" dirty="0">
                <a:solidFill>
                  <a:srgbClr val="5E74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用户/应用/对话管理，Actuator + Prometheus 本地监控配置。</a:t>
            </a:r>
            <a:endParaRPr lang="en-US" sz="1070" dirty="0"/>
          </a:p>
        </p:txBody>
      </p:sp>
      <p:sp>
        <p:nvSpPr>
          <p:cNvPr id="41" name="Text 39"/>
          <p:cNvSpPr/>
          <p:nvPr/>
        </p:nvSpPr>
        <p:spPr>
          <a:xfrm>
            <a:off x="502920" y="6419088"/>
            <a:ext cx="4114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FA8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yu-ai-code-mother | 每日项目状态</a:t>
            </a:r>
            <a:endParaRPr lang="en-US" sz="900" dirty="0"/>
          </a:p>
        </p:txBody>
      </p:sp>
      <p:sp>
        <p:nvSpPr>
          <p:cNvPr id="42" name="Text 40"/>
          <p:cNvSpPr/>
          <p:nvPr/>
        </p:nvSpPr>
        <p:spPr>
          <a:xfrm>
            <a:off x="11292840" y="6327648"/>
            <a:ext cx="3840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7FA8A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1200" dirty="0"/>
          </a:p>
        </p:txBody>
      </p:sp>
      <p:sp>
        <p:nvSpPr>
          <p:cNvPr id="43" name="Shape 41"/>
          <p:cNvSpPr/>
          <p:nvPr/>
        </p:nvSpPr>
        <p:spPr>
          <a:xfrm>
            <a:off x="11173968" y="6236208"/>
            <a:ext cx="566928" cy="566928"/>
          </a:xfrm>
          <a:prstGeom prst="ellipse">
            <a:avLst/>
          </a:prstGeom>
          <a:solidFill>
            <a:srgbClr val="FFFFFF">
              <a:alpha val="0"/>
            </a:srgbClr>
          </a:solidFill>
          <a:ln w="12700">
            <a:solidFill>
              <a:srgbClr val="D8E6E3"/>
            </a:solidFill>
            <a:prstDash val="solid"/>
          </a:ln>
        </p:spPr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6FB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BFA"/>
          </a:solidFill>
          <a:ln w="12700">
            <a:solidFill>
              <a:srgbClr val="F6FBF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01168" y="0"/>
            <a:ext cx="73152" cy="6858000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0835640" y="-365760"/>
            <a:ext cx="1188720" cy="1188720"/>
          </a:xfrm>
          <a:prstGeom prst="arc">
            <a:avLst/>
          </a:prstGeom>
          <a:noFill/>
          <a:ln w="38100">
            <a:solidFill>
              <a:srgbClr val="02C39A">
                <a:alpha val="7500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21792" y="411480"/>
            <a:ext cx="7498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6323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核心能力</a:t>
            </a:r>
            <a:endParaRPr lang="en-US" sz="3600" dirty="0"/>
          </a:p>
        </p:txBody>
      </p:sp>
      <p:sp>
        <p:nvSpPr>
          <p:cNvPr id="7" name="Text 5"/>
          <p:cNvSpPr/>
          <p:nvPr/>
        </p:nvSpPr>
        <p:spPr>
          <a:xfrm>
            <a:off x="8412480" y="502920"/>
            <a:ext cx="3108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E74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README + 前后端代码证据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713232" y="1234440"/>
            <a:ext cx="2487168" cy="4206240"/>
          </a:xfrm>
          <a:prstGeom prst="roundRect">
            <a:avLst>
              <a:gd name="adj" fmla="val 4412"/>
            </a:avLst>
          </a:prstGeom>
          <a:solidFill>
            <a:srgbClr val="FFFFFF"/>
          </a:solidFill>
          <a:ln w="12700">
            <a:solidFill>
              <a:srgbClr val="D8E6E3"/>
            </a:solidFill>
            <a:prstDash val="solid"/>
          </a:ln>
          <a:effectLst>
            <a:outerShdw sx="100000" sy="100000" kx="0" ky="0" algn="bl" rotWithShape="0" blurRad="12700" dist="12700" dir="2700000">
              <a:srgbClr val="9BB8B5">
                <a:alpha val="14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941832" y="1536192"/>
            <a:ext cx="566928" cy="566928"/>
          </a:xfrm>
          <a:prstGeom prst="roundRect">
            <a:avLst>
              <a:gd name="adj" fmla="val 19355"/>
            </a:avLst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41832" y="1700784"/>
            <a:ext cx="56692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941832" y="2331720"/>
            <a:ext cx="18288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6323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生成</a:t>
            </a:r>
            <a:endParaRPr lang="en-US" sz="2400" dirty="0"/>
          </a:p>
        </p:txBody>
      </p:sp>
      <p:sp>
        <p:nvSpPr>
          <p:cNvPr id="12" name="Text 10"/>
          <p:cNvSpPr/>
          <p:nvPr/>
        </p:nvSpPr>
        <p:spPr>
          <a:xfrm>
            <a:off x="941832" y="2816352"/>
            <a:ext cx="1993392" cy="11430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420" dirty="0">
                <a:solidFill>
                  <a:srgbClr val="5E74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SSE 流式输出、限流保护、三种代码生成类型，覆盖单页、原生多文件与 Vue 工程。</a:t>
            </a:r>
            <a:endParaRPr lang="en-US" sz="1420" dirty="0"/>
          </a:p>
        </p:txBody>
      </p:sp>
      <p:sp>
        <p:nvSpPr>
          <p:cNvPr id="13" name="Shape 11"/>
          <p:cNvSpPr/>
          <p:nvPr/>
        </p:nvSpPr>
        <p:spPr>
          <a:xfrm>
            <a:off x="941832" y="4462272"/>
            <a:ext cx="1920240" cy="109728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941832" y="4736592"/>
            <a:ext cx="2011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5E74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CodeGenTypeEnum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3547872" y="1234440"/>
            <a:ext cx="2487168" cy="4206240"/>
          </a:xfrm>
          <a:prstGeom prst="roundRect">
            <a:avLst>
              <a:gd name="adj" fmla="val 4412"/>
            </a:avLst>
          </a:prstGeom>
          <a:solidFill>
            <a:srgbClr val="FFFFFF"/>
          </a:solidFill>
          <a:ln w="12700">
            <a:solidFill>
              <a:srgbClr val="D8E6E3"/>
            </a:solidFill>
            <a:prstDash val="solid"/>
          </a:ln>
          <a:effectLst>
            <a:outerShdw sx="100000" sy="100000" kx="0" ky="0" algn="bl" rotWithShape="0" blurRad="12700" dist="12700" dir="2700000">
              <a:srgbClr val="9BB8B5">
                <a:alpha val="14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3776472" y="1536192"/>
            <a:ext cx="566928" cy="566928"/>
          </a:xfrm>
          <a:prstGeom prst="roundRect">
            <a:avLst>
              <a:gd name="adj" fmla="val 19355"/>
            </a:avLst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776472" y="1700784"/>
            <a:ext cx="56692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3776472" y="2331720"/>
            <a:ext cx="18288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6323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编辑</a:t>
            </a:r>
            <a:endParaRPr lang="en-US" sz="2400" dirty="0"/>
          </a:p>
        </p:txBody>
      </p:sp>
      <p:sp>
        <p:nvSpPr>
          <p:cNvPr id="19" name="Text 17"/>
          <p:cNvSpPr/>
          <p:nvPr/>
        </p:nvSpPr>
        <p:spPr>
          <a:xfrm>
            <a:off x="3776472" y="2816352"/>
            <a:ext cx="1993392" cy="11430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420" dirty="0">
                <a:solidFill>
                  <a:srgbClr val="5E74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生成结果实时预览，可视化选中页面元素，并通过 AI 对话持续修改。</a:t>
            </a:r>
            <a:endParaRPr lang="en-US" sz="1420" dirty="0"/>
          </a:p>
        </p:txBody>
      </p:sp>
      <p:sp>
        <p:nvSpPr>
          <p:cNvPr id="20" name="Shape 18"/>
          <p:cNvSpPr/>
          <p:nvPr/>
        </p:nvSpPr>
        <p:spPr>
          <a:xfrm>
            <a:off x="3776472" y="4462272"/>
            <a:ext cx="1920240" cy="109728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776472" y="4736592"/>
            <a:ext cx="2011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5E74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visualEditor.ts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6382512" y="1234440"/>
            <a:ext cx="2487168" cy="4206240"/>
          </a:xfrm>
          <a:prstGeom prst="roundRect">
            <a:avLst>
              <a:gd name="adj" fmla="val 4412"/>
            </a:avLst>
          </a:prstGeom>
          <a:solidFill>
            <a:srgbClr val="FFFFFF"/>
          </a:solidFill>
          <a:ln w="12700">
            <a:solidFill>
              <a:srgbClr val="D8E6E3"/>
            </a:solidFill>
            <a:prstDash val="solid"/>
          </a:ln>
          <a:effectLst>
            <a:outerShdw sx="100000" sy="100000" kx="0" ky="0" algn="bl" rotWithShape="0" blurRad="12700" dist="12700" dir="2700000">
              <a:srgbClr val="9BB8B5">
                <a:alpha val="14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6611112" y="1536192"/>
            <a:ext cx="566928" cy="566928"/>
          </a:xfrm>
          <a:prstGeom prst="roundRect">
            <a:avLst>
              <a:gd name="adj" fmla="val 19355"/>
            </a:avLst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611112" y="1700784"/>
            <a:ext cx="56692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6611112" y="2331720"/>
            <a:ext cx="18288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6323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交付</a:t>
            </a:r>
            <a:endParaRPr lang="en-US" sz="2400" dirty="0"/>
          </a:p>
        </p:txBody>
      </p:sp>
      <p:sp>
        <p:nvSpPr>
          <p:cNvPr id="26" name="Text 24"/>
          <p:cNvSpPr/>
          <p:nvPr/>
        </p:nvSpPr>
        <p:spPr>
          <a:xfrm>
            <a:off x="6611112" y="2816352"/>
            <a:ext cx="1993392" cy="11430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420" dirty="0">
                <a:solidFill>
                  <a:srgbClr val="5E74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一键部署、自动封面、源码下载，让应用从生成走到可访问与可分享。</a:t>
            </a:r>
            <a:endParaRPr lang="en-US" sz="1420" dirty="0"/>
          </a:p>
        </p:txBody>
      </p:sp>
      <p:sp>
        <p:nvSpPr>
          <p:cNvPr id="27" name="Shape 25"/>
          <p:cNvSpPr/>
          <p:nvPr/>
        </p:nvSpPr>
        <p:spPr>
          <a:xfrm>
            <a:off x="6611112" y="4462272"/>
            <a:ext cx="1920240" cy="109728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611112" y="4736592"/>
            <a:ext cx="2011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5E74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AppController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9217152" y="1234440"/>
            <a:ext cx="2487168" cy="4206240"/>
          </a:xfrm>
          <a:prstGeom prst="roundRect">
            <a:avLst>
              <a:gd name="adj" fmla="val 4412"/>
            </a:avLst>
          </a:prstGeom>
          <a:solidFill>
            <a:srgbClr val="FFFFFF"/>
          </a:solidFill>
          <a:ln w="12700">
            <a:solidFill>
              <a:srgbClr val="D8E6E3"/>
            </a:solidFill>
            <a:prstDash val="solid"/>
          </a:ln>
          <a:effectLst>
            <a:outerShdw sx="100000" sy="100000" kx="0" ky="0" algn="bl" rotWithShape="0" blurRad="12700" dist="12700" dir="2700000">
              <a:srgbClr val="9BB8B5">
                <a:alpha val="14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9445752" y="1536192"/>
            <a:ext cx="566928" cy="566928"/>
          </a:xfrm>
          <a:prstGeom prst="roundRect">
            <a:avLst>
              <a:gd name="adj" fmla="val 19355"/>
            </a:avLst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9445752" y="1700784"/>
            <a:ext cx="56692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1600" dirty="0"/>
          </a:p>
        </p:txBody>
      </p:sp>
      <p:sp>
        <p:nvSpPr>
          <p:cNvPr id="32" name="Text 30"/>
          <p:cNvSpPr/>
          <p:nvPr/>
        </p:nvSpPr>
        <p:spPr>
          <a:xfrm>
            <a:off x="9445752" y="2331720"/>
            <a:ext cx="18288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6323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治理</a:t>
            </a:r>
            <a:endParaRPr lang="en-US" sz="2400" dirty="0"/>
          </a:p>
        </p:txBody>
      </p:sp>
      <p:sp>
        <p:nvSpPr>
          <p:cNvPr id="33" name="Text 31"/>
          <p:cNvSpPr/>
          <p:nvPr/>
        </p:nvSpPr>
        <p:spPr>
          <a:xfrm>
            <a:off x="9445752" y="2816352"/>
            <a:ext cx="1993392" cy="11430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420" dirty="0">
                <a:solidFill>
                  <a:srgbClr val="5E74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管理员可管理用户、应用和对话；本地 Prometheus 配置已覆盖单体服务。</a:t>
            </a:r>
            <a:endParaRPr lang="en-US" sz="1420" dirty="0"/>
          </a:p>
        </p:txBody>
      </p:sp>
      <p:sp>
        <p:nvSpPr>
          <p:cNvPr id="34" name="Shape 32"/>
          <p:cNvSpPr/>
          <p:nvPr/>
        </p:nvSpPr>
        <p:spPr>
          <a:xfrm>
            <a:off x="9445752" y="4462272"/>
            <a:ext cx="1920240" cy="109728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9445752" y="4736592"/>
            <a:ext cx="2011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5E74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prometheus.yml</a:t>
            </a:r>
            <a:endParaRPr lang="en-US" sz="950" dirty="0"/>
          </a:p>
        </p:txBody>
      </p:sp>
      <p:sp>
        <p:nvSpPr>
          <p:cNvPr id="36" name="Text 34"/>
          <p:cNvSpPr/>
          <p:nvPr/>
        </p:nvSpPr>
        <p:spPr>
          <a:xfrm>
            <a:off x="502920" y="6419088"/>
            <a:ext cx="4114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FA8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yu-ai-code-mother | 每日项目状态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11292840" y="6327648"/>
            <a:ext cx="3840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7FA8A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1200" dirty="0"/>
          </a:p>
        </p:txBody>
      </p:sp>
      <p:sp>
        <p:nvSpPr>
          <p:cNvPr id="38" name="Shape 36"/>
          <p:cNvSpPr/>
          <p:nvPr/>
        </p:nvSpPr>
        <p:spPr>
          <a:xfrm>
            <a:off x="11173968" y="6236208"/>
            <a:ext cx="566928" cy="566928"/>
          </a:xfrm>
          <a:prstGeom prst="ellipse">
            <a:avLst/>
          </a:prstGeom>
          <a:solidFill>
            <a:srgbClr val="FFFFFF">
              <a:alpha val="0"/>
            </a:srgbClr>
          </a:solidFill>
          <a:ln w="12700">
            <a:solidFill>
              <a:srgbClr val="D8E6E3"/>
            </a:solidFill>
            <a:prstDash val="solid"/>
          </a:ln>
        </p:spPr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6FB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BFA"/>
          </a:solidFill>
          <a:ln w="12700">
            <a:solidFill>
              <a:srgbClr val="F6FBF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01168" y="0"/>
            <a:ext cx="73152" cy="6858000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0835640" y="-365760"/>
            <a:ext cx="1188720" cy="1188720"/>
          </a:xfrm>
          <a:prstGeom prst="arc">
            <a:avLst/>
          </a:prstGeom>
          <a:noFill/>
          <a:ln w="38100">
            <a:solidFill>
              <a:srgbClr val="02C39A">
                <a:alpha val="7500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21792" y="411480"/>
            <a:ext cx="7498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6323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主要模块目录</a:t>
            </a:r>
            <a:endParaRPr lang="en-US" sz="3600" dirty="0"/>
          </a:p>
        </p:txBody>
      </p:sp>
      <p:sp>
        <p:nvSpPr>
          <p:cNvPr id="7" name="Text 5"/>
          <p:cNvSpPr/>
          <p:nvPr/>
        </p:nvSpPr>
        <p:spPr>
          <a:xfrm>
            <a:off x="8412480" y="502920"/>
            <a:ext cx="3108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E74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单体 + 微服务 + 前端并存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713232" y="1097280"/>
            <a:ext cx="3337560" cy="4434840"/>
          </a:xfrm>
          <a:prstGeom prst="roundRect">
            <a:avLst>
              <a:gd name="adj" fmla="val 3288"/>
            </a:avLst>
          </a:prstGeom>
          <a:solidFill>
            <a:srgbClr val="FFFFFF"/>
          </a:solidFill>
          <a:ln w="12700">
            <a:solidFill>
              <a:srgbClr val="D8E6E3"/>
            </a:solidFill>
            <a:prstDash val="solid"/>
          </a:ln>
          <a:effectLst>
            <a:outerShdw sx="100000" sy="100000" kx="0" ky="0" algn="bl" rotWithShape="0" blurRad="12700" dist="12700" dir="2700000">
              <a:srgbClr val="9BB8B5">
                <a:alpha val="14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416552" y="1097280"/>
            <a:ext cx="3337560" cy="4434840"/>
          </a:xfrm>
          <a:prstGeom prst="roundRect">
            <a:avLst>
              <a:gd name="adj" fmla="val 3288"/>
            </a:avLst>
          </a:prstGeom>
          <a:solidFill>
            <a:srgbClr val="FFFFFF"/>
          </a:solidFill>
          <a:ln w="12700">
            <a:solidFill>
              <a:srgbClr val="D8E6E3"/>
            </a:solidFill>
            <a:prstDash val="solid"/>
          </a:ln>
          <a:effectLst>
            <a:outerShdw sx="100000" sy="100000" kx="0" ky="0" algn="bl" rotWithShape="0" blurRad="12700" dist="12700" dir="2700000">
              <a:srgbClr val="9BB8B5">
                <a:alpha val="14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8119872" y="1097280"/>
            <a:ext cx="3337560" cy="4434840"/>
          </a:xfrm>
          <a:prstGeom prst="roundRect">
            <a:avLst>
              <a:gd name="adj" fmla="val 3288"/>
            </a:avLst>
          </a:prstGeom>
          <a:solidFill>
            <a:srgbClr val="FFFFFF"/>
          </a:solidFill>
          <a:ln w="12700">
            <a:solidFill>
              <a:srgbClr val="D8E6E3"/>
            </a:solidFill>
            <a:prstDash val="solid"/>
          </a:ln>
          <a:effectLst>
            <a:outerShdw sx="100000" sy="100000" kx="0" ky="0" algn="bl" rotWithShape="0" blurRad="12700" dist="12700" dir="2700000">
              <a:srgbClr val="9BB8B5">
                <a:alpha val="14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960120" y="1417320"/>
            <a:ext cx="694944" cy="694944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960120" y="1627632"/>
            <a:ext cx="69494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1828800" y="144475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6323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单体后端</a:t>
            </a:r>
            <a:endParaRPr lang="en-US" sz="2100" dirty="0"/>
          </a:p>
        </p:txBody>
      </p:sp>
      <p:sp>
        <p:nvSpPr>
          <p:cNvPr id="14" name="Text 12"/>
          <p:cNvSpPr/>
          <p:nvPr/>
        </p:nvSpPr>
        <p:spPr>
          <a:xfrm>
            <a:off x="1828800" y="1792224"/>
            <a:ext cx="2057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src/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960120" y="2496312"/>
            <a:ext cx="82296" cy="82296"/>
          </a:xfrm>
          <a:prstGeom prst="ellipse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124712" y="2423160"/>
            <a:ext cx="2560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40" dirty="0">
                <a:solidFill>
                  <a:srgbClr val="1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Spring Boot 3.5.4 / Java 21</a:t>
            </a:r>
            <a:endParaRPr lang="en-US" sz="1340" dirty="0"/>
          </a:p>
        </p:txBody>
      </p:sp>
      <p:sp>
        <p:nvSpPr>
          <p:cNvPr id="17" name="Shape 15"/>
          <p:cNvSpPr/>
          <p:nvPr/>
        </p:nvSpPr>
        <p:spPr>
          <a:xfrm>
            <a:off x="960120" y="3026664"/>
            <a:ext cx="82296" cy="82296"/>
          </a:xfrm>
          <a:prstGeom prst="ellipse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124712" y="2953512"/>
            <a:ext cx="2560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40" dirty="0">
                <a:solidFill>
                  <a:srgbClr val="1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LangChain4j + LangGraph4j</a:t>
            </a:r>
            <a:endParaRPr lang="en-US" sz="1340" dirty="0"/>
          </a:p>
        </p:txBody>
      </p:sp>
      <p:sp>
        <p:nvSpPr>
          <p:cNvPr id="19" name="Shape 17"/>
          <p:cNvSpPr/>
          <p:nvPr/>
        </p:nvSpPr>
        <p:spPr>
          <a:xfrm>
            <a:off x="960120" y="3557016"/>
            <a:ext cx="82296" cy="82296"/>
          </a:xfrm>
          <a:prstGeom prst="ellipse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1124712" y="3483864"/>
            <a:ext cx="2560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40" dirty="0">
                <a:solidFill>
                  <a:srgbClr val="1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应用、用户、对话、部署、监控</a:t>
            </a:r>
            <a:endParaRPr lang="en-US" sz="1340" dirty="0"/>
          </a:p>
        </p:txBody>
      </p:sp>
      <p:sp>
        <p:nvSpPr>
          <p:cNvPr id="21" name="Shape 19"/>
          <p:cNvSpPr/>
          <p:nvPr/>
        </p:nvSpPr>
        <p:spPr>
          <a:xfrm>
            <a:off x="4663440" y="1417320"/>
            <a:ext cx="694944" cy="694944"/>
          </a:xfrm>
          <a:prstGeom prst="ellipse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663440" y="1627632"/>
            <a:ext cx="69494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5532120" y="144475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6323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微服务版</a:t>
            </a:r>
            <a:endParaRPr lang="en-US" sz="2100" dirty="0"/>
          </a:p>
        </p:txBody>
      </p:sp>
      <p:sp>
        <p:nvSpPr>
          <p:cNvPr id="24" name="Text 22"/>
          <p:cNvSpPr/>
          <p:nvPr/>
        </p:nvSpPr>
        <p:spPr>
          <a:xfrm>
            <a:off x="5532120" y="1792224"/>
            <a:ext cx="2057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yu-ai-code-mother-microservice/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4663440" y="2496312"/>
            <a:ext cx="82296" cy="82296"/>
          </a:xfrm>
          <a:prstGeom prst="ellipse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828032" y="2423160"/>
            <a:ext cx="2560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40" dirty="0">
                <a:solidFill>
                  <a:srgbClr val="1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common / model / client</a:t>
            </a:r>
            <a:endParaRPr lang="en-US" sz="1340" dirty="0"/>
          </a:p>
        </p:txBody>
      </p:sp>
      <p:sp>
        <p:nvSpPr>
          <p:cNvPr id="27" name="Shape 25"/>
          <p:cNvSpPr/>
          <p:nvPr/>
        </p:nvSpPr>
        <p:spPr>
          <a:xfrm>
            <a:off x="4663440" y="3026664"/>
            <a:ext cx="82296" cy="82296"/>
          </a:xfrm>
          <a:prstGeom prst="ellipse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828032" y="2953512"/>
            <a:ext cx="2560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40" dirty="0">
                <a:solidFill>
                  <a:srgbClr val="1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/ app / ai / screenshot</a:t>
            </a:r>
            <a:endParaRPr lang="en-US" sz="1340" dirty="0"/>
          </a:p>
        </p:txBody>
      </p:sp>
      <p:sp>
        <p:nvSpPr>
          <p:cNvPr id="29" name="Shape 27"/>
          <p:cNvSpPr/>
          <p:nvPr/>
        </p:nvSpPr>
        <p:spPr>
          <a:xfrm>
            <a:off x="4663440" y="3557016"/>
            <a:ext cx="82296" cy="82296"/>
          </a:xfrm>
          <a:prstGeom prst="ellipse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828032" y="3483864"/>
            <a:ext cx="2560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40" dirty="0">
                <a:solidFill>
                  <a:srgbClr val="1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Dubbo + Nacos 服务协作</a:t>
            </a:r>
            <a:endParaRPr lang="en-US" sz="1340" dirty="0"/>
          </a:p>
        </p:txBody>
      </p:sp>
      <p:sp>
        <p:nvSpPr>
          <p:cNvPr id="31" name="Shape 29"/>
          <p:cNvSpPr/>
          <p:nvPr/>
        </p:nvSpPr>
        <p:spPr>
          <a:xfrm>
            <a:off x="8366760" y="1417320"/>
            <a:ext cx="694944" cy="694944"/>
          </a:xfrm>
          <a:prstGeom prst="ellipse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8366760" y="1627632"/>
            <a:ext cx="69494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1600" dirty="0"/>
          </a:p>
        </p:txBody>
      </p:sp>
      <p:sp>
        <p:nvSpPr>
          <p:cNvPr id="33" name="Text 31"/>
          <p:cNvSpPr/>
          <p:nvPr/>
        </p:nvSpPr>
        <p:spPr>
          <a:xfrm>
            <a:off x="9235440" y="144475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6323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前端</a:t>
            </a:r>
            <a:endParaRPr lang="en-US" sz="2100" dirty="0"/>
          </a:p>
        </p:txBody>
      </p:sp>
      <p:sp>
        <p:nvSpPr>
          <p:cNvPr id="34" name="Text 32"/>
          <p:cNvSpPr/>
          <p:nvPr/>
        </p:nvSpPr>
        <p:spPr>
          <a:xfrm>
            <a:off x="9235440" y="1792224"/>
            <a:ext cx="2057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yu-ai-code-mother-frontend/</a:t>
            </a:r>
            <a:endParaRPr lang="en-US" sz="1050" dirty="0"/>
          </a:p>
        </p:txBody>
      </p:sp>
      <p:sp>
        <p:nvSpPr>
          <p:cNvPr id="35" name="Shape 33"/>
          <p:cNvSpPr/>
          <p:nvPr/>
        </p:nvSpPr>
        <p:spPr>
          <a:xfrm>
            <a:off x="8366760" y="2496312"/>
            <a:ext cx="82296" cy="82296"/>
          </a:xfrm>
          <a:prstGeom prst="ellipse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8531352" y="2423160"/>
            <a:ext cx="2560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40" dirty="0">
                <a:solidFill>
                  <a:srgbClr val="1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Vue 3 + TypeScript + Vite</a:t>
            </a:r>
            <a:endParaRPr lang="en-US" sz="1340" dirty="0"/>
          </a:p>
        </p:txBody>
      </p:sp>
      <p:sp>
        <p:nvSpPr>
          <p:cNvPr id="37" name="Shape 35"/>
          <p:cNvSpPr/>
          <p:nvPr/>
        </p:nvSpPr>
        <p:spPr>
          <a:xfrm>
            <a:off x="8366760" y="3026664"/>
            <a:ext cx="82296" cy="82296"/>
          </a:xfrm>
          <a:prstGeom prst="ellipse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8531352" y="2953512"/>
            <a:ext cx="2560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40" dirty="0">
                <a:solidFill>
                  <a:srgbClr val="1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 Design Vue + Pinia</a:t>
            </a:r>
            <a:endParaRPr lang="en-US" sz="1340" dirty="0"/>
          </a:p>
        </p:txBody>
      </p:sp>
      <p:sp>
        <p:nvSpPr>
          <p:cNvPr id="39" name="Shape 37"/>
          <p:cNvSpPr/>
          <p:nvPr/>
        </p:nvSpPr>
        <p:spPr>
          <a:xfrm>
            <a:off x="8366760" y="3557016"/>
            <a:ext cx="82296" cy="82296"/>
          </a:xfrm>
          <a:prstGeom prst="ellipse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8531352" y="3483864"/>
            <a:ext cx="2560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40" dirty="0">
                <a:solidFill>
                  <a:srgbClr val="1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首页、对话页、管理后台</a:t>
            </a:r>
            <a:endParaRPr lang="en-US" sz="1340" dirty="0"/>
          </a:p>
        </p:txBody>
      </p:sp>
      <p:sp>
        <p:nvSpPr>
          <p:cNvPr id="41" name="Shape 39"/>
          <p:cNvSpPr/>
          <p:nvPr/>
        </p:nvSpPr>
        <p:spPr>
          <a:xfrm>
            <a:off x="4069080" y="2862072"/>
            <a:ext cx="256032" cy="548640"/>
          </a:xfrm>
          <a:prstGeom prst="chevron">
            <a:avLst/>
          </a:prstGeom>
          <a:solidFill>
            <a:srgbClr val="D8E6E3"/>
          </a:solidFill>
          <a:ln w="12700">
            <a:solidFill>
              <a:srgbClr val="D8E6E3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7772400" y="2862072"/>
            <a:ext cx="256032" cy="548640"/>
          </a:xfrm>
          <a:prstGeom prst="chevron">
            <a:avLst/>
          </a:prstGeom>
          <a:solidFill>
            <a:srgbClr val="D8E6E3"/>
          </a:solidFill>
          <a:ln w="12700">
            <a:solidFill>
              <a:srgbClr val="D8E6E3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841248" y="5779008"/>
            <a:ext cx="10515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20" dirty="0">
                <a:solidFill>
                  <a:srgbClr val="5E74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观察：根 pom 未聚合微服务目录，两套后端形态并存；前端开发代理默认指向单体 8123。</a:t>
            </a:r>
            <a:endParaRPr lang="en-US" sz="1320" dirty="0"/>
          </a:p>
        </p:txBody>
      </p:sp>
      <p:sp>
        <p:nvSpPr>
          <p:cNvPr id="44" name="Text 42"/>
          <p:cNvSpPr/>
          <p:nvPr/>
        </p:nvSpPr>
        <p:spPr>
          <a:xfrm>
            <a:off x="502920" y="6419088"/>
            <a:ext cx="4114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FA8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yu-ai-code-mother | 每日项目状态</a:t>
            </a:r>
            <a:endParaRPr lang="en-US" sz="900" dirty="0"/>
          </a:p>
        </p:txBody>
      </p:sp>
      <p:sp>
        <p:nvSpPr>
          <p:cNvPr id="45" name="Text 43"/>
          <p:cNvSpPr/>
          <p:nvPr/>
        </p:nvSpPr>
        <p:spPr>
          <a:xfrm>
            <a:off x="11292840" y="6327648"/>
            <a:ext cx="3840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7FA8A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04</a:t>
            </a:r>
            <a:endParaRPr lang="en-US" sz="1200" dirty="0"/>
          </a:p>
        </p:txBody>
      </p:sp>
      <p:sp>
        <p:nvSpPr>
          <p:cNvPr id="46" name="Shape 44"/>
          <p:cNvSpPr/>
          <p:nvPr/>
        </p:nvSpPr>
        <p:spPr>
          <a:xfrm>
            <a:off x="11173968" y="6236208"/>
            <a:ext cx="566928" cy="566928"/>
          </a:xfrm>
          <a:prstGeom prst="ellipse">
            <a:avLst/>
          </a:prstGeom>
          <a:solidFill>
            <a:srgbClr val="FFFFFF">
              <a:alpha val="0"/>
            </a:srgbClr>
          </a:solidFill>
          <a:ln w="12700">
            <a:solidFill>
              <a:srgbClr val="D8E6E3"/>
            </a:solidFill>
            <a:prstDash val="solid"/>
          </a:ln>
        </p:spPr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6FB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BFA"/>
          </a:solidFill>
          <a:ln w="12700">
            <a:solidFill>
              <a:srgbClr val="F6FBF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01168" y="0"/>
            <a:ext cx="73152" cy="6858000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0835640" y="-365760"/>
            <a:ext cx="1188720" cy="1188720"/>
          </a:xfrm>
          <a:prstGeom prst="arc">
            <a:avLst/>
          </a:prstGeom>
          <a:noFill/>
          <a:ln w="38100">
            <a:solidFill>
              <a:srgbClr val="02C39A">
                <a:alpha val="7500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21792" y="411480"/>
            <a:ext cx="7498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6323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AI 生成工作流</a:t>
            </a:r>
            <a:endParaRPr lang="en-US" sz="3600" dirty="0"/>
          </a:p>
        </p:txBody>
      </p:sp>
      <p:sp>
        <p:nvSpPr>
          <p:cNvPr id="7" name="Text 5"/>
          <p:cNvSpPr/>
          <p:nvPr/>
        </p:nvSpPr>
        <p:spPr>
          <a:xfrm>
            <a:off x="8412480" y="502920"/>
            <a:ext cx="3108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E74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LangGraph4j 可用工作流路径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658368" y="1828800"/>
            <a:ext cx="932688" cy="932688"/>
          </a:xfrm>
          <a:prstGeom prst="ellipse">
            <a:avLst/>
          </a:prstGeom>
          <a:solidFill>
            <a:srgbClr val="028090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58368" y="2121408"/>
            <a:ext cx="93268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457200" y="2907792"/>
            <a:ext cx="1325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图片采集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365760" y="3182112"/>
            <a:ext cx="1508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70" dirty="0">
                <a:solidFill>
                  <a:srgbClr val="5E74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image_collector</a:t>
            </a:r>
            <a:endParaRPr lang="en-US" sz="870" dirty="0"/>
          </a:p>
        </p:txBody>
      </p:sp>
      <p:sp>
        <p:nvSpPr>
          <p:cNvPr id="12" name="Shape 10"/>
          <p:cNvSpPr/>
          <p:nvPr/>
        </p:nvSpPr>
        <p:spPr>
          <a:xfrm>
            <a:off x="1609344" y="2286000"/>
            <a:ext cx="749808" cy="1143000"/>
          </a:xfrm>
          <a:prstGeom prst="line">
            <a:avLst/>
          </a:prstGeom>
          <a:noFill/>
          <a:ln w="19050">
            <a:solidFill>
              <a:srgbClr val="D8E6E3"/>
            </a:solidFill>
            <a:prstDash val="solid"/>
            <a:headEnd type="none"/>
            <a:tailEnd type="triangle"/>
          </a:ln>
        </p:spPr>
      </p:sp>
      <p:sp>
        <p:nvSpPr>
          <p:cNvPr id="13" name="Shape 11"/>
          <p:cNvSpPr/>
          <p:nvPr/>
        </p:nvSpPr>
        <p:spPr>
          <a:xfrm>
            <a:off x="2560320" y="2971800"/>
            <a:ext cx="932688" cy="932688"/>
          </a:xfrm>
          <a:prstGeom prst="ellipse">
            <a:avLst/>
          </a:prstGeom>
          <a:solidFill>
            <a:srgbClr val="028090">
              <a:alpha val="98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560320" y="3264408"/>
            <a:ext cx="93268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2359152" y="4050792"/>
            <a:ext cx="1325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提示增强</a:t>
            </a:r>
            <a:endParaRPr lang="en-US" sz="1350" dirty="0"/>
          </a:p>
        </p:txBody>
      </p:sp>
      <p:sp>
        <p:nvSpPr>
          <p:cNvPr id="16" name="Text 14"/>
          <p:cNvSpPr/>
          <p:nvPr/>
        </p:nvSpPr>
        <p:spPr>
          <a:xfrm>
            <a:off x="2267712" y="4325112"/>
            <a:ext cx="1508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70" dirty="0">
                <a:solidFill>
                  <a:srgbClr val="5E74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prompt_enhancer</a:t>
            </a:r>
            <a:endParaRPr lang="en-US" sz="870" dirty="0"/>
          </a:p>
        </p:txBody>
      </p:sp>
      <p:sp>
        <p:nvSpPr>
          <p:cNvPr id="17" name="Shape 15"/>
          <p:cNvSpPr/>
          <p:nvPr/>
        </p:nvSpPr>
        <p:spPr>
          <a:xfrm>
            <a:off x="3511296" y="3429000"/>
            <a:ext cx="749808" cy="-1143000"/>
          </a:xfrm>
          <a:prstGeom prst="line">
            <a:avLst/>
          </a:prstGeom>
          <a:noFill/>
          <a:ln w="19050">
            <a:solidFill>
              <a:srgbClr val="D8E6E3"/>
            </a:solidFill>
            <a:prstDash val="solid"/>
            <a:headEnd type="none"/>
            <a:tailEnd type="triangle"/>
          </a:ln>
        </p:spPr>
      </p:sp>
      <p:sp>
        <p:nvSpPr>
          <p:cNvPr id="18" name="Shape 16"/>
          <p:cNvSpPr/>
          <p:nvPr/>
        </p:nvSpPr>
        <p:spPr>
          <a:xfrm>
            <a:off x="4462272" y="1828800"/>
            <a:ext cx="932688" cy="932688"/>
          </a:xfrm>
          <a:prstGeom prst="ellipse">
            <a:avLst/>
          </a:prstGeom>
          <a:solidFill>
            <a:srgbClr val="028090">
              <a:alpha val="96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462272" y="2121408"/>
            <a:ext cx="93268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4261104" y="2907792"/>
            <a:ext cx="1325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类型路由</a:t>
            </a:r>
            <a:endParaRPr lang="en-US" sz="1350" dirty="0"/>
          </a:p>
        </p:txBody>
      </p:sp>
      <p:sp>
        <p:nvSpPr>
          <p:cNvPr id="21" name="Text 19"/>
          <p:cNvSpPr/>
          <p:nvPr/>
        </p:nvSpPr>
        <p:spPr>
          <a:xfrm>
            <a:off x="4169664" y="3182112"/>
            <a:ext cx="1508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70" dirty="0">
                <a:solidFill>
                  <a:srgbClr val="5E74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router</a:t>
            </a:r>
            <a:endParaRPr lang="en-US" sz="870" dirty="0"/>
          </a:p>
        </p:txBody>
      </p:sp>
      <p:sp>
        <p:nvSpPr>
          <p:cNvPr id="22" name="Shape 20"/>
          <p:cNvSpPr/>
          <p:nvPr/>
        </p:nvSpPr>
        <p:spPr>
          <a:xfrm>
            <a:off x="5413248" y="2286000"/>
            <a:ext cx="749808" cy="1143000"/>
          </a:xfrm>
          <a:prstGeom prst="line">
            <a:avLst/>
          </a:prstGeom>
          <a:noFill/>
          <a:ln w="19050">
            <a:solidFill>
              <a:srgbClr val="D8E6E3"/>
            </a:solidFill>
            <a:prstDash val="solid"/>
            <a:headEnd type="none"/>
            <a:tailEnd type="triangle"/>
          </a:ln>
        </p:spPr>
      </p:sp>
      <p:sp>
        <p:nvSpPr>
          <p:cNvPr id="23" name="Shape 21"/>
          <p:cNvSpPr/>
          <p:nvPr/>
        </p:nvSpPr>
        <p:spPr>
          <a:xfrm>
            <a:off x="6364224" y="2971800"/>
            <a:ext cx="932688" cy="932688"/>
          </a:xfrm>
          <a:prstGeom prst="ellipse">
            <a:avLst/>
          </a:prstGeom>
          <a:solidFill>
            <a:srgbClr val="028090">
              <a:alpha val="94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364224" y="3264408"/>
            <a:ext cx="93268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1800" dirty="0"/>
          </a:p>
        </p:txBody>
      </p:sp>
      <p:sp>
        <p:nvSpPr>
          <p:cNvPr id="25" name="Text 23"/>
          <p:cNvSpPr/>
          <p:nvPr/>
        </p:nvSpPr>
        <p:spPr>
          <a:xfrm>
            <a:off x="6163056" y="4050792"/>
            <a:ext cx="1325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代码生成</a:t>
            </a:r>
            <a:endParaRPr lang="en-US" sz="1350" dirty="0"/>
          </a:p>
        </p:txBody>
      </p:sp>
      <p:sp>
        <p:nvSpPr>
          <p:cNvPr id="26" name="Text 24"/>
          <p:cNvSpPr/>
          <p:nvPr/>
        </p:nvSpPr>
        <p:spPr>
          <a:xfrm>
            <a:off x="6071616" y="4325112"/>
            <a:ext cx="1508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70" dirty="0">
                <a:solidFill>
                  <a:srgbClr val="5E74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code_generator</a:t>
            </a:r>
            <a:endParaRPr lang="en-US" sz="870" dirty="0"/>
          </a:p>
        </p:txBody>
      </p:sp>
      <p:sp>
        <p:nvSpPr>
          <p:cNvPr id="27" name="Shape 25"/>
          <p:cNvSpPr/>
          <p:nvPr/>
        </p:nvSpPr>
        <p:spPr>
          <a:xfrm>
            <a:off x="7315200" y="3429000"/>
            <a:ext cx="749808" cy="-1143000"/>
          </a:xfrm>
          <a:prstGeom prst="line">
            <a:avLst/>
          </a:prstGeom>
          <a:noFill/>
          <a:ln w="19050">
            <a:solidFill>
              <a:srgbClr val="D8E6E3"/>
            </a:solidFill>
            <a:prstDash val="solid"/>
            <a:headEnd type="none"/>
            <a:tailEnd type="triangle"/>
          </a:ln>
        </p:spPr>
      </p:sp>
      <p:sp>
        <p:nvSpPr>
          <p:cNvPr id="28" name="Shape 26"/>
          <p:cNvSpPr/>
          <p:nvPr/>
        </p:nvSpPr>
        <p:spPr>
          <a:xfrm>
            <a:off x="8266176" y="1828800"/>
            <a:ext cx="932688" cy="932688"/>
          </a:xfrm>
          <a:prstGeom prst="ellipse">
            <a:avLst/>
          </a:prstGeom>
          <a:solidFill>
            <a:srgbClr val="F4A261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266176" y="2121408"/>
            <a:ext cx="93268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</a:t>
            </a:r>
            <a:endParaRPr lang="en-US" sz="1800" dirty="0"/>
          </a:p>
        </p:txBody>
      </p:sp>
      <p:sp>
        <p:nvSpPr>
          <p:cNvPr id="30" name="Text 28"/>
          <p:cNvSpPr/>
          <p:nvPr/>
        </p:nvSpPr>
        <p:spPr>
          <a:xfrm>
            <a:off x="8065008" y="2907792"/>
            <a:ext cx="1325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质量检查</a:t>
            </a:r>
            <a:endParaRPr lang="en-US" sz="1350" dirty="0"/>
          </a:p>
        </p:txBody>
      </p:sp>
      <p:sp>
        <p:nvSpPr>
          <p:cNvPr id="31" name="Text 29"/>
          <p:cNvSpPr/>
          <p:nvPr/>
        </p:nvSpPr>
        <p:spPr>
          <a:xfrm>
            <a:off x="7973568" y="3182112"/>
            <a:ext cx="1508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70" dirty="0">
                <a:solidFill>
                  <a:srgbClr val="5E74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quality_check</a:t>
            </a:r>
            <a:endParaRPr lang="en-US" sz="870" dirty="0"/>
          </a:p>
        </p:txBody>
      </p:sp>
      <p:sp>
        <p:nvSpPr>
          <p:cNvPr id="32" name="Shape 30"/>
          <p:cNvSpPr/>
          <p:nvPr/>
        </p:nvSpPr>
        <p:spPr>
          <a:xfrm>
            <a:off x="9217152" y="2286000"/>
            <a:ext cx="749808" cy="1143000"/>
          </a:xfrm>
          <a:prstGeom prst="line">
            <a:avLst/>
          </a:prstGeom>
          <a:noFill/>
          <a:ln w="19050">
            <a:solidFill>
              <a:srgbClr val="D8E6E3"/>
            </a:solidFill>
            <a:prstDash val="solid"/>
            <a:headEnd type="none"/>
            <a:tailEnd type="triangle"/>
          </a:ln>
        </p:spPr>
      </p:sp>
      <p:sp>
        <p:nvSpPr>
          <p:cNvPr id="33" name="Shape 31"/>
          <p:cNvSpPr/>
          <p:nvPr/>
        </p:nvSpPr>
        <p:spPr>
          <a:xfrm>
            <a:off x="10168128" y="2971800"/>
            <a:ext cx="932688" cy="932688"/>
          </a:xfrm>
          <a:prstGeom prst="ellipse">
            <a:avLst/>
          </a:prstGeom>
          <a:solidFill>
            <a:srgbClr val="028090">
              <a:alpha val="90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10168128" y="3264408"/>
            <a:ext cx="93268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6</a:t>
            </a:r>
            <a:endParaRPr lang="en-US" sz="1800" dirty="0"/>
          </a:p>
        </p:txBody>
      </p:sp>
      <p:sp>
        <p:nvSpPr>
          <p:cNvPr id="35" name="Text 33"/>
          <p:cNvSpPr/>
          <p:nvPr/>
        </p:nvSpPr>
        <p:spPr>
          <a:xfrm>
            <a:off x="9966960" y="4050792"/>
            <a:ext cx="1325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项目构建</a:t>
            </a:r>
            <a:endParaRPr lang="en-US" sz="1350" dirty="0"/>
          </a:p>
        </p:txBody>
      </p:sp>
      <p:sp>
        <p:nvSpPr>
          <p:cNvPr id="36" name="Text 34"/>
          <p:cNvSpPr/>
          <p:nvPr/>
        </p:nvSpPr>
        <p:spPr>
          <a:xfrm>
            <a:off x="9875520" y="4325112"/>
            <a:ext cx="1508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70" dirty="0">
                <a:solidFill>
                  <a:srgbClr val="5E74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project_builder</a:t>
            </a:r>
            <a:endParaRPr lang="en-US" sz="870" dirty="0"/>
          </a:p>
        </p:txBody>
      </p:sp>
      <p:sp>
        <p:nvSpPr>
          <p:cNvPr id="37" name="Shape 35"/>
          <p:cNvSpPr/>
          <p:nvPr/>
        </p:nvSpPr>
        <p:spPr>
          <a:xfrm>
            <a:off x="914400" y="5166360"/>
            <a:ext cx="10287000" cy="658368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solidFill>
              <a:srgbClr val="D8E6E3"/>
            </a:solidFill>
            <a:prstDash val="solid"/>
          </a:ln>
          <a:effectLst>
            <a:outerShdw sx="100000" sy="100000" kx="0" ky="0" algn="bl" rotWithShape="0" blurRad="12700" dist="12700" dir="2700000">
              <a:srgbClr val="9BB8B5">
                <a:alpha val="14000"/>
              </a:srgbClr>
            </a:outerShdw>
          </a:effectLst>
        </p:spPr>
      </p:sp>
      <p:sp>
        <p:nvSpPr>
          <p:cNvPr id="38" name="Text 36"/>
          <p:cNvSpPr/>
          <p:nvPr/>
        </p:nvSpPr>
        <p:spPr>
          <a:xfrm>
            <a:off x="1143000" y="5394960"/>
            <a:ext cx="9829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20" dirty="0">
                <a:solidFill>
                  <a:srgbClr val="1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质检条件边：通过且需要构建进入 project_builder；通过但无需构建结束；失败则回到 code_generator 重新生成。</a:t>
            </a:r>
            <a:endParaRPr lang="en-US" sz="1320" dirty="0"/>
          </a:p>
        </p:txBody>
      </p:sp>
      <p:sp>
        <p:nvSpPr>
          <p:cNvPr id="39" name="Text 37"/>
          <p:cNvSpPr/>
          <p:nvPr/>
        </p:nvSpPr>
        <p:spPr>
          <a:xfrm>
            <a:off x="502920" y="6419088"/>
            <a:ext cx="4114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FA8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yu-ai-code-mother | 每日项目状态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11292840" y="6327648"/>
            <a:ext cx="3840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7FA8A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05</a:t>
            </a:r>
            <a:endParaRPr lang="en-US" sz="1200" dirty="0"/>
          </a:p>
        </p:txBody>
      </p:sp>
      <p:sp>
        <p:nvSpPr>
          <p:cNvPr id="41" name="Shape 39"/>
          <p:cNvSpPr/>
          <p:nvPr/>
        </p:nvSpPr>
        <p:spPr>
          <a:xfrm>
            <a:off x="11173968" y="6236208"/>
            <a:ext cx="566928" cy="566928"/>
          </a:xfrm>
          <a:prstGeom prst="ellipse">
            <a:avLst/>
          </a:prstGeom>
          <a:solidFill>
            <a:srgbClr val="FFFFFF">
              <a:alpha val="0"/>
            </a:srgbClr>
          </a:solidFill>
          <a:ln w="12700">
            <a:solidFill>
              <a:srgbClr val="D8E6E3"/>
            </a:solidFill>
            <a:prstDash val="solid"/>
          </a:ln>
        </p:spPr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6FB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BFA"/>
          </a:solidFill>
          <a:ln w="12700">
            <a:solidFill>
              <a:srgbClr val="F6FBF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01168" y="0"/>
            <a:ext cx="73152" cy="6858000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0835640" y="-365760"/>
            <a:ext cx="1188720" cy="1188720"/>
          </a:xfrm>
          <a:prstGeom prst="arc">
            <a:avLst/>
          </a:prstGeom>
          <a:noFill/>
          <a:ln w="38100">
            <a:solidFill>
              <a:srgbClr val="02C39A">
                <a:alpha val="7500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21792" y="411480"/>
            <a:ext cx="7498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6323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昨日 / 近期变更</a:t>
            </a:r>
            <a:endParaRPr lang="en-US" sz="3600" dirty="0"/>
          </a:p>
        </p:txBody>
      </p:sp>
      <p:sp>
        <p:nvSpPr>
          <p:cNvPr id="7" name="Text 5"/>
          <p:cNvSpPr/>
          <p:nvPr/>
        </p:nvSpPr>
        <p:spPr>
          <a:xfrm>
            <a:off x="8412480" y="502920"/>
            <a:ext cx="3108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E74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最近 7 天优先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713232" y="1234440"/>
            <a:ext cx="5349240" cy="4297680"/>
          </a:xfrm>
          <a:prstGeom prst="roundRect">
            <a:avLst>
              <a:gd name="adj" fmla="val 2553"/>
            </a:avLst>
          </a:prstGeom>
          <a:solidFill>
            <a:srgbClr val="FFFFFF"/>
          </a:solidFill>
          <a:ln w="12700">
            <a:solidFill>
              <a:srgbClr val="D8E6E3"/>
            </a:solidFill>
            <a:prstDash val="solid"/>
          </a:ln>
          <a:effectLst>
            <a:outerShdw sx="100000" sy="100000" kx="0" ky="0" algn="bl" rotWithShape="0" blurRad="12700" dist="12700" dir="2700000">
              <a:srgbClr val="9BB8B5">
                <a:alpha val="14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1005840" y="1572768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6323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近 7 天检查结果</a:t>
            </a:r>
            <a:endParaRPr lang="en-US" sz="2100" dirty="0"/>
          </a:p>
        </p:txBody>
      </p:sp>
      <p:sp>
        <p:nvSpPr>
          <p:cNvPr id="10" name="Shape 8"/>
          <p:cNvSpPr/>
          <p:nvPr/>
        </p:nvSpPr>
        <p:spPr>
          <a:xfrm>
            <a:off x="1005840" y="2148840"/>
            <a:ext cx="1325880" cy="1005840"/>
          </a:xfrm>
          <a:prstGeom prst="roundRect">
            <a:avLst>
              <a:gd name="adj" fmla="val 10909"/>
            </a:avLst>
          </a:prstGeom>
          <a:solidFill>
            <a:srgbClr val="FFFFFF"/>
          </a:solidFill>
          <a:ln w="12700">
            <a:solidFill>
              <a:srgbClr val="D8E6E3"/>
            </a:solidFill>
            <a:prstDash val="solid"/>
          </a:ln>
          <a:effectLst>
            <a:outerShdw sx="100000" sy="100000" kx="0" ky="0" algn="bl" rotWithShape="0" blurRad="12700" dist="12700" dir="2700000">
              <a:srgbClr val="9BB8B5">
                <a:alpha val="14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1143000" y="2304288"/>
            <a:ext cx="1051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02809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</a:t>
            </a:r>
            <a:endParaRPr lang="en-US" sz="2800" dirty="0"/>
          </a:p>
        </p:txBody>
      </p:sp>
      <p:sp>
        <p:nvSpPr>
          <p:cNvPr id="12" name="Text 10"/>
          <p:cNvSpPr/>
          <p:nvPr/>
        </p:nvSpPr>
        <p:spPr>
          <a:xfrm>
            <a:off x="1115568" y="2779776"/>
            <a:ext cx="1106424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5E74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当前分支业务提交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2606040" y="2148840"/>
            <a:ext cx="1325880" cy="1005840"/>
          </a:xfrm>
          <a:prstGeom prst="roundRect">
            <a:avLst>
              <a:gd name="adj" fmla="val 10909"/>
            </a:avLst>
          </a:prstGeom>
          <a:solidFill>
            <a:srgbClr val="FFFFFF"/>
          </a:solidFill>
          <a:ln w="12700">
            <a:solidFill>
              <a:srgbClr val="D8E6E3"/>
            </a:solidFill>
            <a:prstDash val="solid"/>
          </a:ln>
          <a:effectLst>
            <a:outerShdw sx="100000" sy="100000" kx="0" ky="0" algn="bl" rotWithShape="0" blurRad="12700" dist="12700" dir="2700000">
              <a:srgbClr val="9BB8B5">
                <a:alpha val="14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2743200" y="2304288"/>
            <a:ext cx="1051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00A89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</a:t>
            </a:r>
            <a:endParaRPr lang="en-US" sz="2800" dirty="0"/>
          </a:p>
        </p:txBody>
      </p:sp>
      <p:sp>
        <p:nvSpPr>
          <p:cNvPr id="15" name="Text 13"/>
          <p:cNvSpPr/>
          <p:nvPr/>
        </p:nvSpPr>
        <p:spPr>
          <a:xfrm>
            <a:off x="2715768" y="2779776"/>
            <a:ext cx="1106424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5E74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origin/master 近 7 天提交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4206240" y="2148840"/>
            <a:ext cx="1572768" cy="1005840"/>
          </a:xfrm>
          <a:prstGeom prst="roundRect">
            <a:avLst>
              <a:gd name="adj" fmla="val 10909"/>
            </a:avLst>
          </a:prstGeom>
          <a:solidFill>
            <a:srgbClr val="FFFFFF"/>
          </a:solidFill>
          <a:ln w="12700">
            <a:solidFill>
              <a:srgbClr val="D8E6E3"/>
            </a:solidFill>
            <a:prstDash val="solid"/>
          </a:ln>
          <a:effectLst>
            <a:outerShdw sx="100000" sy="100000" kx="0" ky="0" algn="bl" rotWithShape="0" blurRad="12700" dist="12700" dir="2700000">
              <a:srgbClr val="9BB8B5">
                <a:alpha val="14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4343400" y="2304288"/>
            <a:ext cx="129844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02C39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2025-08-26</a:t>
            </a:r>
            <a:endParaRPr lang="en-US" sz="2800" dirty="0"/>
          </a:p>
        </p:txBody>
      </p:sp>
      <p:sp>
        <p:nvSpPr>
          <p:cNvPr id="18" name="Text 16"/>
          <p:cNvSpPr/>
          <p:nvPr/>
        </p:nvSpPr>
        <p:spPr>
          <a:xfrm>
            <a:off x="4315968" y="2779776"/>
            <a:ext cx="1353312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5E74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最新主线里程碑日期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1051560" y="3776472"/>
            <a:ext cx="82296" cy="82296"/>
          </a:xfrm>
          <a:prstGeom prst="ellipse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1216152" y="3703320"/>
            <a:ext cx="4663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40" dirty="0">
                <a:solidFill>
                  <a:srgbClr val="1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本次日报未发现昨日业务代码变更。</a:t>
            </a:r>
            <a:endParaRPr lang="en-US" sz="1340" dirty="0"/>
          </a:p>
        </p:txBody>
      </p:sp>
      <p:sp>
        <p:nvSpPr>
          <p:cNvPr id="21" name="Shape 19"/>
          <p:cNvSpPr/>
          <p:nvPr/>
        </p:nvSpPr>
        <p:spPr>
          <a:xfrm>
            <a:off x="1051560" y="4233672"/>
            <a:ext cx="82296" cy="82296"/>
          </a:xfrm>
          <a:prstGeom prst="ellipse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216152" y="4160520"/>
            <a:ext cx="4663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40" dirty="0">
                <a:solidFill>
                  <a:srgbClr val="1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当前分支无未提交业务代码改动。</a:t>
            </a:r>
            <a:endParaRPr lang="en-US" sz="1340" dirty="0"/>
          </a:p>
        </p:txBody>
      </p:sp>
      <p:sp>
        <p:nvSpPr>
          <p:cNvPr id="23" name="Shape 21"/>
          <p:cNvSpPr/>
          <p:nvPr/>
        </p:nvSpPr>
        <p:spPr>
          <a:xfrm>
            <a:off x="1051560" y="4690872"/>
            <a:ext cx="82296" cy="82296"/>
          </a:xfrm>
          <a:prstGeom prst="ellipse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1216152" y="4617720"/>
            <a:ext cx="4663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40" dirty="0">
                <a:solidFill>
                  <a:srgbClr val="1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远端主线最近提交为微服务改造完成。</a:t>
            </a:r>
            <a:endParaRPr lang="en-US" sz="1340" dirty="0"/>
          </a:p>
        </p:txBody>
      </p:sp>
      <p:sp>
        <p:nvSpPr>
          <p:cNvPr id="25" name="Shape 23"/>
          <p:cNvSpPr/>
          <p:nvPr/>
        </p:nvSpPr>
        <p:spPr>
          <a:xfrm>
            <a:off x="6446520" y="1234440"/>
            <a:ext cx="4983480" cy="4297680"/>
          </a:xfrm>
          <a:prstGeom prst="roundRect">
            <a:avLst>
              <a:gd name="adj" fmla="val 2553"/>
            </a:avLst>
          </a:prstGeom>
          <a:solidFill>
            <a:srgbClr val="F0FFFA"/>
          </a:solidFill>
          <a:ln w="12700">
            <a:solidFill>
              <a:srgbClr val="D8E6E3"/>
            </a:solidFill>
            <a:prstDash val="solid"/>
          </a:ln>
          <a:effectLst>
            <a:outerShdw sx="100000" sy="100000" kx="0" ky="0" algn="bl" rotWithShape="0" blurRad="12700" dist="12700" dir="2700000">
              <a:srgbClr val="9BB8B5">
                <a:alpha val="14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6739128" y="1572768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6323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最后一次主线里程碑</a:t>
            </a:r>
            <a:endParaRPr lang="en-US" sz="2100" dirty="0"/>
          </a:p>
        </p:txBody>
      </p:sp>
      <p:sp>
        <p:nvSpPr>
          <p:cNvPr id="27" name="Shape 25"/>
          <p:cNvSpPr/>
          <p:nvPr/>
        </p:nvSpPr>
        <p:spPr>
          <a:xfrm>
            <a:off x="6812280" y="2157984"/>
            <a:ext cx="164592" cy="164592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6894576" y="2340864"/>
            <a:ext cx="0" cy="438912"/>
          </a:xfrm>
          <a:prstGeom prst="line">
            <a:avLst/>
          </a:prstGeom>
          <a:noFill/>
          <a:ln w="15240">
            <a:solidFill>
              <a:srgbClr val="D8E6E3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7168896" y="2093976"/>
            <a:ext cx="2377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60" b="1" dirty="0">
                <a:solidFill>
                  <a:srgbClr val="1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微服务改造完成</a:t>
            </a:r>
            <a:endParaRPr lang="en-US" sz="1360" dirty="0"/>
          </a:p>
        </p:txBody>
      </p:sp>
      <p:sp>
        <p:nvSpPr>
          <p:cNvPr id="30" name="Text 28"/>
          <p:cNvSpPr/>
          <p:nvPr/>
        </p:nvSpPr>
        <p:spPr>
          <a:xfrm>
            <a:off x="9281160" y="2093976"/>
            <a:ext cx="1783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20" dirty="0">
                <a:solidFill>
                  <a:srgbClr val="5E74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保留完整单体项目代码</a:t>
            </a:r>
            <a:endParaRPr lang="en-US" sz="1120" dirty="0"/>
          </a:p>
        </p:txBody>
      </p:sp>
      <p:sp>
        <p:nvSpPr>
          <p:cNvPr id="31" name="Shape 29"/>
          <p:cNvSpPr/>
          <p:nvPr/>
        </p:nvSpPr>
        <p:spPr>
          <a:xfrm>
            <a:off x="6812280" y="2816352"/>
            <a:ext cx="164592" cy="164592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6894576" y="2999232"/>
            <a:ext cx="0" cy="438912"/>
          </a:xfrm>
          <a:prstGeom prst="line">
            <a:avLst/>
          </a:prstGeom>
          <a:noFill/>
          <a:ln w="15240">
            <a:solidFill>
              <a:srgbClr val="D8E6E3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7168896" y="2752344"/>
            <a:ext cx="2377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60" b="1" dirty="0">
                <a:solidFill>
                  <a:srgbClr val="1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Dubbo + Nacos</a:t>
            </a:r>
            <a:endParaRPr lang="en-US" sz="1360" dirty="0"/>
          </a:p>
        </p:txBody>
      </p:sp>
      <p:sp>
        <p:nvSpPr>
          <p:cNvPr id="34" name="Text 32"/>
          <p:cNvSpPr/>
          <p:nvPr/>
        </p:nvSpPr>
        <p:spPr>
          <a:xfrm>
            <a:off x="9281160" y="2752344"/>
            <a:ext cx="1783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20" dirty="0">
                <a:solidFill>
                  <a:srgbClr val="5E74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跨服务调用链路建立</a:t>
            </a:r>
            <a:endParaRPr lang="en-US" sz="1120" dirty="0"/>
          </a:p>
        </p:txBody>
      </p:sp>
      <p:sp>
        <p:nvSpPr>
          <p:cNvPr id="35" name="Shape 33"/>
          <p:cNvSpPr/>
          <p:nvPr/>
        </p:nvSpPr>
        <p:spPr>
          <a:xfrm>
            <a:off x="6812280" y="3474720"/>
            <a:ext cx="164592" cy="164592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6894576" y="3657600"/>
            <a:ext cx="0" cy="438912"/>
          </a:xfrm>
          <a:prstGeom prst="line">
            <a:avLst/>
          </a:prstGeom>
          <a:noFill/>
          <a:ln w="15240">
            <a:solidFill>
              <a:srgbClr val="D8E6E3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7168896" y="3410712"/>
            <a:ext cx="2377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60" b="1" dirty="0">
                <a:solidFill>
                  <a:srgbClr val="1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截图服务</a:t>
            </a:r>
            <a:endParaRPr lang="en-US" sz="1360" dirty="0"/>
          </a:p>
        </p:txBody>
      </p:sp>
      <p:sp>
        <p:nvSpPr>
          <p:cNvPr id="38" name="Text 36"/>
          <p:cNvSpPr/>
          <p:nvPr/>
        </p:nvSpPr>
        <p:spPr>
          <a:xfrm>
            <a:off x="9281160" y="3410712"/>
            <a:ext cx="1783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20" dirty="0">
                <a:solidFill>
                  <a:srgbClr val="5E74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Selenium 独立服务化</a:t>
            </a:r>
            <a:endParaRPr lang="en-US" sz="1120" dirty="0"/>
          </a:p>
        </p:txBody>
      </p:sp>
      <p:sp>
        <p:nvSpPr>
          <p:cNvPr id="39" name="Shape 37"/>
          <p:cNvSpPr/>
          <p:nvPr/>
        </p:nvSpPr>
        <p:spPr>
          <a:xfrm>
            <a:off x="6812280" y="4133088"/>
            <a:ext cx="164592" cy="164592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7168896" y="4069080"/>
            <a:ext cx="2377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60" b="1" dirty="0">
                <a:solidFill>
                  <a:srgbClr val="1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模块拆分</a:t>
            </a:r>
            <a:endParaRPr lang="en-US" sz="1360" dirty="0"/>
          </a:p>
        </p:txBody>
      </p:sp>
      <p:sp>
        <p:nvSpPr>
          <p:cNvPr id="41" name="Text 39"/>
          <p:cNvSpPr/>
          <p:nvPr/>
        </p:nvSpPr>
        <p:spPr>
          <a:xfrm>
            <a:off x="9281160" y="4069080"/>
            <a:ext cx="1783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20" dirty="0">
                <a:solidFill>
                  <a:srgbClr val="5E74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/ app / ai 等 7 子模块</a:t>
            </a:r>
            <a:endParaRPr lang="en-US" sz="1120" dirty="0"/>
          </a:p>
        </p:txBody>
      </p:sp>
      <p:sp>
        <p:nvSpPr>
          <p:cNvPr id="42" name="Text 40"/>
          <p:cNvSpPr/>
          <p:nvPr/>
        </p:nvSpPr>
        <p:spPr>
          <a:xfrm>
            <a:off x="502920" y="6419088"/>
            <a:ext cx="4114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FA8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yu-ai-code-mother | 每日项目状态</a:t>
            </a:r>
            <a:endParaRPr lang="en-US" sz="900" dirty="0"/>
          </a:p>
        </p:txBody>
      </p:sp>
      <p:sp>
        <p:nvSpPr>
          <p:cNvPr id="43" name="Text 41"/>
          <p:cNvSpPr/>
          <p:nvPr/>
        </p:nvSpPr>
        <p:spPr>
          <a:xfrm>
            <a:off x="11292840" y="6327648"/>
            <a:ext cx="3840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7FA8A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06</a:t>
            </a:r>
            <a:endParaRPr lang="en-US" sz="1200" dirty="0"/>
          </a:p>
        </p:txBody>
      </p:sp>
      <p:sp>
        <p:nvSpPr>
          <p:cNvPr id="44" name="Shape 42"/>
          <p:cNvSpPr/>
          <p:nvPr/>
        </p:nvSpPr>
        <p:spPr>
          <a:xfrm>
            <a:off x="11173968" y="6236208"/>
            <a:ext cx="566928" cy="566928"/>
          </a:xfrm>
          <a:prstGeom prst="ellipse">
            <a:avLst/>
          </a:prstGeom>
          <a:solidFill>
            <a:srgbClr val="FFFFFF">
              <a:alpha val="0"/>
            </a:srgbClr>
          </a:solidFill>
          <a:ln w="12700">
            <a:solidFill>
              <a:srgbClr val="D8E6E3"/>
            </a:solidFill>
            <a:prstDash val="solid"/>
          </a:ln>
        </p:spPr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6FB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BFA"/>
          </a:solidFill>
          <a:ln w="12700">
            <a:solidFill>
              <a:srgbClr val="F6FBF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01168" y="0"/>
            <a:ext cx="73152" cy="6858000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0835640" y="-365760"/>
            <a:ext cx="1188720" cy="1188720"/>
          </a:xfrm>
          <a:prstGeom prst="arc">
            <a:avLst/>
          </a:prstGeom>
          <a:noFill/>
          <a:ln w="38100">
            <a:solidFill>
              <a:srgbClr val="02C39A">
                <a:alpha val="7500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21792" y="411480"/>
            <a:ext cx="7498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6323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数据 / 指标要点</a:t>
            </a:r>
            <a:endParaRPr lang="en-US" sz="3600" dirty="0"/>
          </a:p>
        </p:txBody>
      </p:sp>
      <p:sp>
        <p:nvSpPr>
          <p:cNvPr id="7" name="Text 5"/>
          <p:cNvSpPr/>
          <p:nvPr/>
        </p:nvSpPr>
        <p:spPr>
          <a:xfrm>
            <a:off x="8412480" y="502920"/>
            <a:ext cx="3108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E74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当前以代码静态扫描为主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713232" y="1234440"/>
            <a:ext cx="5166360" cy="1389888"/>
          </a:xfrm>
          <a:prstGeom prst="roundRect">
            <a:avLst>
              <a:gd name="adj" fmla="val 7895"/>
            </a:avLst>
          </a:prstGeom>
          <a:solidFill>
            <a:srgbClr val="FFFFFF"/>
          </a:solidFill>
          <a:ln w="12700">
            <a:solidFill>
              <a:srgbClr val="D8E6E3"/>
            </a:solidFill>
            <a:prstDash val="solid"/>
          </a:ln>
          <a:effectLst>
            <a:outerShdw sx="100000" sy="100000" kx="0" ky="0" algn="bl" rotWithShape="0" blurRad="12700" dist="12700" dir="2700000">
              <a:srgbClr val="9BB8B5">
                <a:alpha val="14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969264" y="1453896"/>
            <a:ext cx="1325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02809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154+</a:t>
            </a:r>
            <a:endParaRPr lang="en-US" sz="3000" dirty="0"/>
          </a:p>
        </p:txBody>
      </p:sp>
      <p:sp>
        <p:nvSpPr>
          <p:cNvPr id="10" name="Shape 8"/>
          <p:cNvSpPr/>
          <p:nvPr/>
        </p:nvSpPr>
        <p:spPr>
          <a:xfrm>
            <a:off x="2496312" y="1463040"/>
            <a:ext cx="0" cy="868680"/>
          </a:xfrm>
          <a:prstGeom prst="line">
            <a:avLst/>
          </a:prstGeom>
          <a:noFill/>
          <a:ln w="15240">
            <a:solidFill>
              <a:srgbClr val="D8E6E3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706624" y="1472184"/>
            <a:ext cx="23774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单体 Java 文件</a:t>
            </a:r>
            <a:endParaRPr lang="en-US" sz="1550" dirty="0"/>
          </a:p>
        </p:txBody>
      </p:sp>
      <p:sp>
        <p:nvSpPr>
          <p:cNvPr id="12" name="Text 10"/>
          <p:cNvSpPr/>
          <p:nvPr/>
        </p:nvSpPr>
        <p:spPr>
          <a:xfrm>
            <a:off x="2706624" y="1847088"/>
            <a:ext cx="2743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80" dirty="0">
                <a:solidFill>
                  <a:srgbClr val="5E74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后端单体业务与 AI 工作流能力集中。</a:t>
            </a:r>
            <a:endParaRPr lang="en-US" sz="1180" dirty="0"/>
          </a:p>
        </p:txBody>
      </p:sp>
      <p:sp>
        <p:nvSpPr>
          <p:cNvPr id="13" name="Shape 11"/>
          <p:cNvSpPr/>
          <p:nvPr/>
        </p:nvSpPr>
        <p:spPr>
          <a:xfrm>
            <a:off x="6245352" y="1234440"/>
            <a:ext cx="5166360" cy="1389888"/>
          </a:xfrm>
          <a:prstGeom prst="roundRect">
            <a:avLst>
              <a:gd name="adj" fmla="val 7895"/>
            </a:avLst>
          </a:prstGeom>
          <a:solidFill>
            <a:srgbClr val="FFFFFF"/>
          </a:solidFill>
          <a:ln w="12700">
            <a:solidFill>
              <a:srgbClr val="D8E6E3"/>
            </a:solidFill>
            <a:prstDash val="solid"/>
          </a:ln>
          <a:effectLst>
            <a:outerShdw sx="100000" sy="100000" kx="0" ky="0" algn="bl" rotWithShape="0" blurRad="12700" dist="12700" dir="2700000">
              <a:srgbClr val="9BB8B5">
                <a:alpha val="14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6501384" y="1453896"/>
            <a:ext cx="1325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00A89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34</a:t>
            </a:r>
            <a:endParaRPr lang="en-US" sz="3000" dirty="0"/>
          </a:p>
        </p:txBody>
      </p:sp>
      <p:sp>
        <p:nvSpPr>
          <p:cNvPr id="15" name="Shape 13"/>
          <p:cNvSpPr/>
          <p:nvPr/>
        </p:nvSpPr>
        <p:spPr>
          <a:xfrm>
            <a:off x="8028432" y="1463040"/>
            <a:ext cx="0" cy="868680"/>
          </a:xfrm>
          <a:prstGeom prst="line">
            <a:avLst/>
          </a:prstGeom>
          <a:noFill/>
          <a:ln w="15240">
            <a:solidFill>
              <a:srgbClr val="D8E6E3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238744" y="1472184"/>
            <a:ext cx="23774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前端源码文件</a:t>
            </a:r>
            <a:endParaRPr lang="en-US" sz="1550" dirty="0"/>
          </a:p>
        </p:txBody>
      </p:sp>
      <p:sp>
        <p:nvSpPr>
          <p:cNvPr id="17" name="Text 15"/>
          <p:cNvSpPr/>
          <p:nvPr/>
        </p:nvSpPr>
        <p:spPr>
          <a:xfrm>
            <a:off x="8238744" y="1847088"/>
            <a:ext cx="2743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80" dirty="0">
                <a:solidFill>
                  <a:srgbClr val="5E74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Vue 页面、组件、API 与可视化编辑工具。</a:t>
            </a:r>
            <a:endParaRPr lang="en-US" sz="1180" dirty="0"/>
          </a:p>
        </p:txBody>
      </p:sp>
      <p:sp>
        <p:nvSpPr>
          <p:cNvPr id="18" name="Shape 16"/>
          <p:cNvSpPr/>
          <p:nvPr/>
        </p:nvSpPr>
        <p:spPr>
          <a:xfrm>
            <a:off x="713232" y="3108960"/>
            <a:ext cx="5166360" cy="1389888"/>
          </a:xfrm>
          <a:prstGeom prst="roundRect">
            <a:avLst>
              <a:gd name="adj" fmla="val 7895"/>
            </a:avLst>
          </a:prstGeom>
          <a:solidFill>
            <a:srgbClr val="FFFFFF"/>
          </a:solidFill>
          <a:ln w="12700">
            <a:solidFill>
              <a:srgbClr val="D8E6E3"/>
            </a:solidFill>
            <a:prstDash val="solid"/>
          </a:ln>
          <a:effectLst>
            <a:outerShdw sx="100000" sy="100000" kx="0" ky="0" algn="bl" rotWithShape="0" blurRad="12700" dist="12700" dir="2700000">
              <a:srgbClr val="9BB8B5">
                <a:alpha val="14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969264" y="3328416"/>
            <a:ext cx="1325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02C39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7</a:t>
            </a:r>
            <a:endParaRPr lang="en-US" sz="3000" dirty="0"/>
          </a:p>
        </p:txBody>
      </p:sp>
      <p:sp>
        <p:nvSpPr>
          <p:cNvPr id="20" name="Shape 18"/>
          <p:cNvSpPr/>
          <p:nvPr/>
        </p:nvSpPr>
        <p:spPr>
          <a:xfrm>
            <a:off x="2496312" y="3337560"/>
            <a:ext cx="0" cy="868680"/>
          </a:xfrm>
          <a:prstGeom prst="line">
            <a:avLst/>
          </a:prstGeom>
          <a:noFill/>
          <a:ln w="15240">
            <a:solidFill>
              <a:srgbClr val="D8E6E3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2706624" y="3346704"/>
            <a:ext cx="23774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微服务模块</a:t>
            </a:r>
            <a:endParaRPr lang="en-US" sz="1550" dirty="0"/>
          </a:p>
        </p:txBody>
      </p:sp>
      <p:sp>
        <p:nvSpPr>
          <p:cNvPr id="22" name="Text 20"/>
          <p:cNvSpPr/>
          <p:nvPr/>
        </p:nvSpPr>
        <p:spPr>
          <a:xfrm>
            <a:off x="2706624" y="3721608"/>
            <a:ext cx="2743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80" dirty="0">
                <a:solidFill>
                  <a:srgbClr val="5E74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common/model/client/user/app/ai/screenshot。</a:t>
            </a:r>
            <a:endParaRPr lang="en-US" sz="1180" dirty="0"/>
          </a:p>
        </p:txBody>
      </p:sp>
      <p:sp>
        <p:nvSpPr>
          <p:cNvPr id="23" name="Shape 21"/>
          <p:cNvSpPr/>
          <p:nvPr/>
        </p:nvSpPr>
        <p:spPr>
          <a:xfrm>
            <a:off x="6245352" y="3108960"/>
            <a:ext cx="5166360" cy="1389888"/>
          </a:xfrm>
          <a:prstGeom prst="roundRect">
            <a:avLst>
              <a:gd name="adj" fmla="val 7895"/>
            </a:avLst>
          </a:prstGeom>
          <a:solidFill>
            <a:srgbClr val="FFFFFF"/>
          </a:solidFill>
          <a:ln w="12700">
            <a:solidFill>
              <a:srgbClr val="D8E6E3"/>
            </a:solidFill>
            <a:prstDash val="solid"/>
          </a:ln>
          <a:effectLst>
            <a:outerShdw sx="100000" sy="100000" kx="0" ky="0" algn="bl" rotWithShape="0" blurRad="12700" dist="12700" dir="2700000">
              <a:srgbClr val="9BB8B5">
                <a:alpha val="14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6501384" y="3328416"/>
            <a:ext cx="1325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1C729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15</a:t>
            </a:r>
            <a:endParaRPr lang="en-US" sz="3000" dirty="0"/>
          </a:p>
        </p:txBody>
      </p:sp>
      <p:sp>
        <p:nvSpPr>
          <p:cNvPr id="25" name="Shape 23"/>
          <p:cNvSpPr/>
          <p:nvPr/>
        </p:nvSpPr>
        <p:spPr>
          <a:xfrm>
            <a:off x="8028432" y="3337560"/>
            <a:ext cx="0" cy="868680"/>
          </a:xfrm>
          <a:prstGeom prst="line">
            <a:avLst/>
          </a:prstGeom>
          <a:noFill/>
          <a:ln w="15240">
            <a:solidFill>
              <a:srgbClr val="D8E6E3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238744" y="3346704"/>
            <a:ext cx="23774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单体测试类</a:t>
            </a:r>
            <a:endParaRPr lang="en-US" sz="1550" dirty="0"/>
          </a:p>
        </p:txBody>
      </p:sp>
      <p:sp>
        <p:nvSpPr>
          <p:cNvPr id="27" name="Text 25"/>
          <p:cNvSpPr/>
          <p:nvPr/>
        </p:nvSpPr>
        <p:spPr>
          <a:xfrm>
            <a:off x="8238744" y="3721608"/>
            <a:ext cx="2743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80" dirty="0">
                <a:solidFill>
                  <a:srgbClr val="5E74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覆盖 AI、工作流、代码解析和截图等方向。</a:t>
            </a:r>
            <a:endParaRPr lang="en-US" sz="1180" dirty="0"/>
          </a:p>
        </p:txBody>
      </p:sp>
      <p:sp>
        <p:nvSpPr>
          <p:cNvPr id="28" name="Shape 26"/>
          <p:cNvSpPr/>
          <p:nvPr/>
        </p:nvSpPr>
        <p:spPr>
          <a:xfrm>
            <a:off x="713232" y="5184648"/>
            <a:ext cx="10744200" cy="658368"/>
          </a:xfrm>
          <a:prstGeom prst="roundRect">
            <a:avLst>
              <a:gd name="adj" fmla="val 16667"/>
            </a:avLst>
          </a:prstGeom>
          <a:solidFill>
            <a:srgbClr val="E7FAF4"/>
          </a:solidFill>
          <a:ln w="12700">
            <a:solidFill>
              <a:srgbClr val="BEEFE5"/>
            </a:solidFill>
            <a:prstDash val="solid"/>
          </a:ln>
          <a:effectLst>
            <a:outerShdw sx="100000" sy="100000" kx="0" ky="0" algn="bl" rotWithShape="0" blurRad="12700" dist="12700" dir="2700000">
              <a:srgbClr val="9BB8B5">
                <a:alpha val="14000"/>
              </a:srgbClr>
            </a:outerShdw>
          </a:effectLst>
        </p:spPr>
      </p:sp>
      <p:sp>
        <p:nvSpPr>
          <p:cNvPr id="29" name="Text 27"/>
          <p:cNvSpPr/>
          <p:nvPr/>
        </p:nvSpPr>
        <p:spPr>
          <a:xfrm>
            <a:off x="960120" y="5413248"/>
            <a:ext cx="10241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20" dirty="0">
                <a:solidFill>
                  <a:srgbClr val="1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运行期指标建议接入：生成成功率、平均生成耗时、AI 调用 token/成本、部署成功率、截图失败率、SSE 中断率。</a:t>
            </a:r>
            <a:endParaRPr lang="en-US" sz="1320" dirty="0"/>
          </a:p>
        </p:txBody>
      </p:sp>
      <p:sp>
        <p:nvSpPr>
          <p:cNvPr id="30" name="Text 28"/>
          <p:cNvSpPr/>
          <p:nvPr/>
        </p:nvSpPr>
        <p:spPr>
          <a:xfrm>
            <a:off x="502920" y="6419088"/>
            <a:ext cx="4114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FA8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yu-ai-code-mother | 每日项目状态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11292840" y="6327648"/>
            <a:ext cx="3840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7FA8A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07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11173968" y="6236208"/>
            <a:ext cx="566928" cy="566928"/>
          </a:xfrm>
          <a:prstGeom prst="ellipse">
            <a:avLst/>
          </a:prstGeom>
          <a:solidFill>
            <a:srgbClr val="FFFFFF">
              <a:alpha val="0"/>
            </a:srgbClr>
          </a:solidFill>
          <a:ln w="12700">
            <a:solidFill>
              <a:srgbClr val="D8E6E3"/>
            </a:solidFill>
            <a:prstDash val="solid"/>
          </a:ln>
        </p:spPr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6FB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BFA"/>
          </a:solidFill>
          <a:ln w="12700">
            <a:solidFill>
              <a:srgbClr val="F6FBF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01168" y="0"/>
            <a:ext cx="73152" cy="6858000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0835640" y="-365760"/>
            <a:ext cx="1188720" cy="1188720"/>
          </a:xfrm>
          <a:prstGeom prst="arc">
            <a:avLst/>
          </a:prstGeom>
          <a:noFill/>
          <a:ln w="38100">
            <a:solidFill>
              <a:srgbClr val="02C39A">
                <a:alpha val="7500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21792" y="411480"/>
            <a:ext cx="7498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6323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CI / 测试状态</a:t>
            </a:r>
            <a:endParaRPr lang="en-US" sz="3600" dirty="0"/>
          </a:p>
        </p:txBody>
      </p:sp>
      <p:sp>
        <p:nvSpPr>
          <p:cNvPr id="7" name="Text 5"/>
          <p:cNvSpPr/>
          <p:nvPr/>
        </p:nvSpPr>
        <p:spPr>
          <a:xfrm>
            <a:off x="8412480" y="502920"/>
            <a:ext cx="3108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E74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未发现 CI，测试集中在单体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896112" y="1234440"/>
            <a:ext cx="10287000" cy="713232"/>
          </a:xfrm>
          <a:prstGeom prst="roundRect">
            <a:avLst>
              <a:gd name="adj" fmla="val 15385"/>
            </a:avLst>
          </a:prstGeom>
          <a:solidFill>
            <a:srgbClr val="FFFFFF"/>
          </a:solidFill>
          <a:ln w="12700">
            <a:solidFill>
              <a:srgbClr val="D8E6E3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143000" y="1399032"/>
            <a:ext cx="1170432" cy="347472"/>
          </a:xfrm>
          <a:prstGeom prst="roundRect">
            <a:avLst>
              <a:gd name="adj" fmla="val 18421"/>
            </a:avLst>
          </a:prstGeom>
          <a:solidFill>
            <a:srgbClr val="E76F51"/>
          </a:solidFill>
          <a:ln w="12700">
            <a:solidFill>
              <a:srgbClr val="E76F5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143000" y="1499616"/>
            <a:ext cx="1170432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8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未发现</a:t>
            </a:r>
            <a:endParaRPr lang="en-US" sz="980" dirty="0"/>
          </a:p>
        </p:txBody>
      </p:sp>
      <p:sp>
        <p:nvSpPr>
          <p:cNvPr id="11" name="Text 9"/>
          <p:cNvSpPr/>
          <p:nvPr/>
        </p:nvSpPr>
        <p:spPr>
          <a:xfrm>
            <a:off x="2606040" y="1435608"/>
            <a:ext cx="1920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CI/CD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4617720" y="1453896"/>
            <a:ext cx="6172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20" dirty="0">
                <a:solidFill>
                  <a:srgbClr val="5E74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无 .github/workflows、.gitlab-ci 或 Jenkinsfile。</a:t>
            </a:r>
            <a:endParaRPr lang="en-US" sz="1220" dirty="0"/>
          </a:p>
        </p:txBody>
      </p:sp>
      <p:sp>
        <p:nvSpPr>
          <p:cNvPr id="13" name="Shape 11"/>
          <p:cNvSpPr/>
          <p:nvPr/>
        </p:nvSpPr>
        <p:spPr>
          <a:xfrm>
            <a:off x="896112" y="2221992"/>
            <a:ext cx="10287000" cy="713232"/>
          </a:xfrm>
          <a:prstGeom prst="roundRect">
            <a:avLst>
              <a:gd name="adj" fmla="val 15385"/>
            </a:avLst>
          </a:prstGeom>
          <a:solidFill>
            <a:srgbClr val="F0FFFA"/>
          </a:solidFill>
          <a:ln w="12700">
            <a:solidFill>
              <a:srgbClr val="D8E6E3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1143000" y="2386584"/>
            <a:ext cx="1170432" cy="347472"/>
          </a:xfrm>
          <a:prstGeom prst="roundRect">
            <a:avLst>
              <a:gd name="adj" fmla="val 18421"/>
            </a:avLst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143000" y="2487168"/>
            <a:ext cx="1170432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8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存在</a:t>
            </a:r>
            <a:endParaRPr lang="en-US" sz="980" dirty="0"/>
          </a:p>
        </p:txBody>
      </p:sp>
      <p:sp>
        <p:nvSpPr>
          <p:cNvPr id="16" name="Text 14"/>
          <p:cNvSpPr/>
          <p:nvPr/>
        </p:nvSpPr>
        <p:spPr>
          <a:xfrm>
            <a:off x="2606040" y="2423160"/>
            <a:ext cx="1920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后端单体测试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4617720" y="2441448"/>
            <a:ext cx="6172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20" dirty="0">
                <a:solidFill>
                  <a:srgbClr val="5E74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JUnit/Spring Boot Test；15 个测试类。</a:t>
            </a:r>
            <a:endParaRPr lang="en-US" sz="1220" dirty="0"/>
          </a:p>
        </p:txBody>
      </p:sp>
      <p:sp>
        <p:nvSpPr>
          <p:cNvPr id="18" name="Shape 16"/>
          <p:cNvSpPr/>
          <p:nvPr/>
        </p:nvSpPr>
        <p:spPr>
          <a:xfrm>
            <a:off x="896112" y="3209544"/>
            <a:ext cx="10287000" cy="713232"/>
          </a:xfrm>
          <a:prstGeom prst="roundRect">
            <a:avLst>
              <a:gd name="adj" fmla="val 15385"/>
            </a:avLst>
          </a:prstGeom>
          <a:solidFill>
            <a:srgbClr val="FFFFFF"/>
          </a:solidFill>
          <a:ln w="12700">
            <a:solidFill>
              <a:srgbClr val="D8E6E3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1143000" y="3374136"/>
            <a:ext cx="1170432" cy="347472"/>
          </a:xfrm>
          <a:prstGeom prst="roundRect">
            <a:avLst>
              <a:gd name="adj" fmla="val 18421"/>
            </a:avLst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1143000" y="3474720"/>
            <a:ext cx="1170432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8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缺失</a:t>
            </a:r>
            <a:endParaRPr lang="en-US" sz="980" dirty="0"/>
          </a:p>
        </p:txBody>
      </p:sp>
      <p:sp>
        <p:nvSpPr>
          <p:cNvPr id="21" name="Text 19"/>
          <p:cNvSpPr/>
          <p:nvPr/>
        </p:nvSpPr>
        <p:spPr>
          <a:xfrm>
            <a:off x="2606040" y="3410712"/>
            <a:ext cx="1920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微服务测试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4617720" y="3429000"/>
            <a:ext cx="6172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20" dirty="0">
                <a:solidFill>
                  <a:srgbClr val="5E74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微服务目录未发现测试类。</a:t>
            </a:r>
            <a:endParaRPr lang="en-US" sz="1220" dirty="0"/>
          </a:p>
        </p:txBody>
      </p:sp>
      <p:sp>
        <p:nvSpPr>
          <p:cNvPr id="23" name="Shape 21"/>
          <p:cNvSpPr/>
          <p:nvPr/>
        </p:nvSpPr>
        <p:spPr>
          <a:xfrm>
            <a:off x="896112" y="4197096"/>
            <a:ext cx="10287000" cy="713232"/>
          </a:xfrm>
          <a:prstGeom prst="roundRect">
            <a:avLst>
              <a:gd name="adj" fmla="val 15385"/>
            </a:avLst>
          </a:prstGeom>
          <a:solidFill>
            <a:srgbClr val="F0FFFA"/>
          </a:solidFill>
          <a:ln w="12700">
            <a:solidFill>
              <a:srgbClr val="D8E6E3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1143000" y="4361688"/>
            <a:ext cx="1170432" cy="347472"/>
          </a:xfrm>
          <a:prstGeom prst="roundRect">
            <a:avLst>
              <a:gd name="adj" fmla="val 18421"/>
            </a:avLst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1143000" y="4462272"/>
            <a:ext cx="1170432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8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部分具备</a:t>
            </a:r>
            <a:endParaRPr lang="en-US" sz="980" dirty="0"/>
          </a:p>
        </p:txBody>
      </p:sp>
      <p:sp>
        <p:nvSpPr>
          <p:cNvPr id="26" name="Text 24"/>
          <p:cNvSpPr/>
          <p:nvPr/>
        </p:nvSpPr>
        <p:spPr>
          <a:xfrm>
            <a:off x="2606040" y="4398264"/>
            <a:ext cx="1920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前端质量脚本</a:t>
            </a:r>
            <a:endParaRPr lang="en-US" sz="1500" dirty="0"/>
          </a:p>
        </p:txBody>
      </p:sp>
      <p:sp>
        <p:nvSpPr>
          <p:cNvPr id="27" name="Text 25"/>
          <p:cNvSpPr/>
          <p:nvPr/>
        </p:nvSpPr>
        <p:spPr>
          <a:xfrm>
            <a:off x="4617720" y="4416552"/>
            <a:ext cx="6172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20" dirty="0">
                <a:solidFill>
                  <a:srgbClr val="5E74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有 lint、type-check、build；无 test script。</a:t>
            </a:r>
            <a:endParaRPr lang="en-US" sz="1220" dirty="0"/>
          </a:p>
        </p:txBody>
      </p:sp>
      <p:sp>
        <p:nvSpPr>
          <p:cNvPr id="28" name="Shape 26"/>
          <p:cNvSpPr/>
          <p:nvPr/>
        </p:nvSpPr>
        <p:spPr>
          <a:xfrm>
            <a:off x="960120" y="5486400"/>
            <a:ext cx="10149840" cy="9144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914400" y="5715000"/>
            <a:ext cx="10241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dirty="0">
                <a:solidFill>
                  <a:srgbClr val="1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结论：具备本地质量检查基础，但缺少自动化流水线与跨架构测试保障。</a:t>
            </a:r>
            <a:endParaRPr lang="en-US" sz="1350" dirty="0"/>
          </a:p>
        </p:txBody>
      </p:sp>
      <p:sp>
        <p:nvSpPr>
          <p:cNvPr id="30" name="Text 28"/>
          <p:cNvSpPr/>
          <p:nvPr/>
        </p:nvSpPr>
        <p:spPr>
          <a:xfrm>
            <a:off x="502920" y="6419088"/>
            <a:ext cx="4114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FA8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yu-ai-code-mother | 每日项目状态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11292840" y="6327648"/>
            <a:ext cx="3840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7FA8A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08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11173968" y="6236208"/>
            <a:ext cx="566928" cy="566928"/>
          </a:xfrm>
          <a:prstGeom prst="ellipse">
            <a:avLst/>
          </a:prstGeom>
          <a:solidFill>
            <a:srgbClr val="FFFFFF">
              <a:alpha val="0"/>
            </a:srgbClr>
          </a:solidFill>
          <a:ln w="12700">
            <a:solidFill>
              <a:srgbClr val="D8E6E3"/>
            </a:solidFill>
            <a:prstDash val="solid"/>
          </a:ln>
        </p:spPr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6FB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BFA"/>
          </a:solidFill>
          <a:ln w="12700">
            <a:solidFill>
              <a:srgbClr val="F6FBF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01168" y="0"/>
            <a:ext cx="73152" cy="6858000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0835640" y="-365760"/>
            <a:ext cx="1188720" cy="1188720"/>
          </a:xfrm>
          <a:prstGeom prst="arc">
            <a:avLst/>
          </a:prstGeom>
          <a:noFill/>
          <a:ln w="38100">
            <a:solidFill>
              <a:srgbClr val="02C39A">
                <a:alpha val="7500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21792" y="411480"/>
            <a:ext cx="7498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6323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风险与阻塞</a:t>
            </a:r>
            <a:endParaRPr lang="en-US" sz="3600" dirty="0"/>
          </a:p>
        </p:txBody>
      </p:sp>
      <p:sp>
        <p:nvSpPr>
          <p:cNvPr id="7" name="Text 5"/>
          <p:cNvSpPr/>
          <p:nvPr/>
        </p:nvSpPr>
        <p:spPr>
          <a:xfrm>
            <a:off x="8412480" y="502920"/>
            <a:ext cx="3108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E74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基于配置、测试与代码迹象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713232" y="1143000"/>
            <a:ext cx="5166360" cy="987552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2700">
            <a:solidFill>
              <a:srgbClr val="D8E6E3"/>
            </a:solidFill>
            <a:prstDash val="solid"/>
          </a:ln>
          <a:effectLst>
            <a:outerShdw sx="100000" sy="100000" kx="0" ky="0" algn="bl" rotWithShape="0" blurRad="12700" dist="12700" dir="2700000">
              <a:srgbClr val="9BB8B5">
                <a:alpha val="14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923544" y="1399032"/>
            <a:ext cx="420624" cy="420624"/>
          </a:xfrm>
          <a:prstGeom prst="ellipse">
            <a:avLst/>
          </a:prstGeom>
          <a:solidFill>
            <a:srgbClr val="E76F51"/>
          </a:solidFill>
          <a:ln w="12700">
            <a:solidFill>
              <a:srgbClr val="E76F5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23544" y="1508760"/>
            <a:ext cx="42062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1536192" y="1325880"/>
            <a:ext cx="2011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40" b="1" dirty="0">
                <a:solidFill>
                  <a:srgbClr val="1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配置外部化</a:t>
            </a:r>
            <a:endParaRPr lang="en-US" sz="1440" dirty="0"/>
          </a:p>
        </p:txBody>
      </p:sp>
      <p:sp>
        <p:nvSpPr>
          <p:cNvPr id="12" name="Text 10"/>
          <p:cNvSpPr/>
          <p:nvPr/>
        </p:nvSpPr>
        <p:spPr>
          <a:xfrm>
            <a:off x="1536192" y="1636776"/>
            <a:ext cx="40233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80" dirty="0">
                <a:solidFill>
                  <a:srgbClr val="5E74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AI、COS、Pexels、DashScope 等凭据仍需环境化与生产配置治理。</a:t>
            </a:r>
            <a:endParaRPr lang="en-US" sz="1180" dirty="0"/>
          </a:p>
        </p:txBody>
      </p:sp>
      <p:sp>
        <p:nvSpPr>
          <p:cNvPr id="13" name="Shape 11"/>
          <p:cNvSpPr/>
          <p:nvPr/>
        </p:nvSpPr>
        <p:spPr>
          <a:xfrm>
            <a:off x="6245352" y="1143000"/>
            <a:ext cx="5166360" cy="987552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2700">
            <a:solidFill>
              <a:srgbClr val="D8E6E3"/>
            </a:solidFill>
            <a:prstDash val="solid"/>
          </a:ln>
          <a:effectLst>
            <a:outerShdw sx="100000" sy="100000" kx="0" ky="0" algn="bl" rotWithShape="0" blurRad="12700" dist="12700" dir="2700000">
              <a:srgbClr val="9BB8B5">
                <a:alpha val="14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6455664" y="1399032"/>
            <a:ext cx="420624" cy="420624"/>
          </a:xfrm>
          <a:prstGeom prst="ellipse">
            <a:avLst/>
          </a:prstGeom>
          <a:solidFill>
            <a:srgbClr val="E76F51"/>
          </a:solidFill>
          <a:ln w="12700">
            <a:solidFill>
              <a:srgbClr val="E76F51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455664" y="1508760"/>
            <a:ext cx="42062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7068312" y="1325880"/>
            <a:ext cx="2011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40" b="1" dirty="0">
                <a:solidFill>
                  <a:srgbClr val="1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微服务依赖</a:t>
            </a:r>
            <a:endParaRPr lang="en-US" sz="1440" dirty="0"/>
          </a:p>
        </p:txBody>
      </p:sp>
      <p:sp>
        <p:nvSpPr>
          <p:cNvPr id="17" name="Text 15"/>
          <p:cNvSpPr/>
          <p:nvPr/>
        </p:nvSpPr>
        <p:spPr>
          <a:xfrm>
            <a:off x="7068312" y="1636776"/>
            <a:ext cx="40233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80" dirty="0">
                <a:solidFill>
                  <a:srgbClr val="5E74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user/app/screenshot 等服务依赖 Nacos；未发现 gateway 模块。</a:t>
            </a:r>
            <a:endParaRPr lang="en-US" sz="1180" dirty="0"/>
          </a:p>
        </p:txBody>
      </p:sp>
      <p:sp>
        <p:nvSpPr>
          <p:cNvPr id="18" name="Shape 16"/>
          <p:cNvSpPr/>
          <p:nvPr/>
        </p:nvSpPr>
        <p:spPr>
          <a:xfrm>
            <a:off x="713232" y="2560320"/>
            <a:ext cx="5166360" cy="987552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2700">
            <a:solidFill>
              <a:srgbClr val="D8E6E3"/>
            </a:solidFill>
            <a:prstDash val="solid"/>
          </a:ln>
          <a:effectLst>
            <a:outerShdw sx="100000" sy="100000" kx="0" ky="0" algn="bl" rotWithShape="0" blurRad="12700" dist="12700" dir="2700000">
              <a:srgbClr val="9BB8B5">
                <a:alpha val="14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923544" y="2816352"/>
            <a:ext cx="420624" cy="420624"/>
          </a:xfrm>
          <a:prstGeom prst="ellipse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923544" y="2926080"/>
            <a:ext cx="42062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1536192" y="2743200"/>
            <a:ext cx="2011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40" b="1" dirty="0">
                <a:solidFill>
                  <a:srgbClr val="1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测试缺口</a:t>
            </a:r>
            <a:endParaRPr lang="en-US" sz="1440" dirty="0"/>
          </a:p>
        </p:txBody>
      </p:sp>
      <p:sp>
        <p:nvSpPr>
          <p:cNvPr id="22" name="Text 20"/>
          <p:cNvSpPr/>
          <p:nvPr/>
        </p:nvSpPr>
        <p:spPr>
          <a:xfrm>
            <a:off x="1536192" y="3054096"/>
            <a:ext cx="40233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80" dirty="0">
                <a:solidFill>
                  <a:srgbClr val="5E74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微服务无测试，前端无 test script，CI 缺失导致回归风险偏高。</a:t>
            </a:r>
            <a:endParaRPr lang="en-US" sz="1180" dirty="0"/>
          </a:p>
        </p:txBody>
      </p:sp>
      <p:sp>
        <p:nvSpPr>
          <p:cNvPr id="23" name="Shape 21"/>
          <p:cNvSpPr/>
          <p:nvPr/>
        </p:nvSpPr>
        <p:spPr>
          <a:xfrm>
            <a:off x="6245352" y="2560320"/>
            <a:ext cx="5166360" cy="987552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2700">
            <a:solidFill>
              <a:srgbClr val="D8E6E3"/>
            </a:solidFill>
            <a:prstDash val="solid"/>
          </a:ln>
          <a:effectLst>
            <a:outerShdw sx="100000" sy="100000" kx="0" ky="0" algn="bl" rotWithShape="0" blurRad="12700" dist="12700" dir="2700000">
              <a:srgbClr val="9BB8B5">
                <a:alpha val="14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6455664" y="2816352"/>
            <a:ext cx="420624" cy="420624"/>
          </a:xfrm>
          <a:prstGeom prst="ellipse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455664" y="2926080"/>
            <a:ext cx="42062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7068312" y="2743200"/>
            <a:ext cx="2011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40" b="1" dirty="0">
                <a:solidFill>
                  <a:srgbClr val="1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架构差异</a:t>
            </a:r>
            <a:endParaRPr lang="en-US" sz="1440" dirty="0"/>
          </a:p>
        </p:txBody>
      </p:sp>
      <p:sp>
        <p:nvSpPr>
          <p:cNvPr id="27" name="Text 25"/>
          <p:cNvSpPr/>
          <p:nvPr/>
        </p:nvSpPr>
        <p:spPr>
          <a:xfrm>
            <a:off x="7068312" y="3054096"/>
            <a:ext cx="40233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80" dirty="0">
                <a:solidFill>
                  <a:srgbClr val="5E74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LangGraph4j 工作流与 Prometheus 主要在单体，微服务能力需对齐。</a:t>
            </a:r>
            <a:endParaRPr lang="en-US" sz="1180" dirty="0"/>
          </a:p>
        </p:txBody>
      </p:sp>
      <p:sp>
        <p:nvSpPr>
          <p:cNvPr id="28" name="Shape 26"/>
          <p:cNvSpPr/>
          <p:nvPr/>
        </p:nvSpPr>
        <p:spPr>
          <a:xfrm>
            <a:off x="713232" y="3977640"/>
            <a:ext cx="10698480" cy="987552"/>
          </a:xfrm>
          <a:prstGeom prst="roundRect">
            <a:avLst>
              <a:gd name="adj" fmla="val 11111"/>
            </a:avLst>
          </a:prstGeom>
          <a:solidFill>
            <a:srgbClr val="E7FAF4"/>
          </a:solidFill>
          <a:ln w="12700">
            <a:solidFill>
              <a:srgbClr val="D8E6E3"/>
            </a:solidFill>
            <a:prstDash val="solid"/>
          </a:ln>
          <a:effectLst>
            <a:outerShdw sx="100000" sy="100000" kx="0" ky="0" algn="bl" rotWithShape="0" blurRad="12700" dist="12700" dir="2700000">
              <a:srgbClr val="9BB8B5">
                <a:alpha val="14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923544" y="4233672"/>
            <a:ext cx="420624" cy="420624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923544" y="4343400"/>
            <a:ext cx="42062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1536192" y="4160520"/>
            <a:ext cx="2011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40" b="1" dirty="0">
                <a:solidFill>
                  <a:srgbClr val="1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调试残留</a:t>
            </a:r>
            <a:endParaRPr lang="en-US" sz="1440" dirty="0"/>
          </a:p>
        </p:txBody>
      </p:sp>
      <p:sp>
        <p:nvSpPr>
          <p:cNvPr id="32" name="Text 30"/>
          <p:cNvSpPr/>
          <p:nvPr/>
        </p:nvSpPr>
        <p:spPr>
          <a:xfrm>
            <a:off x="1536192" y="4471416"/>
            <a:ext cx="9555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80" dirty="0">
                <a:solidFill>
                  <a:srgbClr val="5E74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流式工具调用相关代码保留 debug 输出与待办注释。</a:t>
            </a:r>
            <a:endParaRPr lang="en-US" sz="1180" dirty="0"/>
          </a:p>
        </p:txBody>
      </p:sp>
      <p:sp>
        <p:nvSpPr>
          <p:cNvPr id="33" name="Text 31"/>
          <p:cNvSpPr/>
          <p:nvPr/>
        </p:nvSpPr>
        <p:spPr>
          <a:xfrm>
            <a:off x="502920" y="6419088"/>
            <a:ext cx="4114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FA8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yu-ai-code-mother | 每日项目状态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11292840" y="6327648"/>
            <a:ext cx="3840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7FA8A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09</a:t>
            </a:r>
            <a:endParaRPr lang="en-US" sz="1200" dirty="0"/>
          </a:p>
        </p:txBody>
      </p:sp>
      <p:sp>
        <p:nvSpPr>
          <p:cNvPr id="35" name="Shape 33"/>
          <p:cNvSpPr/>
          <p:nvPr/>
        </p:nvSpPr>
        <p:spPr>
          <a:xfrm>
            <a:off x="11173968" y="6236208"/>
            <a:ext cx="566928" cy="566928"/>
          </a:xfrm>
          <a:prstGeom prst="ellipse">
            <a:avLst/>
          </a:prstGeom>
          <a:solidFill>
            <a:srgbClr val="FFFFFF">
              <a:alpha val="0"/>
            </a:srgbClr>
          </a:solidFill>
          <a:ln w="12700">
            <a:solidFill>
              <a:srgbClr val="D8E6E3"/>
            </a:solidFill>
            <a:prstDash val="solid"/>
          </a:ln>
        </p:spPr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6FB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BFA"/>
          </a:solidFill>
          <a:ln w="12700">
            <a:solidFill>
              <a:srgbClr val="F6FBF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01168" y="0"/>
            <a:ext cx="73152" cy="6858000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0835640" y="-365760"/>
            <a:ext cx="1188720" cy="1188720"/>
          </a:xfrm>
          <a:prstGeom prst="arc">
            <a:avLst/>
          </a:prstGeom>
          <a:noFill/>
          <a:ln w="38100">
            <a:solidFill>
              <a:srgbClr val="02C39A">
                <a:alpha val="7500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21792" y="411480"/>
            <a:ext cx="7498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6323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建议的下一步</a:t>
            </a:r>
            <a:endParaRPr lang="en-US" sz="3600" dirty="0"/>
          </a:p>
        </p:txBody>
      </p:sp>
      <p:sp>
        <p:nvSpPr>
          <p:cNvPr id="7" name="Text 5"/>
          <p:cNvSpPr/>
          <p:nvPr/>
        </p:nvSpPr>
        <p:spPr>
          <a:xfrm>
            <a:off x="8412480" y="502920"/>
            <a:ext cx="3108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E74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优先补齐可验证、可部署、可观测闭环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896112" y="1371600"/>
            <a:ext cx="1874520" cy="4206240"/>
          </a:xfrm>
          <a:prstGeom prst="roundRect">
            <a:avLst>
              <a:gd name="adj" fmla="val 5854"/>
            </a:avLst>
          </a:prstGeom>
          <a:solidFill>
            <a:srgbClr val="FFFFFF"/>
          </a:solidFill>
          <a:ln w="12700">
            <a:solidFill>
              <a:srgbClr val="D8E6E3"/>
            </a:solidFill>
            <a:prstDash val="solid"/>
          </a:ln>
          <a:effectLst>
            <a:outerShdw sx="100000" sy="100000" kx="0" ky="0" algn="bl" rotWithShape="0" blurRad="12700" dist="12700" dir="2700000">
              <a:srgbClr val="9BB8B5">
                <a:alpha val="14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1463040" y="1737360"/>
            <a:ext cx="749808" cy="749808"/>
          </a:xfrm>
          <a:prstGeom prst="ellipse">
            <a:avLst/>
          </a:prstGeom>
          <a:solidFill>
            <a:srgbClr val="028090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463040" y="1965960"/>
            <a:ext cx="74980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1078992" y="2788920"/>
            <a:ext cx="1508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20" b="1" dirty="0">
                <a:solidFill>
                  <a:srgbClr val="1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建立 CI 基线</a:t>
            </a:r>
            <a:endParaRPr lang="en-US" sz="1420" dirty="0"/>
          </a:p>
        </p:txBody>
      </p:sp>
      <p:sp>
        <p:nvSpPr>
          <p:cNvPr id="12" name="Text 10"/>
          <p:cNvSpPr/>
          <p:nvPr/>
        </p:nvSpPr>
        <p:spPr>
          <a:xfrm>
            <a:off x="1097280" y="3246120"/>
            <a:ext cx="1444752" cy="109728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1140" dirty="0">
                <a:solidFill>
                  <a:srgbClr val="5E74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后端 mvn test、前端 type-check/build/lint 纳入 PR 检查。</a:t>
            </a:r>
            <a:endParaRPr lang="en-US" sz="1140" dirty="0"/>
          </a:p>
        </p:txBody>
      </p:sp>
      <p:sp>
        <p:nvSpPr>
          <p:cNvPr id="13" name="Shape 11"/>
          <p:cNvSpPr/>
          <p:nvPr/>
        </p:nvSpPr>
        <p:spPr>
          <a:xfrm>
            <a:off x="3108960" y="1371600"/>
            <a:ext cx="1874520" cy="4206240"/>
          </a:xfrm>
          <a:prstGeom prst="roundRect">
            <a:avLst>
              <a:gd name="adj" fmla="val 5854"/>
            </a:avLst>
          </a:prstGeom>
          <a:solidFill>
            <a:srgbClr val="F0FFFA"/>
          </a:solidFill>
          <a:ln w="12700">
            <a:solidFill>
              <a:srgbClr val="D8E6E3"/>
            </a:solidFill>
            <a:prstDash val="solid"/>
          </a:ln>
          <a:effectLst>
            <a:outerShdw sx="100000" sy="100000" kx="0" ky="0" algn="bl" rotWithShape="0" blurRad="12700" dist="12700" dir="2700000">
              <a:srgbClr val="9BB8B5">
                <a:alpha val="14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3675888" y="1737360"/>
            <a:ext cx="749808" cy="749808"/>
          </a:xfrm>
          <a:prstGeom prst="ellipse">
            <a:avLst/>
          </a:prstGeom>
          <a:solidFill>
            <a:srgbClr val="028090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75888" y="1965960"/>
            <a:ext cx="74980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3291840" y="2788920"/>
            <a:ext cx="1508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20" b="1" dirty="0">
                <a:solidFill>
                  <a:srgbClr val="1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补齐微服务测试</a:t>
            </a:r>
            <a:endParaRPr lang="en-US" sz="1420" dirty="0"/>
          </a:p>
        </p:txBody>
      </p:sp>
      <p:sp>
        <p:nvSpPr>
          <p:cNvPr id="17" name="Text 15"/>
          <p:cNvSpPr/>
          <p:nvPr/>
        </p:nvSpPr>
        <p:spPr>
          <a:xfrm>
            <a:off x="3310128" y="3246120"/>
            <a:ext cx="1444752" cy="109728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1140" dirty="0">
                <a:solidFill>
                  <a:srgbClr val="5E74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先覆盖 app/user/ai/screenshot 的核心服务与远程调用契约。</a:t>
            </a:r>
            <a:endParaRPr lang="en-US" sz="1140" dirty="0"/>
          </a:p>
        </p:txBody>
      </p:sp>
      <p:sp>
        <p:nvSpPr>
          <p:cNvPr id="18" name="Shape 16"/>
          <p:cNvSpPr/>
          <p:nvPr/>
        </p:nvSpPr>
        <p:spPr>
          <a:xfrm>
            <a:off x="5321808" y="1371600"/>
            <a:ext cx="1874520" cy="4206240"/>
          </a:xfrm>
          <a:prstGeom prst="roundRect">
            <a:avLst>
              <a:gd name="adj" fmla="val 5854"/>
            </a:avLst>
          </a:prstGeom>
          <a:solidFill>
            <a:srgbClr val="FFFFFF"/>
          </a:solidFill>
          <a:ln w="12700">
            <a:solidFill>
              <a:srgbClr val="D8E6E3"/>
            </a:solidFill>
            <a:prstDash val="solid"/>
          </a:ln>
          <a:effectLst>
            <a:outerShdw sx="100000" sy="100000" kx="0" ky="0" algn="bl" rotWithShape="0" blurRad="12700" dist="12700" dir="2700000">
              <a:srgbClr val="9BB8B5">
                <a:alpha val="14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5888736" y="1737360"/>
            <a:ext cx="749808" cy="749808"/>
          </a:xfrm>
          <a:prstGeom prst="ellipse">
            <a:avLst/>
          </a:prstGeom>
          <a:solidFill>
            <a:srgbClr val="00A896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888736" y="1965960"/>
            <a:ext cx="74980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5504688" y="2788920"/>
            <a:ext cx="1508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20" b="1" dirty="0">
                <a:solidFill>
                  <a:srgbClr val="1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收敛配置</a:t>
            </a:r>
            <a:endParaRPr lang="en-US" sz="1420" dirty="0"/>
          </a:p>
        </p:txBody>
      </p:sp>
      <p:sp>
        <p:nvSpPr>
          <p:cNvPr id="22" name="Text 20"/>
          <p:cNvSpPr/>
          <p:nvPr/>
        </p:nvSpPr>
        <p:spPr>
          <a:xfrm>
            <a:off x="5522976" y="3246120"/>
            <a:ext cx="1444752" cy="109728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1140" dirty="0">
                <a:solidFill>
                  <a:srgbClr val="5E74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将本地凭据样例与生产参数分层，减少误用默认配置风险。</a:t>
            </a:r>
            <a:endParaRPr lang="en-US" sz="1140" dirty="0"/>
          </a:p>
        </p:txBody>
      </p:sp>
      <p:sp>
        <p:nvSpPr>
          <p:cNvPr id="23" name="Shape 21"/>
          <p:cNvSpPr/>
          <p:nvPr/>
        </p:nvSpPr>
        <p:spPr>
          <a:xfrm>
            <a:off x="7534656" y="1371600"/>
            <a:ext cx="1874520" cy="4206240"/>
          </a:xfrm>
          <a:prstGeom prst="roundRect">
            <a:avLst>
              <a:gd name="adj" fmla="val 5854"/>
            </a:avLst>
          </a:prstGeom>
          <a:solidFill>
            <a:srgbClr val="F0FFFA"/>
          </a:solidFill>
          <a:ln w="12700">
            <a:solidFill>
              <a:srgbClr val="D8E6E3"/>
            </a:solidFill>
            <a:prstDash val="solid"/>
          </a:ln>
          <a:effectLst>
            <a:outerShdw sx="100000" sy="100000" kx="0" ky="0" algn="bl" rotWithShape="0" blurRad="12700" dist="12700" dir="2700000">
              <a:srgbClr val="9BB8B5">
                <a:alpha val="14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8101584" y="1737360"/>
            <a:ext cx="749808" cy="749808"/>
          </a:xfrm>
          <a:prstGeom prst="ellipse">
            <a:avLst/>
          </a:prstGeom>
          <a:solidFill>
            <a:srgbClr val="00A896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8101584" y="1965960"/>
            <a:ext cx="74980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1800" dirty="0"/>
          </a:p>
        </p:txBody>
      </p:sp>
      <p:sp>
        <p:nvSpPr>
          <p:cNvPr id="26" name="Text 24"/>
          <p:cNvSpPr/>
          <p:nvPr/>
        </p:nvSpPr>
        <p:spPr>
          <a:xfrm>
            <a:off x="7717536" y="2788920"/>
            <a:ext cx="1508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20" b="1" dirty="0">
                <a:solidFill>
                  <a:srgbClr val="1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对齐双架构能力</a:t>
            </a:r>
            <a:endParaRPr lang="en-US" sz="1420" dirty="0"/>
          </a:p>
        </p:txBody>
      </p:sp>
      <p:sp>
        <p:nvSpPr>
          <p:cNvPr id="27" name="Text 25"/>
          <p:cNvSpPr/>
          <p:nvPr/>
        </p:nvSpPr>
        <p:spPr>
          <a:xfrm>
            <a:off x="7735824" y="3246120"/>
            <a:ext cx="1444752" cy="109728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1140" dirty="0">
                <a:solidFill>
                  <a:srgbClr val="5E74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明确单体与微服务版能力矩阵，补齐工作流与监控差异。</a:t>
            </a:r>
            <a:endParaRPr lang="en-US" sz="1140" dirty="0"/>
          </a:p>
        </p:txBody>
      </p:sp>
      <p:sp>
        <p:nvSpPr>
          <p:cNvPr id="28" name="Shape 26"/>
          <p:cNvSpPr/>
          <p:nvPr/>
        </p:nvSpPr>
        <p:spPr>
          <a:xfrm>
            <a:off x="9747504" y="1371600"/>
            <a:ext cx="1874520" cy="4206240"/>
          </a:xfrm>
          <a:prstGeom prst="roundRect">
            <a:avLst>
              <a:gd name="adj" fmla="val 5854"/>
            </a:avLst>
          </a:prstGeom>
          <a:solidFill>
            <a:srgbClr val="FFFFFF"/>
          </a:solidFill>
          <a:ln w="12700">
            <a:solidFill>
              <a:srgbClr val="D8E6E3"/>
            </a:solidFill>
            <a:prstDash val="solid"/>
          </a:ln>
          <a:effectLst>
            <a:outerShdw sx="100000" sy="100000" kx="0" ky="0" algn="bl" rotWithShape="0" blurRad="12700" dist="12700" dir="2700000">
              <a:srgbClr val="9BB8B5">
                <a:alpha val="14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10314432" y="1737360"/>
            <a:ext cx="749808" cy="749808"/>
          </a:xfrm>
          <a:prstGeom prst="ellipse">
            <a:avLst/>
          </a:prstGeom>
          <a:solidFill>
            <a:srgbClr val="02C39A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10314432" y="1965960"/>
            <a:ext cx="74980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</a:t>
            </a:r>
            <a:endParaRPr lang="en-US" sz="1800" dirty="0"/>
          </a:p>
        </p:txBody>
      </p:sp>
      <p:sp>
        <p:nvSpPr>
          <p:cNvPr id="31" name="Text 29"/>
          <p:cNvSpPr/>
          <p:nvPr/>
        </p:nvSpPr>
        <p:spPr>
          <a:xfrm>
            <a:off x="9930384" y="2788920"/>
            <a:ext cx="1508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20" b="1" dirty="0">
                <a:solidFill>
                  <a:srgbClr val="1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接入运营指标</a:t>
            </a:r>
            <a:endParaRPr lang="en-US" sz="1420" dirty="0"/>
          </a:p>
        </p:txBody>
      </p:sp>
      <p:sp>
        <p:nvSpPr>
          <p:cNvPr id="32" name="Text 30"/>
          <p:cNvSpPr/>
          <p:nvPr/>
        </p:nvSpPr>
        <p:spPr>
          <a:xfrm>
            <a:off x="9948672" y="3246120"/>
            <a:ext cx="1444752" cy="109728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1140" dirty="0">
                <a:solidFill>
                  <a:srgbClr val="5E74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围绕生成、部署、截图、AI 成本建立可视化看板。</a:t>
            </a:r>
            <a:endParaRPr lang="en-US" sz="1140" dirty="0"/>
          </a:p>
        </p:txBody>
      </p:sp>
      <p:sp>
        <p:nvSpPr>
          <p:cNvPr id="33" name="Text 31"/>
          <p:cNvSpPr/>
          <p:nvPr/>
        </p:nvSpPr>
        <p:spPr>
          <a:xfrm>
            <a:off x="502920" y="6419088"/>
            <a:ext cx="4114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FA8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yu-ai-code-mother | 每日项目状态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11292840" y="6327648"/>
            <a:ext cx="3840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7FA8A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10</a:t>
            </a:r>
            <a:endParaRPr lang="en-US" sz="1200" dirty="0"/>
          </a:p>
        </p:txBody>
      </p:sp>
      <p:sp>
        <p:nvSpPr>
          <p:cNvPr id="35" name="Shape 33"/>
          <p:cNvSpPr/>
          <p:nvPr/>
        </p:nvSpPr>
        <p:spPr>
          <a:xfrm>
            <a:off x="11173968" y="6236208"/>
            <a:ext cx="566928" cy="566928"/>
          </a:xfrm>
          <a:prstGeom prst="ellipse">
            <a:avLst/>
          </a:prstGeom>
          <a:solidFill>
            <a:srgbClr val="FFFFFF">
              <a:alpha val="0"/>
            </a:srgbClr>
          </a:solidFill>
          <a:ln w="12700">
            <a:solidFill>
              <a:srgbClr val="D8E6E3"/>
            </a:solidFill>
            <a:prstDash val="solid"/>
          </a:ln>
        </p:spPr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8334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83344"/>
          </a:solidFill>
          <a:ln w="12700">
            <a:solidFill>
              <a:srgbClr val="083344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 rot="480000">
            <a:off x="7955280" y="-182880"/>
            <a:ext cx="4480560" cy="7406640"/>
          </a:xfrm>
          <a:prstGeom prst="rect">
            <a:avLst/>
          </a:prstGeom>
          <a:solidFill>
            <a:srgbClr val="028090">
              <a:alpha val="88000"/>
            </a:srgbClr>
          </a:solidFill>
          <a:ln w="12700">
            <a:solidFill>
              <a:srgbClr val="028090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 rot="480000">
            <a:off x="9692640" y="-365760"/>
            <a:ext cx="2011680" cy="7680960"/>
          </a:xfrm>
          <a:prstGeom prst="rect">
            <a:avLst/>
          </a:prstGeom>
          <a:solidFill>
            <a:srgbClr val="02C39A">
              <a:alpha val="85000"/>
            </a:srgbClr>
          </a:solidFill>
          <a:ln w="12700">
            <a:solidFill>
              <a:srgbClr val="02C39A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20040" y="5303520"/>
            <a:ext cx="1097280" cy="1097280"/>
          </a:xfrm>
          <a:prstGeom prst="arc">
            <a:avLst/>
          </a:prstGeom>
          <a:noFill/>
          <a:ln w="25400">
            <a:solidFill>
              <a:srgbClr val="00A896">
                <a:alpha val="9000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13232" y="713232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总结</a:t>
            </a:r>
            <a:endParaRPr lang="en-US" sz="4000" dirty="0"/>
          </a:p>
        </p:txBody>
      </p:sp>
      <p:sp>
        <p:nvSpPr>
          <p:cNvPr id="7" name="Text 5"/>
          <p:cNvSpPr/>
          <p:nvPr/>
        </p:nvSpPr>
        <p:spPr>
          <a:xfrm>
            <a:off x="749808" y="1463040"/>
            <a:ext cx="64008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D7FA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当前项目能力轮廓清晰，单体实现成熟度高；下一阶段重点是把质量保障、配置治理与运行指标补成工程闭环。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804672" y="2743200"/>
            <a:ext cx="6080760" cy="621792"/>
          </a:xfrm>
          <a:prstGeom prst="roundRect">
            <a:avLst>
              <a:gd name="adj" fmla="val 14706"/>
            </a:avLst>
          </a:prstGeom>
          <a:solidFill>
            <a:srgbClr val="FFFFFF">
              <a:alpha val="12000"/>
            </a:srgbClr>
          </a:solidFill>
          <a:ln w="12700">
            <a:solidFill>
              <a:srgbClr val="BDEFE5">
                <a:alpha val="7000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042416" y="2916936"/>
            <a:ext cx="1280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保持优势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2331720" y="2907792"/>
            <a:ext cx="4297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20" dirty="0">
                <a:solidFill>
                  <a:srgbClr val="EAFB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代码生成、可视化编辑、部署分享与后台管理已形成完整产品链路。</a:t>
            </a:r>
            <a:endParaRPr lang="en-US" sz="1220" dirty="0"/>
          </a:p>
        </p:txBody>
      </p:sp>
      <p:sp>
        <p:nvSpPr>
          <p:cNvPr id="11" name="Shape 9"/>
          <p:cNvSpPr/>
          <p:nvPr/>
        </p:nvSpPr>
        <p:spPr>
          <a:xfrm>
            <a:off x="804672" y="3611880"/>
            <a:ext cx="6080760" cy="621792"/>
          </a:xfrm>
          <a:prstGeom prst="roundRect">
            <a:avLst>
              <a:gd name="adj" fmla="val 14706"/>
            </a:avLst>
          </a:prstGeom>
          <a:solidFill>
            <a:srgbClr val="FFFFFF">
              <a:alpha val="12000"/>
            </a:srgbClr>
          </a:solidFill>
          <a:ln w="12700">
            <a:solidFill>
              <a:srgbClr val="BDEFE5">
                <a:alpha val="7000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042416" y="3785616"/>
            <a:ext cx="1280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补齐短板</a:t>
            </a:r>
            <a:endParaRPr lang="en-US" sz="1350" dirty="0"/>
          </a:p>
        </p:txBody>
      </p:sp>
      <p:sp>
        <p:nvSpPr>
          <p:cNvPr id="13" name="Text 11"/>
          <p:cNvSpPr/>
          <p:nvPr/>
        </p:nvSpPr>
        <p:spPr>
          <a:xfrm>
            <a:off x="2331720" y="3776472"/>
            <a:ext cx="4297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20" dirty="0">
                <a:solidFill>
                  <a:srgbClr val="EAFB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自动化 CI、微服务测试与前端测试仍是当前最大质量缺口。</a:t>
            </a:r>
            <a:endParaRPr lang="en-US" sz="1220" dirty="0"/>
          </a:p>
        </p:txBody>
      </p:sp>
      <p:sp>
        <p:nvSpPr>
          <p:cNvPr id="14" name="Shape 12"/>
          <p:cNvSpPr/>
          <p:nvPr/>
        </p:nvSpPr>
        <p:spPr>
          <a:xfrm>
            <a:off x="804672" y="4480560"/>
            <a:ext cx="6080760" cy="621792"/>
          </a:xfrm>
          <a:prstGeom prst="roundRect">
            <a:avLst>
              <a:gd name="adj" fmla="val 14706"/>
            </a:avLst>
          </a:prstGeom>
          <a:solidFill>
            <a:srgbClr val="FFFFFF">
              <a:alpha val="12000"/>
            </a:srgbClr>
          </a:solidFill>
          <a:ln w="12700">
            <a:solidFill>
              <a:srgbClr val="BDEFE5">
                <a:alpha val="7000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042416" y="4654296"/>
            <a:ext cx="1280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聚焦交付</a:t>
            </a:r>
            <a:endParaRPr lang="en-US" sz="1350" dirty="0"/>
          </a:p>
        </p:txBody>
      </p:sp>
      <p:sp>
        <p:nvSpPr>
          <p:cNvPr id="16" name="Text 14"/>
          <p:cNvSpPr/>
          <p:nvPr/>
        </p:nvSpPr>
        <p:spPr>
          <a:xfrm>
            <a:off x="2331720" y="4645152"/>
            <a:ext cx="4297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20" dirty="0">
                <a:solidFill>
                  <a:srgbClr val="EAFB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优先把生成成功率、部署成功率、AI 成本等指标接入常态化看板。</a:t>
            </a:r>
            <a:endParaRPr lang="en-US" sz="1220" dirty="0"/>
          </a:p>
        </p:txBody>
      </p:sp>
      <p:sp>
        <p:nvSpPr>
          <p:cNvPr id="17" name="Shape 15"/>
          <p:cNvSpPr/>
          <p:nvPr/>
        </p:nvSpPr>
        <p:spPr>
          <a:xfrm>
            <a:off x="7863840" y="1417320"/>
            <a:ext cx="2834640" cy="2834640"/>
          </a:xfrm>
          <a:prstGeom prst="ellipse">
            <a:avLst/>
          </a:prstGeom>
          <a:solidFill>
            <a:srgbClr val="028090">
              <a:alpha val="88000"/>
            </a:srgbClr>
          </a:solidFill>
          <a:ln w="12700">
            <a:solidFill>
              <a:srgbClr val="FFFFFF">
                <a:alpha val="1200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8458200" y="2011680"/>
            <a:ext cx="1645920" cy="1645920"/>
          </a:xfrm>
          <a:prstGeom prst="ellipse">
            <a:avLst/>
          </a:prstGeom>
          <a:solidFill>
            <a:srgbClr val="02C39A"/>
          </a:solidFill>
          <a:ln w="12700">
            <a:solidFill>
              <a:srgbClr val="FFFFFF">
                <a:alpha val="20000"/>
              </a:srgbClr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458200" y="2633472"/>
            <a:ext cx="1645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8334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READY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749808" y="6291072"/>
            <a:ext cx="5852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1D9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docs/reports/project-status-2026-07-07.pptx</a:t>
            </a:r>
            <a:endParaRPr lang="en-US" sz="10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Georg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yu-ai-code-mother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每日项目状态汇报 2026-07-07</dc:title>
  <dc:subject>每日项目状态汇报</dc:subject>
  <dc:creator>Cursor Automation</dc:creator>
  <cp:lastModifiedBy>Cursor Automation</cp:lastModifiedBy>
  <cp:revision>1</cp:revision>
  <dcterms:created xsi:type="dcterms:W3CDTF">2026-07-07T09:08:13Z</dcterms:created>
  <dcterms:modified xsi:type="dcterms:W3CDTF">2026-07-07T09:08:13Z</dcterms:modified>
</cp:coreProperties>
</file>