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955280" y="-822960"/>
            <a:ext cx="3840480" cy="3840480"/>
          </a:xfrm>
          <a:prstGeom prst="ellipse">
            <a:avLst/>
          </a:prstGeom>
          <a:solidFill>
            <a:srgbClr val="1C7293">
              <a:alpha val="7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92640" y="4114800"/>
            <a:ext cx="3291840" cy="3291840"/>
          </a:xfrm>
          <a:prstGeom prst="ellipse">
            <a:avLst/>
          </a:prstGeom>
          <a:solidFill>
            <a:srgbClr val="02C39A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65A82">
              <a:alpha val="8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85800" y="658368"/>
            <a:ext cx="2423160" cy="347472"/>
          </a:xfrm>
          <a:prstGeom prst="roundRect">
            <a:avLst>
              <a:gd name="adj" fmla="val 23684"/>
            </a:avLst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5528" y="740664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 Gradient / Teal Trust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1444752"/>
            <a:ext cx="6903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每日项目状态汇报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13232" y="221284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零代码应用生成平台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13232" y="2697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3232" y="3977640"/>
            <a:ext cx="3977640" cy="1170432"/>
          </a:xfrm>
          <a:prstGeom prst="roundRect">
            <a:avLst>
              <a:gd name="adj" fmla="val 625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DD3FC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32688" y="425196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F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运行日（北京时间）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2688" y="45079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2026-06-02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3063240" y="4370832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分支 cursor/-bc-10e29766-f9e5-4544-b7da-6536b6ee1872-1fea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589520" y="1225296"/>
            <a:ext cx="3383280" cy="841248"/>
          </a:xfrm>
          <a:prstGeom prst="rect">
            <a:avLst/>
          </a:prstGeom>
          <a:solidFill>
            <a:srgbClr val="1C7293">
              <a:alpha val="9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01000" y="2359152"/>
            <a:ext cx="2651760" cy="841248"/>
          </a:xfrm>
          <a:prstGeom prst="rect">
            <a:avLst/>
          </a:prstGeom>
          <a:solidFill>
            <a:srgbClr val="00A896">
              <a:alpha val="9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94192" y="3493008"/>
            <a:ext cx="1920240" cy="841248"/>
          </a:xfrm>
          <a:prstGeom prst="rect">
            <a:avLst/>
          </a:prstGeom>
          <a:solidFill>
            <a:srgbClr val="02C39A">
              <a:alpha val="86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13232" y="5961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生成依据：README、主要模块、测试/监控配置、近期 Git 提交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当前仓库提供单体后端、微服务后端与 Vue 前端三条交付线。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85800" y="1572768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633472" y="1737360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41832" y="1783080"/>
            <a:ext cx="19476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60120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核心能力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0120" y="273405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智能生成、可视化编辑、一键部署、企业级管理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3502152" y="1572768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49824" y="173736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758184" y="1783080"/>
            <a:ext cx="19476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3776472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776472" y="273405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/ model / client / user / app / ai / screenshot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6309360" y="1572768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257032" y="1737360"/>
            <a:ext cx="292608" cy="29260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565392" y="1783080"/>
            <a:ext cx="19476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6583680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后端测试类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583680" y="273405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覆盖工作流、AI 调用、工具、解析与截图等方向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9125712" y="1572768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1073384" y="1737360"/>
            <a:ext cx="292608" cy="2926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381744" y="1783080"/>
            <a:ext cx="19476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9400032" y="242316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Workflow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400032" y="273405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.github/workflows 等流水线配置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685800" y="3822192"/>
            <a:ext cx="10972800" cy="1417320"/>
          </a:xfrm>
          <a:prstGeom prst="roundRect">
            <a:avLst>
              <a:gd name="adj" fmla="val 5161"/>
            </a:avLst>
          </a:prstGeom>
          <a:solidFill>
            <a:srgbClr val="E8FAF7"/>
          </a:solidFill>
          <a:ln w="12700">
            <a:solidFill>
              <a:srgbClr val="D6EFE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60120" y="40965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维护者视角结论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3063240" y="4023360"/>
            <a:ext cx="8092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项目能力栈完整，主线已进入微服务拆分完成后的整合阶段；当前更需要补齐 CI、前端自动化测试、真实运行指标沉淀，以及对 AI 生成与部署链路的安全/成本护栏。</a:t>
            </a:r>
            <a:endParaRPr lang="en-US" sz="1520" dirty="0"/>
          </a:p>
        </p:txBody>
      </p:sp>
      <p:sp>
        <p:nvSpPr>
          <p:cNvPr id="35" name="Shape 33"/>
          <p:cNvSpPr/>
          <p:nvPr/>
        </p:nvSpPr>
        <p:spPr>
          <a:xfrm>
            <a:off x="960120" y="4800600"/>
            <a:ext cx="1783080" cy="347472"/>
          </a:xfrm>
          <a:prstGeom prst="roundRect">
            <a:avLst>
              <a:gd name="adj" fmla="val 23684"/>
            </a:avLst>
          </a:prstGeom>
          <a:solidFill>
            <a:srgbClr val="10B98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69848" y="4882896"/>
            <a:ext cx="1563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状态：可继续迭代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971800" y="4800600"/>
            <a:ext cx="1783080" cy="347472"/>
          </a:xfrm>
          <a:prstGeom prst="roundRect">
            <a:avLst>
              <a:gd name="adj" fmla="val 23684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081528" y="4882896"/>
            <a:ext cx="1563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重点：质量门禁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983480" y="4800600"/>
            <a:ext cx="1783080" cy="347472"/>
          </a:xfrm>
          <a:prstGeom prst="roundRect">
            <a:avLst>
              <a:gd name="adj" fmla="val 23684"/>
            </a:avLst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093208" y="4882896"/>
            <a:ext cx="1563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关注：外部依赖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模块与架构版图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单体便于完整教学演示，微服务版承载拆分与跨服务调用实践，前端承担生成/预览/管理体验。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13232" y="1481328"/>
            <a:ext cx="3246120" cy="4315968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13232" y="1481328"/>
            <a:ext cx="3246120" cy="73152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69264" y="16824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单体后端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9264" y="234086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3.5.4 / Java 21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987552" y="2843784"/>
            <a:ext cx="182880" cy="1828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80160" y="281635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controller：用户、应用、对话、工作流 SSE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987552" y="3374136"/>
            <a:ext cx="182880" cy="1828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80160" y="33467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langgraph4j：代码生成与图片收集</a:t>
            </a:r>
            <a:endParaRPr lang="en-US" sz="1420" dirty="0"/>
          </a:p>
        </p:txBody>
      </p:sp>
      <p:sp>
        <p:nvSpPr>
          <p:cNvPr id="20" name="Shape 18"/>
          <p:cNvSpPr/>
          <p:nvPr/>
        </p:nvSpPr>
        <p:spPr>
          <a:xfrm>
            <a:off x="987552" y="3904488"/>
            <a:ext cx="182880" cy="1828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280160" y="3877056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core：解析、保存、代码生成门面</a:t>
            </a:r>
            <a:endParaRPr lang="en-US" sz="1420" dirty="0"/>
          </a:p>
        </p:txBody>
      </p:sp>
      <p:sp>
        <p:nvSpPr>
          <p:cNvPr id="22" name="Shape 20"/>
          <p:cNvSpPr/>
          <p:nvPr/>
        </p:nvSpPr>
        <p:spPr>
          <a:xfrm>
            <a:off x="987552" y="4434840"/>
            <a:ext cx="182880" cy="1828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280160" y="44074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/ ratelimiter：指标与限流</a:t>
            </a:r>
            <a:endParaRPr lang="en-US" sz="1420" dirty="0"/>
          </a:p>
        </p:txBody>
      </p:sp>
      <p:sp>
        <p:nvSpPr>
          <p:cNvPr id="24" name="Shape 22"/>
          <p:cNvSpPr/>
          <p:nvPr/>
        </p:nvSpPr>
        <p:spPr>
          <a:xfrm>
            <a:off x="3200400" y="5065776"/>
            <a:ext cx="411480" cy="411480"/>
          </a:xfrm>
          <a:prstGeom prst="ellipse">
            <a:avLst/>
          </a:prstGeom>
          <a:solidFill>
            <a:srgbClr val="065A82">
              <a:alpha val="8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337560" y="5184648"/>
            <a:ext cx="137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416552" y="1481328"/>
            <a:ext cx="3246120" cy="4315968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416552" y="1481328"/>
            <a:ext cx="3246120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672584" y="16824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微服务后端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672584" y="234086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3.3 + Nacos</a:t>
            </a:r>
            <a:endParaRPr lang="en-US" sz="1180" dirty="0"/>
          </a:p>
        </p:txBody>
      </p:sp>
      <p:sp>
        <p:nvSpPr>
          <p:cNvPr id="30" name="Shape 28"/>
          <p:cNvSpPr/>
          <p:nvPr/>
        </p:nvSpPr>
        <p:spPr>
          <a:xfrm>
            <a:off x="4690872" y="2843784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983480" y="281635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user：用户与鉴权</a:t>
            </a:r>
            <a:endParaRPr lang="en-US" sz="1420" dirty="0"/>
          </a:p>
        </p:txBody>
      </p:sp>
      <p:sp>
        <p:nvSpPr>
          <p:cNvPr id="32" name="Shape 30"/>
          <p:cNvSpPr/>
          <p:nvPr/>
        </p:nvSpPr>
        <p:spPr>
          <a:xfrm>
            <a:off x="4690872" y="3374136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983480" y="33467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app：应用、对话与生成</a:t>
            </a:r>
            <a:endParaRPr lang="en-US" sz="1420" dirty="0"/>
          </a:p>
        </p:txBody>
      </p:sp>
      <p:sp>
        <p:nvSpPr>
          <p:cNvPr id="34" name="Shape 32"/>
          <p:cNvSpPr/>
          <p:nvPr/>
        </p:nvSpPr>
        <p:spPr>
          <a:xfrm>
            <a:off x="4690872" y="3904488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983480" y="3877056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screenshot：截图服务</a:t>
            </a:r>
            <a:endParaRPr lang="en-US" sz="1420" dirty="0"/>
          </a:p>
        </p:txBody>
      </p:sp>
      <p:sp>
        <p:nvSpPr>
          <p:cNvPr id="36" name="Shape 34"/>
          <p:cNvSpPr/>
          <p:nvPr/>
        </p:nvSpPr>
        <p:spPr>
          <a:xfrm>
            <a:off x="4690872" y="4434840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983480" y="44074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common/model/client/ai：共享能力</a:t>
            </a:r>
            <a:endParaRPr lang="en-US" sz="1420" dirty="0"/>
          </a:p>
        </p:txBody>
      </p:sp>
      <p:sp>
        <p:nvSpPr>
          <p:cNvPr id="38" name="Shape 36"/>
          <p:cNvSpPr/>
          <p:nvPr/>
        </p:nvSpPr>
        <p:spPr>
          <a:xfrm>
            <a:off x="6903720" y="5065776"/>
            <a:ext cx="411480" cy="411480"/>
          </a:xfrm>
          <a:prstGeom prst="ellipse">
            <a:avLst/>
          </a:prstGeom>
          <a:solidFill>
            <a:srgbClr val="1C7293">
              <a:alpha val="8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040880" y="5184648"/>
            <a:ext cx="137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119872" y="1481328"/>
            <a:ext cx="3246120" cy="4315968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8119872" y="1481328"/>
            <a:ext cx="3246120" cy="731520"/>
          </a:xfrm>
          <a:prstGeom prst="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8375904" y="16824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前端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8375904" y="234086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TypeScript + Vite 7</a:t>
            </a:r>
            <a:endParaRPr lang="en-US" sz="1180" dirty="0"/>
          </a:p>
        </p:txBody>
      </p:sp>
      <p:sp>
        <p:nvSpPr>
          <p:cNvPr id="44" name="Shape 42"/>
          <p:cNvSpPr/>
          <p:nvPr/>
        </p:nvSpPr>
        <p:spPr>
          <a:xfrm>
            <a:off x="8394192" y="2843784"/>
            <a:ext cx="182880" cy="182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8686800" y="281635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首页创建与精选应用</a:t>
            </a:r>
            <a:endParaRPr lang="en-US" sz="1420" dirty="0"/>
          </a:p>
        </p:txBody>
      </p:sp>
      <p:sp>
        <p:nvSpPr>
          <p:cNvPr id="46" name="Shape 44"/>
          <p:cNvSpPr/>
          <p:nvPr/>
        </p:nvSpPr>
        <p:spPr>
          <a:xfrm>
            <a:off x="8394192" y="3374136"/>
            <a:ext cx="182880" cy="182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686800" y="33467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对话生成 + 实时预览</a:t>
            </a:r>
            <a:endParaRPr lang="en-US" sz="1420" dirty="0"/>
          </a:p>
        </p:txBody>
      </p:sp>
      <p:sp>
        <p:nvSpPr>
          <p:cNvPr id="48" name="Shape 46"/>
          <p:cNvSpPr/>
          <p:nvPr/>
        </p:nvSpPr>
        <p:spPr>
          <a:xfrm>
            <a:off x="8394192" y="3904488"/>
            <a:ext cx="182880" cy="182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8686800" y="3877056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部署弹窗与应用管理</a:t>
            </a:r>
            <a:endParaRPr lang="en-US" sz="1420" dirty="0"/>
          </a:p>
        </p:txBody>
      </p:sp>
      <p:sp>
        <p:nvSpPr>
          <p:cNvPr id="50" name="Shape 48"/>
          <p:cNvSpPr/>
          <p:nvPr/>
        </p:nvSpPr>
        <p:spPr>
          <a:xfrm>
            <a:off x="8394192" y="4434840"/>
            <a:ext cx="182880" cy="182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8686800" y="440740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管理员应用/用户/对话管理</a:t>
            </a:r>
            <a:endParaRPr lang="en-US" sz="1420" dirty="0"/>
          </a:p>
        </p:txBody>
      </p:sp>
      <p:sp>
        <p:nvSpPr>
          <p:cNvPr id="52" name="Shape 50"/>
          <p:cNvSpPr/>
          <p:nvPr/>
        </p:nvSpPr>
        <p:spPr>
          <a:xfrm>
            <a:off x="10607040" y="5065776"/>
            <a:ext cx="411480" cy="411480"/>
          </a:xfrm>
          <a:prstGeom prst="ellipse">
            <a:avLst/>
          </a:prstGeom>
          <a:solidFill>
            <a:srgbClr val="00A896">
              <a:alpha val="8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10744200" y="5184648"/>
            <a:ext cx="137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886200" y="3493008"/>
            <a:ext cx="292608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7571232" y="3493008"/>
            <a:ext cx="292608" cy="73152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当前核心能力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AI 生成链路为中心，覆盖从需求输入到可访问应用、再到后台治理的完整闭环。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13232" y="1508760"/>
            <a:ext cx="53492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13232" y="1508760"/>
            <a:ext cx="100584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05840" y="1764792"/>
            <a:ext cx="475488" cy="475488"/>
          </a:xfrm>
          <a:prstGeom prst="ellipse">
            <a:avLst/>
          </a:prstGeom>
          <a:solidFill>
            <a:srgbClr val="065A82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190195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627632" y="1728216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智能代码生成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27632" y="2167128"/>
            <a:ext cx="420624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用户输入需求后，AI 路由生成策略，通过工具调用生成 HTML、多文件或 Vue 项目，并以流式方式展示过程。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6272784" y="1508760"/>
            <a:ext cx="53492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272784" y="1508760"/>
            <a:ext cx="100584" cy="1481328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65392" y="1764792"/>
            <a:ext cx="475488" cy="475488"/>
          </a:xfrm>
          <a:prstGeom prst="ellipse">
            <a:avLst/>
          </a:prstGeom>
          <a:solidFill>
            <a:srgbClr val="1C7293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656832" y="190195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187184" y="1728216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187184" y="2167128"/>
            <a:ext cx="420624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生成应用可实时展示，支持进入编辑模式选择页面元素，并通过对话快速修改局部内容。</a:t>
            </a:r>
            <a:endParaRPr lang="en-US" sz="1320" dirty="0"/>
          </a:p>
        </p:txBody>
      </p:sp>
      <p:sp>
        <p:nvSpPr>
          <p:cNvPr id="24" name="Shape 22"/>
          <p:cNvSpPr/>
          <p:nvPr/>
        </p:nvSpPr>
        <p:spPr>
          <a:xfrm>
            <a:off x="713232" y="3337560"/>
            <a:ext cx="53492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13232" y="3337560"/>
            <a:ext cx="100584" cy="1481328"/>
          </a:xfrm>
          <a:prstGeom prst="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005840" y="3593592"/>
            <a:ext cx="475488" cy="475488"/>
          </a:xfrm>
          <a:prstGeom prst="ellipse">
            <a:avLst/>
          </a:prstGeom>
          <a:solidFill>
            <a:srgbClr val="00A896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97280" y="373075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627632" y="3557016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一键部署分享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627632" y="3995928"/>
            <a:ext cx="420624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应用可部署到云端，自动截取封面图，获得访问地址；同时支持源码下载与效果查看。</a:t>
            </a:r>
            <a:endParaRPr lang="en-US" sz="1320" dirty="0"/>
          </a:p>
        </p:txBody>
      </p:sp>
      <p:sp>
        <p:nvSpPr>
          <p:cNvPr id="30" name="Shape 28"/>
          <p:cNvSpPr/>
          <p:nvPr/>
        </p:nvSpPr>
        <p:spPr>
          <a:xfrm>
            <a:off x="6272784" y="3337560"/>
            <a:ext cx="53492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272784" y="3337560"/>
            <a:ext cx="100584" cy="148132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565392" y="3593592"/>
            <a:ext cx="475488" cy="475488"/>
          </a:xfrm>
          <a:prstGeom prst="ellipse">
            <a:avLst/>
          </a:prstGeom>
          <a:solidFill>
            <a:srgbClr val="10B981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656832" y="373075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187184" y="3557016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企业级管理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87184" y="3995928"/>
            <a:ext cx="4206240" cy="6126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提供用户、应用、精选内容、系统监控与 AI 调用指标管理，为运营与维护提供后台入口。</a:t>
            </a:r>
            <a:endParaRPr lang="en-US" sz="1320" dirty="0"/>
          </a:p>
        </p:txBody>
      </p:sp>
      <p:sp>
        <p:nvSpPr>
          <p:cNvPr id="36" name="Shape 34"/>
          <p:cNvSpPr/>
          <p:nvPr/>
        </p:nvSpPr>
        <p:spPr>
          <a:xfrm>
            <a:off x="1298448" y="5321808"/>
            <a:ext cx="9601200" cy="475488"/>
          </a:xfrm>
          <a:prstGeom prst="roundRect">
            <a:avLst>
              <a:gd name="adj" fmla="val 15385"/>
            </a:avLst>
          </a:prstGeom>
          <a:solidFill>
            <a:srgbClr val="DDF7F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600200" y="5477256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能力主线：需求描述 → AI 工作流/工具调用 → 代码生成与预览 → 编辑/部署 → 管理与监控</a:t>
            </a:r>
            <a:endParaRPr lang="en-US" sz="13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昨日与近期变更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当前分支无最近 7 天业务提交；可见远端分支存在前端重构动态，主线近期历史重点为微服务改造。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14400" y="2084832"/>
            <a:ext cx="475488" cy="47548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389888" y="2295144"/>
            <a:ext cx="2267712" cy="54864"/>
          </a:xfrm>
          <a:prstGeom prst="rect">
            <a:avLst/>
          </a:prstGeom>
          <a:solidFill>
            <a:srgbClr val="D6EFE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78992" y="2231136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49808" y="1609344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2026-06-02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16352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240" y="301752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远端前端重构分支</a:t>
            </a:r>
            <a:endParaRPr lang="en-US" sz="1430" dirty="0"/>
          </a:p>
        </p:txBody>
      </p:sp>
      <p:sp>
        <p:nvSpPr>
          <p:cNvPr id="18" name="Text 16"/>
          <p:cNvSpPr/>
          <p:nvPr/>
        </p:nvSpPr>
        <p:spPr>
          <a:xfrm>
            <a:off x="786384" y="345643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提取 composables，拆分聊天、预览、后台页面组件，减少 AppChatPage 复杂度。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3657600" y="2084832"/>
            <a:ext cx="475488" cy="47548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133088" y="2295144"/>
            <a:ext cx="2267712" cy="54864"/>
          </a:xfrm>
          <a:prstGeom prst="rect">
            <a:avLst/>
          </a:prstGeom>
          <a:solidFill>
            <a:srgbClr val="D6EFE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822192" y="2231136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493008" y="1609344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2026-06-02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310128" y="2816352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520440" y="301752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日报自动化分支</a:t>
            </a:r>
            <a:endParaRPr lang="en-US" sz="1430" dirty="0"/>
          </a:p>
        </p:txBody>
      </p:sp>
      <p:sp>
        <p:nvSpPr>
          <p:cNvPr id="25" name="Text 23"/>
          <p:cNvSpPr/>
          <p:nvPr/>
        </p:nvSpPr>
        <p:spPr>
          <a:xfrm>
            <a:off x="3529584" y="345643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存在另一条 docs 日报提交；当前指定分支仍需生成本次报告并独立 PR。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6400800" y="2084832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876288" y="2295144"/>
            <a:ext cx="2267712" cy="54864"/>
          </a:xfrm>
          <a:prstGeom prst="rect">
            <a:avLst/>
          </a:prstGeom>
          <a:solidFill>
            <a:srgbClr val="D6EFE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565392" y="2231136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236208" y="1609344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 7 天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053328" y="2816352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263640" y="301752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当前分支状态</a:t>
            </a:r>
            <a:endParaRPr lang="en-US" sz="1430" dirty="0"/>
          </a:p>
        </p:txBody>
      </p:sp>
      <p:sp>
        <p:nvSpPr>
          <p:cNvPr id="32" name="Text 30"/>
          <p:cNvSpPr/>
          <p:nvPr/>
        </p:nvSpPr>
        <p:spPr>
          <a:xfrm>
            <a:off x="6272784" y="345643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指定工作分支停留在主线 893918c；未发现业务代码变更。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9144000" y="2084832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9308592" y="2231136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979408" y="1609344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796528" y="2816352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006840" y="301752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主线微服务改造完成</a:t>
            </a:r>
            <a:endParaRPr lang="en-US" sz="1430" dirty="0"/>
          </a:p>
        </p:txBody>
      </p:sp>
      <p:sp>
        <p:nvSpPr>
          <p:cNvPr id="38" name="Text 36"/>
          <p:cNvSpPr/>
          <p:nvPr/>
        </p:nvSpPr>
        <p:spPr>
          <a:xfrm>
            <a:off x="9015984" y="345643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合并单体完整代码与微服务拆分成果，形成 user/app/screenshot 等服务。</a:t>
            </a:r>
            <a:endParaRPr lang="en-US" sz="1030" dirty="0"/>
          </a:p>
        </p:txBody>
      </p:sp>
      <p:sp>
        <p:nvSpPr>
          <p:cNvPr id="39" name="Shape 37"/>
          <p:cNvSpPr/>
          <p:nvPr/>
        </p:nvSpPr>
        <p:spPr>
          <a:xfrm>
            <a:off x="804672" y="4892040"/>
            <a:ext cx="106070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078992" y="5102352"/>
            <a:ext cx="9875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解读：本日报以当前指定分支为交付基线；其他远端分支动态作为团队近期进展参考，不纳入本次业务代码变更。</a:t>
            </a:r>
            <a:endParaRPr lang="en-US" sz="13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近期前端重构观察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远端分支 facc47b 显示前端正在从页面级大组件转向 composables + 局部组件复用。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13232" y="1481328"/>
            <a:ext cx="5047488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51560" y="179222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改动规模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51560" y="2331720"/>
            <a:ext cx="14173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901952" y="2496312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307592" y="2542032"/>
            <a:ext cx="850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325880" y="318211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325880" y="34930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前端相关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697480" y="2331720"/>
            <a:ext cx="14173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547872" y="2496312"/>
            <a:ext cx="292608" cy="29260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953512" y="2542032"/>
            <a:ext cx="850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+1.6k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2971800" y="318211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971800" y="34930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行级变更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343400" y="2331720"/>
            <a:ext cx="1051560" cy="11430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828032" y="2496312"/>
            <a:ext cx="292608" cy="2926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99432" y="2542032"/>
            <a:ext cx="822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1.5k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4617720" y="31821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删除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617720" y="349300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瘦身替换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1051560" y="3913632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344168" y="388620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 useAppChat、useCodeGeneration、useVisualEdit 等 composables</a:t>
            </a:r>
            <a:endParaRPr lang="en-US" sz="1420" dirty="0"/>
          </a:p>
        </p:txBody>
      </p:sp>
      <p:sp>
        <p:nvSpPr>
          <p:cNvPr id="31" name="Shape 29"/>
          <p:cNvSpPr/>
          <p:nvPr/>
        </p:nvSpPr>
        <p:spPr>
          <a:xfrm>
            <a:off x="1051560" y="4370832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344168" y="434340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 ChatHeaderBar、ChatInputArea、PreviewPanel 等对话页组件</a:t>
            </a:r>
            <a:endParaRPr lang="en-US" sz="1420" dirty="0"/>
          </a:p>
        </p:txBody>
      </p:sp>
      <p:sp>
        <p:nvSpPr>
          <p:cNvPr id="33" name="Shape 31"/>
          <p:cNvSpPr/>
          <p:nvPr/>
        </p:nvSpPr>
        <p:spPr>
          <a:xfrm>
            <a:off x="1051560" y="4828032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344168" y="480060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后台表格页抽取分页/表格复用逻辑，降低重复代码</a:t>
            </a:r>
            <a:endParaRPr lang="en-US" sz="1420" dirty="0"/>
          </a:p>
        </p:txBody>
      </p:sp>
      <p:sp>
        <p:nvSpPr>
          <p:cNvPr id="35" name="Shape 33"/>
          <p:cNvSpPr/>
          <p:nvPr/>
        </p:nvSpPr>
        <p:spPr>
          <a:xfrm>
            <a:off x="6172200" y="1481328"/>
            <a:ext cx="5394960" cy="4187952"/>
          </a:xfrm>
          <a:prstGeom prst="roundRect">
            <a:avLst>
              <a:gd name="adj" fmla="val 1747"/>
            </a:avLst>
          </a:prstGeom>
          <a:solidFill>
            <a:srgbClr val="E8FAF7"/>
          </a:solidFill>
          <a:ln w="12700">
            <a:solidFill>
              <a:srgbClr val="D6EFEA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519672" y="179222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维护启示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6537960" y="2359152"/>
            <a:ext cx="16002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75120" y="2478024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页面逻辑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321040" y="2523744"/>
            <a:ext cx="594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9098280" y="2359152"/>
            <a:ext cx="1737360" cy="384048"/>
          </a:xfrm>
          <a:prstGeom prst="roundRect">
            <a:avLst>
              <a:gd name="adj" fmla="val 11905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9217152" y="2478024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537960" y="3017520"/>
            <a:ext cx="16002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675120" y="3136392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大组件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321040" y="3182112"/>
            <a:ext cx="594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9098280" y="3017520"/>
            <a:ext cx="1737360" cy="384048"/>
          </a:xfrm>
          <a:prstGeom prst="roundRect">
            <a:avLst>
              <a:gd name="adj" fmla="val 11905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9217152" y="3136392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局部组件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537960" y="3675888"/>
            <a:ext cx="16002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6675120" y="379476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分散常量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321040" y="3840480"/>
            <a:ext cx="594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9098280" y="3675888"/>
            <a:ext cx="1737360" cy="384048"/>
          </a:xfrm>
          <a:prstGeom prst="roundRect">
            <a:avLst>
              <a:gd name="adj" fmla="val 11905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9217152" y="3794760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集中配置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537960" y="4334256"/>
            <a:ext cx="16002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6675120" y="4453128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手动状态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8321040" y="4498848"/>
            <a:ext cx="594360" cy="54864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9098280" y="4334256"/>
            <a:ext cx="1737360" cy="384048"/>
          </a:xfrm>
          <a:prstGeom prst="roundRect">
            <a:avLst>
              <a:gd name="adj" fmla="val 11905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9217152" y="4453128"/>
            <a:ext cx="1481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复用 hooks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6556248" y="5102352"/>
            <a:ext cx="4617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3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建议：若该分支进入主线，应补充前端构建、关键页面手动验收与 composables 单元测试策略。</a:t>
            </a:r>
            <a:endParaRPr lang="en-US" sz="13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测试与 CI 状态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仓库具备单体后端测试与 Prometheus 配置，但缺少自动化流水线和前端测试体系。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13232" y="1444752"/>
            <a:ext cx="736092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87552" y="1691640"/>
            <a:ext cx="1627632" cy="393192"/>
          </a:xfrm>
          <a:prstGeom prst="roundRect">
            <a:avLst>
              <a:gd name="adj" fmla="val 11628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78992" y="1810512"/>
            <a:ext cx="1444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单体后端测试</a:t>
            </a:r>
            <a:endParaRPr lang="en-US" sz="1040" dirty="0"/>
          </a:p>
        </p:txBody>
      </p:sp>
      <p:sp>
        <p:nvSpPr>
          <p:cNvPr id="15" name="Text 13"/>
          <p:cNvSpPr/>
          <p:nvPr/>
        </p:nvSpPr>
        <p:spPr>
          <a:xfrm>
            <a:off x="2907792" y="173736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个测试类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4681728" y="1728216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工作流、并发、工具、代码解析、截图</a:t>
            </a:r>
            <a:endParaRPr lang="en-US" sz="1180" dirty="0"/>
          </a:p>
        </p:txBody>
      </p:sp>
      <p:sp>
        <p:nvSpPr>
          <p:cNvPr id="17" name="Shape 15"/>
          <p:cNvSpPr/>
          <p:nvPr/>
        </p:nvSpPr>
        <p:spPr>
          <a:xfrm>
            <a:off x="987552" y="2450592"/>
            <a:ext cx="1627632" cy="393192"/>
          </a:xfrm>
          <a:prstGeom prst="roundRect">
            <a:avLst>
              <a:gd name="adj" fmla="val 11628"/>
            </a:avLst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78992" y="2569464"/>
            <a:ext cx="1444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微服务测试</a:t>
            </a:r>
            <a:endParaRPr lang="en-US" sz="1040" dirty="0"/>
          </a:p>
        </p:txBody>
      </p:sp>
      <p:sp>
        <p:nvSpPr>
          <p:cNvPr id="19" name="Text 17"/>
          <p:cNvSpPr/>
          <p:nvPr/>
        </p:nvSpPr>
        <p:spPr>
          <a:xfrm>
            <a:off x="2907792" y="249631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未发现测试目录</a:t>
            </a:r>
            <a:endParaRPr lang="en-US" sz="1380" dirty="0"/>
          </a:p>
        </p:txBody>
      </p:sp>
      <p:sp>
        <p:nvSpPr>
          <p:cNvPr id="20" name="Text 18"/>
          <p:cNvSpPr/>
          <p:nvPr/>
        </p:nvSpPr>
        <p:spPr>
          <a:xfrm>
            <a:off x="4681728" y="2487168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建议从服务间契约与核心 Service 开始补齐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>
            <a:off x="987552" y="3209544"/>
            <a:ext cx="1627632" cy="393192"/>
          </a:xfrm>
          <a:prstGeom prst="roundRect">
            <a:avLst>
              <a:gd name="adj" fmla="val 11628"/>
            </a:avLst>
          </a:prstGeom>
          <a:solidFill>
            <a:srgbClr val="E2E8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78992" y="3328416"/>
            <a:ext cx="1444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前端测试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2907792" y="325526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无测试脚本</a:t>
            </a:r>
            <a:endParaRPr lang="en-US" sz="1380" dirty="0"/>
          </a:p>
        </p:txBody>
      </p:sp>
      <p:sp>
        <p:nvSpPr>
          <p:cNvPr id="24" name="Text 22"/>
          <p:cNvSpPr/>
          <p:nvPr/>
        </p:nvSpPr>
        <p:spPr>
          <a:xfrm>
            <a:off x="4681728" y="3246120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现有 build/type-check/lint/format；缺少 Vitest/Cypress 等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>
            <a:off x="987552" y="3968496"/>
            <a:ext cx="1627632" cy="393192"/>
          </a:xfrm>
          <a:prstGeom prst="roundRect">
            <a:avLst>
              <a:gd name="adj" fmla="val 11628"/>
            </a:avLst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078992" y="4087368"/>
            <a:ext cx="1444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配置</a:t>
            </a:r>
            <a:endParaRPr lang="en-US" sz="1040" dirty="0"/>
          </a:p>
        </p:txBody>
      </p:sp>
      <p:sp>
        <p:nvSpPr>
          <p:cNvPr id="27" name="Text 25"/>
          <p:cNvSpPr/>
          <p:nvPr/>
        </p:nvSpPr>
        <p:spPr>
          <a:xfrm>
            <a:off x="2907792" y="401421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workflow</a:t>
            </a:r>
            <a:endParaRPr lang="en-US" sz="1380" dirty="0"/>
          </a:p>
        </p:txBody>
      </p:sp>
      <p:sp>
        <p:nvSpPr>
          <p:cNvPr id="28" name="Text 26"/>
          <p:cNvSpPr/>
          <p:nvPr/>
        </p:nvSpPr>
        <p:spPr>
          <a:xfrm>
            <a:off x="4681728" y="4005072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.github/workflows、Jenkinsfile、GitLab CI</a:t>
            </a:r>
            <a:endParaRPr lang="en-US" sz="1180" dirty="0"/>
          </a:p>
        </p:txBody>
      </p:sp>
      <p:sp>
        <p:nvSpPr>
          <p:cNvPr id="29" name="Shape 27"/>
          <p:cNvSpPr/>
          <p:nvPr/>
        </p:nvSpPr>
        <p:spPr>
          <a:xfrm>
            <a:off x="987552" y="4727448"/>
            <a:ext cx="1627632" cy="393192"/>
          </a:xfrm>
          <a:prstGeom prst="roundRect">
            <a:avLst>
              <a:gd name="adj" fmla="val 11628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078992" y="4846320"/>
            <a:ext cx="1444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监控配置</a:t>
            </a:r>
            <a:endParaRPr lang="en-US" sz="1040" dirty="0"/>
          </a:p>
        </p:txBody>
      </p:sp>
      <p:sp>
        <p:nvSpPr>
          <p:cNvPr id="31" name="Text 29"/>
          <p:cNvSpPr/>
          <p:nvPr/>
        </p:nvSpPr>
        <p:spPr>
          <a:xfrm>
            <a:off x="2907792" y="477316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已配置</a:t>
            </a:r>
            <a:endParaRPr lang="en-US" sz="1380" dirty="0"/>
          </a:p>
        </p:txBody>
      </p:sp>
      <p:sp>
        <p:nvSpPr>
          <p:cNvPr id="32" name="Text 30"/>
          <p:cNvSpPr/>
          <p:nvPr/>
        </p:nvSpPr>
        <p:spPr>
          <a:xfrm>
            <a:off x="4681728" y="4764024"/>
            <a:ext cx="2944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抓取 /api/actuator/prometheus，目标 localhost:8123</a:t>
            </a:r>
            <a:endParaRPr lang="en-US" sz="1180" dirty="0"/>
          </a:p>
        </p:txBody>
      </p:sp>
      <p:sp>
        <p:nvSpPr>
          <p:cNvPr id="33" name="Shape 31"/>
          <p:cNvSpPr/>
          <p:nvPr/>
        </p:nvSpPr>
        <p:spPr>
          <a:xfrm>
            <a:off x="8458200" y="1444752"/>
            <a:ext cx="3063240" cy="4434840"/>
          </a:xfrm>
          <a:prstGeom prst="roundRect">
            <a:avLst>
              <a:gd name="adj" fmla="val 2388"/>
            </a:avLst>
          </a:prstGeom>
          <a:solidFill>
            <a:srgbClr val="E8FAF7"/>
          </a:solidFill>
          <a:ln w="12700">
            <a:solidFill>
              <a:srgbClr val="D6EFE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796528" y="17739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最近状态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796528" y="22402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CI 历史运行记录可用于判断红绿灯状态。当前质量状态主要来自仓库静态配置与测试目录存在性。</a:t>
            </a:r>
            <a:endParaRPr lang="en-US" sz="1420" dirty="0"/>
          </a:p>
        </p:txBody>
      </p:sp>
      <p:sp>
        <p:nvSpPr>
          <p:cNvPr id="36" name="Shape 34"/>
          <p:cNvSpPr/>
          <p:nvPr/>
        </p:nvSpPr>
        <p:spPr>
          <a:xfrm>
            <a:off x="8823960" y="3822192"/>
            <a:ext cx="1051560" cy="1051560"/>
          </a:xfrm>
          <a:prstGeom prst="ellipse">
            <a:avLst/>
          </a:prstGeom>
          <a:solidFill>
            <a:srgbClr val="F59E0B">
              <a:alpha val="8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125712" y="416966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012680" y="3913632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下一步优先建立最小流水线：后端 mvn test、前端 npm run build/type-check。</a:t>
            </a:r>
            <a:endParaRPr lang="en-US" sz="11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数据与指标要点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当前没有生产运行数据；本页用仓库静态信息给出可落地的指标口径与接入优先级。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13232" y="1481328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569464" y="1645920"/>
            <a:ext cx="292608" cy="29260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69264" y="1691640"/>
            <a:ext cx="1856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8123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87552" y="233172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单体应用端口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87552" y="264261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抓取目标 localhost:8123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3502152" y="1481328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358384" y="1645920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758184" y="1691640"/>
            <a:ext cx="1856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3776472" y="233172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微服务端口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776472" y="264261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app / screenshot 可运行服务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6291072" y="1481328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147304" y="1645920"/>
            <a:ext cx="292608" cy="29260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547104" y="1691640"/>
            <a:ext cx="1856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10s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6565392" y="233172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监控抓取间隔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565392" y="264261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业务应用 prometheus scrape_interval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9079992" y="1481328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936224" y="1645920"/>
            <a:ext cx="292608" cy="29260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336024" y="1691640"/>
            <a:ext cx="1856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3+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9354312" y="233172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外部资源类型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354312" y="264261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模型、Redis/MySQL、对象存储/截图环境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713232" y="36576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24128" y="39502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建议监控口径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1024128" y="4489704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316736" y="4462272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调用次数、耗时、失败率、Token/成本估算</a:t>
            </a:r>
            <a:endParaRPr lang="en-US" sz="1420" dirty="0"/>
          </a:p>
        </p:txBody>
      </p:sp>
      <p:sp>
        <p:nvSpPr>
          <p:cNvPr id="36" name="Shape 34"/>
          <p:cNvSpPr/>
          <p:nvPr/>
        </p:nvSpPr>
        <p:spPr>
          <a:xfrm>
            <a:off x="1024128" y="4837176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316736" y="4809744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代码生成成功率、部署成功率、截图成功率</a:t>
            </a:r>
            <a:endParaRPr lang="en-US" sz="1420" dirty="0"/>
          </a:p>
        </p:txBody>
      </p:sp>
      <p:sp>
        <p:nvSpPr>
          <p:cNvPr id="38" name="Shape 36"/>
          <p:cNvSpPr/>
          <p:nvPr/>
        </p:nvSpPr>
        <p:spPr>
          <a:xfrm>
            <a:off x="1024128" y="5184648"/>
            <a:ext cx="182880" cy="1828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316736" y="515721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连接数、并发请求、Redis/数据库延迟</a:t>
            </a:r>
            <a:endParaRPr lang="en-US" sz="1420" dirty="0"/>
          </a:p>
        </p:txBody>
      </p:sp>
      <p:sp>
        <p:nvSpPr>
          <p:cNvPr id="40" name="Shape 38"/>
          <p:cNvSpPr/>
          <p:nvPr/>
        </p:nvSpPr>
        <p:spPr>
          <a:xfrm>
            <a:off x="6272784" y="36576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E8FAF7"/>
          </a:solidFill>
          <a:ln w="12700">
            <a:solidFill>
              <a:srgbClr val="D6EFE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583680" y="39502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当前说明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6601968" y="443484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仓库已具备 Actuator + Prometheus 基础配置，但没有提交 Grafana 仪表盘或历史运行样本。日报中的业务指标需后续从生产/测试环境采集后替换为真实趋势。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784080" y="-1097280"/>
            <a:ext cx="2834640" cy="283464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914400" y="4983480"/>
            <a:ext cx="2103120" cy="2103120"/>
          </a:xfrm>
          <a:prstGeom prst="ellipse">
            <a:avLst/>
          </a:prstGeom>
          <a:solidFill>
            <a:srgbClr val="065A82">
              <a:alpha val="1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411480"/>
            <a:ext cx="530352" cy="347472"/>
          </a:xfrm>
          <a:prstGeom prst="roundRect">
            <a:avLst>
              <a:gd name="adj" fmla="val 15789"/>
            </a:avLst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4892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234440" y="347472"/>
            <a:ext cx="7223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风险、问题与阻塞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43584" y="932688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当前风险集中在质量门禁、外部依赖、微服务联调、安全成本控制与分支整合。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642823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1155680" y="635508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704320" y="6391656"/>
            <a:ext cx="73152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13232" y="1481328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13232" y="1481328"/>
            <a:ext cx="100584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05840" y="1737360"/>
            <a:ext cx="475488" cy="475488"/>
          </a:xfrm>
          <a:prstGeom prst="ellipse">
            <a:avLst/>
          </a:prstGeom>
          <a:solidFill>
            <a:srgbClr val="F59E0B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7280" y="1874520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627632" y="1700784"/>
            <a:ext cx="2075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质量门禁不足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27632" y="2139696"/>
            <a:ext cx="21031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缺少 CI workflow，测试无法在 PR 维度自动执行；前端缺少测试脚本。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4407408" y="1481328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1481328"/>
            <a:ext cx="100584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700016" y="1737360"/>
            <a:ext cx="475488" cy="475488"/>
          </a:xfrm>
          <a:prstGeom prst="ellipse">
            <a:avLst/>
          </a:prstGeom>
          <a:solidFill>
            <a:srgbClr val="065A82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91456" y="1874520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21808" y="1700784"/>
            <a:ext cx="2075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外部依赖复杂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321808" y="2139696"/>
            <a:ext cx="21031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模型、DashScope、COS、Selenium、Redis/MySQL/Nacos 等配置缺失会阻塞端到端验证。</a:t>
            </a:r>
            <a:endParaRPr lang="en-US" sz="1320" dirty="0"/>
          </a:p>
        </p:txBody>
      </p:sp>
      <p:sp>
        <p:nvSpPr>
          <p:cNvPr id="24" name="Shape 22"/>
          <p:cNvSpPr/>
          <p:nvPr/>
        </p:nvSpPr>
        <p:spPr>
          <a:xfrm>
            <a:off x="8101584" y="1481328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01584" y="1481328"/>
            <a:ext cx="100584" cy="1417320"/>
          </a:xfrm>
          <a:prstGeom prst="rect">
            <a:avLst/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394192" y="1737360"/>
            <a:ext cx="475488" cy="475488"/>
          </a:xfrm>
          <a:prstGeom prst="ellipse">
            <a:avLst/>
          </a:prstGeom>
          <a:solidFill>
            <a:srgbClr val="1C7293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85632" y="1874520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9015984" y="1700784"/>
            <a:ext cx="2075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微服务联调成本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015984" y="2139696"/>
            <a:ext cx="21031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 服务间契约需要稳定测试与环境编排，否则容易出现跨服务回归。</a:t>
            </a:r>
            <a:endParaRPr lang="en-US" sz="1320" dirty="0"/>
          </a:p>
        </p:txBody>
      </p:sp>
      <p:sp>
        <p:nvSpPr>
          <p:cNvPr id="30" name="Shape 28"/>
          <p:cNvSpPr/>
          <p:nvPr/>
        </p:nvSpPr>
        <p:spPr>
          <a:xfrm>
            <a:off x="2606040" y="370332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2606040" y="3703320"/>
            <a:ext cx="100584" cy="1417320"/>
          </a:xfrm>
          <a:prstGeom prst="rect">
            <a:avLst/>
          </a:prstGeom>
          <a:solidFill>
            <a:srgbClr val="E11D4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898648" y="3959352"/>
            <a:ext cx="475488" cy="475488"/>
          </a:xfrm>
          <a:prstGeom prst="ellipse">
            <a:avLst/>
          </a:prstGeom>
          <a:solidFill>
            <a:srgbClr val="E11D48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2990088" y="409651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520440" y="3922776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生成内容安全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3520440" y="4361688"/>
            <a:ext cx="23317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Prompt 审查、限流、部署产物隔离仍需持续验证，避免滥用与成本失控。</a:t>
            </a:r>
            <a:endParaRPr lang="en-US" sz="1320" dirty="0"/>
          </a:p>
        </p:txBody>
      </p:sp>
      <p:sp>
        <p:nvSpPr>
          <p:cNvPr id="36" name="Shape 34"/>
          <p:cNvSpPr/>
          <p:nvPr/>
        </p:nvSpPr>
        <p:spPr>
          <a:xfrm>
            <a:off x="6583680" y="3703320"/>
            <a:ext cx="34747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EFEA">
                <a:alpha val="90000"/>
              </a:srgbClr>
            </a:solidFill>
            <a:prstDash val="solid"/>
          </a:ln>
          <a:effectLst>
            <a:outerShdw sx="100000" sy="100000" kx="0" ky="0" algn="bl" rotWithShape="0" blurRad="12700" dist="127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583680" y="3703320"/>
            <a:ext cx="100584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6876288" y="3959352"/>
            <a:ext cx="475488" cy="475488"/>
          </a:xfrm>
          <a:prstGeom prst="ellipse">
            <a:avLst/>
          </a:prstGeom>
          <a:solidFill>
            <a:srgbClr val="00A896">
              <a:alpha val="90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967728" y="409651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498080" y="3922776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近期分支分散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7498080" y="4361688"/>
            <a:ext cx="233172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前端重构与日报提交存在于其他远端分支，合入时需关注冲突与重复报告文件。</a:t>
            </a:r>
            <a:endParaRPr lang="en-US" sz="1320" dirty="0"/>
          </a:p>
        </p:txBody>
      </p:sp>
      <p:sp>
        <p:nvSpPr>
          <p:cNvPr id="42" name="Shape 40"/>
          <p:cNvSpPr/>
          <p:nvPr/>
        </p:nvSpPr>
        <p:spPr>
          <a:xfrm>
            <a:off x="896112" y="5532120"/>
            <a:ext cx="10405872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EFEA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143000" y="5650992"/>
            <a:ext cx="9921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阻塞判断：当前报告生成不受业务环境阻塞；业务交付的端到端验证需要补齐运行环境与 CI 后再给出真实质量状态。</a:t>
            </a:r>
            <a:endParaRPr lang="en-US" sz="12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7955280" y="-822960"/>
            <a:ext cx="3840480" cy="3840480"/>
          </a:xfrm>
          <a:prstGeom prst="ellipse">
            <a:avLst/>
          </a:prstGeom>
          <a:solidFill>
            <a:srgbClr val="1C7293">
              <a:alpha val="78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692640" y="4114800"/>
            <a:ext cx="3291840" cy="3291840"/>
          </a:xfrm>
          <a:prstGeom prst="ellipse">
            <a:avLst/>
          </a:prstGeom>
          <a:solidFill>
            <a:srgbClr val="02C39A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65A82">
              <a:alpha val="8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65836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下一步建议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49808" y="132588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以“质量门禁 + 可观测指标 + 端到端闭环”为近期维护重点。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896112" y="1938528"/>
            <a:ext cx="438912" cy="43891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60704" y="2075688"/>
            <a:ext cx="118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572768" y="196596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建立最小 CI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493008" y="1975104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 mvn test；前端 build/type-check；后续接入 lint 与关键集成测试。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6112" y="2651760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60704" y="2788920"/>
            <a:ext cx="118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572768" y="267919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补齐前端验证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3493008" y="2688336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为核心 composables 和生成/部署路径增加自动化或手动验收清单。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96112" y="3364992"/>
            <a:ext cx="438912" cy="43891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60704" y="3502152"/>
            <a:ext cx="118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572768" y="339242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沉淀运行指标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3493008" y="3401568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 AI 调用、生成成功率、部署/截图成功率写入日报数据源。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078224"/>
            <a:ext cx="438912" cy="43891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60704" y="4215384"/>
            <a:ext cx="118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572768" y="4105656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强化安全成本护栏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3493008" y="411480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持续验证 Prompt 审查、限流、隔离部署、模型调用成本预算。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6112" y="4791456"/>
            <a:ext cx="438912" cy="43891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060704" y="4928616"/>
            <a:ext cx="118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572768" y="4818888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梳理分支合入策略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3493008" y="4828032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F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明确前端重构分支与日报分支的合并顺序，避免重复文件与冲突。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887968" y="1325880"/>
            <a:ext cx="2423160" cy="4434840"/>
          </a:xfrm>
          <a:prstGeom prst="roundRect">
            <a:avLst>
              <a:gd name="adj" fmla="val 3019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7DD3FC">
                <a:alpha val="4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189720" y="16916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今日结论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189720" y="2212848"/>
            <a:ext cx="16916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平台能力完整、技术栈丰富；当前最有价值的维护动作，是把已有功能从“可演示”推进到“可持续验证、可观测、可控成本”。</a:t>
            </a:r>
            <a:endParaRPr lang="en-US" sz="1420" dirty="0"/>
          </a:p>
        </p:txBody>
      </p:sp>
      <p:sp>
        <p:nvSpPr>
          <p:cNvPr id="32" name="Shape 30"/>
          <p:cNvSpPr/>
          <p:nvPr/>
        </p:nvSpPr>
        <p:spPr>
          <a:xfrm>
            <a:off x="749808" y="6053328"/>
            <a:ext cx="5166360" cy="347472"/>
          </a:xfrm>
          <a:prstGeom prst="roundRect">
            <a:avLst>
              <a:gd name="adj" fmla="val 23684"/>
            </a:avLst>
          </a:prstGeom>
          <a:solidFill>
            <a:srgbClr val="1C729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59536" y="6135624"/>
            <a:ext cx="4946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报告文件：docs/reports/project-status-2026-06-02.pptx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2026-06-02</dc:title>
  <dc:subject>每日项目状态汇报</dc:subject>
  <dc:creator>Cursor Automation</dc:creator>
  <cp:lastModifiedBy>Cursor Automation</cp:lastModifiedBy>
  <cp:revision>1</cp:revision>
  <dcterms:created xsi:type="dcterms:W3CDTF">2026-06-02T09:08:23Z</dcterms:created>
  <dcterms:modified xsi:type="dcterms:W3CDTF">2026-06-02T09:08:23Z</dcterms:modified>
</cp:coreProperties>
</file>