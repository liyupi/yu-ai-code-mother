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-822960"/>
            <a:ext cx="3840480" cy="3840480"/>
          </a:xfrm>
          <a:prstGeom prst="ellipse">
            <a:avLst/>
          </a:prstGeom>
          <a:solidFill>
            <a:srgbClr val="1C7293">
              <a:alpha val="7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0" y="4114800"/>
            <a:ext cx="3291840" cy="3291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65A82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658368"/>
            <a:ext cx="2423160" cy="347472"/>
          </a:xfrm>
          <a:prstGeom prst="roundRect">
            <a:avLst>
              <a:gd name="adj" fmla="val 23684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740664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Gradient / Teal Trust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1444752"/>
            <a:ext cx="6903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13232" y="221284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13232" y="2697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977640"/>
            <a:ext cx="397764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DD3FC">
                <a:alpha val="4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2519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运行日（北京时间）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" y="45079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2026-06-02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063240" y="437083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 cursor/-bc-10e29766-f9e5-4544-b7da-6536b6ee1872-1fea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589520" y="1225296"/>
            <a:ext cx="3383280" cy="841248"/>
          </a:xfrm>
          <a:prstGeom prst="rect">
            <a:avLst/>
          </a:prstGeom>
          <a:solidFill>
            <a:srgbClr val="1C7293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0" y="2359152"/>
            <a:ext cx="2651760" cy="841248"/>
          </a:xfrm>
          <a:prstGeom prst="rect">
            <a:avLst/>
          </a:prstGeom>
          <a:solidFill>
            <a:srgbClr val="00A896">
              <a:alpha val="9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94192" y="3493008"/>
            <a:ext cx="1920240" cy="841248"/>
          </a:xfrm>
          <a:prstGeom prst="rect">
            <a:avLst/>
          </a:prstGeom>
          <a:solidFill>
            <a:srgbClr val="02C39A">
              <a:alpha val="8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5961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生成依据：README、主要模块、测试/监控配置、近期 Git 提交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当前仓库提供单体后端、微服务后端与 Vue 前端三条交付线。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33472" y="1737360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6012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核心能力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0120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智能生成、可视化编辑、一键部署、企业级管理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3502152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58184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3776472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776472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 / user / app / ai / screenshot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309360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57032" y="1737360"/>
            <a:ext cx="292608" cy="2926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65392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658368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83680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覆盖工作流、AI 调用、工具、解析与截图等方向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9125712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1073384" y="1737360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1744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400032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Workflow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400032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 等流水线配置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85800" y="3822192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" y="40965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维护者视角结论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3063240" y="4023360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项目能力栈完整，主线已进入微服务拆分完成后的整合阶段；当前更需要补齐 CI、前端自动化测试、真实运行指标沉淀，以及对 AI 生成与部署链路的安全/成本护栏。</a:t>
            </a:r>
            <a:endParaRPr lang="en-US" sz="1520" dirty="0"/>
          </a:p>
        </p:txBody>
      </p:sp>
      <p:sp>
        <p:nvSpPr>
          <p:cNvPr id="35" name="Shape 33"/>
          <p:cNvSpPr/>
          <p:nvPr/>
        </p:nvSpPr>
        <p:spPr>
          <a:xfrm>
            <a:off x="960120" y="4800600"/>
            <a:ext cx="1783080" cy="347472"/>
          </a:xfrm>
          <a:prstGeom prst="roundRect">
            <a:avLst>
              <a:gd name="adj" fmla="val 23684"/>
            </a:avLst>
          </a:prstGeom>
          <a:solidFill>
            <a:srgbClr val="10B98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9848" y="4882896"/>
            <a:ext cx="1563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状态：可继续迭代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971800" y="4800600"/>
            <a:ext cx="1783080" cy="347472"/>
          </a:xfrm>
          <a:prstGeom prst="roundRect">
            <a:avLst>
              <a:gd name="adj" fmla="val 23684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1528" y="4882896"/>
            <a:ext cx="1563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重点：质量门禁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983480" y="4800600"/>
            <a:ext cx="1783080" cy="347472"/>
          </a:xfrm>
          <a:prstGeom prst="roundRect">
            <a:avLst>
              <a:gd name="adj" fmla="val 23684"/>
            </a:avLst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93208" y="4882896"/>
            <a:ext cx="1563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关注：外部依赖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模块与架构版图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单体便于完整教学演示，微服务版承载拆分与跨服务调用实践，前端承担生成/预览/管理体验。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481328"/>
            <a:ext cx="3246120" cy="4315968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1481328"/>
            <a:ext cx="3246120" cy="73152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1682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9264" y="234086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3.5.4 / Java 21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987552" y="2843784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80160" y="2816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controller：用户、应用、对话、工作流 SSE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987552" y="3374136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langgraph4j：代码生成与图片收集</a:t>
            </a:r>
            <a:endParaRPr lang="en-US" sz="1420" dirty="0"/>
          </a:p>
        </p:txBody>
      </p:sp>
      <p:sp>
        <p:nvSpPr>
          <p:cNvPr id="20" name="Shape 18"/>
          <p:cNvSpPr/>
          <p:nvPr/>
        </p:nvSpPr>
        <p:spPr>
          <a:xfrm>
            <a:off x="987552" y="3904488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0160" y="387705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core：解析、保存、代码生成门面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987552" y="4434840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80160" y="44074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/ ratelimiter：指标与限流</a:t>
            </a:r>
            <a:endParaRPr lang="en-US" sz="1420" dirty="0"/>
          </a:p>
        </p:txBody>
      </p:sp>
      <p:sp>
        <p:nvSpPr>
          <p:cNvPr id="24" name="Shape 22"/>
          <p:cNvSpPr/>
          <p:nvPr/>
        </p:nvSpPr>
        <p:spPr>
          <a:xfrm>
            <a:off x="3200400" y="5065776"/>
            <a:ext cx="411480" cy="411480"/>
          </a:xfrm>
          <a:prstGeom prst="ellipse">
            <a:avLst/>
          </a:prstGeom>
          <a:solidFill>
            <a:srgbClr val="065A82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5184648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416552" y="1481328"/>
            <a:ext cx="3246120" cy="4315968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16552" y="1481328"/>
            <a:ext cx="3246120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72584" y="1682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微服务后端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672584" y="234086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3.3 + Nacos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4690872" y="2843784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83480" y="2816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user：用户与鉴权</a:t>
            </a:r>
            <a:endParaRPr lang="en-US" sz="1420" dirty="0"/>
          </a:p>
        </p:txBody>
      </p:sp>
      <p:sp>
        <p:nvSpPr>
          <p:cNvPr id="32" name="Shape 30"/>
          <p:cNvSpPr/>
          <p:nvPr/>
        </p:nvSpPr>
        <p:spPr>
          <a:xfrm>
            <a:off x="4690872" y="3374136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83480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app：应用、对话与生成</a:t>
            </a:r>
            <a:endParaRPr lang="en-US" sz="1420" dirty="0"/>
          </a:p>
        </p:txBody>
      </p:sp>
      <p:sp>
        <p:nvSpPr>
          <p:cNvPr id="34" name="Shape 32"/>
          <p:cNvSpPr/>
          <p:nvPr/>
        </p:nvSpPr>
        <p:spPr>
          <a:xfrm>
            <a:off x="4690872" y="3904488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83480" y="387705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screenshot：截图服务</a:t>
            </a:r>
            <a:endParaRPr lang="en-US" sz="1420" dirty="0"/>
          </a:p>
        </p:txBody>
      </p:sp>
      <p:sp>
        <p:nvSpPr>
          <p:cNvPr id="36" name="Shape 34"/>
          <p:cNvSpPr/>
          <p:nvPr/>
        </p:nvSpPr>
        <p:spPr>
          <a:xfrm>
            <a:off x="4690872" y="4434840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83480" y="44074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common/model/client/ai：共享能力</a:t>
            </a:r>
            <a:endParaRPr lang="en-US" sz="1420" dirty="0"/>
          </a:p>
        </p:txBody>
      </p:sp>
      <p:sp>
        <p:nvSpPr>
          <p:cNvPr id="38" name="Shape 36"/>
          <p:cNvSpPr/>
          <p:nvPr/>
        </p:nvSpPr>
        <p:spPr>
          <a:xfrm>
            <a:off x="6903720" y="5065776"/>
            <a:ext cx="411480" cy="411480"/>
          </a:xfrm>
          <a:prstGeom prst="ellipse">
            <a:avLst/>
          </a:prstGeom>
          <a:solidFill>
            <a:srgbClr val="1C7293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40880" y="5184648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119872" y="1481328"/>
            <a:ext cx="3246120" cy="4315968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119872" y="1481328"/>
            <a:ext cx="3246120" cy="731520"/>
          </a:xfrm>
          <a:prstGeom prst="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75904" y="1682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前端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8375904" y="234086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 + Vite 7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8394192" y="2843784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0" y="2816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首页创建与精选应用</a:t>
            </a:r>
            <a:endParaRPr lang="en-US" sz="1420" dirty="0"/>
          </a:p>
        </p:txBody>
      </p:sp>
      <p:sp>
        <p:nvSpPr>
          <p:cNvPr id="46" name="Shape 44"/>
          <p:cNvSpPr/>
          <p:nvPr/>
        </p:nvSpPr>
        <p:spPr>
          <a:xfrm>
            <a:off x="8394192" y="3374136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86800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对话生成 + 实时预览</a:t>
            </a:r>
            <a:endParaRPr lang="en-US" sz="1420" dirty="0"/>
          </a:p>
        </p:txBody>
      </p:sp>
      <p:sp>
        <p:nvSpPr>
          <p:cNvPr id="48" name="Shape 46"/>
          <p:cNvSpPr/>
          <p:nvPr/>
        </p:nvSpPr>
        <p:spPr>
          <a:xfrm>
            <a:off x="8394192" y="3904488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686800" y="387705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部署弹窗与应用管理</a:t>
            </a:r>
            <a:endParaRPr lang="en-US" sz="1420" dirty="0"/>
          </a:p>
        </p:txBody>
      </p:sp>
      <p:sp>
        <p:nvSpPr>
          <p:cNvPr id="50" name="Shape 48"/>
          <p:cNvSpPr/>
          <p:nvPr/>
        </p:nvSpPr>
        <p:spPr>
          <a:xfrm>
            <a:off x="8394192" y="4434840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686800" y="44074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管理员应用/用户/对话管理</a:t>
            </a:r>
            <a:endParaRPr lang="en-US" sz="1420" dirty="0"/>
          </a:p>
        </p:txBody>
      </p:sp>
      <p:sp>
        <p:nvSpPr>
          <p:cNvPr id="52" name="Shape 50"/>
          <p:cNvSpPr/>
          <p:nvPr/>
        </p:nvSpPr>
        <p:spPr>
          <a:xfrm>
            <a:off x="10607040" y="5065776"/>
            <a:ext cx="411480" cy="411480"/>
          </a:xfrm>
          <a:prstGeom prst="ellipse">
            <a:avLst/>
          </a:prstGeom>
          <a:solidFill>
            <a:srgbClr val="00A896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744200" y="5184648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886200" y="3493008"/>
            <a:ext cx="292608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3493008"/>
            <a:ext cx="292608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当前核心能力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AI 生成链路为中心，覆盖从需求输入到可访问应用、再到后台治理的完整闭环。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5087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1508760"/>
            <a:ext cx="100584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1764792"/>
            <a:ext cx="475488" cy="475488"/>
          </a:xfrm>
          <a:prstGeom prst="ellipse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19019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627632" y="17282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27632" y="21671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用户输入需求后，AI 路由生成策略，通过工具调用生成 HTML、多文件或 Vue 项目，并以流式方式展示过程。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6272784" y="15087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72784" y="1508760"/>
            <a:ext cx="100584" cy="1481328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65392" y="1764792"/>
            <a:ext cx="475488" cy="475488"/>
          </a:xfrm>
          <a:prstGeom prst="ellipse">
            <a:avLst/>
          </a:prstGeom>
          <a:solidFill>
            <a:srgbClr val="1C7293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9019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187184" y="17282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87184" y="21671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生成应用可实时展示，支持进入编辑模式选择页面元素，并通过对话快速修改局部内容。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713232" y="33375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337560"/>
            <a:ext cx="100584" cy="1481328"/>
          </a:xfrm>
          <a:prstGeom prst="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593592"/>
            <a:ext cx="475488" cy="475488"/>
          </a:xfrm>
          <a:prstGeom prst="ellipse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37307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627632" y="35570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一键部署分享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627632" y="39959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应用可部署到云端，自动截取封面图，获得访问地址；同时支持源码下载与效果查看。</a:t>
            </a:r>
            <a:endParaRPr lang="en-US" sz="1320" dirty="0"/>
          </a:p>
        </p:txBody>
      </p:sp>
      <p:sp>
        <p:nvSpPr>
          <p:cNvPr id="30" name="Shape 28"/>
          <p:cNvSpPr/>
          <p:nvPr/>
        </p:nvSpPr>
        <p:spPr>
          <a:xfrm>
            <a:off x="6272784" y="33375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72784" y="3337560"/>
            <a:ext cx="100584" cy="148132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5392" y="3593592"/>
            <a:ext cx="475488" cy="475488"/>
          </a:xfrm>
          <a:prstGeom prst="ellipse">
            <a:avLst/>
          </a:prstGeom>
          <a:solidFill>
            <a:srgbClr val="10B981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6832" y="37307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187184" y="35570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87184" y="39959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提供用户、应用、精选内容、系统监控与 AI 调用指标管理，为运营与维护提供后台入口。</a:t>
            </a:r>
            <a:endParaRPr lang="en-US" sz="1320" dirty="0"/>
          </a:p>
        </p:txBody>
      </p:sp>
      <p:sp>
        <p:nvSpPr>
          <p:cNvPr id="36" name="Shape 34"/>
          <p:cNvSpPr/>
          <p:nvPr/>
        </p:nvSpPr>
        <p:spPr>
          <a:xfrm>
            <a:off x="1298448" y="5321808"/>
            <a:ext cx="9601200" cy="475488"/>
          </a:xfrm>
          <a:prstGeom prst="roundRect">
            <a:avLst>
              <a:gd name="adj" fmla="val 15385"/>
            </a:avLst>
          </a:prstGeom>
          <a:solidFill>
            <a:srgbClr val="DDF7F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00200" y="5477256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能力主线：需求描述 → AI 工作流/工具调用 → 代码生成与预览 → 编辑/部署 → 管理与监控</a:t>
            </a:r>
            <a:endParaRPr lang="en-US" sz="13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昨日与近期变更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当前分支无最近 7 天业务提交；可见远端分支存在前端重构动态，主线近期历史重点为微服务改造。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084832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9888" y="2295144"/>
            <a:ext cx="2267712" cy="54864"/>
          </a:xfrm>
          <a:prstGeom prst="rect">
            <a:avLst/>
          </a:prstGeom>
          <a:solidFill>
            <a:srgbClr val="D6EF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498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2026-06-02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远端前端重构分支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7863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提取 composables，拆分聊天、预览、后台页面组件，减少 AppChatPage 复杂度。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3657600" y="2084832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33088" y="2295144"/>
            <a:ext cx="2267712" cy="54864"/>
          </a:xfrm>
          <a:prstGeom prst="rect">
            <a:avLst/>
          </a:prstGeom>
          <a:solidFill>
            <a:srgbClr val="D6EF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221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930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2026-06-02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101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204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日报自动化分支</a:t>
            </a:r>
            <a:endParaRPr lang="en-US" sz="1430" dirty="0"/>
          </a:p>
        </p:txBody>
      </p:sp>
      <p:sp>
        <p:nvSpPr>
          <p:cNvPr id="25" name="Text 23"/>
          <p:cNvSpPr/>
          <p:nvPr/>
        </p:nvSpPr>
        <p:spPr>
          <a:xfrm>
            <a:off x="35295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存在另一条 docs 日报提交；当前指定分支仍需生成本次报告并独立 PR。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6400800" y="208483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76288" y="2295144"/>
            <a:ext cx="2267712" cy="54864"/>
          </a:xfrm>
          <a:prstGeom prst="rect">
            <a:avLst/>
          </a:prstGeom>
          <a:solidFill>
            <a:srgbClr val="D6EF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362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0533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当前分支状态</a:t>
            </a:r>
            <a:endParaRPr lang="en-US" sz="1430" dirty="0"/>
          </a:p>
        </p:txBody>
      </p:sp>
      <p:sp>
        <p:nvSpPr>
          <p:cNvPr id="32" name="Text 30"/>
          <p:cNvSpPr/>
          <p:nvPr/>
        </p:nvSpPr>
        <p:spPr>
          <a:xfrm>
            <a:off x="62727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指定工作分支停留在主线 893918c；未发现业务代码变更。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9144000" y="2084832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085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9794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7965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0068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主线微服务改造完成</a:t>
            </a:r>
            <a:endParaRPr lang="en-US" sz="1430" dirty="0"/>
          </a:p>
        </p:txBody>
      </p:sp>
      <p:sp>
        <p:nvSpPr>
          <p:cNvPr id="38" name="Text 36"/>
          <p:cNvSpPr/>
          <p:nvPr/>
        </p:nvSpPr>
        <p:spPr>
          <a:xfrm>
            <a:off x="90159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合并单体完整代码与微服务拆分成果，形成 user/app/screenshot 等服务。</a:t>
            </a:r>
            <a:endParaRPr lang="en-US" sz="1030" dirty="0"/>
          </a:p>
        </p:txBody>
      </p:sp>
      <p:sp>
        <p:nvSpPr>
          <p:cNvPr id="39" name="Shape 37"/>
          <p:cNvSpPr/>
          <p:nvPr/>
        </p:nvSpPr>
        <p:spPr>
          <a:xfrm>
            <a:off x="804672" y="4892040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8992" y="5102352"/>
            <a:ext cx="9875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解读：本日报以当前指定分支为交付基线；其他远端分支动态作为团队近期进展参考，不纳入本次业务代码变更。</a:t>
            </a:r>
            <a:endParaRPr lang="en-US" sz="13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近期前端重构观察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远端分支 facc47b 显示前端正在从页面级大组件转向 composables + 局部组件复用。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481328"/>
            <a:ext cx="5047488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51560" y="17922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改动规模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51560" y="2331720"/>
            <a:ext cx="1417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01952" y="2496312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7592" y="2542032"/>
            <a:ext cx="850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325880" y="31821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325880" y="34930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前端相关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697480" y="2331720"/>
            <a:ext cx="1417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47872" y="2496312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53512" y="2542032"/>
            <a:ext cx="850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+1617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2971800" y="31821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971800" y="34930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行级变更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2331720"/>
            <a:ext cx="1051560" cy="11430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28032" y="2496312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2542032"/>
            <a:ext cx="484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-1517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4617720" y="31821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删除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17720" y="34930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瘦身替换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1051560" y="3913632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44168" y="388620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useAppChat、useCodeGeneration、useVisualEdit 等 composables</a:t>
            </a:r>
            <a:endParaRPr lang="en-US" sz="1420" dirty="0"/>
          </a:p>
        </p:txBody>
      </p:sp>
      <p:sp>
        <p:nvSpPr>
          <p:cNvPr id="31" name="Shape 29"/>
          <p:cNvSpPr/>
          <p:nvPr/>
        </p:nvSpPr>
        <p:spPr>
          <a:xfrm>
            <a:off x="1051560" y="4370832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44168" y="434340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ChatHeaderBar、ChatInputArea、PreviewPanel 等对话页组件</a:t>
            </a:r>
            <a:endParaRPr lang="en-US" sz="1420" dirty="0"/>
          </a:p>
        </p:txBody>
      </p:sp>
      <p:sp>
        <p:nvSpPr>
          <p:cNvPr id="33" name="Shape 31"/>
          <p:cNvSpPr/>
          <p:nvPr/>
        </p:nvSpPr>
        <p:spPr>
          <a:xfrm>
            <a:off x="1051560" y="4828032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44168" y="480060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后台表格页抽取分页/表格复用逻辑，降低重复代码</a:t>
            </a:r>
            <a:endParaRPr lang="en-US" sz="1420" dirty="0"/>
          </a:p>
        </p:txBody>
      </p:sp>
      <p:sp>
        <p:nvSpPr>
          <p:cNvPr id="35" name="Shape 33"/>
          <p:cNvSpPr/>
          <p:nvPr/>
        </p:nvSpPr>
        <p:spPr>
          <a:xfrm>
            <a:off x="6172200" y="1481328"/>
            <a:ext cx="5394960" cy="4187952"/>
          </a:xfrm>
          <a:prstGeom prst="roundRect">
            <a:avLst>
              <a:gd name="adj" fmla="val 1747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9672" y="17922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维护启示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537960" y="2359152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2478024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页面逻辑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321040" y="2523744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98280" y="2359152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17152" y="247802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537960" y="3017520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3136392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大组件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321040" y="3182112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098280" y="3017520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217152" y="3136392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局部组件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537960" y="3675888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75120" y="379476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分散常量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321040" y="3840480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98280" y="3675888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17152" y="3794760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集中配置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537960" y="4334256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75120" y="4453128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手动状态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321040" y="4498848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098280" y="4334256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17152" y="445312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复用 hooks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556248" y="51023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建议：若该分支进入主线，应补充前端构建、关键页面手动验收与 composables 单元测试策略。</a:t>
            </a:r>
            <a:endParaRPr lang="en-US" sz="13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 CI 状态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仓库具备单体后端测试与 Prometheus 配置，但缺少自动化流水线和前端测试体系。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444752"/>
            <a:ext cx="73609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1691640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1810512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单体后端测试</a:t>
            </a:r>
            <a:endParaRPr lang="en-US" sz="1040" dirty="0"/>
          </a:p>
        </p:txBody>
      </p:sp>
      <p:sp>
        <p:nvSpPr>
          <p:cNvPr id="15" name="Text 13"/>
          <p:cNvSpPr/>
          <p:nvPr/>
        </p:nvSpPr>
        <p:spPr>
          <a:xfrm>
            <a:off x="2907792" y="173736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个测试类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4681728" y="1728216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工作流、并发、工具、代码解析、截图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987552" y="2450592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2569464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微服务测试</a:t>
            </a:r>
            <a:endParaRPr lang="en-US" sz="1040" dirty="0"/>
          </a:p>
        </p:txBody>
      </p:sp>
      <p:sp>
        <p:nvSpPr>
          <p:cNvPr id="19" name="Text 17"/>
          <p:cNvSpPr/>
          <p:nvPr/>
        </p:nvSpPr>
        <p:spPr>
          <a:xfrm>
            <a:off x="2907792" y="249631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未发现测试目录</a:t>
            </a:r>
            <a:endParaRPr lang="en-US" sz="1380" dirty="0"/>
          </a:p>
        </p:txBody>
      </p:sp>
      <p:sp>
        <p:nvSpPr>
          <p:cNvPr id="20" name="Text 18"/>
          <p:cNvSpPr/>
          <p:nvPr/>
        </p:nvSpPr>
        <p:spPr>
          <a:xfrm>
            <a:off x="4681728" y="248716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建议从服务间契约与核心 Service 开始补齐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987552" y="3209544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328416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前端测试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2907792" y="325526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无测试脚本</a:t>
            </a:r>
            <a:endParaRPr lang="en-US" sz="1380" dirty="0"/>
          </a:p>
        </p:txBody>
      </p:sp>
      <p:sp>
        <p:nvSpPr>
          <p:cNvPr id="24" name="Text 22"/>
          <p:cNvSpPr/>
          <p:nvPr/>
        </p:nvSpPr>
        <p:spPr>
          <a:xfrm>
            <a:off x="4681728" y="3246120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 build/type-check/lint/format；缺少 Vitest/Cypress 等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987552" y="3968496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4087368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配置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2907792" y="40142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workflow</a:t>
            </a:r>
            <a:endParaRPr lang="en-US" sz="1380" dirty="0"/>
          </a:p>
        </p:txBody>
      </p:sp>
      <p:sp>
        <p:nvSpPr>
          <p:cNvPr id="28" name="Text 26"/>
          <p:cNvSpPr/>
          <p:nvPr/>
        </p:nvSpPr>
        <p:spPr>
          <a:xfrm>
            <a:off x="4681728" y="40050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.github/workflows、Jenkinsfile、GitLab CI</a:t>
            </a:r>
            <a:endParaRPr lang="en-US" sz="1180" dirty="0"/>
          </a:p>
        </p:txBody>
      </p:sp>
      <p:sp>
        <p:nvSpPr>
          <p:cNvPr id="29" name="Shape 27"/>
          <p:cNvSpPr/>
          <p:nvPr/>
        </p:nvSpPr>
        <p:spPr>
          <a:xfrm>
            <a:off x="987552" y="4727448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78992" y="4846320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监控配置</a:t>
            </a:r>
            <a:endParaRPr lang="en-US" sz="1040" dirty="0"/>
          </a:p>
        </p:txBody>
      </p:sp>
      <p:sp>
        <p:nvSpPr>
          <p:cNvPr id="31" name="Text 29"/>
          <p:cNvSpPr/>
          <p:nvPr/>
        </p:nvSpPr>
        <p:spPr>
          <a:xfrm>
            <a:off x="2907792" y="477316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已配置</a:t>
            </a:r>
            <a:endParaRPr lang="en-US" sz="1380" dirty="0"/>
          </a:p>
        </p:txBody>
      </p:sp>
      <p:sp>
        <p:nvSpPr>
          <p:cNvPr id="32" name="Text 30"/>
          <p:cNvSpPr/>
          <p:nvPr/>
        </p:nvSpPr>
        <p:spPr>
          <a:xfrm>
            <a:off x="4681728" y="4764024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抓取 /api/actuator/prometheus，目标 localhost:8123</a:t>
            </a:r>
            <a:endParaRPr lang="en-US" sz="1180" dirty="0"/>
          </a:p>
        </p:txBody>
      </p:sp>
      <p:sp>
        <p:nvSpPr>
          <p:cNvPr id="33" name="Shape 31"/>
          <p:cNvSpPr/>
          <p:nvPr/>
        </p:nvSpPr>
        <p:spPr>
          <a:xfrm>
            <a:off x="8458200" y="1444752"/>
            <a:ext cx="3063240" cy="4434840"/>
          </a:xfrm>
          <a:prstGeom prst="roundRect">
            <a:avLst>
              <a:gd name="adj" fmla="val 2388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96528" y="17739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最近状态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96528" y="22402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CI 历史运行记录可用于判断红绿灯状态。当前质量状态主要来自仓库静态配置与测试目录存在性。</a:t>
            </a:r>
            <a:endParaRPr lang="en-US" sz="1420" dirty="0"/>
          </a:p>
        </p:txBody>
      </p:sp>
      <p:sp>
        <p:nvSpPr>
          <p:cNvPr id="36" name="Shape 34"/>
          <p:cNvSpPr/>
          <p:nvPr/>
        </p:nvSpPr>
        <p:spPr>
          <a:xfrm>
            <a:off x="8823960" y="3822192"/>
            <a:ext cx="1051560" cy="1051560"/>
          </a:xfrm>
          <a:prstGeom prst="ellipse">
            <a:avLst/>
          </a:prstGeom>
          <a:solidFill>
            <a:srgbClr val="F59E0B">
              <a:alpha val="8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25712" y="41696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3913632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下一步优先建立最小流水线：后端 mvn test、前端 npm run build/type-check。</a:t>
            </a:r>
            <a:endParaRPr lang="en-US" sz="11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数据与指标要点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当前没有生产运行数据；本页用仓库静态信息给出可落地的指标口径与接入优先级。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9464" y="164592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8123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8755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单体应用端口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8755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抓取目标 localhost:8123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350215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58384" y="1645920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5818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8124/25/27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377647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微服务端口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77647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screenshot 可运行服务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29107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1645920"/>
            <a:ext cx="292608" cy="2926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4710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10s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656539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监控抓取间隔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6539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业务应用 prometheus scrape_interval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907999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936224" y="1645920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3602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35431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外部资源类型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35431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模型、Redis/MySQL、对象存储/截图环境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713232" y="36576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24128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建议监控口径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024128" y="4489704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16736" y="4462272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调用次数、耗时、失败率、Token/成本估算</a:t>
            </a:r>
            <a:endParaRPr lang="en-US" sz="1420" dirty="0"/>
          </a:p>
        </p:txBody>
      </p:sp>
      <p:sp>
        <p:nvSpPr>
          <p:cNvPr id="36" name="Shape 34"/>
          <p:cNvSpPr/>
          <p:nvPr/>
        </p:nvSpPr>
        <p:spPr>
          <a:xfrm>
            <a:off x="1024128" y="4837176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16736" y="480974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代码生成成功率、部署成功率、截图成功率</a:t>
            </a:r>
            <a:endParaRPr lang="en-US" sz="1420" dirty="0"/>
          </a:p>
        </p:txBody>
      </p:sp>
      <p:sp>
        <p:nvSpPr>
          <p:cNvPr id="38" name="Shape 36"/>
          <p:cNvSpPr/>
          <p:nvPr/>
        </p:nvSpPr>
        <p:spPr>
          <a:xfrm>
            <a:off x="1024128" y="5184648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16736" y="515721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连接数、并发请求、Redis/数据库延迟</a:t>
            </a:r>
            <a:endParaRPr lang="en-US" sz="1420" dirty="0"/>
          </a:p>
        </p:txBody>
      </p:sp>
      <p:sp>
        <p:nvSpPr>
          <p:cNvPr id="40" name="Shape 38"/>
          <p:cNvSpPr/>
          <p:nvPr/>
        </p:nvSpPr>
        <p:spPr>
          <a:xfrm>
            <a:off x="6272784" y="36576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当前说明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601968" y="443484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仓库已具备 Actuator + Prometheus 基础配置，但没有提交 Grafana 仪表盘或历史运行样本。日报中的业务指标需后续从生产/测试环境采集后替换为真实趋势。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风险、问题与阻塞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当前风险集中在质量门禁、外部依赖、微服务联调、安全成本控制与分支整合。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481328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1481328"/>
            <a:ext cx="100584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1737360"/>
            <a:ext cx="475488" cy="475488"/>
          </a:xfrm>
          <a:prstGeom prst="ellipse">
            <a:avLst/>
          </a:prstGeom>
          <a:solidFill>
            <a:srgbClr val="F59E0B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187452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627632" y="1700784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质量门禁不足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27632" y="2139696"/>
            <a:ext cx="21031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 CI workflow，测试无法在 PR 维度自动执行；前端缺少测试脚本。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4407408" y="1481328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07408" y="1481328"/>
            <a:ext cx="100584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0016" y="1737360"/>
            <a:ext cx="475488" cy="475488"/>
          </a:xfrm>
          <a:prstGeom prst="ellipse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1456" y="187452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21808" y="1700784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外部依赖复杂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321808" y="2139696"/>
            <a:ext cx="21031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模型、DashScope、COS、Selenium、Redis/MySQL/Nacos 等配置缺失会阻塞端到端验证。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8101584" y="1481328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01584" y="1481328"/>
            <a:ext cx="100584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94192" y="1737360"/>
            <a:ext cx="475488" cy="475488"/>
          </a:xfrm>
          <a:prstGeom prst="ellipse">
            <a:avLst/>
          </a:prstGeom>
          <a:solidFill>
            <a:srgbClr val="1C7293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85632" y="187452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015984" y="1700784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微服务联调成本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015984" y="2139696"/>
            <a:ext cx="21031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服务间契约需要稳定测试与环境编排，否则容易出现跨服务回归。</a:t>
            </a:r>
            <a:endParaRPr lang="en-US" sz="1320" dirty="0"/>
          </a:p>
        </p:txBody>
      </p:sp>
      <p:sp>
        <p:nvSpPr>
          <p:cNvPr id="30" name="Shape 28"/>
          <p:cNvSpPr/>
          <p:nvPr/>
        </p:nvSpPr>
        <p:spPr>
          <a:xfrm>
            <a:off x="2606040" y="370332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606040" y="3703320"/>
            <a:ext cx="100584" cy="1417320"/>
          </a:xfrm>
          <a:prstGeom prst="rect">
            <a:avLst/>
          </a:prstGeom>
          <a:solidFill>
            <a:srgbClr val="E11D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98648" y="3959352"/>
            <a:ext cx="475488" cy="475488"/>
          </a:xfrm>
          <a:prstGeom prst="ellipse">
            <a:avLst/>
          </a:prstGeom>
          <a:solidFill>
            <a:srgbClr val="E11D48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0088" y="409651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520440" y="3922776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生成内容安全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3520440" y="4361688"/>
            <a:ext cx="23317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Prompt 审查、限流、部署产物隔离仍需持续验证，避免滥用与成本失控。</a:t>
            </a:r>
            <a:endParaRPr lang="en-US" sz="1320" dirty="0"/>
          </a:p>
        </p:txBody>
      </p:sp>
      <p:sp>
        <p:nvSpPr>
          <p:cNvPr id="36" name="Shape 34"/>
          <p:cNvSpPr/>
          <p:nvPr/>
        </p:nvSpPr>
        <p:spPr>
          <a:xfrm>
            <a:off x="6583680" y="370332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83680" y="3703320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76288" y="3959352"/>
            <a:ext cx="475488" cy="475488"/>
          </a:xfrm>
          <a:prstGeom prst="ellipse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67728" y="409651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498080" y="3922776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近期分支分散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7498080" y="4361688"/>
            <a:ext cx="23317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前端重构与日报提交存在于其他远端分支，合入时需关注冲突与重复报告文件。</a:t>
            </a:r>
            <a:endParaRPr lang="en-US" sz="1320" dirty="0"/>
          </a:p>
        </p:txBody>
      </p:sp>
      <p:sp>
        <p:nvSpPr>
          <p:cNvPr id="42" name="Shape 40"/>
          <p:cNvSpPr/>
          <p:nvPr/>
        </p:nvSpPr>
        <p:spPr>
          <a:xfrm>
            <a:off x="896112" y="5532120"/>
            <a:ext cx="1040587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43000" y="5650992"/>
            <a:ext cx="9921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阻塞判断：当前报告生成不受业务环境阻塞；业务交付的端到端验证需要补齐运行环境与 CI 后再给出真实质量状态。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-822960"/>
            <a:ext cx="3840480" cy="3840480"/>
          </a:xfrm>
          <a:prstGeom prst="ellipse">
            <a:avLst/>
          </a:prstGeom>
          <a:solidFill>
            <a:srgbClr val="1C7293">
              <a:alpha val="7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0" y="4114800"/>
            <a:ext cx="3291840" cy="3291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65A82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65836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下一步建议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49808" y="13258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以“质量门禁 + 可观测指标 + 端到端闭环”为近期维护重点。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96112" y="1938528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2075688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572768" y="196596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建立最小 CI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493008" y="1975104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mvn test；前端 build/type-check；后续接入 lint 与关键集成测试。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6112" y="265176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88920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72768" y="267919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补齐前端验证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493008" y="2688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为核心 composables 和生成/部署路径增加自动化或手动验收清单。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6112" y="3364992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3502152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72768" y="339242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沉淀运行指标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493008" y="3401568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AI 调用、生成成功率、部署/截图成功率写入日报数据源。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078224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4215384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572768" y="410565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强化安全成本护栏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3493008" y="41148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持续验证 Prompt 审查、限流、隔离部署、模型调用成本预算。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6112" y="4791456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928616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572768" y="4818888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梳理分支合入策略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3493008" y="4828032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明确前端重构分支与日报分支的合并顺序，避免重复文件与冲突。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887968" y="1325880"/>
            <a:ext cx="2423160" cy="4434840"/>
          </a:xfrm>
          <a:prstGeom prst="roundRect">
            <a:avLst>
              <a:gd name="adj" fmla="val 301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DD3FC">
                <a:alpha val="4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89720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今日结论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189720" y="2212848"/>
            <a:ext cx="16916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平台能力完整、技术栈丰富；当前最有价值的维护动作，是把已有功能从“可演示”推进到“可持续验证、可观测、可控成本”。</a:t>
            </a:r>
            <a:endParaRPr lang="en-US" sz="1420" dirty="0"/>
          </a:p>
        </p:txBody>
      </p:sp>
      <p:sp>
        <p:nvSpPr>
          <p:cNvPr id="32" name="Shape 30"/>
          <p:cNvSpPr/>
          <p:nvPr/>
        </p:nvSpPr>
        <p:spPr>
          <a:xfrm>
            <a:off x="749808" y="6053328"/>
            <a:ext cx="5166360" cy="347472"/>
          </a:xfrm>
          <a:prstGeom prst="roundRect">
            <a:avLst>
              <a:gd name="adj" fmla="val 23684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9536" y="6135624"/>
            <a:ext cx="4946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报告文件：docs/reports/project-status-2026-06-02.pptx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2026-06-02</dc:title>
  <dc:subject>每日项目状态汇报</dc:subject>
  <dc:creator>Cursor Automation</dc:creator>
  <cp:lastModifiedBy>Cursor Automation</cp:lastModifiedBy>
  <cp:revision>1</cp:revision>
  <dcterms:created xsi:type="dcterms:W3CDTF">2026-06-02T09:08:23Z</dcterms:created>
  <dcterms:modified xsi:type="dcterms:W3CDTF">2026-06-02T09:08:23Z</dcterms:modified>
</cp:coreProperties>
</file>