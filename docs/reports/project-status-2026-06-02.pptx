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6766560" y="-320040"/>
            <a:ext cx="5669280" cy="7498079"/>
          </a:xfrm>
          <a:prstGeom prst="parallelogram">
            <a:avLst/>
          </a:prstGeom>
          <a:solidFill>
            <a:srgbClr val="0A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001000" y="502920"/>
            <a:ext cx="4206240" cy="5669280"/>
          </a:xfrm>
          <a:prstGeom prst="parallelogram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326880" y="1143000"/>
            <a:ext cx="2926080" cy="4206240"/>
          </a:xfrm>
          <a:prstGeom prst="parallelogram">
            <a:avLst/>
          </a:prstGeom>
          <a:solidFill>
            <a:srgbClr val="2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594360" y="4434840"/>
            <a:ext cx="4663440" cy="1143000"/>
          </a:xfrm>
          <a:prstGeom prst="arc">
            <a:avLst/>
          </a:prstGeom>
          <a:ln w="25400">
            <a:solidFill>
              <a:srgbClr val="20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58368"/>
            <a:ext cx="1508760" cy="31089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50" b="1">
                <a:solidFill>
                  <a:srgbClr val="20C9B8"/>
                </a:solidFill>
                <a:latin typeface="Calibri"/>
              </a:rPr>
              <a:t>DAILY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649224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每日项目状态汇报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630936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000" b="0">
                <a:solidFill>
                  <a:srgbClr val="D7F6F6"/>
                </a:solidFill>
                <a:latin typeface="Calibri"/>
              </a:rPr>
              <a:t>AI 零代码应用生成平台 · yu-ai-code-mother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16352"/>
            <a:ext cx="539496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AE0E5"/>
                </a:solidFill>
                <a:latin typeface="Calibri"/>
              </a:rPr>
              <a:t>面向：项目维护者 / 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886200"/>
            <a:ext cx="1627632" cy="1143000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50791"/>
            <a:ext cx="1408176" cy="42062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81144"/>
            <a:ext cx="1408176" cy="34747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E2FBFA"/>
                </a:solidFill>
                <a:latin typeface="Calibri"/>
              </a:rPr>
              <a:t>运行年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2032" y="3886200"/>
            <a:ext cx="1627632" cy="1143000"/>
          </a:xfrm>
          <a:prstGeom prst="roundRect">
            <a:avLst/>
          </a:prstGeom>
          <a:solidFill>
            <a:srgbClr val="0A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4050791"/>
            <a:ext cx="1408176" cy="42062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06-02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581144"/>
            <a:ext cx="1408176" cy="34747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E2FBFA"/>
                </a:solidFill>
                <a:latin typeface="Calibri"/>
              </a:rPr>
              <a:t>北京时间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886200"/>
            <a:ext cx="1627632" cy="1143000"/>
          </a:xfrm>
          <a:prstGeom prst="roundRect">
            <a:avLst/>
          </a:prstGeom>
          <a:solidFill>
            <a:srgbClr val="16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050791"/>
            <a:ext cx="1408176" cy="42062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11页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581144"/>
            <a:ext cx="1408176" cy="34747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E2FBFA"/>
                </a:solidFill>
                <a:latin typeface="Calibri"/>
              </a:rPr>
              <a:t>报告结构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440680"/>
            <a:ext cx="3246120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Teal Trust / Ocean Gradient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50292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B4E8E8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446520"/>
            <a:ext cx="59436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B4E8E8"/>
                </a:solidFill>
                <a:latin typeface="Calibri"/>
              </a:rPr>
              <a:t>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3A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-384048"/>
            <a:ext cx="2926080" cy="2926080"/>
          </a:xfrm>
          <a:prstGeom prst="ellipse">
            <a:avLst/>
          </a:prstGeom>
          <a:solidFill>
            <a:srgbClr val="D4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228600"/>
            <a:ext cx="2194560" cy="2194560"/>
          </a:xfrm>
          <a:prstGeom prst="ellipse">
            <a:avLst/>
          </a:prstGeom>
          <a:solidFill>
            <a:srgbClr val="B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813816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092238"/>
                </a:solidFill>
                <a:latin typeface="Georgia"/>
              </a:rPr>
              <a:t>研判依据与范围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C7080"/>
                </a:solidFill>
                <a:latin typeface="Calibri"/>
              </a:rPr>
              <a:t>README、主要模块目录、提交历史、测试/监控配置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07008"/>
            <a:ext cx="1234440" cy="7315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1673351"/>
            <a:ext cx="502920" cy="420624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70992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655063"/>
            <a:ext cx="246888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资料来源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167128"/>
            <a:ext cx="2944368" cy="6126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根 README 与前端 README</a:t>
            </a:r>
            <a:br/>
            <a:r>
              <a:t>· 单体后端 / 微服务模块目录</a:t>
            </a:r>
            <a:br/>
            <a:r>
              <a:t>· 最近提交与测试配置扫描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50876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3712" y="1673351"/>
            <a:ext cx="502920" cy="420624"/>
          </a:xfrm>
          <a:prstGeom prst="roundRect">
            <a:avLst/>
          </a:prstGeom>
          <a:solidFill>
            <a:srgbClr val="1F8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70992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1655063"/>
            <a:ext cx="246888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代码结构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167128"/>
            <a:ext cx="2944368" cy="6126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Spring Boot 3.5 / Java 21</a:t>
            </a:r>
            <a:br/>
            <a:r>
              <a:t>· Vue 3 + TypeScript + Vite</a:t>
            </a:r>
            <a:br/>
            <a:r>
              <a:t>· 保留单体与微服务两套后端形态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50876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57031" y="1673351"/>
            <a:ext cx="502920" cy="420624"/>
          </a:xfrm>
          <a:prstGeom prst="roundRect">
            <a:avLst/>
          </a:prstGeom>
          <a:solidFill>
            <a:srgbClr val="5E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170992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655063"/>
            <a:ext cx="246888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时间口径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167128"/>
            <a:ext cx="2944368" cy="6126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运行日：2026-06-02（北京时间）</a:t>
            </a:r>
            <a:br/>
            <a:r>
              <a:t>· 近 7 天：未发现新增提交</a:t>
            </a:r>
            <a:br/>
            <a:r>
              <a:t>· 最近提交集中于 2025-08-26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401568"/>
            <a:ext cx="1325880" cy="292608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465576"/>
            <a:ext cx="1179576" cy="13716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结论摘要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822191"/>
            <a:ext cx="10469880" cy="1554480"/>
          </a:xfrm>
          <a:prstGeom prst="rect">
            <a:avLst/>
          </a:prstGeom>
          <a:noFill/>
        </p:spPr>
        <p:txBody>
          <a:bodyPr wrap="none" lIns="36576" rIns="18288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>
                <a:solidFill>
                  <a:srgbClr val="172A3A"/>
                </a:solidFill>
                <a:latin typeface="Calibri"/>
              </a:defRPr>
            </a:pPr>
            <a:r>
              <a:t>● 当前仓库呈现完整教学型全栈平台：AI 生成、预览、部署、管理、监控链路均有代码承载。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500">
                <a:solidFill>
                  <a:srgbClr val="172A3A"/>
                </a:solidFill>
                <a:latin typeface="Calibri"/>
              </a:defRPr>
            </a:pPr>
            <a:r>
              <a:t>● 近期历史工作重点是微服务化拆分，配合可观测性、部署上线、成本与稳定性优化。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500">
                <a:solidFill>
                  <a:srgbClr val="172A3A"/>
                </a:solidFill>
                <a:latin typeface="Calibri"/>
              </a:defRPr>
            </a:pPr>
            <a:r>
              <a:t>● 近 7 天没有新增代码提交，今日报告侧重当前状态盘点与下一步推进建议。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500">
                <a:solidFill>
                  <a:srgbClr val="172A3A"/>
                </a:solidFill>
                <a:latin typeface="Calibri"/>
              </a:defRPr>
            </a:pPr>
            <a:r>
              <a:t>● 未发现 GitHub Actions 等 CI 工作流；存在 Maven 测试依赖和前端构建/类型检查脚本。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73952"/>
            <a:ext cx="50292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C7080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446520"/>
            <a:ext cx="59436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7080"/>
                </a:solidFill>
                <a:latin typeface="Calibri"/>
              </a:rPr>
              <a:t>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0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-384048"/>
            <a:ext cx="2926080" cy="2926080"/>
          </a:xfrm>
          <a:prstGeom prst="ellipse">
            <a:avLst/>
          </a:prstGeom>
          <a:solidFill>
            <a:srgbClr val="D4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228600"/>
            <a:ext cx="2194560" cy="2194560"/>
          </a:xfrm>
          <a:prstGeom prst="ellipse">
            <a:avLst/>
          </a:prstGeom>
          <a:solidFill>
            <a:srgbClr val="B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813816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092238"/>
                </a:solidFill>
                <a:latin typeface="Georgia"/>
              </a:rPr>
              <a:t>项目概览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C7080"/>
                </a:solidFill>
                <a:latin typeface="Calibri"/>
              </a:rPr>
              <a:t>企业级 AI 代码生成平台：从需求输入到应用部署分享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07008"/>
            <a:ext cx="1234440" cy="7315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1600200" cy="658368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1417320" cy="1828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需求描述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86584" y="1865376"/>
            <a:ext cx="411480" cy="320040"/>
          </a:xfrm>
          <a:prstGeom prst="rightArrow">
            <a:avLst/>
          </a:prstGeom>
          <a:solidFill>
            <a:srgbClr val="A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1691640"/>
            <a:ext cx="1600200" cy="658368"/>
          </a:xfrm>
          <a:prstGeom prst="roundRect">
            <a:avLst/>
          </a:prstGeom>
          <a:solidFill>
            <a:srgbClr val="1F8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901952"/>
            <a:ext cx="1417320" cy="1828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 路由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43984" y="1865376"/>
            <a:ext cx="411480" cy="320040"/>
          </a:xfrm>
          <a:prstGeom prst="rightArrow">
            <a:avLst/>
          </a:prstGeom>
          <a:solidFill>
            <a:srgbClr val="A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92040" y="1691640"/>
            <a:ext cx="1600200" cy="658368"/>
          </a:xfrm>
          <a:prstGeom prst="roundRect">
            <a:avLst/>
          </a:prstGeom>
          <a:solidFill>
            <a:srgbClr val="5E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1901952"/>
            <a:ext cx="1417320" cy="1828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代码生成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501383" y="1865376"/>
            <a:ext cx="411480" cy="320040"/>
          </a:xfrm>
          <a:prstGeom prst="rightArrow">
            <a:avLst/>
          </a:prstGeom>
          <a:solidFill>
            <a:srgbClr val="A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0" y="1691640"/>
            <a:ext cx="1600200" cy="658368"/>
          </a:xfrm>
          <a:prstGeom prst="roundRect">
            <a:avLst/>
          </a:prstGeom>
          <a:solidFill>
            <a:srgbClr val="2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79" y="1901952"/>
            <a:ext cx="1417320" cy="1828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实时预览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58784" y="1865376"/>
            <a:ext cx="411480" cy="320040"/>
          </a:xfrm>
          <a:prstGeom prst="rightArrow">
            <a:avLst/>
          </a:prstGeom>
          <a:solidFill>
            <a:srgbClr val="A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840" y="1691640"/>
            <a:ext cx="1600200" cy="658368"/>
          </a:xfrm>
          <a:prstGeom prst="roundRect">
            <a:avLst/>
          </a:prstGeom>
          <a:solidFill>
            <a:srgbClr val="0A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901952"/>
            <a:ext cx="1417320" cy="1828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部署分享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288036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3044952"/>
            <a:ext cx="502920" cy="420624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08152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026664"/>
            <a:ext cx="434340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当前定位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538728"/>
            <a:ext cx="4818888" cy="1527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基于 Spring Boot 3 + LangChain4j + Vue 3 的全栈 AI 应用生成平台</a:t>
            </a:r>
            <a:br/>
            <a:r>
              <a:t>· 目标对标网页端 AI 应用生成器，支持从提示词到可访问站点的闭环</a:t>
            </a:r>
            <a:br/>
            <a:r>
              <a:t>· 教学项目属性明显，覆盖智能体、工作流、微服务、监控和部署实践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88036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8231" y="3044952"/>
            <a:ext cx="502920" cy="420624"/>
          </a:xfrm>
          <a:prstGeom prst="roundRect">
            <a:avLst/>
          </a:prstGeom>
          <a:solidFill>
            <a:srgbClr val="0A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1" y="308152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3026664"/>
            <a:ext cx="434340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主要用户与场景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3538728"/>
            <a:ext cx="4818888" cy="1527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普通用户：创建应用、持续对话修改、查看预览、部署与下载源码</a:t>
            </a:r>
            <a:br/>
            <a:r>
              <a:t>· 管理员：用户管理、应用管理、精选应用、对话记录查询</a:t>
            </a:r>
            <a:br/>
            <a:r>
              <a:t>· 维护者：关注 AI 调用、系统性能、成本与服务稳定性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73952"/>
            <a:ext cx="50292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C7080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6446520"/>
            <a:ext cx="59436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7080"/>
                </a:solidFill>
                <a:latin typeface="Calibri"/>
              </a:rPr>
              <a:t>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0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-384048"/>
            <a:ext cx="2926080" cy="2926080"/>
          </a:xfrm>
          <a:prstGeom prst="ellipse">
            <a:avLst/>
          </a:prstGeom>
          <a:solidFill>
            <a:srgbClr val="D4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228600"/>
            <a:ext cx="2194560" cy="2194560"/>
          </a:xfrm>
          <a:prstGeom prst="ellipse">
            <a:avLst/>
          </a:prstGeom>
          <a:solidFill>
            <a:srgbClr val="B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813816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092238"/>
                </a:solidFill>
                <a:latin typeface="Georgia"/>
              </a:rPr>
              <a:t>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C7080"/>
                </a:solidFill>
                <a:latin typeface="Calibri"/>
              </a:rPr>
              <a:t>从 AI 生成到运营管理的 4 条主线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07008"/>
            <a:ext cx="1234440" cy="7315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" y="1673351"/>
            <a:ext cx="502920" cy="420624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70992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55063"/>
            <a:ext cx="41605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智能代码生成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2167128"/>
            <a:ext cx="4636008" cy="70408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SSE 流式返回 AI 执行过程；按需求智能选择 HTML / 多文件 / Vue 项目生成策略。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508760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73951" y="1673351"/>
            <a:ext cx="502920" cy="420624"/>
          </a:xfrm>
          <a:prstGeom prst="roundRect">
            <a:avLst/>
          </a:prstGeom>
          <a:solidFill>
            <a:srgbClr val="23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1" y="170992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599" y="1655063"/>
            <a:ext cx="41605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可视化编辑与预览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167128"/>
            <a:ext cx="4636008" cy="70408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生成应用可实时展示，用户通过对话持续迭代页面，形成边看边改体验。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20440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1832" y="3685032"/>
            <a:ext cx="502920" cy="420624"/>
          </a:xfrm>
          <a:prstGeom prst="roundRect">
            <a:avLst/>
          </a:prstGeom>
          <a:solidFill>
            <a:srgbClr val="5E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72160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666744"/>
            <a:ext cx="41605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一键部署与下载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" y="4178808"/>
            <a:ext cx="4636008" cy="70408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部署到静态目录，生成访问 URL；支持源码打包下载，并异步生成封面截图。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520440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73951" y="3685032"/>
            <a:ext cx="502920" cy="420624"/>
          </a:xfrm>
          <a:prstGeom prst="roundRect">
            <a:avLst/>
          </a:prstGeom>
          <a:solidFill>
            <a:srgbClr val="0A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1" y="372160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599" y="3666744"/>
            <a:ext cx="41605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企业级管理与监控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178808"/>
            <a:ext cx="4636008" cy="70408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用户/应用/精选/对话历史后台管理；Micrometer + Prometheus 暴露 AI 调用指标。</a:t>
            </a:r>
          </a:p>
        </p:txBody>
      </p:sp>
      <p:sp>
        <p:nvSpPr>
          <p:cNvPr id="29" name="Oval 28"/>
          <p:cNvSpPr/>
          <p:nvPr/>
        </p:nvSpPr>
        <p:spPr>
          <a:xfrm>
            <a:off x="5321808" y="2926080"/>
            <a:ext cx="1554480" cy="1554480"/>
          </a:xfrm>
          <a:prstGeom prst="ellipse">
            <a:avLst/>
          </a:prstGeom>
          <a:solidFill>
            <a:srgbClr val="E2F8F7"/>
          </a:solidFill>
          <a:ln w="25400">
            <a:solidFill>
              <a:srgbClr val="20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3401568"/>
            <a:ext cx="1225296" cy="23774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900" b="1">
                <a:solidFill>
                  <a:srgbClr val="008991"/>
                </a:solidFill>
                <a:latin typeface="Georgia"/>
              </a:rPr>
              <a:t>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73952"/>
            <a:ext cx="50292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C7080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6446520"/>
            <a:ext cx="59436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7080"/>
                </a:solidFill>
                <a:latin typeface="Calibri"/>
              </a:rPr>
              <a:t>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0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-384048"/>
            <a:ext cx="2926080" cy="2926080"/>
          </a:xfrm>
          <a:prstGeom prst="ellipse">
            <a:avLst/>
          </a:prstGeom>
          <a:solidFill>
            <a:srgbClr val="D4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228600"/>
            <a:ext cx="2194560" cy="2194560"/>
          </a:xfrm>
          <a:prstGeom prst="ellipse">
            <a:avLst/>
          </a:prstGeom>
          <a:solidFill>
            <a:srgbClr val="B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813816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092238"/>
                </a:solidFill>
                <a:latin typeface="Georgia"/>
              </a:rPr>
              <a:t>技术架构与模块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C7080"/>
                </a:solidFill>
                <a:latin typeface="Calibri"/>
              </a:rPr>
              <a:t>单体后端 + 微服务改造版本 + Vue 前端并存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07008"/>
            <a:ext cx="1234440" cy="7315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53312"/>
            <a:ext cx="29718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517904"/>
            <a:ext cx="502920" cy="420624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54480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499616"/>
            <a:ext cx="205740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前端层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011680"/>
            <a:ext cx="2532888" cy="3264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Vue 3 / TypeScript / Vite</a:t>
            </a:r>
            <a:br/>
            <a:r>
              <a:t>· Ant Design Vue、Pinia、Vue Router</a:t>
            </a:r>
            <a:br/>
            <a:r>
              <a:t>· 页面：主页、对话页、应用编辑、管理员管理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1353312"/>
            <a:ext cx="36118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59352" y="1517904"/>
            <a:ext cx="502920" cy="420624"/>
          </a:xfrm>
          <a:prstGeom prst="roundRect">
            <a:avLst/>
          </a:prstGeom>
          <a:solidFill>
            <a:srgbClr val="1F8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1554480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499616"/>
            <a:ext cx="269748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单体后端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6" y="2011680"/>
            <a:ext cx="3172968" cy="3264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Spring Boot 3.5 / Java 21</a:t>
            </a:r>
            <a:br/>
            <a:r>
              <a:t>· App/User/ChatHistory/Static/Workflow 控制器</a:t>
            </a:r>
            <a:br/>
            <a:r>
              <a:t>· LangChain4j、LangGraph4j、Redis、MySQL、COS、Selenium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353312"/>
            <a:ext cx="38862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62671" y="1517904"/>
            <a:ext cx="502920" cy="420624"/>
          </a:xfrm>
          <a:prstGeom prst="roundRect">
            <a:avLst/>
          </a:prstGeom>
          <a:solidFill>
            <a:srgbClr val="0A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1554480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1499616"/>
            <a:ext cx="297180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微服务版本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011680"/>
            <a:ext cx="3447288" cy="3264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common / model / client</a:t>
            </a:r>
            <a:br/>
            <a:r>
              <a:t>· user / app / ai / screenshot 服务</a:t>
            </a:r>
            <a:br/>
            <a:r>
              <a:t>· Spring Cloud Alibaba + Dubbo + Nacos 跨服务调用方向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566160" y="3127248"/>
            <a:ext cx="347472" cy="292608"/>
          </a:xfrm>
          <a:prstGeom prst="rightArrow">
            <a:avLst/>
          </a:prstGeom>
          <a:solidFill>
            <a:srgbClr val="2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7269480" y="3127248"/>
            <a:ext cx="347472" cy="292608"/>
          </a:xfrm>
          <a:prstGeom prst="rightArrow">
            <a:avLst/>
          </a:prstGeom>
          <a:solidFill>
            <a:srgbClr val="2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50292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C7080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46520"/>
            <a:ext cx="59436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7080"/>
                </a:solidFill>
                <a:latin typeface="Calibri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0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-384048"/>
            <a:ext cx="2926080" cy="2926080"/>
          </a:xfrm>
          <a:prstGeom prst="ellipse">
            <a:avLst/>
          </a:prstGeom>
          <a:solidFill>
            <a:srgbClr val="D4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228600"/>
            <a:ext cx="2194560" cy="2194560"/>
          </a:xfrm>
          <a:prstGeom prst="ellipse">
            <a:avLst/>
          </a:prstGeom>
          <a:solidFill>
            <a:srgbClr val="B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813816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092238"/>
                </a:solidFill>
                <a:latin typeface="Georgia"/>
              </a:rPr>
              <a:t>昨日 / 近期变更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C7080"/>
                </a:solidFill>
                <a:latin typeface="Calibri"/>
              </a:rPr>
              <a:t>近 7 天无新增提交；最近历史变更聚焦工程化与微服务化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07008"/>
            <a:ext cx="1234440" cy="7315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581912"/>
            <a:ext cx="292608" cy="29260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1508760"/>
            <a:ext cx="14173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近 7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508760"/>
            <a:ext cx="8138160" cy="42062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72A3A"/>
                </a:solidFill>
                <a:latin typeface="Calibri"/>
              </a:rPr>
              <a:t>未发现新增 git 提交；本日报告基于当前代码快照生成。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" y="1892807"/>
            <a:ext cx="36576" cy="621792"/>
          </a:xfrm>
          <a:prstGeom prst="rect">
            <a:avLst/>
          </a:prstGeom>
          <a:solidFill>
            <a:srgbClr val="B5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542032"/>
            <a:ext cx="292608" cy="292608"/>
          </a:xfrm>
          <a:prstGeom prst="ellipse">
            <a:avLst/>
          </a:prstGeom>
          <a:solidFill>
            <a:srgbClr val="1F8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468880"/>
            <a:ext cx="14173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2025-08-26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468880"/>
            <a:ext cx="8138160" cy="42062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72A3A"/>
                </a:solidFill>
                <a:latin typeface="Calibri"/>
              </a:rPr>
              <a:t>第 14 期：微服务改造完成，覆盖 common/model/client/user/app/ai/screenshot。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8136" y="2852928"/>
            <a:ext cx="36576" cy="621792"/>
          </a:xfrm>
          <a:prstGeom prst="rect">
            <a:avLst/>
          </a:prstGeom>
          <a:solidFill>
            <a:srgbClr val="B5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502152"/>
            <a:ext cx="292608" cy="292608"/>
          </a:xfrm>
          <a:prstGeom prst="ellipse">
            <a:avLst/>
          </a:prstGeom>
          <a:solidFill>
            <a:srgbClr val="5E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429000"/>
            <a:ext cx="14173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2025-08-14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429000"/>
            <a:ext cx="8138160" cy="42062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72A3A"/>
                </a:solidFill>
                <a:latin typeface="Calibri"/>
              </a:rPr>
              <a:t>第 13 期：可观测性；第 12 期：部署上线相关能力。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8136" y="3813048"/>
            <a:ext cx="36576" cy="621792"/>
          </a:xfrm>
          <a:prstGeom prst="rect">
            <a:avLst/>
          </a:prstGeom>
          <a:solidFill>
            <a:srgbClr val="B5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462272"/>
            <a:ext cx="292608" cy="292608"/>
          </a:xfrm>
          <a:prstGeom prst="ellipse">
            <a:avLst/>
          </a:prstGeom>
          <a:solidFill>
            <a:srgbClr val="0A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389120"/>
            <a:ext cx="14173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2025-08-13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389120"/>
            <a:ext cx="8138160" cy="42062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72A3A"/>
                </a:solidFill>
                <a:latin typeface="Calibri"/>
              </a:rPr>
              <a:t>第 11 期：成本、稳定性、安全限流、Prompt 审查、并发与缓存优化。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486400"/>
            <a:ext cx="10607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" y="5650992"/>
            <a:ext cx="502920" cy="420624"/>
          </a:xfrm>
          <a:prstGeom prst="roundRect">
            <a:avLst/>
          </a:prstGeom>
          <a:solidFill>
            <a:srgbClr val="F49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68756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632704"/>
            <a:ext cx="969264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状态判断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" y="6144768"/>
            <a:ext cx="10168128" cy="-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当前代码已经覆盖主流程，但近期没有自动化 CI 结果可直接引用；建议补齐稳定的流水线后再进入持续迭代节奏。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50292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C7080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6446520"/>
            <a:ext cx="59436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7080"/>
                </a:solidFill>
                <a:latin typeface="Calibri"/>
              </a:rPr>
              <a:t>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0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-384048"/>
            <a:ext cx="2926080" cy="2926080"/>
          </a:xfrm>
          <a:prstGeom prst="ellipse">
            <a:avLst/>
          </a:prstGeom>
          <a:solidFill>
            <a:srgbClr val="D4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228600"/>
            <a:ext cx="2194560" cy="2194560"/>
          </a:xfrm>
          <a:prstGeom prst="ellipse">
            <a:avLst/>
          </a:prstGeom>
          <a:solidFill>
            <a:srgbClr val="B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813816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092238"/>
                </a:solidFill>
                <a:latin typeface="Georgia"/>
              </a:rPr>
              <a:t>数据 / 指标要点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C7080"/>
                </a:solidFill>
                <a:latin typeface="Calibri"/>
              </a:rPr>
              <a:t>代码规模与可观测性基础；真实运营数据需接入运行环境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07008"/>
            <a:ext cx="1234440" cy="7315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481328"/>
            <a:ext cx="1874519" cy="1133856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1655063" cy="42062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154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76272"/>
            <a:ext cx="1655063" cy="34747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E2FBFA"/>
                </a:solidFill>
                <a:latin typeface="Calibri"/>
              </a:rPr>
              <a:t>单体 Java 文件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481328"/>
            <a:ext cx="1874519" cy="1133856"/>
          </a:xfrm>
          <a:prstGeom prst="roundRect">
            <a:avLst/>
          </a:prstGeom>
          <a:solidFill>
            <a:srgbClr val="1F8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645920"/>
            <a:ext cx="1655063" cy="42062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118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176272"/>
            <a:ext cx="1655063" cy="34747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E2FBFA"/>
                </a:solidFill>
                <a:latin typeface="Calibri"/>
              </a:rPr>
              <a:t>微服务 Java 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481328"/>
            <a:ext cx="1874519" cy="1133856"/>
          </a:xfrm>
          <a:prstGeom prst="roundRect">
            <a:avLst/>
          </a:prstGeom>
          <a:solidFill>
            <a:srgbClr val="5E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645920"/>
            <a:ext cx="1655063" cy="42062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2176272"/>
            <a:ext cx="1655063" cy="34747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E2FBFA"/>
                </a:solidFill>
                <a:latin typeface="Calibri"/>
              </a:rPr>
              <a:t>测试源码文件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68896" y="1481328"/>
            <a:ext cx="1874519" cy="1133856"/>
          </a:xfrm>
          <a:prstGeom prst="roundRect">
            <a:avLst/>
          </a:prstGeom>
          <a:solidFill>
            <a:srgbClr val="D0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8624" y="1645920"/>
            <a:ext cx="1655063" cy="42062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624" y="2176272"/>
            <a:ext cx="1655063" cy="34747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E2FBFA"/>
                </a:solidFill>
                <a:latin typeface="Calibri"/>
              </a:rPr>
              <a:t>GitHub Actions 工作流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9448" y="1481328"/>
            <a:ext cx="1874519" cy="1133856"/>
          </a:xfrm>
          <a:prstGeom prst="roundRect">
            <a:avLst/>
          </a:prstGeom>
          <a:solidFill>
            <a:srgbClr val="0A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9176" y="1645920"/>
            <a:ext cx="1655063" cy="42062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10s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176272"/>
            <a:ext cx="1655063" cy="34747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E2FBFA"/>
                </a:solidFill>
                <a:latin typeface="Calibri"/>
              </a:rPr>
              <a:t>Prometheus 抓取间隔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54096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" y="3218688"/>
            <a:ext cx="502920" cy="420624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3255264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200400"/>
            <a:ext cx="425196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已内置指标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" y="3712463"/>
            <a:ext cx="4727448" cy="1252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ai_model_requests_total：AI 请求总量</a:t>
            </a:r>
            <a:br/>
            <a:r>
              <a:t>· ai_model_errors_total：AI 错误次数</a:t>
            </a:r>
            <a:br/>
            <a:r>
              <a:t>· ai_model_tokens_total：Token 消耗</a:t>
            </a:r>
            <a:br/>
            <a:r>
              <a:t>· ai_model_response_duration_seconds：响应时长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3054096"/>
            <a:ext cx="49377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3218688"/>
            <a:ext cx="502920" cy="420624"/>
          </a:xfrm>
          <a:prstGeom prst="roundRect">
            <a:avLst/>
          </a:prstGeom>
          <a:solidFill>
            <a:srgbClr val="0A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255264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200400"/>
            <a:ext cx="402336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当前解读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712463"/>
            <a:ext cx="4498848" cy="1252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代码层面具备指标采集与 Prometheus 暴露能力</a:t>
            </a:r>
            <a:br/>
            <a:r>
              <a:t>· 未接入线上运行数据，本页仅展示仓库扫描结果与配置口径</a:t>
            </a:r>
            <a:br/>
            <a:r>
              <a:t>· 建议后续补齐 Grafana 面板截图和每日真实趋势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73952"/>
            <a:ext cx="50292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C7080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6446520"/>
            <a:ext cx="59436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7080"/>
                </a:solidFill>
                <a:latin typeface="Calibri"/>
              </a:rPr>
              <a:t>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0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-384048"/>
            <a:ext cx="2926080" cy="2926080"/>
          </a:xfrm>
          <a:prstGeom prst="ellipse">
            <a:avLst/>
          </a:prstGeom>
          <a:solidFill>
            <a:srgbClr val="D4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228600"/>
            <a:ext cx="2194560" cy="2194560"/>
          </a:xfrm>
          <a:prstGeom prst="ellipse">
            <a:avLst/>
          </a:prstGeom>
          <a:solidFill>
            <a:srgbClr val="B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813816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092238"/>
                </a:solidFill>
                <a:latin typeface="Georgia"/>
              </a:rPr>
              <a:t>未完成项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C7080"/>
                </a:solidFill>
                <a:latin typeface="Calibri"/>
              </a:rPr>
              <a:t>从“能跑通”走向“可持续交付”需要补齐的事项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07008"/>
            <a:ext cx="1234440" cy="7315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50749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" y="1673351"/>
            <a:ext cx="502920" cy="420624"/>
          </a:xfrm>
          <a:prstGeom prst="roundRect">
            <a:avLst/>
          </a:prstGeom>
          <a:solidFill>
            <a:srgbClr val="F49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70992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CFG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55063"/>
            <a:ext cx="41605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运行配置外置化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2167128"/>
            <a:ext cx="463600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application.yml 中仍可见 API Key、COS、MySQL/Redis 等示例值，需要明确本地/测试/生产配置边界。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508760"/>
            <a:ext cx="50749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73951" y="1673351"/>
            <a:ext cx="502920" cy="420624"/>
          </a:xfrm>
          <a:prstGeom prst="roundRect">
            <a:avLst/>
          </a:prstGeom>
          <a:solidFill>
            <a:srgbClr val="D0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1" y="170992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599" y="1655063"/>
            <a:ext cx="41605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CI 与质量门禁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167128"/>
            <a:ext cx="463600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未发现 GitHub Actions 工作流，后端测试与前端构建尚未形成自动化必过门禁。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74720"/>
            <a:ext cx="50749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1832" y="3639312"/>
            <a:ext cx="502920" cy="420624"/>
          </a:xfrm>
          <a:prstGeom prst="roundRect">
            <a:avLst/>
          </a:prstGeom>
          <a:solidFill>
            <a:srgbClr val="5E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675887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621024"/>
            <a:ext cx="41605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真实指标接入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" y="4133087"/>
            <a:ext cx="463600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Prometheus/Grafana 配置存在，但日报尚无线上请求、错误率、Token 成本等真实数据源。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474720"/>
            <a:ext cx="50749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73951" y="3639312"/>
            <a:ext cx="502920" cy="420624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1" y="3675887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SVC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599" y="3621024"/>
            <a:ext cx="41605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微服务落地验证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133087"/>
            <a:ext cx="463600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微服务模块完整拆分，但仍需确认 Nacos/Dubbo 依赖、服务启动顺序与集成测试覆盖。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50292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C7080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6446520"/>
            <a:ext cx="59436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7080"/>
                </a:solidFill>
                <a:latin typeface="Calibri"/>
              </a:rPr>
              <a:t>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0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-384048"/>
            <a:ext cx="2926080" cy="2926080"/>
          </a:xfrm>
          <a:prstGeom prst="ellipse">
            <a:avLst/>
          </a:prstGeom>
          <a:solidFill>
            <a:srgbClr val="D4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228600"/>
            <a:ext cx="2194560" cy="2194560"/>
          </a:xfrm>
          <a:prstGeom prst="ellipse">
            <a:avLst/>
          </a:prstGeom>
          <a:solidFill>
            <a:srgbClr val="B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813816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092238"/>
                </a:solidFill>
                <a:latin typeface="Georgia"/>
              </a:rPr>
              <a:t>风险与阻塞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C7080"/>
                </a:solidFill>
                <a:latin typeface="Calibri"/>
              </a:rPr>
              <a:t>影响稳定性、成本与交付节奏的重点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07008"/>
            <a:ext cx="1234440" cy="7315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48006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45920"/>
            <a:ext cx="4389120" cy="31089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092238"/>
                </a:solidFill>
                <a:latin typeface="Calibri"/>
              </a:rPr>
              <a:t>风险热区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148840"/>
            <a:ext cx="2057400" cy="1417320"/>
          </a:xfrm>
          <a:prstGeom prst="roundRect">
            <a:avLst/>
          </a:prstGeom>
          <a:solidFill>
            <a:srgbClr val="EFF9FA"/>
          </a:solidFill>
          <a:ln w="1016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3886200"/>
            <a:ext cx="2057400" cy="1417320"/>
          </a:xfrm>
          <a:prstGeom prst="roundRect">
            <a:avLst/>
          </a:prstGeom>
          <a:solidFill>
            <a:srgbClr val="FDF3EC"/>
          </a:solidFill>
          <a:ln w="1016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2148840"/>
            <a:ext cx="2057400" cy="1417320"/>
          </a:xfrm>
          <a:prstGeom prst="roundRect">
            <a:avLst/>
          </a:prstGeom>
          <a:solidFill>
            <a:srgbClr val="EFF9FA"/>
          </a:solidFill>
          <a:ln w="1016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46120" y="3886200"/>
            <a:ext cx="2057400" cy="1417320"/>
          </a:xfrm>
          <a:prstGeom prst="roundRect">
            <a:avLst/>
          </a:prstGeom>
          <a:solidFill>
            <a:srgbClr val="FDF3EC"/>
          </a:solidFill>
          <a:ln w="1016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1691640" cy="2743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008991"/>
                </a:solidFill>
                <a:latin typeface="Calibri"/>
              </a:rPr>
              <a:t>外部依赖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578608"/>
            <a:ext cx="1691640" cy="2743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4974A"/>
                </a:solidFill>
                <a:latin typeface="Calibri"/>
              </a:rPr>
              <a:t>AI 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1691640" cy="2743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D05353"/>
                </a:solidFill>
                <a:latin typeface="Calibri"/>
              </a:rPr>
              <a:t>CI 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315968"/>
            <a:ext cx="1691640" cy="2743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0A495C"/>
                </a:solidFill>
                <a:latin typeface="Calibri"/>
              </a:rPr>
              <a:t>微服务联调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417320"/>
            <a:ext cx="53492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912" y="1581912"/>
            <a:ext cx="502920" cy="420624"/>
          </a:xfrm>
          <a:prstGeom prst="roundRect">
            <a:avLst/>
          </a:prstGeom>
          <a:solidFill>
            <a:srgbClr val="D0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912" y="1618488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1563624"/>
            <a:ext cx="443484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重点风险列表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2075688"/>
            <a:ext cx="4910327" cy="3538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AI 服务、COS、Pexels、DashScope、Selenium、MySQL/Redis 等外部依赖较多，环境缺口会直接影响主流程。</a:t>
            </a:r>
            <a:br/>
            <a:r>
              <a:t>· AI 生成接口虽有限流与监控，但真实成本、失败率、超时率仍缺少日报数据支撑。</a:t>
            </a:r>
            <a:br/>
            <a:r>
              <a:t>· 仓库未发现 CI 工作流，回归质量主要依赖人工或本地执行。</a:t>
            </a:r>
            <a:br/>
            <a:r>
              <a:t>· 部分复制的 LangChain4j 相关源码中存在 待处理注释与调试输出痕迹，需评估维护边界。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73952"/>
            <a:ext cx="50292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C7080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6446520"/>
            <a:ext cx="59436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7080"/>
                </a:solidFill>
                <a:latin typeface="Calibri"/>
              </a:rPr>
              <a:t>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0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-384048"/>
            <a:ext cx="2926080" cy="2926080"/>
          </a:xfrm>
          <a:prstGeom prst="ellipse">
            <a:avLst/>
          </a:prstGeom>
          <a:solidFill>
            <a:srgbClr val="D4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228600"/>
            <a:ext cx="2194560" cy="2194560"/>
          </a:xfrm>
          <a:prstGeom prst="ellipse">
            <a:avLst/>
          </a:prstGeom>
          <a:solidFill>
            <a:srgbClr val="B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813816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092238"/>
                </a:solidFill>
                <a:latin typeface="Georgia"/>
              </a:rPr>
              <a:t>建议的下一步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C7080"/>
                </a:solidFill>
                <a:latin typeface="Calibri"/>
              </a:rPr>
              <a:t>围绕交付闭环、质量门禁和可观测性逐步推进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07008"/>
            <a:ext cx="1234440" cy="7315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325880"/>
            <a:ext cx="502920" cy="502920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63039"/>
            <a:ext cx="228600" cy="14630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307592"/>
            <a:ext cx="192024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92238"/>
                </a:solidFill>
                <a:latin typeface="Calibri"/>
              </a:rPr>
              <a:t>补齐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316736"/>
            <a:ext cx="7498079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172A3A"/>
                </a:solidFill>
                <a:latin typeface="Calibri"/>
              </a:rPr>
              <a:t>新增后端 Maven 测试、前端类型检查/构建的基础流水线，形成提交级反馈。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67712"/>
            <a:ext cx="502920" cy="502920"/>
          </a:xfrm>
          <a:prstGeom prst="ellipse">
            <a:avLst/>
          </a:prstGeom>
          <a:solidFill>
            <a:srgbClr val="1F8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404872"/>
            <a:ext cx="228600" cy="14630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249424"/>
            <a:ext cx="192024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92238"/>
                </a:solidFill>
                <a:latin typeface="Calibri"/>
              </a:rPr>
              <a:t>完善环境说明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258568"/>
            <a:ext cx="7498079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172A3A"/>
                </a:solidFill>
                <a:latin typeface="Calibri"/>
              </a:rPr>
              <a:t>沉淀本地启动、微服务启动、AI/COS/Redis/MySQL/Nacos 配置清单与样例。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209544"/>
            <a:ext cx="502920" cy="502920"/>
          </a:xfrm>
          <a:prstGeom prst="ellipse">
            <a:avLst/>
          </a:prstGeom>
          <a:solidFill>
            <a:srgbClr val="5E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346703"/>
            <a:ext cx="228600" cy="14630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191256"/>
            <a:ext cx="192024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92238"/>
                </a:solidFill>
                <a:latin typeface="Calibri"/>
              </a:rPr>
              <a:t>接入日报指标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200400"/>
            <a:ext cx="7498079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172A3A"/>
                </a:solidFill>
                <a:latin typeface="Calibri"/>
              </a:rPr>
              <a:t>将 Prometheus/Grafana 的请求量、错误率、延迟、Token 成本纳入每日状态。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151376"/>
            <a:ext cx="502920" cy="502920"/>
          </a:xfrm>
          <a:prstGeom prst="ellipse">
            <a:avLst/>
          </a:prstGeom>
          <a:solidFill>
            <a:srgbClr val="0A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88536"/>
            <a:ext cx="228600" cy="14630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33088"/>
            <a:ext cx="192024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92238"/>
                </a:solidFill>
                <a:latin typeface="Calibri"/>
              </a:rPr>
              <a:t>验证核心链路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4142232"/>
            <a:ext cx="7498079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172A3A"/>
                </a:solidFill>
                <a:latin typeface="Calibri"/>
              </a:rPr>
              <a:t>用固定提示词跑通创建、对话生成、预览、部署、下载、截图全链路。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5093208"/>
            <a:ext cx="502920" cy="502920"/>
          </a:xfrm>
          <a:prstGeom prst="ellipse">
            <a:avLst/>
          </a:prstGeom>
          <a:solidFill>
            <a:srgbClr val="F49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30368"/>
            <a:ext cx="228600" cy="14630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5074920"/>
            <a:ext cx="192024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92238"/>
                </a:solidFill>
                <a:latin typeface="Calibri"/>
              </a:rPr>
              <a:t>收敛风险项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5084064"/>
            <a:ext cx="7498079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172A3A"/>
                </a:solidFill>
                <a:latin typeface="Calibri"/>
              </a:rPr>
              <a:t>清理调试输出，明确 fork/复制三方源码的升级策略和责任边界。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50292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C7080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6446520"/>
            <a:ext cx="59436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7080"/>
                </a:solidFill>
                <a:latin typeface="Calibri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0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6766560" y="-320040"/>
            <a:ext cx="5669280" cy="7498079"/>
          </a:xfrm>
          <a:prstGeom prst="parallelogram">
            <a:avLst/>
          </a:prstGeom>
          <a:solidFill>
            <a:srgbClr val="0A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001000" y="502920"/>
            <a:ext cx="4206240" cy="5669280"/>
          </a:xfrm>
          <a:prstGeom prst="parallelogram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326880" y="1143000"/>
            <a:ext cx="2926080" cy="4206240"/>
          </a:xfrm>
          <a:prstGeom prst="parallelogram">
            <a:avLst/>
          </a:prstGeom>
          <a:solidFill>
            <a:srgbClr val="2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594360" y="4434840"/>
            <a:ext cx="4663440" cy="1143000"/>
          </a:xfrm>
          <a:prstGeom prst="arc">
            <a:avLst/>
          </a:prstGeom>
          <a:ln w="25400">
            <a:solidFill>
              <a:srgbClr val="20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813816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当前处于功能闭环完整、工程化仍需加强的阶段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07008"/>
            <a:ext cx="1234440" cy="73152"/>
          </a:xfrm>
          <a:prstGeom prst="roundRect">
            <a:avLst/>
          </a:prstGeom>
          <a:solidFill>
            <a:srgbClr val="2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72768"/>
            <a:ext cx="33375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1832" y="1737360"/>
            <a:ext cx="502920" cy="420624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773936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719072"/>
            <a:ext cx="242316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今天的判断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2231136"/>
            <a:ext cx="2898648" cy="2624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平台主链路能力清晰，覆盖 AI 生成、预览、部署和后台管理。</a:t>
            </a:r>
            <a:br/>
            <a:r>
              <a:t>· 微服务改造已有完整目录与模块，但仍需要稳定联调与流水线保障。</a:t>
            </a:r>
            <a:br/>
            <a:r>
              <a:t>· 近 7 天无新增提交，本日报告作为当前基线快照。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3984" y="1572768"/>
            <a:ext cx="33375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08576" y="1737360"/>
            <a:ext cx="502920" cy="420624"/>
          </a:xfrm>
          <a:prstGeom prst="roundRect">
            <a:avLst/>
          </a:prstGeom>
          <a:solidFill>
            <a:srgbClr val="F49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1773936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1719072"/>
            <a:ext cx="242316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优先关注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231136"/>
            <a:ext cx="2898648" cy="2624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CI / 测试状态透明化</a:t>
            </a:r>
            <a:br/>
            <a:r>
              <a:t>· 真实运行指标接入</a:t>
            </a:r>
            <a:br/>
            <a:r>
              <a:t>· 外部依赖配置治理</a:t>
            </a:r>
            <a:br/>
            <a:r>
              <a:t>· AI 调用成本与安全策略持续验证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0727" y="1572768"/>
            <a:ext cx="33375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19" y="1737360"/>
            <a:ext cx="502920" cy="420624"/>
          </a:xfrm>
          <a:prstGeom prst="roundRect">
            <a:avLst/>
          </a:prstGeom>
          <a:solidFill>
            <a:srgbClr val="5E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773936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719072"/>
            <a:ext cx="242316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92238"/>
                </a:solidFill>
                <a:latin typeface="Calibri"/>
              </a:rPr>
              <a:t>下一份日报建议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2231136"/>
            <a:ext cx="2898648" cy="2624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172A3A"/>
                </a:solidFill>
                <a:latin typeface="Calibri"/>
              </a:rPr>
              <a:t>· 引入实际构建/测试结果</a:t>
            </a:r>
            <a:br/>
            <a:r>
              <a:t>· 展示 Prometheus/Grafana 指标截图或趋势</a:t>
            </a:r>
            <a:br/>
            <a:r>
              <a:t>· 标注新提交对核心链路的影响</a:t>
            </a:r>
            <a:br/>
            <a:r>
              <a:t>· 记录阻塞项责任人与状态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D6F7F7"/>
                </a:solidFill>
                <a:latin typeface="Calibri"/>
              </a:rPr>
              <a:t>报告文件：docs/reports/project-status-2026-06-02.pptx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50292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B4E8E8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46520"/>
            <a:ext cx="59436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B4E8E8"/>
                </a:solidFill>
                <a:latin typeface="Calibri"/>
              </a:rPr>
              <a:t>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3A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