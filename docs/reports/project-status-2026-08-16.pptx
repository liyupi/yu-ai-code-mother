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3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7/24</c:v>
                  </c:pt>
                  <c:pt idx="1">
                    <c:v>7/29</c:v>
                  </c:pt>
                  <c:pt idx="2">
                    <c:v>7/30</c:v>
                  </c:pt>
                  <c:pt idx="3">
                    <c:v>8/05</c:v>
                  </c:pt>
                  <c:pt idx="4">
                    <c:v>8/07</c:v>
                  </c:pt>
                  <c:pt idx="5">
                    <c:v>8/12</c:v>
                  </c:pt>
                  <c:pt idx="6">
                    <c:v>8/13</c:v>
                  </c:pt>
                  <c:pt idx="7">
                    <c:v>8/14</c:v>
                  </c:pt>
                  <c:pt idx="8">
                    <c:v>8/26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4</c:v>
                </c:pt>
                <c:pt idx="2">
                  <c:v>8</c:v>
                </c:pt>
                <c:pt idx="3">
                  <c:v>4</c:v>
                </c:pt>
                <c:pt idx="4">
                  <c:v>3</c:v>
                </c:pt>
                <c:pt idx="5">
                  <c:v>6</c:v>
                </c:pt>
                <c:pt idx="6">
                  <c:v>8</c:v>
                </c:pt>
                <c:pt idx="7">
                  <c:v>2</c:v>
                </c:pt>
                <c:pt idx="8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3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6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面向项目维护者与研发团队的仓库快照：能力盘点、近期变更、开放问题与下一步。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13A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2026年8月16日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13A44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北京时间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13A44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基线提交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893918c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252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13A44"/>
          </a:solidFill>
          <a:ln/>
        </p:spPr>
      </p:sp>
      <p:sp>
        <p:nvSpPr>
          <p:cNvPr id="20" name="Text 18"/>
          <p:cNvSpPr/>
          <p:nvPr/>
        </p:nvSpPr>
        <p:spPr>
          <a:xfrm>
            <a:off x="8732520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维护者 / 团队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080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教学项目  ·  Spring Boot 3 + LangChain4j + Vue 3  ·  单体与微服务并存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658368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2984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13167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这是什么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1810512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开发实战与后端架构为核心的企业级代码生成平台。用户用自然语言描述需求，平台自动选择生成策略、流式产出代码，并支持可视化改稿、一键部署与后台治理。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2907792"/>
            <a:ext cx="6126480" cy="969264"/>
          </a:xfrm>
          <a:prstGeom prst="roundRect">
            <a:avLst>
              <a:gd name="adj" fmla="val 7547"/>
            </a:avLst>
          </a:prstGeom>
          <a:solidFill>
            <a:srgbClr val="E6F6F3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99923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双形态交付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3273552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根目录保留完整单体；微服务工程拆出用户、应用、AI、截图等服务，经 Dubbo 与 Nacos 跨服务调用。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3986784"/>
            <a:ext cx="6126480" cy="969264"/>
          </a:xfrm>
          <a:prstGeom prst="roundRect">
            <a:avLst>
              <a:gd name="adj" fmla="val 7547"/>
            </a:avLst>
          </a:prstGeom>
          <a:solidFill>
            <a:srgbClr val="E6F6F3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07822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三种生成模式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8680" y="4352544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单文件、多文件、Vue 工程；路由模型自动选型，工作流可并发收集素材。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5065776"/>
            <a:ext cx="6126480" cy="969264"/>
          </a:xfrm>
          <a:prstGeom prst="roundRect">
            <a:avLst>
              <a:gd name="adj" fmla="val 7547"/>
            </a:avLst>
          </a:prstGeom>
          <a:solidFill>
            <a:srgbClr val="E6F6F3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157216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教学定位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68680" y="5431536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教程已推进至第 14 期（微服务改造完成）。仓库同时作为学习样例与可运行参考。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60920" y="1115568"/>
            <a:ext cx="4343400" cy="1207008"/>
          </a:xfrm>
          <a:prstGeom prst="roundRect">
            <a:avLst>
              <a:gd name="adj" fmla="val 7576"/>
            </a:avLst>
          </a:prstGeom>
          <a:solidFill>
            <a:srgbClr val="013A44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543800" y="122529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543800" y="17373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543800" y="197510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含测试与厂商补丁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360920" y="2414016"/>
            <a:ext cx="4343400" cy="1207008"/>
          </a:xfrm>
          <a:prstGeom prst="roundRect">
            <a:avLst>
              <a:gd name="adj" fmla="val 7576"/>
            </a:avLst>
          </a:prstGeom>
          <a:solidFill>
            <a:srgbClr val="013A44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43800" y="252374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7543800" y="30358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页面组件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43800" y="32735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用户端与管理端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360920" y="3712464"/>
            <a:ext cx="4343400" cy="1207008"/>
          </a:xfrm>
          <a:prstGeom prst="roundRect">
            <a:avLst>
              <a:gd name="adj" fmla="val 7576"/>
            </a:avLst>
          </a:prstGeom>
          <a:solidFill>
            <a:srgbClr val="013A44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543800" y="382219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7543800" y="43342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543800" y="45720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末次 2025-08-26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360920" y="5010912"/>
            <a:ext cx="4343400" cy="1207008"/>
          </a:xfrm>
          <a:prstGeom prst="roundRect">
            <a:avLst>
              <a:gd name="adj" fmla="val 7576"/>
            </a:avLst>
          </a:prstGeom>
          <a:solidFill>
            <a:srgbClr val="013A44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543800" y="51206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36" name="Text 33"/>
          <p:cNvSpPr/>
          <p:nvPr/>
        </p:nvSpPr>
        <p:spPr>
          <a:xfrm>
            <a:off x="7543800" y="56327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543800" y="58704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社区待跟进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56235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29844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8074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13167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3232" y="1865376"/>
            <a:ext cx="5166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需求描述驱动，路由模型选择 HTML / 多文件 / Vue 工程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工具调用写改删文件，SSE 流式展示执行过程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工作流：采集图、增强 Prompt、质检、构建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1115568"/>
            <a:ext cx="56235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0528" y="129844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3807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59168" y="13167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65392" y="1865376"/>
            <a:ext cx="5166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生成结果实时预览，可选中页面元素对话改稿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原生模式全量重写，工程模式增量修改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对话历史按应用游标分页，支持多轮迭代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3749040"/>
            <a:ext cx="56235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" y="3931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01421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9502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713232" y="4498848"/>
            <a:ext cx="5166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部署后获得可访问地址，自动截取封面图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完整项目源码打包下载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精选应用列表，首页可浏览案例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309360" y="3749040"/>
            <a:ext cx="56235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10528" y="3931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401421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59168" y="39502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565392" y="4498848"/>
            <a:ext cx="5166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用户、应用、对话后台；权限与精选优先级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 限流、Prompt 安全护轨、重试输出护轨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+ Grafana 观测 AI 调用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架构与模块地图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53212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5532120" cy="512064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 ·  src/main/java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" y="175564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6F6F3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556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 / guardrail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0482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生成服务、文件工具、Prompt 审查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" y="248716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4871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解析保存构建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27797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 工程流水线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321868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6F6F3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1868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35112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路由、质检、并发图片采集、子图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395020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BF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02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424281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应用、用户、对话、静态资源、工作流 SSE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" y="468172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6F6F3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6817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 + 监控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" y="4974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用户级限流、模型指标采集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" y="541324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BF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4132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存储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6384" y="57058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Session、Caffeine、COS、MySQL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1097280"/>
            <a:ext cx="539496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1097280"/>
            <a:ext cx="5394960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10972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  ·  按职责归并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37960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86016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86016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公共能力、数据模型、RPC 接口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37960" y="254203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86016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86016" y="27432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账号、登录态、用户管理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37960" y="320040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86016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86016" y="34015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应用生命周期、对话、静态预览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37960" y="38587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8601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986016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生成与工具编排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537960" y="45171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86016" y="4443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986016" y="4718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截图与封面上传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537960" y="507492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E6F6F3"/>
          </a:solidFill>
          <a:ln/>
        </p:spPr>
      </p:sp>
      <p:sp>
        <p:nvSpPr>
          <p:cNvPr id="53" name="Text 51"/>
          <p:cNvSpPr/>
          <p:nvPr/>
        </p:nvSpPr>
        <p:spPr>
          <a:xfrm>
            <a:off x="6693408" y="51389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前端栈与页面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93408" y="541324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 + Pinia。覆盖首页、对话预览、部署弹窗、登录注册，以及应用 / 用户 / 对话管理。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4E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98448"/>
            <a:ext cx="457200" cy="457200"/>
          </a:xfrm>
          <a:prstGeom prst="ellipse">
            <a:avLst/>
          </a:prstGeom>
          <a:solidFill>
            <a:srgbClr val="C9780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9903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2070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无新业务提交。昨日与本周基线仍停在 2025-08-26 第 14 期「微服务改造完成」。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2633472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148840"/>
            <a:ext cx="26974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" y="2633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E6F6F3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2633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" y="2999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教程第 14 期完成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85216" y="3703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微服务拆分落地：通用、模型、接口、用户、应用、AI、截图；Dubbo + Nacos；单体代码同步保留。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37560" y="2148840"/>
            <a:ext cx="2633472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37560" y="2148840"/>
            <a:ext cx="26974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3465576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83864" y="2633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E6F6F3"/>
          </a:solidFill>
          <a:ln/>
        </p:spPr>
      </p:sp>
      <p:sp>
        <p:nvSpPr>
          <p:cNvPr id="23" name="Text 20"/>
          <p:cNvSpPr/>
          <p:nvPr/>
        </p:nvSpPr>
        <p:spPr>
          <a:xfrm>
            <a:off x="3483864" y="2633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65576" y="2999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可观测性与上线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465576" y="3703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期：部署上线、Actuator / Prometheus / Grafana AI 指标看板。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7920" y="2148840"/>
            <a:ext cx="2633472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2148840"/>
            <a:ext cx="26974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6345936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64224" y="2633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E6F6F3"/>
          </a:solidFill>
          <a:ln/>
        </p:spPr>
      </p:sp>
      <p:sp>
        <p:nvSpPr>
          <p:cNvPr id="30" name="Text 27"/>
          <p:cNvSpPr/>
          <p:nvPr/>
        </p:nvSpPr>
        <p:spPr>
          <a:xfrm>
            <a:off x="6364224" y="2633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45936" y="2999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成本与稳定性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345936" y="3703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限流、Prompt 审查、并发缓存、实时性与成本优化连续合入。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098280" y="2148840"/>
            <a:ext cx="2633472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098280" y="2148840"/>
            <a:ext cx="2697480" cy="91440"/>
          </a:xfrm>
          <a:prstGeom prst="rect">
            <a:avLst/>
          </a:prstGeom>
          <a:solidFill>
            <a:srgbClr val="C9780A"/>
          </a:solidFill>
          <a:ln/>
        </p:spPr>
      </p:sp>
      <p:sp>
        <p:nvSpPr>
          <p:cNvPr id="35" name="Text 32"/>
          <p:cNvSpPr/>
          <p:nvPr/>
        </p:nvSpPr>
        <p:spPr>
          <a:xfrm>
            <a:off x="9226296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2026-08-11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244584" y="2633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FFF4E0"/>
          </a:solidFill>
          <a:ln/>
        </p:spPr>
      </p:sp>
      <p:sp>
        <p:nvSpPr>
          <p:cNvPr id="37" name="Text 34"/>
          <p:cNvSpPr/>
          <p:nvPr/>
        </p:nvSpPr>
        <p:spPr>
          <a:xfrm>
            <a:off x="9244584" y="2633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226296" y="2999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81 新开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9226296" y="3703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学员换用清华 npm 镜像后，Vite Vue 插件 6.x 返回 404，前端无法安装。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607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生产调用量、成功率、Token 成本需从 Grafana / Prometheus 读取。本仓库无运行时数据，下表为仓库静态盘点。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26464"/>
            <a:ext cx="2761488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49961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" y="20665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34086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业务仓库静止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426464"/>
            <a:ext cx="2761488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49961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93008" y="20665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234086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多为联调，需密钥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426464"/>
            <a:ext cx="2761488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49961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19088" y="20665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234086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common 三件套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1426464"/>
            <a:ext cx="2761488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0" y="149961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未采集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45168" y="20665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 QPS / 成本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45168" y="234086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待接入运行环境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7360920" cy="3273552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1272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历史提交节奏（2025 教程推进期，非本周）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48640" y="3456432"/>
          <a:ext cx="71323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8046720" y="3035808"/>
            <a:ext cx="3657600" cy="3273552"/>
          </a:xfrm>
          <a:prstGeom prst="roundRect">
            <a:avLst>
              <a:gd name="adj" fmla="val 2793"/>
            </a:avLst>
          </a:prstGeom>
          <a:solidFill>
            <a:srgbClr val="013A44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20040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641080" y="31821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建议补齐的运行指标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275320" y="36576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AI 调用次数与失败率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275320" y="413308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Token 消耗与单次成本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8275320" y="460857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生成耗时 P50 / P95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8275320" y="508406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部署成功与截图失败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8275320" y="55595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限流触发次数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风险、阻塞与未完成项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675888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109728" cy="26974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20700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1536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npm 安装失败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" y="19659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清华镜像缺少 Vite Vue 插件 6.x，返回 404。学员按教程换源后无法安装，阻塞本地启动。尚无评论与修复说明。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097280"/>
            <a:ext cx="3675888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97280"/>
            <a:ext cx="109728" cy="26974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0700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3712" y="1536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思考链字段缺失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53712" y="19659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工程生成走 DeepSeek 思考模式时，助手消息缺少 reasoning_content，请求直接失败。自 2026 年 1 月起仍开放。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097280"/>
            <a:ext cx="3675888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097280"/>
            <a:ext cx="109728" cy="2697480"/>
          </a:xfrm>
          <a:prstGeom prst="rect">
            <a:avLst/>
          </a:prstGeom>
          <a:solidFill>
            <a:srgbClr val="C9780A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607040" y="120700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FF4E0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4192" y="1536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联网搜索提案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94192" y="19659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建议为 Vue 工程模式增加 You.com 搜索工具。尚未合入，不影响现网，但是能力缺口，需明确做或不做。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761488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" y="41148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87952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21792" y="45720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仓库长期无提交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21792" y="50474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距末次业务提交已近一年，依赖和模型接口可能已经漂移。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383280" y="3977640"/>
            <a:ext cx="2761488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547872" y="41148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4187952"/>
            <a:ext cx="201168" cy="20116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547872" y="45720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无项目级 CI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3547872" y="50474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仓库没有业务构建流水线，回归只能靠本地手工跑。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309360" y="3977640"/>
            <a:ext cx="2761488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473952" y="41148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4187952"/>
            <a:ext cx="201168" cy="20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473952" y="45720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厂商补丁残留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6473952" y="50474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拷贝的 LangChain4j 源码含调试输出和待办注释，升级成本高。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9235440" y="3977640"/>
            <a:ext cx="2761488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9400032" y="41148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4187952"/>
            <a:ext cx="201168" cy="20116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400032" y="45720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测试依赖外网密钥</a:t>
            </a:r>
            <a:endParaRPr lang="en-US" sz="1500" dirty="0"/>
          </a:p>
        </p:txBody>
      </p:sp>
      <p:sp>
        <p:nvSpPr>
          <p:cNvPr id="48" name="Text 42"/>
          <p:cNvSpPr/>
          <p:nvPr/>
        </p:nvSpPr>
        <p:spPr>
          <a:xfrm>
            <a:off x="9400032" y="50474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多数测试类需要真实模型和图片搜索接口，无法在空环境跑通。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1247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98448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9844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1887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回复并修复 Issue 81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153619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与前端文档写明可用镜像；核对 Vite 7 与 Vue 插件 6 的安装路径，给学员一条可复制命令。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11247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340864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2311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复现 Issue 5 思考链字段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257860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 DeepSeek 思考模式与工具调用文档，补齐 reasoning_content 透传，避免 Vue 工程生成中断。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11247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38328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27355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 Issue 65 搜索工具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62102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若纳入路线图，按现有 BaseTool 规范做最小工具；否则明确暂缓，避免提案长期悬空。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11247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425696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25696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3159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 与可离线测试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46634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为代码解析等纯单测增加 Actions；把依赖外网的测试标为集成组，默认跳过。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11247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5468112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468112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535838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清理厂商源码与密钥样例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5705856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去掉调试打印，收敛拷贝的 LangChain4j 补丁；确认示例配置仍只使用密钥占位，不含真实密钥。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质量、测试与 CI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62356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2618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3502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12801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已有测试覆盖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175564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6F6F3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1792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CodeParserTest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4672" y="2066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与多文件解析，可离线运行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7FBFA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2523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生成与路由测试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" y="2798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生成门面与路由，需要模型密钥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21868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6F6F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3255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工作流测试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4672" y="3529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主流程、子图与并发采集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95020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7FBFA"/>
          </a:solidFill>
          <a:ln/>
        </p:spPr>
      </p:sp>
      <p:sp>
        <p:nvSpPr>
          <p:cNvPr id="22" name="Text 19"/>
          <p:cNvSpPr/>
          <p:nvPr/>
        </p:nvSpPr>
        <p:spPr>
          <a:xfrm>
            <a:off x="804672" y="3986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图片与图表工具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4672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外部图搜、Logo 与 Mermaid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468172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6F6F3"/>
          </a:solidFill>
          <a:ln/>
        </p:spPr>
      </p:sp>
      <p:sp>
        <p:nvSpPr>
          <p:cNvPr id="25" name="Text 22"/>
          <p:cNvSpPr/>
          <p:nvPr/>
        </p:nvSpPr>
        <p:spPr>
          <a:xfrm>
            <a:off x="804672" y="4718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WebScreenshotUtilsTest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04672" y="4992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截图，依赖浏览器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541324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7FBFA"/>
          </a:solidFill>
          <a:ln/>
        </p:spPr>
      </p:sp>
      <p:sp>
        <p:nvSpPr>
          <p:cNvPr id="28" name="Text 25"/>
          <p:cNvSpPr/>
          <p:nvPr/>
        </p:nvSpPr>
        <p:spPr>
          <a:xfrm>
            <a:off x="804672" y="54498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ApplicationTests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04672" y="57241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上下文冒烟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309360" y="109728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013A44"/>
          </a:solidFill>
          <a:ln/>
        </p:spPr>
      </p:sp>
      <p:sp>
        <p:nvSpPr>
          <p:cNvPr id="31" name="Text 28"/>
          <p:cNvSpPr/>
          <p:nvPr/>
        </p:nvSpPr>
        <p:spPr>
          <a:xfrm>
            <a:off x="6537960" y="12435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现状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537960" y="164592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仓库没有业务构建流水线。GitHub Actions 最近记录仅为 2026 年 3 月 Copilot 仓库访问检查，与构建测试无关。前端已有 lint、类型检查和构建脚本，但未见自动执行。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309360" y="37490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537960" y="38953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观测栈已具备，本环境未验证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537960" y="4334256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暴露 health 与 prometheus。抓取配置指向本机 8123 端口，grafana 目录含 AI 模型看板。本次汇报未启动运行时，健康检查与抓取状态记为未验证。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645920"/>
            <a:ext cx="2926080" cy="29260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能力完整、教程闭环；社区问题与工程卫生是当前主矛盾。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013A44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20299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能力已闭环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" y="25420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生成、预览改稿、部署下载、后台与观测已在单体和微服务落地，三种代码模式可路由。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481328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013A44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8848" y="20299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进入维护窗口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98848" y="25420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近一年无业务提交。当前价值在答疑、文档镜像和接口兼容，而不是继续堆功能。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481328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013A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08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93608" y="20299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先修阻塞再扩展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93608" y="25420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优先处理 npm 安装失败和思考链字段；搜索工具与 CI 放在第二梯队。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0001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下次汇报关注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81 与 Issue 5 是否有回复或复现结论；master 是否出现业务提交；若补 CI，记录首次构建结果。生产指标仍待运行环境接入。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1264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126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2026-08-16</dc:title>
  <dc:subject>AI 零代码应用生成平台项目状态</dc:subject>
  <dc:creator>yu-ai-code-mother 维护团队</dc:creator>
  <cp:lastModifiedBy>yu-ai-code-mother 维护团队</cp:lastModifiedBy>
  <cp:revision>1</cp:revision>
  <dcterms:created xsi:type="dcterms:W3CDTF">2026-08-16T09:27:28Z</dcterms:created>
  <dcterms:modified xsi:type="dcterms:W3CDTF">2026-08-16T09:27:28Z</dcterms:modified>
</cp:coreProperties>
</file>