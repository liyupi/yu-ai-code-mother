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3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1A8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509760" y="-1097280"/>
            <a:ext cx="3840480" cy="3840480"/>
          </a:xfrm>
          <a:prstGeom prst="ellipse">
            <a:avLst/>
          </a:prstGeom>
          <a:solidFill>
            <a:srgbClr val="0D4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4389120"/>
            <a:ext cx="2926080" cy="2926080"/>
          </a:xfrm>
          <a:prstGeom prst="ellipse">
            <a:avLst/>
          </a:prstGeom>
          <a:solidFill>
            <a:srgbClr val="0C4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234440"/>
            <a:ext cx="2331720" cy="347472"/>
          </a:xfrm>
          <a:prstGeom prst="roundRect">
            <a:avLst>
              <a:gd name="adj" fmla="val 8000"/>
            </a:avLst>
          </a:prstGeom>
          <a:solidFill>
            <a:srgbClr val="0F6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234440"/>
            <a:ext cx="233172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Georgia"/>
                <a:ea typeface="微软雅黑"/>
              </a:rPr>
              <a:t>DAILY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83080"/>
            <a:ext cx="1024128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400" b="1" i="0">
                <a:solidFill>
                  <a:srgbClr val="FFFFFF"/>
                </a:solidFill>
                <a:latin typeface="Georgia"/>
                <a:ea typeface="微软雅黑"/>
              </a:rPr>
              <a:t>每日项目状态汇报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88920"/>
            <a:ext cx="9601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0" i="0">
                <a:solidFill>
                  <a:srgbClr val="14B8A6"/>
                </a:solidFill>
                <a:latin typeface="Georgia"/>
                <a:ea typeface="微软雅黑"/>
              </a:rPr>
              <a:t>AI 零代码应用生成平台  ·  yu-ai-code-mother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01568"/>
            <a:ext cx="2011680" cy="54864"/>
          </a:xfrm>
          <a:prstGeom prst="rect">
            <a:avLst/>
          </a:prstGeom>
          <a:solidFill>
            <a:srgbClr val="C98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703320"/>
            <a:ext cx="8686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D4ECE8"/>
                </a:solidFill>
                <a:latin typeface="Calibri"/>
                <a:ea typeface="微软雅黑"/>
              </a:rPr>
              <a:t>汇报日：2026 年 9 月 2 日（北京时间）
受众：项目维护者 / 核心研发团队    ·    范围：能力基线、近况、风险与下一步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5074920"/>
            <a:ext cx="2468880" cy="475488"/>
          </a:xfrm>
          <a:prstGeom prst="roundRect">
            <a:avLst>
              <a:gd name="adj" fmla="val 8000"/>
            </a:avLst>
          </a:prstGeom>
          <a:solidFill>
            <a:srgbClr val="0D4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074920"/>
            <a:ext cx="246888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  <a:ea typeface="微软雅黑"/>
              </a:rPr>
              <a:t>基线 教程第 14 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0440" y="5074920"/>
            <a:ext cx="2468880" cy="475488"/>
          </a:xfrm>
          <a:prstGeom prst="roundRect">
            <a:avLst>
              <a:gd name="adj" fmla="val 8000"/>
            </a:avLst>
          </a:prstGeom>
          <a:solidFill>
            <a:srgbClr val="0D4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40" y="5074920"/>
            <a:ext cx="246888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  <a:ea typeface="微软雅黑"/>
              </a:rPr>
              <a:t>近 7 日无业务提交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5074920"/>
            <a:ext cx="2468880" cy="475488"/>
          </a:xfrm>
          <a:prstGeom prst="roundRect">
            <a:avLst>
              <a:gd name="adj" fmla="val 8000"/>
            </a:avLst>
          </a:prstGeom>
          <a:solidFill>
            <a:srgbClr val="0D4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5074920"/>
            <a:ext cx="246888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  <a:ea typeface="微软雅黑"/>
              </a:rPr>
              <a:t>3 个未关闭 Issue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5074920"/>
            <a:ext cx="2468880" cy="475488"/>
          </a:xfrm>
          <a:prstGeom prst="roundRect">
            <a:avLst>
              <a:gd name="adj" fmla="val 8000"/>
            </a:avLst>
          </a:prstGeom>
          <a:solidFill>
            <a:srgbClr val="0D4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6840" y="5074920"/>
            <a:ext cx="246888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  <a:ea typeface="微软雅黑"/>
              </a:rPr>
              <a:t>无仓库 CI 流水线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85216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8FB8B4"/>
                </a:solidFill>
                <a:latin typeface="Calibri"/>
                <a:ea typeface="微软雅黑"/>
              </a:rPr>
              <a:t>数据来源：README、主模块目录、git log、GitHub Issues / Actions（只读）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6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81967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" y="1060704"/>
            <a:ext cx="12081967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01168"/>
            <a:ext cx="950976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3200" b="1" i="0">
                <a:solidFill>
                  <a:srgbClr val="0A3A38"/>
                </a:solidFill>
                <a:latin typeface="Georgia"/>
                <a:ea typeface="微软雅黑"/>
              </a:rPr>
              <a:t>项目概览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9509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4A6664"/>
                </a:solidFill>
                <a:latin typeface="Calibri"/>
                <a:ea typeface="微软雅黑"/>
              </a:rPr>
              <a:t>教学向企业级 AI 代码生成平台，单体与微服务双形态并存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3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65392"/>
            <a:ext cx="7315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D4ECE8"/>
                </a:solidFill>
                <a:latin typeface="Calibri"/>
                <a:ea typeface="微软雅黑"/>
              </a:rPr>
              <a:t>yu-ai-code-mother  ·  每日项目状态  ·  2026-09-02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6565392"/>
            <a:ext cx="3108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 i="0">
                <a:solidFill>
                  <a:srgbClr val="D4ECE8"/>
                </a:solidFill>
                <a:latin typeface="Calibri"/>
                <a:ea typeface="微软雅黑"/>
              </a:rPr>
              <a:t>内部维护者汇报  ·  仅文档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2651760" cy="987552"/>
          </a:xfrm>
          <a:prstGeom prst="roundRect">
            <a:avLst>
              <a:gd name="adj" fmla="val 8000"/>
            </a:avLst>
          </a:prstGeom>
          <a:solidFill>
            <a:srgbClr val="0F6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481328"/>
            <a:ext cx="2432304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600" b="1" i="0">
                <a:solidFill>
                  <a:srgbClr val="FFFFFF"/>
                </a:solidFill>
                <a:latin typeface="Georgia"/>
                <a:ea typeface="微软雅黑"/>
              </a:rPr>
              <a:t>154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901952"/>
            <a:ext cx="243230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D4ECE8"/>
                </a:solidFill>
                <a:latin typeface="Calibri"/>
                <a:ea typeface="微软雅黑"/>
              </a:rPr>
              <a:t>单体 Java 源文件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1371600"/>
            <a:ext cx="2651760" cy="987552"/>
          </a:xfrm>
          <a:prstGeom prst="roundRect">
            <a:avLst>
              <a:gd name="adj" fmla="val 8000"/>
            </a:avLst>
          </a:prstGeom>
          <a:solidFill>
            <a:srgbClr val="0A3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01568" y="1481328"/>
            <a:ext cx="2432304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600" b="1" i="0">
                <a:solidFill>
                  <a:srgbClr val="FFFFFF"/>
                </a:solidFill>
                <a:latin typeface="Georgia"/>
                <a:ea typeface="微软雅黑"/>
              </a:rPr>
              <a:t>118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1568" y="1901952"/>
            <a:ext cx="243230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D4ECE8"/>
                </a:solidFill>
                <a:latin typeface="Calibri"/>
                <a:ea typeface="微软雅黑"/>
              </a:rPr>
              <a:t>微服务 Java 源文件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371600"/>
            <a:ext cx="2651760" cy="987552"/>
          </a:xfrm>
          <a:prstGeom prst="roundRect">
            <a:avLst>
              <a:gd name="adj" fmla="val 8000"/>
            </a:avLst>
          </a:prstGeom>
          <a:solidFill>
            <a:srgbClr val="1A8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6208" y="1481328"/>
            <a:ext cx="2432304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600" b="1" i="0">
                <a:solidFill>
                  <a:srgbClr val="FFFFFF"/>
                </a:solidFill>
                <a:latin typeface="Georgia"/>
                <a:ea typeface="微软雅黑"/>
              </a:rP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6208" y="1901952"/>
            <a:ext cx="243230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D4ECE8"/>
                </a:solidFill>
                <a:latin typeface="Calibri"/>
                <a:ea typeface="微软雅黑"/>
              </a:rPr>
              <a:t>前端业务页面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0" y="1371600"/>
            <a:ext cx="2651760" cy="987552"/>
          </a:xfrm>
          <a:prstGeom prst="roundRect">
            <a:avLst>
              <a:gd name="adj" fmla="val 8000"/>
            </a:avLst>
          </a:prstGeom>
          <a:solidFill>
            <a:srgbClr val="C98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70848" y="1481328"/>
            <a:ext cx="2432304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600" b="1" i="0">
                <a:solidFill>
                  <a:srgbClr val="FFFFFF"/>
                </a:solidFill>
                <a:latin typeface="Georgia"/>
                <a:ea typeface="微软雅黑"/>
              </a:rPr>
              <a:t>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0848" y="1901952"/>
            <a:ext cx="243230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4A3210"/>
                </a:solidFill>
                <a:latin typeface="Calibri"/>
                <a:ea typeface="微软雅黑"/>
              </a:rPr>
              <a:t>后端测试类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2560320"/>
            <a:ext cx="5532120" cy="37490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2560320"/>
            <a:ext cx="91440" cy="3749039"/>
          </a:xfrm>
          <a:prstGeom prst="rect">
            <a:avLst/>
          </a:prstGeom>
          <a:solidFill>
            <a:srgbClr val="0F6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2697480"/>
            <a:ext cx="50292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F6B66"/>
                </a:solidFill>
                <a:latin typeface="Georgia"/>
                <a:ea typeface="微软雅黑"/>
              </a:rPr>
              <a:t>定位与栈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108960"/>
            <a:ext cx="50292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0F6B66"/>
                </a:solidFill>
                <a:latin typeface="Calibri"/>
                <a:ea typeface="微软雅黑"/>
              </a:rPr>
              <a:t>产品  </a:t>
            </a:r>
            <a:r>
              <a:rPr sz="1400">
                <a:solidFill>
                  <a:srgbClr val="1A2E2D"/>
                </a:solidFill>
                <a:latin typeface="Calibri"/>
                <a:ea typeface="微软雅黑"/>
              </a:rPr>
              <a:t>用户用自然语言描述需求，平台自动生成、预览、编辑并部署网页应用。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F6B66"/>
                </a:solidFill>
                <a:latin typeface="Calibri"/>
                <a:ea typeface="微软雅黑"/>
              </a:rPr>
              <a:t>后端  </a:t>
            </a:r>
            <a:r>
              <a:rPr sz="1400">
                <a:solidFill>
                  <a:srgbClr val="1A2E2D"/>
                </a:solidFill>
                <a:latin typeface="Calibri"/>
                <a:ea typeface="微软雅黑"/>
              </a:rPr>
              <a:t>Spring Boot 3.5.4 · Java 21 · LangChain4j 1.1.0 · LangGraph4j 1.6.0-rc2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F6B66"/>
                </a:solidFill>
                <a:latin typeface="Calibri"/>
                <a:ea typeface="微软雅黑"/>
              </a:rPr>
              <a:t>前端  </a:t>
            </a:r>
            <a:r>
              <a:rPr sz="1400">
                <a:solidFill>
                  <a:srgbClr val="1A2E2D"/>
                </a:solidFill>
                <a:latin typeface="Calibri"/>
                <a:ea typeface="微软雅黑"/>
              </a:rPr>
              <a:t>Vue 3.5 + TypeScript + Ant Design Vue + Vite 7 + Pinia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F6B66"/>
                </a:solidFill>
                <a:latin typeface="Calibri"/>
                <a:ea typeface="微软雅黑"/>
              </a:rPr>
              <a:t>基础设施  </a:t>
            </a:r>
            <a:r>
              <a:rPr sz="1400">
                <a:solidFill>
                  <a:srgbClr val="1A2E2D"/>
                </a:solidFill>
                <a:latin typeface="Calibri"/>
                <a:ea typeface="微软雅黑"/>
              </a:rPr>
              <a:t>MySQL · Redis / Redisson · 腾讯云 COS · Prometheus + Grafana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F6B66"/>
                </a:solidFill>
                <a:latin typeface="Calibri"/>
                <a:ea typeface="微软雅黑"/>
              </a:rPr>
              <a:t>微服务  </a:t>
            </a:r>
            <a:r>
              <a:rPr sz="1400">
                <a:solidFill>
                  <a:srgbClr val="1A2E2D"/>
                </a:solidFill>
                <a:latin typeface="Calibri"/>
                <a:ea typeface="微软雅黑"/>
              </a:rPr>
              <a:t>Spring Cloud Alibaba 2023.0.1 · Dubbo 3.3 · Nacos 注册发现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2560320"/>
            <a:ext cx="5532120" cy="37490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2560320"/>
            <a:ext cx="91440" cy="3749039"/>
          </a:xfrm>
          <a:prstGeom prst="rect">
            <a:avLst/>
          </a:prstGeom>
          <a:solidFill>
            <a:srgbClr val="C98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2697480"/>
            <a:ext cx="50292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C98A2C"/>
                </a:solidFill>
                <a:latin typeface="Georgia"/>
                <a:ea typeface="微软雅黑"/>
              </a:rPr>
              <a:t>当前判断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3108960"/>
            <a:ext cx="50292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A2E2D"/>
                </a:solidFill>
                <a:latin typeface="Calibri"/>
                <a:ea typeface="微软雅黑"/>
              </a:rPr>
              <a:t>1.  能力基线停留在 2025-08-26 教程第 14 期（微服务改造完成，含完整单体）。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A2E2D"/>
                </a:solidFill>
                <a:latin typeface="Calibri"/>
                <a:ea typeface="微软雅黑"/>
              </a:rPr>
              <a:t>2.  近 7 日 master 无业务提交；仓库活跃主要是日报 Draft PR。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A2E2D"/>
                </a:solidFill>
                <a:latin typeface="Calibri"/>
                <a:ea typeface="微软雅黑"/>
              </a:rPr>
              <a:t>3.  产品闭环已齐：生成 / 可视化改页 / 部署截图 / 后台管理。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A2E2D"/>
                </a:solidFill>
                <a:latin typeface="Calibri"/>
                <a:ea typeface="微软雅黑"/>
              </a:rPr>
              <a:t>4.  工程侧缺口集中在 CI、学员环境安装、DeepSeek 推理字段兼容。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A2E2D"/>
                </a:solidFill>
                <a:latin typeface="Calibri"/>
                <a:ea typeface="微软雅黑"/>
              </a:rPr>
              <a:t>5.  单体与微服务两套代码并行，后续演进需先明确主维护面。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6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81967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" y="1060704"/>
            <a:ext cx="12081967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01168"/>
            <a:ext cx="950976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3200" b="1" i="0">
                <a:solidFill>
                  <a:srgbClr val="0A3A38"/>
                </a:solidFill>
                <a:latin typeface="Georgia"/>
                <a:ea typeface="微软雅黑"/>
              </a:rPr>
              <a:t>核心能力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9509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4A6664"/>
                </a:solidFill>
                <a:latin typeface="Calibri"/>
                <a:ea typeface="微软雅黑"/>
              </a:rPr>
              <a:t>README 四大能力 + 仓库已落地的生成策略与工具面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3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65392"/>
            <a:ext cx="7315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D4ECE8"/>
                </a:solidFill>
                <a:latin typeface="Calibri"/>
                <a:ea typeface="微软雅黑"/>
              </a:rPr>
              <a:t>yu-ai-code-mother  ·  每日项目状态  ·  2026-09-02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6565392"/>
            <a:ext cx="3108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 i="0">
                <a:solidFill>
                  <a:srgbClr val="D4ECE8"/>
                </a:solidFill>
                <a:latin typeface="Calibri"/>
                <a:ea typeface="微软雅黑"/>
              </a:rPr>
              <a:t>内部维护者汇报  ·  仅文档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53312"/>
            <a:ext cx="5623560" cy="23042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353312"/>
            <a:ext cx="5623560" cy="73152"/>
          </a:xfrm>
          <a:prstGeom prst="rect">
            <a:avLst/>
          </a:prstGeom>
          <a:solidFill>
            <a:srgbClr val="0F6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" y="1554480"/>
            <a:ext cx="566928" cy="347472"/>
          </a:xfrm>
          <a:prstGeom prst="roundRect">
            <a:avLst>
              <a:gd name="adj" fmla="val 20000"/>
            </a:avLst>
          </a:prstGeom>
          <a:solidFill>
            <a:srgbClr val="0F6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554480"/>
            <a:ext cx="566928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  <a:ea typeface="微软雅黑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35024" y="1554480"/>
            <a:ext cx="4480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1" i="0">
                <a:solidFill>
                  <a:srgbClr val="0A3A38"/>
                </a:solidFill>
                <a:latin typeface="Georgia"/>
                <a:ea typeface="微软雅黑"/>
              </a:rPr>
              <a:t>智能代码生成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2011680"/>
            <a:ext cx="51206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1A2E2D"/>
                </a:solidFill>
                <a:latin typeface="Calibri"/>
                <a:ea typeface="微软雅黑"/>
              </a:rPr>
              <a:t>▸  AI 分析需求并路由生成策略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A2E2D"/>
                </a:solidFill>
                <a:latin typeface="Calibri"/>
                <a:ea typeface="微软雅黑"/>
              </a:rPr>
              <a:t>▸  HTML / 多文件 / Vue 工程三种模式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A2E2D"/>
                </a:solidFill>
                <a:latin typeface="Calibri"/>
                <a:ea typeface="微软雅黑"/>
              </a:rPr>
              <a:t>▸  工具调用写文件，SSE 流式展示过程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A2E2D"/>
                </a:solidFill>
                <a:latin typeface="Calibri"/>
                <a:ea typeface="微软雅黑"/>
              </a:rPr>
              <a:t>▸  Prompt 安全护栏 + 输出重试护栏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353312"/>
            <a:ext cx="5623560" cy="23042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1353312"/>
            <a:ext cx="5623560" cy="73152"/>
          </a:xfrm>
          <a:prstGeom prst="rect">
            <a:avLst/>
          </a:prstGeom>
          <a:solidFill>
            <a:srgbClr val="1A8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10528" y="1554480"/>
            <a:ext cx="566928" cy="347472"/>
          </a:xfrm>
          <a:prstGeom prst="roundRect">
            <a:avLst>
              <a:gd name="adj" fmla="val 20000"/>
            </a:avLst>
          </a:prstGeom>
          <a:solidFill>
            <a:srgbClr val="1A8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0528" y="1554480"/>
            <a:ext cx="566928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  <a:ea typeface="微软雅黑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87184" y="1554480"/>
            <a:ext cx="4480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1" i="0">
                <a:solidFill>
                  <a:srgbClr val="0A3A38"/>
                </a:solidFill>
                <a:latin typeface="Georgia"/>
                <a:ea typeface="微软雅黑"/>
              </a:rPr>
              <a:t>可视化编辑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2011680"/>
            <a:ext cx="51206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1A2E2D"/>
                </a:solidFill>
                <a:latin typeface="Calibri"/>
                <a:ea typeface="微软雅黑"/>
              </a:rPr>
              <a:t>▸  生成结果即时预览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A2E2D"/>
                </a:solidFill>
                <a:latin typeface="Calibri"/>
                <a:ea typeface="微软雅黑"/>
              </a:rPr>
              <a:t>▸  选中页面元素后与 AI 对话改页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A2E2D"/>
                </a:solidFill>
                <a:latin typeface="Calibri"/>
                <a:ea typeface="微软雅黑"/>
              </a:rPr>
              <a:t>▸  原生模式全量改、工程模式增量改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A2E2D"/>
                </a:solidFill>
                <a:latin typeface="Calibri"/>
                <a:ea typeface="微软雅黑"/>
              </a:rPr>
              <a:t>▸  对话历史按应用隔离持久化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822192"/>
            <a:ext cx="5623560" cy="23042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822192"/>
            <a:ext cx="5623560" cy="73152"/>
          </a:xfrm>
          <a:prstGeom prst="rect">
            <a:avLst/>
          </a:prstGeom>
          <a:solidFill>
            <a:srgbClr val="0A3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8368" y="4023360"/>
            <a:ext cx="566928" cy="347472"/>
          </a:xfrm>
          <a:prstGeom prst="roundRect">
            <a:avLst>
              <a:gd name="adj" fmla="val 20000"/>
            </a:avLst>
          </a:prstGeom>
          <a:solidFill>
            <a:srgbClr val="0A3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4023360"/>
            <a:ext cx="566928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  <a:ea typeface="微软雅黑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4023360"/>
            <a:ext cx="4480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1" i="0">
                <a:solidFill>
                  <a:srgbClr val="0A3A38"/>
                </a:solidFill>
                <a:latin typeface="Georgia"/>
                <a:ea typeface="微软雅黑"/>
              </a:rPr>
              <a:t>一键部署分享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4480560"/>
            <a:ext cx="51206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1A2E2D"/>
                </a:solidFill>
                <a:latin typeface="Calibri"/>
                <a:ea typeface="微软雅黑"/>
              </a:rPr>
              <a:t>▸  部署到可访问地址并分享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A2E2D"/>
                </a:solidFill>
                <a:latin typeface="Calibri"/>
                <a:ea typeface="微软雅黑"/>
              </a:rPr>
              <a:t>▸  Selenium 自动截取封面图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A2E2D"/>
                </a:solidFill>
                <a:latin typeface="Calibri"/>
                <a:ea typeface="微软雅黑"/>
              </a:rPr>
              <a:t>▸  完整项目源码打包下载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A2E2D"/>
                </a:solidFill>
                <a:latin typeface="Calibri"/>
                <a:ea typeface="微软雅黑"/>
              </a:rPr>
              <a:t>▸  精选案例在首页对外展示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3822192"/>
            <a:ext cx="5623560" cy="23042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60" y="3822192"/>
            <a:ext cx="5623560" cy="73152"/>
          </a:xfrm>
          <a:prstGeom prst="rect">
            <a:avLst/>
          </a:prstGeom>
          <a:solidFill>
            <a:srgbClr val="C98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10528" y="4023360"/>
            <a:ext cx="566928" cy="347472"/>
          </a:xfrm>
          <a:prstGeom prst="roundRect">
            <a:avLst>
              <a:gd name="adj" fmla="val 20000"/>
            </a:avLst>
          </a:prstGeom>
          <a:solidFill>
            <a:srgbClr val="C98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10528" y="4023360"/>
            <a:ext cx="566928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  <a:ea typeface="微软雅黑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87184" y="4023360"/>
            <a:ext cx="4480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1" i="0">
                <a:solidFill>
                  <a:srgbClr val="0A3A38"/>
                </a:solidFill>
                <a:latin typeface="Georgia"/>
                <a:ea typeface="微软雅黑"/>
              </a:rPr>
              <a:t>企业级管理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65392" y="4480560"/>
            <a:ext cx="51206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1A2E2D"/>
                </a:solidFill>
                <a:latin typeface="Calibri"/>
                <a:ea typeface="微软雅黑"/>
              </a:rPr>
              <a:t>▸  用户 / 应用 / 对话后台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A2E2D"/>
                </a:solidFill>
                <a:latin typeface="Calibri"/>
                <a:ea typeface="微软雅黑"/>
              </a:rPr>
              <a:t>▸  精选优先级与多维检索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A2E2D"/>
                </a:solidFill>
                <a:latin typeface="Calibri"/>
                <a:ea typeface="微软雅黑"/>
              </a:rPr>
              <a:t>▸  Redisson 限流与会话鉴权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A2E2D"/>
                </a:solidFill>
                <a:latin typeface="Calibri"/>
                <a:ea typeface="微软雅黑"/>
              </a:rPr>
              <a:t>▸  Actuator + Prometheus 模型指标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6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81967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" y="1060704"/>
            <a:ext cx="12081967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01168"/>
            <a:ext cx="950976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3200" b="1" i="0">
                <a:solidFill>
                  <a:srgbClr val="0A3A38"/>
                </a:solidFill>
                <a:latin typeface="Georgia"/>
                <a:ea typeface="微软雅黑"/>
              </a:rPr>
              <a:t>架构与模块盘点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9509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4A6664"/>
                </a:solidFill>
                <a:latin typeface="Calibri"/>
                <a:ea typeface="微软雅黑"/>
              </a:rPr>
              <a:t>仓库同时保留单体 src/ 与 yu-ai-code-mother-microservice/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3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65392"/>
            <a:ext cx="7315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D4ECE8"/>
                </a:solidFill>
                <a:latin typeface="Calibri"/>
                <a:ea typeface="微软雅黑"/>
              </a:rPr>
              <a:t>yu-ai-code-mother  ·  每日项目状态  ·  2026-09-02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6565392"/>
            <a:ext cx="3108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 i="0">
                <a:solidFill>
                  <a:srgbClr val="D4ECE8"/>
                </a:solidFill>
                <a:latin typeface="Calibri"/>
                <a:ea typeface="微软雅黑"/>
              </a:rPr>
              <a:t>内部维护者汇报  ·  仅文档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53312"/>
            <a:ext cx="5623560" cy="4983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353312"/>
            <a:ext cx="5623560" cy="457200"/>
          </a:xfrm>
          <a:prstGeom prst="rect">
            <a:avLst/>
          </a:prstGeom>
          <a:solidFill>
            <a:srgbClr val="0F6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353312"/>
            <a:ext cx="53035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 i="0">
                <a:solidFill>
                  <a:srgbClr val="FFFFFF"/>
                </a:solidFill>
                <a:latin typeface="Georgia"/>
                <a:ea typeface="微软雅黑"/>
              </a:rPr>
              <a:t>单体后端  ·  src/main/java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1938528"/>
            <a:ext cx="52120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0F6B66"/>
                </a:solidFill>
                <a:latin typeface="Calibri"/>
                <a:ea typeface="微软雅黑"/>
              </a:rPr>
              <a:t>接入层
</a:t>
            </a:r>
            <a:r>
              <a:rPr sz="1400">
                <a:solidFill>
                  <a:srgbClr val="1A2E2D"/>
                </a:solidFill>
                <a:latin typeface="Calibri"/>
                <a:ea typeface="微软雅黑"/>
              </a:rPr>
              <a:t>App / User / ChatHistory / StaticResource / Health / WorkflowSse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0F6B66"/>
                </a:solidFill>
                <a:latin typeface="Calibri"/>
                <a:ea typeface="微软雅黑"/>
              </a:rPr>
              <a:t>AI 服务
</a:t>
            </a:r>
            <a:r>
              <a:rPr sz="1400">
                <a:solidFill>
                  <a:srgbClr val="1A2E2D"/>
                </a:solidFill>
                <a:latin typeface="Calibri"/>
                <a:ea typeface="微软雅黑"/>
              </a:rPr>
              <a:t>生成工厂、类型路由、6 个文件工具、ExitTool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0F6B66"/>
                </a:solidFill>
                <a:latin typeface="Calibri"/>
                <a:ea typeface="微软雅黑"/>
              </a:rPr>
              <a:t>工作流
</a:t>
            </a:r>
            <a:r>
              <a:rPr sz="1400">
                <a:solidFill>
                  <a:srgbClr val="1A2E2D"/>
                </a:solidFill>
                <a:latin typeface="Calibri"/>
                <a:ea typeface="微软雅黑"/>
              </a:rPr>
              <a:t>路由 → 提示增强 → 图片采集 → 生成 → 质检 → 构建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0F6B66"/>
                </a:solidFill>
                <a:latin typeface="Calibri"/>
                <a:ea typeface="微软雅黑"/>
              </a:rPr>
              <a:t>并发采集
</a:t>
            </a:r>
            <a:r>
              <a:rPr sz="1400">
                <a:solidFill>
                  <a:srgbClr val="1A2E2D"/>
                </a:solidFill>
                <a:latin typeface="Calibri"/>
                <a:ea typeface="微软雅黑"/>
              </a:rPr>
              <a:t>Logo / 插画 / 图搜 / Mermaid 子图并行聚合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0F6B66"/>
                </a:solidFill>
                <a:latin typeface="Calibri"/>
                <a:ea typeface="微软雅黑"/>
              </a:rPr>
              <a:t>治理
</a:t>
            </a:r>
            <a:r>
              <a:rPr sz="1400">
                <a:solidFill>
                  <a:srgbClr val="1A2E2D"/>
                </a:solidFill>
                <a:latin typeface="Calibri"/>
                <a:ea typeface="微软雅黑"/>
              </a:rPr>
              <a:t>限流切面、监控监听、COS、截图、多级缓存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353312"/>
            <a:ext cx="5440680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353312"/>
            <a:ext cx="5440680" cy="457200"/>
          </a:xfrm>
          <a:prstGeom prst="rect">
            <a:avLst/>
          </a:prstGeom>
          <a:solidFill>
            <a:srgbClr val="0A3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353312"/>
            <a:ext cx="50749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 i="0">
                <a:solidFill>
                  <a:srgbClr val="FFFFFF"/>
                </a:solidFill>
                <a:latin typeface="Georgia"/>
                <a:ea typeface="微软雅黑"/>
              </a:rPr>
              <a:t>微服务 7 模块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1956816"/>
            <a:ext cx="2377440" cy="457200"/>
          </a:xfrm>
          <a:prstGeom prst="roundRect">
            <a:avLst>
              <a:gd name="adj" fmla="val 8000"/>
            </a:avLst>
          </a:prstGeom>
          <a:solidFill>
            <a:srgbClr val="E8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1956816"/>
            <a:ext cx="2231136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0A3A38"/>
                </a:solidFill>
                <a:latin typeface="Calibri"/>
                <a:ea typeface="微软雅黑"/>
              </a:rPr>
              <a:t>common  ·  异常 / COS / 鉴权注解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6840" y="1956816"/>
            <a:ext cx="2377440" cy="457200"/>
          </a:xfrm>
          <a:prstGeom prst="roundRect">
            <a:avLst>
              <a:gd name="adj" fmla="val 8000"/>
            </a:avLst>
          </a:prstGeom>
          <a:solidFill>
            <a:srgbClr val="E8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79992" y="1956816"/>
            <a:ext cx="2231136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0A3A38"/>
                </a:solidFill>
                <a:latin typeface="Calibri"/>
                <a:ea typeface="微软雅黑"/>
              </a:rPr>
              <a:t>model  ·  实体与枚举共享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2487168"/>
            <a:ext cx="2377440" cy="457200"/>
          </a:xfrm>
          <a:prstGeom prst="roundRect">
            <a:avLst>
              <a:gd name="adj" fmla="val 8000"/>
            </a:avLst>
          </a:prstGeom>
          <a:solidFill>
            <a:srgbClr val="E8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65392" y="2487168"/>
            <a:ext cx="2231136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0A3A38"/>
                </a:solidFill>
                <a:latin typeface="Calibri"/>
                <a:ea typeface="微软雅黑"/>
              </a:rPr>
              <a:t>client  ·  Dubbo 内部接口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06840" y="2487168"/>
            <a:ext cx="2377440" cy="457200"/>
          </a:xfrm>
          <a:prstGeom prst="roundRect">
            <a:avLst>
              <a:gd name="adj" fmla="val 8000"/>
            </a:avLst>
          </a:prstGeom>
          <a:solidFill>
            <a:srgbClr val="E8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79992" y="2487168"/>
            <a:ext cx="2231136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0A3A38"/>
                </a:solidFill>
                <a:latin typeface="Calibri"/>
                <a:ea typeface="微软雅黑"/>
              </a:rPr>
              <a:t>user  ·  账号与登录会话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0" y="3017520"/>
            <a:ext cx="2377440" cy="457200"/>
          </a:xfrm>
          <a:prstGeom prst="roundRect">
            <a:avLst>
              <a:gd name="adj" fmla="val 8000"/>
            </a:avLst>
          </a:prstGeom>
          <a:solidFill>
            <a:srgbClr val="E8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65392" y="3017520"/>
            <a:ext cx="2231136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0A3A38"/>
                </a:solidFill>
                <a:latin typeface="Calibri"/>
                <a:ea typeface="微软雅黑"/>
              </a:rPr>
              <a:t>app  ·  生成 / 部署 / 限流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06840" y="3017520"/>
            <a:ext cx="2377440" cy="457200"/>
          </a:xfrm>
          <a:prstGeom prst="roundRect">
            <a:avLst>
              <a:gd name="adj" fmla="val 8000"/>
            </a:avLst>
          </a:prstGeom>
          <a:solidFill>
            <a:srgbClr val="E8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79992" y="3017520"/>
            <a:ext cx="2231136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0A3A38"/>
                </a:solidFill>
                <a:latin typeface="Calibri"/>
                <a:ea typeface="微软雅黑"/>
              </a:rPr>
              <a:t>ai  ·  模型与工具调用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92240" y="3547872"/>
            <a:ext cx="2377440" cy="457200"/>
          </a:xfrm>
          <a:prstGeom prst="roundRect">
            <a:avLst>
              <a:gd name="adj" fmla="val 8000"/>
            </a:avLst>
          </a:prstGeom>
          <a:solidFill>
            <a:srgbClr val="E8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65392" y="3547872"/>
            <a:ext cx="2231136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0A3A38"/>
                </a:solidFill>
                <a:latin typeface="Calibri"/>
                <a:ea typeface="微软雅黑"/>
              </a:rPr>
              <a:t>screenshot  ·  封面截图服务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4389120"/>
            <a:ext cx="5440680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63640" y="4389120"/>
            <a:ext cx="5440680" cy="457200"/>
          </a:xfrm>
          <a:prstGeom prst="rect">
            <a:avLst/>
          </a:prstGeom>
          <a:solidFill>
            <a:srgbClr val="1A8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4389120"/>
            <a:ext cx="50749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 i="0">
                <a:solidFill>
                  <a:srgbClr val="FFFFFF"/>
                </a:solidFill>
                <a:latin typeface="Georgia"/>
                <a:ea typeface="微软雅黑"/>
              </a:rPr>
              <a:t>前端页面（Vue 3）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4937760"/>
            <a:ext cx="5029200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2E2D"/>
                </a:solidFill>
                <a:latin typeface="Calibri"/>
                <a:ea typeface="微软雅黑"/>
              </a:rPr>
              <a:t>用户：首页 · 对话生成 · 应用编辑 · 登录 / 注册
管理：应用管理 · 用户管理 · 对话管理
注意：预览与部署依赖后端静态资源与 COS 配置。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6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81967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" y="1060704"/>
            <a:ext cx="12081967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01168"/>
            <a:ext cx="950976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3200" b="1" i="0">
                <a:solidFill>
                  <a:srgbClr val="0A3A38"/>
                </a:solidFill>
                <a:latin typeface="Georgia"/>
                <a:ea typeface="微软雅黑"/>
              </a:rPr>
              <a:t>近期进展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9509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4A6664"/>
                </a:solidFill>
                <a:latin typeface="Calibri"/>
                <a:ea typeface="微软雅黑"/>
              </a:rPr>
              <a:t>近 7 日优先；业务提交窗口回溯到教程第 11–14 期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3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65392"/>
            <a:ext cx="7315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D4ECE8"/>
                </a:solidFill>
                <a:latin typeface="Calibri"/>
                <a:ea typeface="微软雅黑"/>
              </a:rPr>
              <a:t>yu-ai-code-mother  ·  每日项目状态  ·  2026-09-02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6565392"/>
            <a:ext cx="3108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 i="0">
                <a:solidFill>
                  <a:srgbClr val="D4ECE8"/>
                </a:solidFill>
                <a:latin typeface="Calibri"/>
                <a:ea typeface="微软雅黑"/>
              </a:rPr>
              <a:t>内部维护者汇报  ·  仅文档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53312"/>
            <a:ext cx="11247120" cy="1234440"/>
          </a:xfrm>
          <a:prstGeom prst="roundRect">
            <a:avLst>
              <a:gd name="adj" fmla="val 8000"/>
            </a:avLst>
          </a:prstGeom>
          <a:solidFill>
            <a:srgbClr val="0A3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41732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4B8A6"/>
                </a:solidFill>
                <a:latin typeface="Georgia"/>
                <a:ea typeface="微软雅黑"/>
              </a:rPr>
              <a:t>近 7 日仓库脉搏（2026-08-26 至 2026-09-02）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755648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  <a:ea typeface="微软雅黑"/>
              </a:rPr>
              <a:t>master 无新的业务提交。可见活动为每日状态汇报 Draft PR（#92–#99），均只新增 docs/reports PPT，未改业务代码。
最近一次业务提交仍是 2025-08-26：教程第 14 期「微服务改造完成（包含完整单体项目代码）」。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788920"/>
            <a:ext cx="3657600" cy="3520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788920"/>
            <a:ext cx="3657600" cy="91440"/>
          </a:xfrm>
          <a:prstGeom prst="rect">
            <a:avLst/>
          </a:prstGeom>
          <a:solidFill>
            <a:srgbClr val="0F6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971800"/>
            <a:ext cx="329184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F6B66"/>
                </a:solidFill>
                <a:latin typeface="Georgia"/>
                <a:ea typeface="微软雅黑"/>
              </a:rPr>
              <a:t>昨日 / 本周文档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38328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1A2E2D"/>
                </a:solidFill>
                <a:latin typeface="Calibri"/>
                <a:ea typeface="微软雅黑"/>
              </a:rPr>
              <a:t>▸  2026-09-01 日报 Draft #99 已开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A2E2D"/>
                </a:solidFill>
                <a:latin typeface="Calibri"/>
                <a:ea typeface="微软雅黑"/>
              </a:rPr>
              <a:t>▸  连续日报未合入 master，报告仅在各自动化分支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A2E2D"/>
                </a:solidFill>
                <a:latin typeface="Calibri"/>
                <a:ea typeface="微软雅黑"/>
              </a:rPr>
              <a:t>▸  今日继续只交付文档，不改业务代码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A2E2D"/>
                </a:solidFill>
                <a:latin typeface="Calibri"/>
                <a:ea typeface="微软雅黑"/>
              </a:rPr>
              <a:t>▸  Issue 清单与上周一致，无新增关闭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2788920"/>
            <a:ext cx="3657600" cy="3520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80" y="2788920"/>
            <a:ext cx="3657600" cy="91440"/>
          </a:xfrm>
          <a:prstGeom prst="rect">
            <a:avLst/>
          </a:prstGeom>
          <a:solidFill>
            <a:srgbClr val="1A8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2971800"/>
            <a:ext cx="329184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A8A82"/>
                </a:solidFill>
                <a:latin typeface="Georgia"/>
                <a:ea typeface="微软雅黑"/>
              </a:rPr>
              <a:t>最近业务里程碑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38328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1A2E2D"/>
                </a:solidFill>
                <a:latin typeface="Calibri"/>
                <a:ea typeface="微软雅黑"/>
              </a:rPr>
              <a:t>▸  第 14 期：拆出 7 微服务 + Dubbo/Nacos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A2E2D"/>
                </a:solidFill>
                <a:latin typeface="Calibri"/>
                <a:ea typeface="微软雅黑"/>
              </a:rPr>
              <a:t>▸  第 13 期：可观测性（模型指标 / Grafana）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A2E2D"/>
                </a:solidFill>
                <a:latin typeface="Calibri"/>
                <a:ea typeface="微软雅黑"/>
              </a:rPr>
              <a:t>▸  第 12 期：部署上线与封面截图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A2E2D"/>
                </a:solidFill>
                <a:latin typeface="Calibri"/>
                <a:ea typeface="微软雅黑"/>
              </a:rPr>
              <a:t>▸  第 11 期：限流、审查、缓存、成本优化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2788920"/>
            <a:ext cx="3657600" cy="3520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8160" y="2788920"/>
            <a:ext cx="3657600" cy="91440"/>
          </a:xfrm>
          <a:prstGeom prst="rect">
            <a:avLst/>
          </a:prstGeom>
          <a:solidFill>
            <a:srgbClr val="C98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2971800"/>
            <a:ext cx="329184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C98A2C"/>
                </a:solidFill>
                <a:latin typeface="Georgia"/>
                <a:ea typeface="微软雅黑"/>
              </a:rPr>
              <a:t>更早能力沉淀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38328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1A2E2D"/>
                </a:solidFill>
                <a:latin typeface="Calibri"/>
                <a:ea typeface="微软雅黑"/>
              </a:rPr>
              <a:t>▸  第 10 期：LangGraph4j 工作流与图片并发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A2E2D"/>
                </a:solidFill>
                <a:latin typeface="Calibri"/>
                <a:ea typeface="微软雅黑"/>
              </a:rPr>
              <a:t>▸  第 9 期：可视化修改（全量 / 增量）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A2E2D"/>
                </a:solidFill>
                <a:latin typeface="Calibri"/>
                <a:ea typeface="微软雅黑"/>
              </a:rPr>
              <a:t>▸  第 8 期：AI 智能路由生成类型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A2E2D"/>
                </a:solidFill>
                <a:latin typeface="Calibri"/>
                <a:ea typeface="微软雅黑"/>
              </a:rPr>
              <a:t>▸  前端对话页 SSE + 右侧实时预览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6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81967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" y="1060704"/>
            <a:ext cx="12081967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01168"/>
            <a:ext cx="950976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3200" b="1" i="0">
                <a:solidFill>
                  <a:srgbClr val="0A3A38"/>
                </a:solidFill>
                <a:latin typeface="Georgia"/>
                <a:ea typeface="微软雅黑"/>
              </a:rPr>
              <a:t>数据与指标要点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9509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4A6664"/>
                </a:solidFill>
                <a:latin typeface="Calibri"/>
                <a:ea typeface="微软雅黑"/>
              </a:rPr>
              <a:t>产品指标尚未接入生产；下列工程量来自当前仓库静态盘点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3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65392"/>
            <a:ext cx="7315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D4ECE8"/>
                </a:solidFill>
                <a:latin typeface="Calibri"/>
                <a:ea typeface="微软雅黑"/>
              </a:rPr>
              <a:t>yu-ai-code-mother  ·  每日项目状态  ·  2026-09-02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6565392"/>
            <a:ext cx="3108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 i="0">
                <a:solidFill>
                  <a:srgbClr val="D4ECE8"/>
                </a:solidFill>
                <a:latin typeface="Calibri"/>
                <a:ea typeface="微软雅黑"/>
              </a:rPr>
              <a:t>内部维护者汇报  ·  仅文档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298448"/>
            <a:ext cx="112471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F6B66"/>
                </a:solidFill>
                <a:latin typeface="Georgia"/>
                <a:ea typeface="微软雅黑"/>
              </a:rPr>
              <a:t>产品侧（待接入生产监控，本页不编造业务数字）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719072"/>
            <a:ext cx="214884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1792224"/>
            <a:ext cx="2011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1" i="0">
                <a:solidFill>
                  <a:srgbClr val="D47A2A"/>
                </a:solidFill>
                <a:latin typeface="Georgia"/>
                <a:ea typeface="微软雅黑"/>
              </a:rPr>
              <a:t>待接入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2194560"/>
            <a:ext cx="20116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4A6664"/>
                </a:solidFill>
                <a:latin typeface="Calibri"/>
                <a:ea typeface="微软雅黑"/>
              </a:rPr>
              <a:t>日生成次数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0" y="1719072"/>
            <a:ext cx="214884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16352" y="1792224"/>
            <a:ext cx="2011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1" i="0">
                <a:solidFill>
                  <a:srgbClr val="D47A2A"/>
                </a:solidFill>
                <a:latin typeface="Georgia"/>
                <a:ea typeface="微软雅黑"/>
              </a:rPr>
              <a:t>待接入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16352" y="2194560"/>
            <a:ext cx="20116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4A6664"/>
                </a:solidFill>
                <a:latin typeface="Calibri"/>
                <a:ea typeface="微软雅黑"/>
              </a:rPr>
              <a:t>Token 消耗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0" y="1719072"/>
            <a:ext cx="214884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02352" y="1792224"/>
            <a:ext cx="2011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1" i="0">
                <a:solidFill>
                  <a:srgbClr val="D47A2A"/>
                </a:solidFill>
                <a:latin typeface="Georgia"/>
                <a:ea typeface="微软雅黑"/>
              </a:rPr>
              <a:t>待接入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02352" y="2194560"/>
            <a:ext cx="20116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4A6664"/>
                </a:solidFill>
                <a:latin typeface="Calibri"/>
                <a:ea typeface="微软雅黑"/>
              </a:rPr>
              <a:t>部署成功率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1719072"/>
            <a:ext cx="214884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88352" y="1792224"/>
            <a:ext cx="2011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1" i="0">
                <a:solidFill>
                  <a:srgbClr val="D47A2A"/>
                </a:solidFill>
                <a:latin typeface="Georgia"/>
                <a:ea typeface="微软雅黑"/>
              </a:rPr>
              <a:t>待接入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88352" y="2194560"/>
            <a:ext cx="20116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4A6664"/>
                </a:solidFill>
                <a:latin typeface="Calibri"/>
                <a:ea typeface="微软雅黑"/>
              </a:rPr>
              <a:t>生成 P95 时延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01200" y="1719072"/>
            <a:ext cx="214884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74352" y="1792224"/>
            <a:ext cx="2011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1" i="0">
                <a:solidFill>
                  <a:srgbClr val="D47A2A"/>
                </a:solidFill>
                <a:latin typeface="Georgia"/>
                <a:ea typeface="微软雅黑"/>
              </a:rPr>
              <a:t>待接入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74352" y="2194560"/>
            <a:ext cx="20116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4A6664"/>
                </a:solidFill>
                <a:latin typeface="Calibri"/>
                <a:ea typeface="微软雅黑"/>
              </a:rPr>
              <a:t>精选应用数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2926080"/>
            <a:ext cx="112471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F6B66"/>
                </a:solidFill>
                <a:latin typeface="Georgia"/>
                <a:ea typeface="微软雅黑"/>
              </a:rPr>
              <a:t>工程侧（可核验）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337560"/>
            <a:ext cx="1783080" cy="1234440"/>
          </a:xfrm>
          <a:prstGeom prst="roundRect">
            <a:avLst>
              <a:gd name="adj" fmla="val 8000"/>
            </a:avLst>
          </a:prstGeom>
          <a:solidFill>
            <a:srgbClr val="0F6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3429000"/>
            <a:ext cx="17830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600" b="1" i="0">
                <a:solidFill>
                  <a:srgbClr val="FFFFFF"/>
                </a:solidFill>
                <a:latin typeface="Georgia"/>
                <a:ea typeface="微软雅黑"/>
              </a:rPr>
              <a:t>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" y="3977639"/>
            <a:ext cx="167335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D4ECE8"/>
                </a:solidFill>
                <a:latin typeface="Calibri"/>
                <a:ea typeface="微软雅黑"/>
              </a:rPr>
              <a:t>JUnit @Test 方法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377440" y="3337560"/>
            <a:ext cx="1783080" cy="1234440"/>
          </a:xfrm>
          <a:prstGeom prst="roundRect">
            <a:avLst>
              <a:gd name="adj" fmla="val 8000"/>
            </a:avLst>
          </a:prstGeom>
          <a:solidFill>
            <a:srgbClr val="0F6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77440" y="3429000"/>
            <a:ext cx="17830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600" b="1" i="0">
                <a:solidFill>
                  <a:srgbClr val="FFFFFF"/>
                </a:solidFill>
                <a:latin typeface="Georgia"/>
                <a:ea typeface="微软雅黑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32304" y="3977639"/>
            <a:ext cx="167335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D4ECE8"/>
                </a:solidFill>
                <a:latin typeface="Calibri"/>
                <a:ea typeface="微软雅黑"/>
              </a:rPr>
              <a:t>微服务模块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97680" y="3337560"/>
            <a:ext cx="1783080" cy="1234440"/>
          </a:xfrm>
          <a:prstGeom prst="roundRect">
            <a:avLst>
              <a:gd name="adj" fmla="val 8000"/>
            </a:avLst>
          </a:prstGeom>
          <a:solidFill>
            <a:srgbClr val="0F6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97680" y="3429000"/>
            <a:ext cx="17830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600" b="1" i="0">
                <a:solidFill>
                  <a:srgbClr val="FFFFFF"/>
                </a:solidFill>
                <a:latin typeface="Georgia"/>
                <a:ea typeface="微软雅黑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52544" y="3977639"/>
            <a:ext cx="167335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D4ECE8"/>
                </a:solidFill>
                <a:latin typeface="Calibri"/>
                <a:ea typeface="微软雅黑"/>
              </a:rPr>
              <a:t>生成类型枚举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3337560"/>
            <a:ext cx="1783080" cy="1234440"/>
          </a:xfrm>
          <a:prstGeom prst="roundRect">
            <a:avLst>
              <a:gd name="adj" fmla="val 8000"/>
            </a:avLst>
          </a:prstGeom>
          <a:solidFill>
            <a:srgbClr val="0F6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0" y="3429000"/>
            <a:ext cx="17830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600" b="1" i="0">
                <a:solidFill>
                  <a:srgbClr val="FFFFFF"/>
                </a:solidFill>
                <a:latin typeface="Georgia"/>
                <a:ea typeface="微软雅黑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72784" y="3977639"/>
            <a:ext cx="167335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D4ECE8"/>
                </a:solidFill>
                <a:latin typeface="Calibri"/>
                <a:ea typeface="微软雅黑"/>
              </a:rPr>
              <a:t>后端 Controller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38160" y="3337560"/>
            <a:ext cx="1783080" cy="1234440"/>
          </a:xfrm>
          <a:prstGeom prst="roundRect">
            <a:avLst>
              <a:gd name="adj" fmla="val 8000"/>
            </a:avLst>
          </a:prstGeom>
          <a:solidFill>
            <a:srgbClr val="0A3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38160" y="3429000"/>
            <a:ext cx="17830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600" b="1" i="0">
                <a:solidFill>
                  <a:srgbClr val="FFFFFF"/>
                </a:solidFill>
                <a:latin typeface="Georgia"/>
                <a:ea typeface="微软雅黑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93024" y="3977639"/>
            <a:ext cx="167335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D4ECE8"/>
                </a:solidFill>
                <a:latin typeface="Calibri"/>
                <a:ea typeface="微软雅黑"/>
              </a:rPr>
              <a:t>未关闭 Issue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058400" y="3337560"/>
            <a:ext cx="1783080" cy="1234440"/>
          </a:xfrm>
          <a:prstGeom prst="roundRect">
            <a:avLst>
              <a:gd name="adj" fmla="val 8000"/>
            </a:avLst>
          </a:prstGeom>
          <a:solidFill>
            <a:srgbClr val="0A3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58400" y="3429000"/>
            <a:ext cx="17830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600" b="1" i="0">
                <a:solidFill>
                  <a:srgbClr val="FFFFFF"/>
                </a:solidFill>
                <a:latin typeface="Georgia"/>
                <a:ea typeface="微软雅黑"/>
              </a:rPr>
              <a:t>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13264" y="3977639"/>
            <a:ext cx="167335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D4ECE8"/>
                </a:solidFill>
                <a:latin typeface="Calibri"/>
                <a:ea typeface="微软雅黑"/>
              </a:rPr>
              <a:t>近 7 日业务提交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4754880"/>
            <a:ext cx="1124712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57200" y="4754880"/>
            <a:ext cx="91440" cy="1600200"/>
          </a:xfrm>
          <a:prstGeom prst="rect">
            <a:avLst/>
          </a:prstGeom>
          <a:solidFill>
            <a:srgbClr val="C98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" y="4864608"/>
            <a:ext cx="106984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C98A2C"/>
                </a:solidFill>
                <a:latin typeface="Georgia"/>
                <a:ea typeface="微软雅黑"/>
              </a:rPr>
              <a:t>读数说明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" y="5257800"/>
            <a:ext cx="1069848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2E2D"/>
                </a:solidFill>
                <a:latin typeface="Calibri"/>
                <a:ea typeface="微软雅黑"/>
              </a:rPr>
              <a:t>Prometheus 已配置抓取 /api/actuator/prometheus，Grafana 目录含 AI 模型看板 JSON，但本环境无法连生产时序库，故成功率 / 时延 / Token 一律标「待接入」。
Open Issue 取自 GitHub：#5、#65、#81。日报 PR #92–#99 均为 Draft，未计入业务交付。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6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81967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" y="1060704"/>
            <a:ext cx="12081967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01168"/>
            <a:ext cx="950976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3200" b="1" i="0">
                <a:solidFill>
                  <a:srgbClr val="0A3A38"/>
                </a:solidFill>
                <a:latin typeface="Georgia"/>
                <a:ea typeface="微软雅黑"/>
              </a:rPr>
              <a:t>CI 与测试健康度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9509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4A6664"/>
                </a:solidFill>
                <a:latin typeface="Calibri"/>
                <a:ea typeface="微软雅黑"/>
              </a:rPr>
              <a:t>仓库未配置项目级 GitHub Actions；本地测试偏集成、依赖外部服务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3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65392"/>
            <a:ext cx="7315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D4ECE8"/>
                </a:solidFill>
                <a:latin typeface="Calibri"/>
                <a:ea typeface="微软雅黑"/>
              </a:rPr>
              <a:t>yu-ai-code-mother  ·  每日项目状态  ·  2026-09-02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6565392"/>
            <a:ext cx="3108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 i="0">
                <a:solidFill>
                  <a:srgbClr val="D4ECE8"/>
                </a:solidFill>
                <a:latin typeface="Calibri"/>
                <a:ea typeface="微软雅黑"/>
              </a:rPr>
              <a:t>内部维护者汇报  ·  仅文档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53312"/>
            <a:ext cx="3657600" cy="1051560"/>
          </a:xfrm>
          <a:prstGeom prst="roundRect">
            <a:avLst>
              <a:gd name="adj" fmla="val 8000"/>
            </a:avLst>
          </a:prstGeom>
          <a:solidFill>
            <a:srgbClr val="C0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463040"/>
            <a:ext cx="3438144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600" b="1" i="0">
                <a:solidFill>
                  <a:srgbClr val="FFFFFF"/>
                </a:solidFill>
                <a:latin typeface="Georgia"/>
                <a:ea typeface="微软雅黑"/>
              </a:rPr>
              <a:t>无 workflows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883664"/>
            <a:ext cx="343814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D4ECE8"/>
                </a:solidFill>
                <a:latin typeface="Calibri"/>
                <a:ea typeface="微软雅黑"/>
              </a:rPr>
              <a:t>不存在 .github/workflows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353312"/>
            <a:ext cx="3657600" cy="1051560"/>
          </a:xfrm>
          <a:prstGeom prst="roundRect">
            <a:avLst>
              <a:gd name="adj" fmla="val 8000"/>
            </a:avLst>
          </a:prstGeom>
          <a:solidFill>
            <a:srgbClr val="0F6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07408" y="1463040"/>
            <a:ext cx="3438144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600" b="1" i="0">
                <a:solidFill>
                  <a:srgbClr val="FFFFFF"/>
                </a:solidFill>
                <a:latin typeface="Georgia"/>
                <a:ea typeface="微软雅黑"/>
              </a:rPr>
              <a:t>15 / 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1883664"/>
            <a:ext cx="343814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D4ECE8"/>
                </a:solidFill>
                <a:latin typeface="Calibri"/>
                <a:ea typeface="微软雅黑"/>
              </a:rPr>
              <a:t>测试类 / 用例数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353312"/>
            <a:ext cx="3566160" cy="1051560"/>
          </a:xfrm>
          <a:prstGeom prst="roundRect">
            <a:avLst>
              <a:gd name="adj" fmla="val 8000"/>
            </a:avLst>
          </a:prstGeom>
          <a:solidFill>
            <a:srgbClr val="0A3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463040"/>
            <a:ext cx="3346704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600" b="1" i="0">
                <a:solidFill>
                  <a:srgbClr val="FFFFFF"/>
                </a:solidFill>
                <a:latin typeface="Georgia"/>
                <a:ea typeface="微软雅黑"/>
              </a:rPr>
              <a:t>2026-03-09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1883664"/>
            <a:ext cx="334670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D4ECE8"/>
                </a:solidFill>
                <a:latin typeface="Calibri"/>
                <a:ea typeface="微软雅黑"/>
              </a:rPr>
              <a:t>最近 Actions（非项目 CI）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606040"/>
            <a:ext cx="5623560" cy="3703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606040"/>
            <a:ext cx="91440" cy="3703320"/>
          </a:xfrm>
          <a:prstGeom prst="rect">
            <a:avLst/>
          </a:prstGeom>
          <a:solidFill>
            <a:srgbClr val="0F6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2743200"/>
            <a:ext cx="512064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F6B66"/>
                </a:solidFill>
                <a:latin typeface="Georgia"/>
                <a:ea typeface="微软雅黑"/>
              </a:rPr>
              <a:t>已覆盖的测试面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200400"/>
            <a:ext cx="5120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A2E2D"/>
                </a:solidFill>
                <a:latin typeface="Calibri"/>
                <a:ea typeface="微软雅黑"/>
              </a:rPr>
              <a:t>▸  CodeParser：HTML / 多文件围栏解析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A2E2D"/>
                </a:solidFill>
                <a:latin typeface="Calibri"/>
                <a:ea typeface="微软雅黑"/>
              </a:rPr>
              <a:t>▸  AiCodeGeneratorService / Facade：生成入口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A2E2D"/>
                </a:solidFill>
                <a:latin typeface="Calibri"/>
                <a:ea typeface="微软雅黑"/>
              </a:rPr>
              <a:t>▸  类型路由 AiCodeGenTypeRoutingService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A2E2D"/>
                </a:solidFill>
                <a:latin typeface="Calibri"/>
                <a:ea typeface="微软雅黑"/>
              </a:rPr>
              <a:t>▸  工作流：串行 / 子图 / 并发三套用例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A2E2D"/>
                </a:solidFill>
                <a:latin typeface="Calibri"/>
                <a:ea typeface="微软雅黑"/>
              </a:rPr>
              <a:t>▸  图片工具：Pexels、Undraw、Logo、Mermaid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A2E2D"/>
                </a:solidFill>
                <a:latin typeface="Calibri"/>
                <a:ea typeface="微软雅黑"/>
              </a:rPr>
              <a:t>▸  WebScreenshotUtils 截图工具冒烟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2606040"/>
            <a:ext cx="5440680" cy="3703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2606040"/>
            <a:ext cx="91440" cy="3703320"/>
          </a:xfrm>
          <a:prstGeom prst="rect">
            <a:avLst/>
          </a:prstGeom>
          <a:solidFill>
            <a:srgbClr val="C0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2743200"/>
            <a:ext cx="493776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C04A3A"/>
                </a:solidFill>
                <a:latin typeface="Georgia"/>
                <a:ea typeface="微软雅黑"/>
              </a:rPr>
              <a:t>缺口与最近 Actions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3200400"/>
            <a:ext cx="4937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A2E2D"/>
                </a:solidFill>
                <a:latin typeface="Calibri"/>
                <a:ea typeface="微软雅黑"/>
              </a:rPr>
              <a:t>▸  无前端 lint / type-check / build 流水线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A2E2D"/>
                </a:solidFill>
                <a:latin typeface="Calibri"/>
                <a:ea typeface="微软雅黑"/>
              </a:rPr>
              <a:t>▸  无微服务模块的独立构建门禁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A2E2D"/>
                </a:solidFill>
                <a:latin typeface="Calibri"/>
                <a:ea typeface="微软雅黑"/>
              </a:rPr>
              <a:t>▸  多数 AI / 工作流用例需真实模型密钥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A2E2D"/>
                </a:solidFill>
                <a:latin typeface="Calibri"/>
                <a:ea typeface="微软雅黑"/>
              </a:rPr>
              <a:t>▸  截图与图搜依赖浏览器与外网 API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A2E2D"/>
                </a:solidFill>
                <a:latin typeface="Calibri"/>
                <a:ea typeface="微软雅黑"/>
              </a:rPr>
              <a:t>▸  最近成功记录是 Copilot 仓库访问检查（2026-03-09），不是回归测试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A2E2D"/>
                </a:solidFill>
                <a:latin typeface="Calibri"/>
                <a:ea typeface="微软雅黑"/>
              </a:rPr>
              <a:t>▸  建议先拆出不连网的解析器与鉴权单测并上 Actions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6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81967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" y="1060704"/>
            <a:ext cx="12081967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01168"/>
            <a:ext cx="950976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3200" b="1" i="0">
                <a:solidFill>
                  <a:srgbClr val="0A3A38"/>
                </a:solidFill>
                <a:latin typeface="Georgia"/>
                <a:ea typeface="微软雅黑"/>
              </a:rPr>
              <a:t>未完成项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9509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4A6664"/>
                </a:solidFill>
                <a:latin typeface="Calibri"/>
                <a:ea typeface="微软雅黑"/>
              </a:rPr>
              <a:t>来自 GitHub 未关闭 Issue 与仓库结构观察，按影响学员/生产排序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3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65392"/>
            <a:ext cx="7315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D4ECE8"/>
                </a:solidFill>
                <a:latin typeface="Calibri"/>
                <a:ea typeface="微软雅黑"/>
              </a:rPr>
              <a:t>yu-ai-code-mother  ·  每日项目状态  ·  2026-09-02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6565392"/>
            <a:ext cx="3108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 i="0">
                <a:solidFill>
                  <a:srgbClr val="D4ECE8"/>
                </a:solidFill>
                <a:latin typeface="Calibri"/>
                <a:ea typeface="微软雅黑"/>
              </a:rPr>
              <a:t>内部维护者汇报  ·  仅文档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25880"/>
            <a:ext cx="5669280" cy="1536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" y="1490472"/>
            <a:ext cx="502920" cy="292608"/>
          </a:xfrm>
          <a:prstGeom prst="roundRect">
            <a:avLst>
              <a:gd name="adj" fmla="val 20000"/>
            </a:avLst>
          </a:prstGeom>
          <a:solidFill>
            <a:srgbClr val="C0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1490472"/>
            <a:ext cx="5029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微软雅黑"/>
              </a:rPr>
              <a:t>P0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8" y="1472184"/>
            <a:ext cx="466344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1" i="0">
                <a:solidFill>
                  <a:srgbClr val="0A3A38"/>
                </a:solidFill>
                <a:latin typeface="Georgia"/>
                <a:ea typeface="微软雅黑"/>
              </a:rPr>
              <a:t>#5  ·  Vue 工程生成缺 reasoning_content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1856232"/>
            <a:ext cx="530352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2E2D"/>
                </a:solidFill>
                <a:latin typeface="Calibri"/>
                <a:ea typeface="微软雅黑"/>
              </a:rPr>
              <a:t>DeepSeek thinking 模式下助手消息缺字段，生成 Vue 项目直接失败。2025-12 提出，仍未修。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325880"/>
            <a:ext cx="5669280" cy="1536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73952" y="1490472"/>
            <a:ext cx="502920" cy="292608"/>
          </a:xfrm>
          <a:prstGeom prst="roundRect">
            <a:avLst>
              <a:gd name="adj" fmla="val 20000"/>
            </a:avLst>
          </a:prstGeom>
          <a:solidFill>
            <a:srgbClr val="C0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1490472"/>
            <a:ext cx="5029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微软雅黑"/>
              </a:rPr>
              <a:t>P0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9168" y="1472184"/>
            <a:ext cx="466344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1" i="0">
                <a:solidFill>
                  <a:srgbClr val="0A3A38"/>
                </a:solidFill>
                <a:latin typeface="Georgia"/>
                <a:ea typeface="微软雅黑"/>
              </a:rPr>
              <a:t>#81  ·  前端 npm install 失败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856232"/>
            <a:ext cx="530352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2E2D"/>
                </a:solidFill>
                <a:latin typeface="Calibri"/>
                <a:ea typeface="微软雅黑"/>
              </a:rPr>
              <a:t>教程引导清华镜像后，@vitejs/plugin-vue@^6.0.0 返回 404。2026-08 学员复现，阻塞本地跑通。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990088"/>
            <a:ext cx="5669280" cy="1536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1792" y="3154680"/>
            <a:ext cx="502920" cy="292608"/>
          </a:xfrm>
          <a:prstGeom prst="roundRect">
            <a:avLst>
              <a:gd name="adj" fmla="val 20000"/>
            </a:avLst>
          </a:prstGeom>
          <a:solidFill>
            <a:srgbClr val="D4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" y="3154680"/>
            <a:ext cx="5029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微软雅黑"/>
              </a:rPr>
              <a:t>P1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07008" y="3136392"/>
            <a:ext cx="466344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1" i="0">
                <a:solidFill>
                  <a:srgbClr val="0A3A38"/>
                </a:solidFill>
                <a:latin typeface="Georgia"/>
                <a:ea typeface="微软雅黑"/>
              </a:rPr>
              <a:t>#65  ·  You.com 联网搜索工具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20440"/>
            <a:ext cx="530352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2E2D"/>
                </a:solidFill>
                <a:latin typeface="Calibri"/>
                <a:ea typeface="微软雅黑"/>
              </a:rPr>
              <a:t>计划给 Vue 工程模式增加实时搜索参考，方案已写清，代码未落地。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2990088"/>
            <a:ext cx="5669280" cy="1536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73952" y="3154680"/>
            <a:ext cx="502920" cy="292608"/>
          </a:xfrm>
          <a:prstGeom prst="roundRect">
            <a:avLst>
              <a:gd name="adj" fmla="val 20000"/>
            </a:avLst>
          </a:prstGeom>
          <a:solidFill>
            <a:srgbClr val="D4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73952" y="3154680"/>
            <a:ext cx="5029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微软雅黑"/>
              </a:rPr>
              <a:t>P1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9168" y="3136392"/>
            <a:ext cx="466344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1" i="0">
                <a:solidFill>
                  <a:srgbClr val="0A3A38"/>
                </a:solidFill>
                <a:latin typeface="Georgia"/>
                <a:ea typeface="微软雅黑"/>
              </a:rPr>
              <a:t>结构  ·  单体 + 微服务双轨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3520440"/>
            <a:ext cx="530352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2E2D"/>
                </a:solidFill>
                <a:latin typeface="Calibri"/>
                <a:ea typeface="微软雅黑"/>
              </a:rPr>
              <a:t>第 14 期中间态提交曾污染单体；两套实现同步成本高，缺「以谁为准」的维护约定。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654296"/>
            <a:ext cx="5669280" cy="1536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1792" y="4818888"/>
            <a:ext cx="502920" cy="292608"/>
          </a:xfrm>
          <a:prstGeom prst="roundRect">
            <a:avLst>
              <a:gd name="adj" fmla="val 20000"/>
            </a:avLst>
          </a:prstGeom>
          <a:solidFill>
            <a:srgbClr val="0F6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" y="4818888"/>
            <a:ext cx="5029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微软雅黑"/>
              </a:rPr>
              <a:t>P2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07008" y="4800600"/>
            <a:ext cx="466344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1" i="0">
                <a:solidFill>
                  <a:srgbClr val="0A3A38"/>
                </a:solidFill>
                <a:latin typeface="Georgia"/>
                <a:ea typeface="微软雅黑"/>
              </a:rPr>
              <a:t>观测  ·  产品指标看板未接通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184648"/>
            <a:ext cx="530352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2E2D"/>
                </a:solidFill>
                <a:latin typeface="Calibri"/>
                <a:ea typeface="微软雅黑"/>
              </a:rPr>
              <a:t>采集端点与 Grafana JSON 已在仓库，缺生产抓取、告警规则和日报可引用的真实数。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09360" y="4654296"/>
            <a:ext cx="5669280" cy="1536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473952" y="4818888"/>
            <a:ext cx="502920" cy="292608"/>
          </a:xfrm>
          <a:prstGeom prst="roundRect">
            <a:avLst>
              <a:gd name="adj" fmla="val 20000"/>
            </a:avLst>
          </a:prstGeom>
          <a:solidFill>
            <a:srgbClr val="0F6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73952" y="4818888"/>
            <a:ext cx="5029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微软雅黑"/>
              </a:rPr>
              <a:t>P2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59168" y="4800600"/>
            <a:ext cx="466344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1" i="0">
                <a:solidFill>
                  <a:srgbClr val="0A3A38"/>
                </a:solidFill>
                <a:latin typeface="Georgia"/>
                <a:ea typeface="微软雅黑"/>
              </a:rPr>
              <a:t>质量  ·  可离线回归不足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5184648"/>
            <a:ext cx="530352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2E2D"/>
                </a:solidFill>
                <a:latin typeface="Calibri"/>
                <a:ea typeface="微软雅黑"/>
              </a:rPr>
              <a:t>测试偏集成，无密钥环境很难判断「今天是否健康」。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6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81967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" y="1060704"/>
            <a:ext cx="12081967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01168"/>
            <a:ext cx="950976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3200" b="1" i="0">
                <a:solidFill>
                  <a:srgbClr val="0A3A38"/>
                </a:solidFill>
                <a:latin typeface="Georgia"/>
                <a:ea typeface="微软雅黑"/>
              </a:rPr>
              <a:t>风险与阻塞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9509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4A6664"/>
                </a:solidFill>
                <a:latin typeface="Calibri"/>
                <a:ea typeface="微软雅黑"/>
              </a:rPr>
              <a:t>按概率 × 影响排列，便于本周排期取舍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3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65392"/>
            <a:ext cx="7315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D4ECE8"/>
                </a:solidFill>
                <a:latin typeface="Calibri"/>
                <a:ea typeface="微软雅黑"/>
              </a:rPr>
              <a:t>yu-ai-code-mother  ·  每日项目状态  ·  2026-09-02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6565392"/>
            <a:ext cx="3108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 i="0">
                <a:solidFill>
                  <a:srgbClr val="D4ECE8"/>
                </a:solidFill>
                <a:latin typeface="Calibri"/>
                <a:ea typeface="微软雅黑"/>
              </a:rPr>
              <a:t>内部维护者汇报  ·  仅文档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25880"/>
            <a:ext cx="5669280" cy="1536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325880"/>
            <a:ext cx="91440" cy="1536192"/>
          </a:xfrm>
          <a:prstGeom prst="rect">
            <a:avLst/>
          </a:prstGeom>
          <a:solidFill>
            <a:srgbClr val="C0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1453896"/>
            <a:ext cx="1005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04A3A"/>
                </a:solidFill>
                <a:latin typeface="Calibri"/>
                <a:ea typeface="微软雅黑"/>
              </a:rPr>
              <a:t>阻塞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1728216"/>
            <a:ext cx="5212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0A3A38"/>
                </a:solidFill>
                <a:latin typeface="Georgia"/>
                <a:ea typeface="微软雅黑"/>
              </a:rPr>
              <a:t>Vue 生成链路在 DeepSeek 推理模型下不可用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130552"/>
            <a:ext cx="5212080" cy="6035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2E2D"/>
                </a:solidFill>
                <a:latin typeface="Calibri"/>
                <a:ea typeface="微软雅黑"/>
              </a:rPr>
              <a:t>直接影响核心卖点「工程模式」。不修则教程后半段学员必然踩坑。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325880"/>
            <a:ext cx="5669280" cy="1536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325880"/>
            <a:ext cx="91440" cy="1536192"/>
          </a:xfrm>
          <a:prstGeom prst="rect">
            <a:avLst/>
          </a:prstGeom>
          <a:solidFill>
            <a:srgbClr val="C0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65392" y="1453896"/>
            <a:ext cx="1005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04A3A"/>
                </a:solidFill>
                <a:latin typeface="Calibri"/>
                <a:ea typeface="微软雅黑"/>
              </a:rPr>
              <a:t>阻塞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392" y="1728216"/>
            <a:ext cx="5212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0A3A38"/>
                </a:solidFill>
                <a:latin typeface="Georgia"/>
                <a:ea typeface="微软雅黑"/>
              </a:rPr>
              <a:t>官方安装路径在国内镜像下失败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2130552"/>
            <a:ext cx="5212080" cy="6035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2E2D"/>
                </a:solidFill>
                <a:latin typeface="Calibri"/>
                <a:ea typeface="微软雅黑"/>
              </a:rPr>
              <a:t>README / 视频若仍写清华 npm，前端起不来，体验止于第一章。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990088"/>
            <a:ext cx="5669280" cy="1536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2990088"/>
            <a:ext cx="91440" cy="1536192"/>
          </a:xfrm>
          <a:prstGeom prst="rect">
            <a:avLst/>
          </a:prstGeom>
          <a:solidFill>
            <a:srgbClr val="D4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3118104"/>
            <a:ext cx="1005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D47A2A"/>
                </a:solidFill>
                <a:latin typeface="Calibri"/>
                <a:ea typeface="微软雅黑"/>
              </a:rPr>
              <a:t>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3392424"/>
            <a:ext cx="5212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0A3A38"/>
                </a:solidFill>
                <a:latin typeface="Georgia"/>
                <a:ea typeface="微软雅黑"/>
              </a:rPr>
              <a:t>无 CI，回归全靠人工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3794760"/>
            <a:ext cx="5212080" cy="6035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2E2D"/>
                </a:solidFill>
                <a:latin typeface="Calibri"/>
                <a:ea typeface="微软雅黑"/>
              </a:rPr>
              <a:t>日报自动化本身也无法证明构建绿。任何合并都缺少最低门禁。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2990088"/>
            <a:ext cx="5669280" cy="1536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2990088"/>
            <a:ext cx="91440" cy="1536192"/>
          </a:xfrm>
          <a:prstGeom prst="rect">
            <a:avLst/>
          </a:prstGeom>
          <a:solidFill>
            <a:srgbClr val="D4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65392" y="3118104"/>
            <a:ext cx="1005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D47A2A"/>
                </a:solidFill>
                <a:latin typeface="Calibri"/>
                <a:ea typeface="微软雅黑"/>
              </a:rPr>
              <a:t>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65392" y="3392424"/>
            <a:ext cx="5212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0A3A38"/>
                </a:solidFill>
                <a:latin typeface="Georgia"/>
                <a:ea typeface="微软雅黑"/>
              </a:rPr>
              <a:t>业务提交停更约一年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65392" y="3794760"/>
            <a:ext cx="5212080" cy="6035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2E2D"/>
                </a:solidFill>
                <a:latin typeface="Calibri"/>
                <a:ea typeface="微软雅黑"/>
              </a:rPr>
              <a:t>依赖（LangGraph4j RC、Vite 7、LangChain4j 1.1）继续漂移，安全补丁滞后。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654296"/>
            <a:ext cx="5669280" cy="1536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4654296"/>
            <a:ext cx="91440" cy="1536192"/>
          </a:xfrm>
          <a:prstGeom prst="rect">
            <a:avLst/>
          </a:prstGeom>
          <a:solidFill>
            <a:srgbClr val="C98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" y="4782312"/>
            <a:ext cx="1005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98A2C"/>
                </a:solidFill>
                <a:latin typeface="Calibri"/>
                <a:ea typeface="微软雅黑"/>
              </a:rPr>
              <a:t>中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056632"/>
            <a:ext cx="5212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0A3A38"/>
                </a:solidFill>
                <a:latin typeface="Georgia"/>
                <a:ea typeface="微软雅黑"/>
              </a:rPr>
              <a:t>LangChain4j 局部源码内嵌且含调试输出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" y="5458968"/>
            <a:ext cx="5212080" cy="6035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2E2D"/>
                </a:solidFill>
                <a:latin typeface="Calibri"/>
                <a:ea typeface="微软雅黑"/>
              </a:rPr>
              <a:t>内嵌框架残留未完成注释与控制台打印，升级成本高、行为难预期。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09360" y="4654296"/>
            <a:ext cx="5669280" cy="1536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09360" y="4654296"/>
            <a:ext cx="91440" cy="1536192"/>
          </a:xfrm>
          <a:prstGeom prst="rect">
            <a:avLst/>
          </a:prstGeom>
          <a:solidFill>
            <a:srgbClr val="0F6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65392" y="4782312"/>
            <a:ext cx="1005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F6B66"/>
                </a:solidFill>
                <a:latin typeface="Calibri"/>
                <a:ea typeface="微软雅黑"/>
              </a:rPr>
              <a:t>中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65392" y="5056632"/>
            <a:ext cx="5212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0A3A38"/>
                </a:solidFill>
                <a:latin typeface="Georgia"/>
                <a:ea typeface="微软雅黑"/>
              </a:rPr>
              <a:t>外部工具链可用性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65392" y="5458968"/>
            <a:ext cx="5212080" cy="6035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2E2D"/>
                </a:solidFill>
                <a:latin typeface="Calibri"/>
                <a:ea typeface="微软雅黑"/>
              </a:rPr>
              <a:t>图搜 / 插画 / 截图 / COS 任一密钥或网络异常，演示链路就会残缺。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6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81967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" y="1060704"/>
            <a:ext cx="12081967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01168"/>
            <a:ext cx="950976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3200" b="1" i="0">
                <a:solidFill>
                  <a:srgbClr val="0A3A38"/>
                </a:solidFill>
                <a:latin typeface="Georgia"/>
                <a:ea typeface="微软雅黑"/>
              </a:rPr>
              <a:t>建议的下一步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9509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4A6664"/>
                </a:solidFill>
                <a:latin typeface="Calibri"/>
                <a:ea typeface="微软雅黑"/>
              </a:rPr>
              <a:t>只列本周可执行动作，不铺长期愿景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3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65392"/>
            <a:ext cx="7315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D4ECE8"/>
                </a:solidFill>
                <a:latin typeface="Calibri"/>
                <a:ea typeface="微软雅黑"/>
              </a:rPr>
              <a:t>yu-ai-code-mother  ·  每日项目状态  ·  2026-09-02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6565392"/>
            <a:ext cx="3108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 i="0">
                <a:solidFill>
                  <a:srgbClr val="D4ECE8"/>
                </a:solidFill>
                <a:latin typeface="Calibri"/>
                <a:ea typeface="微软雅黑"/>
              </a:rPr>
              <a:t>内部维护者汇报  ·  仅文档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298448"/>
            <a:ext cx="11247120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21792" y="1536192"/>
            <a:ext cx="420624" cy="420624"/>
          </a:xfrm>
          <a:prstGeom prst="ellipse">
            <a:avLst/>
          </a:prstGeom>
          <a:solidFill>
            <a:srgbClr val="0F6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1536192"/>
            <a:ext cx="420624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  <a:ea typeface="微软雅黑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1389888"/>
            <a:ext cx="98755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A3A38"/>
                </a:solidFill>
                <a:latin typeface="Georgia"/>
                <a:ea typeface="微软雅黑"/>
              </a:rPr>
              <a:t>修复 #5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1719072"/>
            <a:ext cx="10149840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2E2D"/>
                </a:solidFill>
                <a:latin typeface="Calibri"/>
                <a:ea typeface="微软雅黑"/>
              </a:rPr>
              <a:t>在流式 / 工具调用路径补齐 reasoning_content（或对 DeepSeek thinking 关闭该字段校验），补一条可复现的 Vue 工程回归。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286000"/>
            <a:ext cx="11247120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1792" y="2523744"/>
            <a:ext cx="420624" cy="420624"/>
          </a:xfrm>
          <a:prstGeom prst="ellipse">
            <a:avLst/>
          </a:prstGeom>
          <a:solidFill>
            <a:srgbClr val="1A8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2523744"/>
            <a:ext cx="420624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  <a:ea typeface="微软雅黑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2377440"/>
            <a:ext cx="98755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A3A38"/>
                </a:solidFill>
                <a:latin typeface="Georgia"/>
                <a:ea typeface="微软雅黑"/>
              </a:rPr>
              <a:t>打通前端安装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2706624"/>
            <a:ext cx="10149840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2E2D"/>
                </a:solidFill>
                <a:latin typeface="Calibri"/>
                <a:ea typeface="微软雅黑"/>
              </a:rPr>
              <a:t>文档改为官方 npm 或已验证镜像；锁定 @vitejs/plugin-vue 可安装版本，并在 README 增加「镜像 404」排障段。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273552"/>
            <a:ext cx="11247120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1792" y="3511296"/>
            <a:ext cx="420624" cy="420624"/>
          </a:xfrm>
          <a:prstGeom prst="ellipse">
            <a:avLst/>
          </a:prstGeom>
          <a:solidFill>
            <a:srgbClr val="0A3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" y="3511296"/>
            <a:ext cx="420624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  <a:ea typeface="微软雅黑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3364992"/>
            <a:ext cx="98755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A3A38"/>
                </a:solidFill>
                <a:latin typeface="Georgia"/>
                <a:ea typeface="微软雅黑"/>
              </a:rPr>
              <a:t>最小 CI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3694176"/>
            <a:ext cx="10149840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2E2D"/>
                </a:solidFill>
                <a:latin typeface="Calibri"/>
                <a:ea typeface="微软雅黑"/>
              </a:rPr>
              <a:t>新增 GitHub Actions：前端 lint + type-check；后端只跑 CodeParser 等无网单测。先求绿，再扩集成。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261104"/>
            <a:ext cx="11247120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21792" y="4498848"/>
            <a:ext cx="420624" cy="420624"/>
          </a:xfrm>
          <a:prstGeom prst="ellipse">
            <a:avLst/>
          </a:prstGeom>
          <a:solidFill>
            <a:srgbClr val="C98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4498848"/>
            <a:ext cx="420624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  <a:ea typeface="微软雅黑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4352544"/>
            <a:ext cx="98755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A3A38"/>
                </a:solidFill>
                <a:latin typeface="Georgia"/>
                <a:ea typeface="微软雅黑"/>
              </a:rPr>
              <a:t>评估 #65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4681728"/>
            <a:ext cx="10149840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2E2D"/>
                </a:solidFill>
                <a:latin typeface="Calibri"/>
                <a:ea typeface="微软雅黑"/>
              </a:rPr>
              <a:t>You.com 搜索对生成质量有增益，但会引入新密钥与失败面。建议先出接口契约，本周不强制落地。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248656"/>
            <a:ext cx="11247120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21792" y="5486400"/>
            <a:ext cx="420624" cy="420624"/>
          </a:xfrm>
          <a:prstGeom prst="ellipse">
            <a:avLst/>
          </a:prstGeom>
          <a:solidFill>
            <a:srgbClr val="D4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" y="5486400"/>
            <a:ext cx="420624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  <a:ea typeface="微软雅黑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34440" y="5340096"/>
            <a:ext cx="98755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A3A38"/>
                </a:solidFill>
                <a:latin typeface="Georgia"/>
                <a:ea typeface="微软雅黑"/>
              </a:rPr>
              <a:t>明确主代码面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34440" y="5669280"/>
            <a:ext cx="10149840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2E2D"/>
                </a:solidFill>
                <a:latin typeface="Calibri"/>
                <a:ea typeface="微软雅黑"/>
              </a:rPr>
              <a:t>对外教程以单体还是微服务为准写进 README；避免第 14 期式中间态再次改坏可运行快照。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6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81967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" y="1060704"/>
            <a:ext cx="12081967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01168"/>
            <a:ext cx="950976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3200" b="1" i="0">
                <a:solidFill>
                  <a:srgbClr val="0A3A38"/>
                </a:solidFill>
                <a:latin typeface="Georgia"/>
                <a:ea typeface="微软雅黑"/>
              </a:rPr>
              <a:t>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9509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4A6664"/>
                </a:solidFill>
                <a:latin typeface="Calibri"/>
                <a:ea typeface="微软雅黑"/>
              </a:rPr>
              <a:t>一页收口：能用、但工程节奏停滞；本周优先修学员阻塞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3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65392"/>
            <a:ext cx="7315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D4ECE8"/>
                </a:solidFill>
                <a:latin typeface="Calibri"/>
                <a:ea typeface="微软雅黑"/>
              </a:rPr>
              <a:t>yu-ai-code-mother  ·  每日项目状态  ·  2026-09-02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6565392"/>
            <a:ext cx="3108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 i="0">
                <a:solidFill>
                  <a:srgbClr val="D4ECE8"/>
                </a:solidFill>
                <a:latin typeface="Calibri"/>
                <a:ea typeface="微软雅黑"/>
              </a:rPr>
              <a:t>内部维护者汇报  ·  仅文档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53312"/>
            <a:ext cx="11247120" cy="1234440"/>
          </a:xfrm>
          <a:prstGeom prst="roundRect">
            <a:avLst>
              <a:gd name="adj" fmla="val 8000"/>
            </a:avLst>
          </a:prstGeom>
          <a:solidFill>
            <a:srgbClr val="0A3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463040"/>
            <a:ext cx="10789920" cy="10058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1" i="0">
                <a:solidFill>
                  <a:srgbClr val="FFFFFF"/>
                </a:solidFill>
                <a:latin typeface="Georgia"/>
                <a:ea typeface="微软雅黑"/>
              </a:rPr>
              <a:t>平台能力在教程第 14 期已经闭环；今日状态的核心矛盾不是「缺功能」，
而是「基线停更 + 关键缺陷未关 + 没有自动证明健康」。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788920"/>
            <a:ext cx="274320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788920"/>
            <a:ext cx="2743200" cy="91440"/>
          </a:xfrm>
          <a:prstGeom prst="rect">
            <a:avLst/>
          </a:prstGeom>
          <a:solidFill>
            <a:srgbClr val="0F6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971800"/>
            <a:ext cx="2468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0F6B66"/>
                </a:solidFill>
                <a:latin typeface="Georgia"/>
                <a:ea typeface="微软雅黑"/>
              </a:rPr>
              <a:t>能力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383280"/>
            <a:ext cx="246888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2E2D"/>
                </a:solidFill>
                <a:latin typeface="Calibri"/>
                <a:ea typeface="微软雅黑"/>
              </a:rPr>
              <a:t>生成、预览改页、部署截图、后台与监控骨架齐全，三种生成模式可讲可演示。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37560" y="2788920"/>
            <a:ext cx="274320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37560" y="2788920"/>
            <a:ext cx="2743200" cy="91440"/>
          </a:xfrm>
          <a:prstGeom prst="rect">
            <a:avLst/>
          </a:prstGeom>
          <a:solidFill>
            <a:srgbClr val="1A8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0" y="2971800"/>
            <a:ext cx="2468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1A8A82"/>
                </a:solidFill>
                <a:latin typeface="Georgia"/>
                <a:ea typeface="微软雅黑"/>
              </a:rPr>
              <a:t>近况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3383280"/>
            <a:ext cx="246888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2E2D"/>
                </a:solidFill>
                <a:latin typeface="Calibri"/>
                <a:ea typeface="微软雅黑"/>
              </a:rPr>
              <a:t>近 7 日无业务提交；活跃度来自日报 Draft。基线日期仍是 2025-08-26。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788920"/>
            <a:ext cx="274320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2788920"/>
            <a:ext cx="2743200" cy="91440"/>
          </a:xfrm>
          <a:prstGeom prst="rect">
            <a:avLst/>
          </a:prstGeom>
          <a:solidFill>
            <a:srgbClr val="D4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2971800"/>
            <a:ext cx="2468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D47A2A"/>
                </a:solidFill>
                <a:latin typeface="Georgia"/>
                <a:ea typeface="微软雅黑"/>
              </a:rPr>
              <a:t>缺口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3383280"/>
            <a:ext cx="246888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2E2D"/>
                </a:solidFill>
                <a:latin typeface="Calibri"/>
                <a:ea typeface="微软雅黑"/>
              </a:rPr>
              <a:t>#5 / #81 阻塞学员主路径；#65 仍是增强项；产品指标待接入。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98280" y="2788920"/>
            <a:ext cx="274320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98280" y="2788920"/>
            <a:ext cx="2743200" cy="91440"/>
          </a:xfrm>
          <a:prstGeom prst="rect">
            <a:avLst/>
          </a:prstGeom>
          <a:solidFill>
            <a:srgbClr val="C0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5440" y="2971800"/>
            <a:ext cx="2468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C04A3A"/>
                </a:solidFill>
                <a:latin typeface="Georgia"/>
                <a:ea typeface="微软雅黑"/>
              </a:rPr>
              <a:t>风险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3383280"/>
            <a:ext cx="246888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2E2D"/>
                </a:solidFill>
                <a:latin typeface="Calibri"/>
                <a:ea typeface="微软雅黑"/>
              </a:rPr>
              <a:t>无 CI、双轨代码、RC 工作流库与内嵌框架源码，放大停更成本。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074920"/>
            <a:ext cx="1124712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4A6664"/>
                </a:solidFill>
                <a:latin typeface="Calibri"/>
                <a:ea typeface="微软雅黑"/>
              </a:rPr>
              <a:t>建议对外口径：教学项目可继续跟第 14 期快照学习；对内本周只盯三件事——修 Vue 推理字段、修好 npm 安装文档、加上最小 CI。
本汇报不包含密钥或环境变量实值；未改任何业务代码。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