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cean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6766560" y="594360"/>
            <a:ext cx="685800" cy="6858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18120" y="1325880"/>
            <a:ext cx="384048" cy="38404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78040" y="2240280"/>
            <a:ext cx="292608" cy="29260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21040" y="2880360"/>
            <a:ext cx="530352" cy="530352"/>
          </a:xfrm>
          <a:prstGeom prst="ellipse">
            <a:avLst/>
          </a:prstGeom>
          <a:solidFill>
            <a:srgbClr val="6EE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55080" y="352044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7114032" y="932688"/>
            <a:ext cx="886968" cy="585216"/>
          </a:xfrm>
          <a:prstGeom prst="line">
            <a:avLst/>
          </a:prstGeom>
          <a:ln w="19050">
            <a:solidFill>
              <a:srgbClr val="DDF4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7333488" y="1517904"/>
            <a:ext cx="667512" cy="877824"/>
          </a:xfrm>
          <a:prstGeom prst="line">
            <a:avLst/>
          </a:prstGeom>
          <a:ln w="19050">
            <a:solidFill>
              <a:srgbClr val="DDF4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33488" y="2395728"/>
            <a:ext cx="1252728" cy="749808"/>
          </a:xfrm>
          <a:prstGeom prst="line">
            <a:avLst/>
          </a:prstGeom>
          <a:ln w="19050">
            <a:solidFill>
              <a:srgbClr val="DDF4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537960" y="2395728"/>
            <a:ext cx="795528" cy="1307592"/>
          </a:xfrm>
          <a:prstGeom prst="line">
            <a:avLst/>
          </a:prstGeom>
          <a:ln w="19050">
            <a:solidFill>
              <a:srgbClr val="DDF4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960120"/>
            <a:ext cx="5943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2C39A"/>
                </a:solidFill>
                <a:latin typeface="Calibri"/>
              </a:rPr>
              <a:t>AI 零代码应用生成平台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481328"/>
            <a:ext cx="603504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每日项目状态汇报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31720"/>
            <a:ext cx="58064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DDF4F1"/>
                </a:solidFill>
                <a:latin typeface="Calibri"/>
              </a:rPr>
              <a:t>yu-ai-code-mother · 2026-07-13 · 面向项目维护者/团队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" y="3246120"/>
            <a:ext cx="11430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32841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02C39A"/>
                </a:solidFill>
                <a:latin typeface="Georg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65760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核心能力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12264" y="3246120"/>
            <a:ext cx="11430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85416" y="332841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02C39A"/>
                </a:solidFill>
                <a:latin typeface="Georgia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85416" y="365760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微服务模块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9584" y="3246120"/>
            <a:ext cx="11430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02736" y="332841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02C39A"/>
                </a:solidFill>
                <a:latin typeface="Georgia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2736" y="365760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近 7 天提交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4434840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DDF4F1"/>
                </a:solidFill>
                <a:latin typeface="Calibri"/>
              </a:rPr>
              <a:t>基于 README、主要模块目录与近期提交自动生成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463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A896"/>
                </a:solidFill>
                <a:latin typeface="Calibri"/>
              </a:rPr>
              <a:t>项目概览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76072"/>
            <a:ext cx="81381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600" b="1" i="0">
                <a:solidFill>
                  <a:srgbClr val="21295C"/>
                </a:solidFill>
                <a:latin typeface="Georgia"/>
              </a:rPr>
              <a:t>项目概览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7589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E747B"/>
                </a:solidFill>
                <a:latin typeface="Calibri"/>
              </a:rPr>
              <a:t>定位：以 AI 开发实战 + 后端架构设计为核心的企业级 AI 代码生成平台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72768"/>
            <a:ext cx="21488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58952" y="1728216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746504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719072"/>
            <a:ext cx="134416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libri"/>
              </a:rPr>
              <a:t>用户入口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39696"/>
            <a:ext cx="1783080" cy="167335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83642"/>
                </a:solidFill>
                <a:latin typeface="Calibri"/>
              </a:rPr>
              <a:t>Vue 3 + TypeScript 前端承载应用创建、AI 对话、实时预览、部署与管理。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1572768"/>
            <a:ext cx="2240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27832" y="1728216"/>
            <a:ext cx="384048" cy="38404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2" y="1746504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1719072"/>
            <a:ext cx="143560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A896"/>
                </a:solidFill>
                <a:latin typeface="Calibri"/>
              </a:rPr>
              <a:t>业务服务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139696"/>
            <a:ext cx="1874520" cy="167335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83642"/>
                </a:solidFill>
                <a:latin typeface="Calibri"/>
              </a:rPr>
              <a:t>Spring Boot 3 后端提供应用、用户、对话历史、静态资源和工作流接口。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1572768"/>
            <a:ext cx="26974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88152" y="1728216"/>
            <a:ext cx="384048" cy="384048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88152" y="1746504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1719072"/>
            <a:ext cx="189280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AI 与部署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2139696"/>
            <a:ext cx="2331720" cy="167335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83642"/>
                </a:solidFill>
                <a:latin typeface="Calibri"/>
              </a:rPr>
              <a:t>LangChain4j / LangGraph4j 驱动代码生成，支持截图、COS 上传、Prometheus 监控。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779776" y="2423160"/>
            <a:ext cx="256032" cy="384048"/>
          </a:xfrm>
          <a:prstGeom prst="rightArrow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5358384" y="2423160"/>
            <a:ext cx="256032" cy="384048"/>
          </a:xfrm>
          <a:prstGeom prst="rightArrow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4160520"/>
            <a:ext cx="7818120" cy="438912"/>
          </a:xfrm>
          <a:prstGeom prst="roundRect">
            <a:avLst/>
          </a:prstGeom>
          <a:solidFill>
            <a:srgbClr val="DD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61104"/>
            <a:ext cx="7223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1295C"/>
                </a:solidFill>
                <a:latin typeface="Calibri"/>
              </a:rPr>
              <a:t>当前形态：单体主工程 + 前端工程 + 微服务改造目录并存，README 面向教程和项目能力说明。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800600"/>
            <a:ext cx="4206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E747B"/>
                </a:solidFill>
                <a:latin typeface="Calibri"/>
              </a:rPr>
              <a:t>yu-ai-code-mother · 项目状态 · 2026-07-13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75488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5E747B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463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A896"/>
                </a:solidFill>
                <a:latin typeface="Calibri"/>
              </a:rPr>
              <a:t>核心能力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76072"/>
            <a:ext cx="81381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600" b="1" i="0">
                <a:solidFill>
                  <a:srgbClr val="21295C"/>
                </a:solidFill>
                <a:latin typeface="Georgia"/>
              </a:rPr>
              <a:t>当前能力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7589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E747B"/>
                </a:solidFill>
                <a:latin typeface="Calibri"/>
              </a:rPr>
              <a:t>按 README 与主要代码模块归纳的已具备能力面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36118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58952" y="1572768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59105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563624"/>
            <a:ext cx="280720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28090"/>
                </a:solidFill>
                <a:latin typeface="Calibri"/>
              </a:rPr>
              <a:t>智能代码生成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84248"/>
            <a:ext cx="32461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30" b="0" i="0">
                <a:solidFill>
                  <a:srgbClr val="183642"/>
                </a:solidFill>
                <a:latin typeface="Calibri"/>
              </a:rPr>
              <a:t>用户输入需求后创建应用，AI 路由生成类型，并通过 SSE 流式输出生成过程。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417320"/>
            <a:ext cx="36118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36592" y="1572768"/>
            <a:ext cx="384048" cy="38404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59105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1563624"/>
            <a:ext cx="280720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A896"/>
                </a:solidFill>
                <a:latin typeface="Calibri"/>
              </a:rPr>
              <a:t>可视化编辑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984248"/>
            <a:ext cx="32461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30" b="0" i="0">
                <a:solidFill>
                  <a:srgbClr val="183642"/>
                </a:solidFill>
                <a:latin typeface="Calibri"/>
              </a:rPr>
              <a:t>前端内置 iframe 注入式 VisualEditor，可选中页面元素并与 AI 对话迭代修改。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880360"/>
            <a:ext cx="36118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8952" y="3035808"/>
            <a:ext cx="384048" cy="384048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0540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3026664"/>
            <a:ext cx="280720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libri"/>
              </a:rPr>
              <a:t>一键部署分享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447288"/>
            <a:ext cx="32461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30" b="0" i="0">
                <a:solidFill>
                  <a:srgbClr val="183642"/>
                </a:solidFill>
                <a:latin typeface="Calibri"/>
              </a:rPr>
              <a:t>后端复制生成产物到部署目录，Vue 项目先构建，并异步生成封面截图。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2880360"/>
            <a:ext cx="36118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736592" y="3035808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36592" y="30540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26664"/>
            <a:ext cx="280720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  <a:latin typeface="Calibri"/>
              </a:rPr>
              <a:t>企业级管理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447288"/>
            <a:ext cx="32461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30" b="0" i="0">
                <a:solidFill>
                  <a:srgbClr val="183642"/>
                </a:solidFill>
                <a:latin typeface="Calibri"/>
              </a:rPr>
              <a:t>提供用户、应用、对话历史、精选应用、权限校验和后台管理页面。</a:t>
            </a:r>
          </a:p>
        </p:txBody>
      </p:sp>
      <p:sp>
        <p:nvSpPr>
          <p:cNvPr id="27" name="Oval 26"/>
          <p:cNvSpPr/>
          <p:nvPr/>
        </p:nvSpPr>
        <p:spPr>
          <a:xfrm>
            <a:off x="8092440" y="502920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343400"/>
            <a:ext cx="7040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1">
                <a:solidFill>
                  <a:srgbClr val="5E747B"/>
                </a:solidFill>
                <a:latin typeface="Calibri"/>
              </a:rPr>
              <a:t>能力覆盖“生成-预览-编辑-部署-管理”闭环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800600"/>
            <a:ext cx="4206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E747B"/>
                </a:solidFill>
                <a:latin typeface="Calibri"/>
              </a:rPr>
              <a:t>yu-ai-code-mother · 项目状态 · 2026-07-13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75488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5E747B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463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A896"/>
                </a:solidFill>
                <a:latin typeface="Calibri"/>
              </a:rPr>
              <a:t>架构视图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76072"/>
            <a:ext cx="81381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600" b="1" i="0">
                <a:solidFill>
                  <a:srgbClr val="21295C"/>
                </a:solidFill>
                <a:latin typeface="Georgia"/>
              </a:rPr>
              <a:t>模块结构与技术栈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7589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E747B"/>
                </a:solidFill>
                <a:latin typeface="Calibri"/>
              </a:rPr>
              <a:t>从仓库目录提炼的主要子系统与依赖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7680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1362456"/>
            <a:ext cx="310896" cy="3108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35331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前端层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353312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83642"/>
                </a:solidFill>
                <a:latin typeface="Calibri"/>
              </a:rPr>
              <a:t>yu-ai-code-mother-frontend：Vue 3、Vite、Pinia、Ant Design Vue、Axios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434840" y="1801368"/>
            <a:ext cx="256032" cy="237744"/>
          </a:xfrm>
          <a:prstGeom prst="downArrow">
            <a:avLst/>
          </a:prstGeom>
          <a:solidFill>
            <a:srgbClr val="DD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2039112"/>
            <a:ext cx="7680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2688" y="2167128"/>
            <a:ext cx="310896" cy="310896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215798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A896"/>
                </a:solidFill>
                <a:latin typeface="Calibri"/>
              </a:rPr>
              <a:t>单体后端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157984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83642"/>
                </a:solidFill>
                <a:latin typeface="Calibri"/>
              </a:rPr>
              <a:t>src/：Spring Boot 3.5、LangChain4j、LangGraph4j、MyBatis-Flex、Redis、COS、Selenium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4434840" y="2606040"/>
            <a:ext cx="256032" cy="237744"/>
          </a:xfrm>
          <a:prstGeom prst="downArrow">
            <a:avLst/>
          </a:prstGeom>
          <a:solidFill>
            <a:srgbClr val="DD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2843784"/>
            <a:ext cx="7680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2688" y="2971800"/>
            <a:ext cx="310896" cy="310896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9888" y="2962656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微服务目录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2962656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83642"/>
                </a:solidFill>
                <a:latin typeface="Calibri"/>
              </a:rPr>
              <a:t>yu-ai-code-mother-microservice：common、model、client、user、app、ai、screenshot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4434840" y="3410712"/>
            <a:ext cx="256032" cy="237744"/>
          </a:xfrm>
          <a:prstGeom prst="downArrow">
            <a:avLst/>
          </a:prstGeom>
          <a:solidFill>
            <a:srgbClr val="DD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3648456"/>
            <a:ext cx="7680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2688" y="3776472"/>
            <a:ext cx="310896" cy="31089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89888" y="3767328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alibri"/>
              </a:rPr>
              <a:t>可观测性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3767328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83642"/>
                </a:solidFill>
                <a:latin typeface="Calibri"/>
              </a:rPr>
              <a:t>Actuator + Prometheus 配置；Grafana 配置文件位于 grafana/ 目录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800600"/>
            <a:ext cx="4206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E747B"/>
                </a:solidFill>
                <a:latin typeface="Calibri"/>
              </a:rPr>
              <a:t>yu-ai-code-mother · 项目状态 · 2026-07-13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75488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5E747B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463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A896"/>
                </a:solidFill>
                <a:latin typeface="Calibri"/>
              </a:rPr>
              <a:t>近期进展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76072"/>
            <a:ext cx="81381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600" b="1" i="0">
                <a:solidFill>
                  <a:srgbClr val="21295C"/>
                </a:solidFill>
                <a:latin typeface="Georgia"/>
              </a:rPr>
              <a:t>昨日 / 近期变更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7589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E747B"/>
                </a:solidFill>
                <a:latin typeface="Calibri"/>
              </a:rPr>
              <a:t>Git 近 7 天无提交；以下为最近提交序列呈现的项目阶段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234440"/>
            <a:ext cx="384048" cy="384048"/>
          </a:xfrm>
          <a:prstGeom prst="ellipse">
            <a:avLst/>
          </a:prstGeom>
          <a:solidFill>
            <a:srgbClr val="E9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1216152"/>
            <a:ext cx="117043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83642"/>
                </a:solidFill>
                <a:latin typeface="Calibri"/>
              </a:rPr>
              <a:t>近 7 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216152"/>
            <a:ext cx="5806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83642"/>
                </a:solidFill>
                <a:latin typeface="Calibri"/>
              </a:rPr>
              <a:t>未发现提交记录；本次自动化仅新增日报 PPT。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2415" y="1618488"/>
            <a:ext cx="36576" cy="347472"/>
          </a:xfrm>
          <a:prstGeom prst="rect">
            <a:avLst/>
          </a:prstGeom>
          <a:solidFill>
            <a:srgbClr val="DD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1984248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1965960"/>
            <a:ext cx="117043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2025-08-26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1965960"/>
            <a:ext cx="5806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83642"/>
                </a:solidFill>
                <a:latin typeface="Calibri"/>
              </a:rPr>
              <a:t>教程第 14 期：微服务改造完成，包含 common/model/client/user/app/ai/screenshot。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2415" y="2368296"/>
            <a:ext cx="36576" cy="347472"/>
          </a:xfrm>
          <a:prstGeom prst="rect">
            <a:avLst/>
          </a:prstGeom>
          <a:solidFill>
            <a:srgbClr val="DD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2734056"/>
            <a:ext cx="384048" cy="38404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715768"/>
            <a:ext cx="117043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A896"/>
                </a:solidFill>
                <a:latin typeface="Calibri"/>
              </a:rPr>
              <a:t>2025-08-14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715768"/>
            <a:ext cx="5806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83642"/>
                </a:solidFill>
                <a:latin typeface="Calibri"/>
              </a:rPr>
              <a:t>教程第 13 期：可观测性；第 12 期：部署上线。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2415" y="3118104"/>
            <a:ext cx="36576" cy="347472"/>
          </a:xfrm>
          <a:prstGeom prst="rect">
            <a:avLst/>
          </a:prstGeom>
          <a:solidFill>
            <a:srgbClr val="DD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3483864"/>
            <a:ext cx="384048" cy="384048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465576"/>
            <a:ext cx="117043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当前分支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3465576"/>
            <a:ext cx="5806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83642"/>
                </a:solidFill>
                <a:latin typeface="Calibri"/>
              </a:rPr>
              <a:t>用于生成每日项目状态报告，未触碰业务代码。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224528"/>
            <a:ext cx="76809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379976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398264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8176" y="4370832"/>
            <a:ext cx="68762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解读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791456"/>
            <a:ext cx="7315200" cy="91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83642"/>
                </a:solidFill>
                <a:latin typeface="Calibri"/>
              </a:rPr>
              <a:t>项目最近一次有代码含义的提交已超过 7 天；日报重点应转向版本现状、风险清单和下一步验证。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800600"/>
            <a:ext cx="4206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E747B"/>
                </a:solidFill>
                <a:latin typeface="Calibri"/>
              </a:rPr>
              <a:t>yu-ai-code-mother · 项目状态 · 2026-07-13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75488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5E747B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463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A896"/>
                </a:solidFill>
                <a:latin typeface="Calibri"/>
              </a:rPr>
              <a:t>指标快照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76072"/>
            <a:ext cx="81381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600" b="1" i="0">
                <a:solidFill>
                  <a:srgbClr val="21295C"/>
                </a:solidFill>
                <a:latin typeface="Georgia"/>
              </a:rPr>
              <a:t>数据 / 指标要点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7589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E747B"/>
                </a:solidFill>
                <a:latin typeface="Calibri"/>
              </a:rPr>
              <a:t>静态仓库指标 + 运行指标接入建议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691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344168"/>
            <a:ext cx="147218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028090"/>
                </a:solidFill>
                <a:latin typeface="Georgia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911095"/>
            <a:ext cx="14721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1295C"/>
                </a:solidFill>
                <a:latin typeface="Calibri"/>
              </a:rPr>
              <a:t>前端路由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194560"/>
            <a:ext cx="13990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E747B"/>
                </a:solidFill>
                <a:latin typeface="Calibri"/>
              </a:rPr>
              <a:t>主页、登录、注册、管理、对话、编辑等页面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1234440"/>
            <a:ext cx="1691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1488" y="1344168"/>
            <a:ext cx="147218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00A896"/>
                </a:solidFill>
                <a:latin typeface="Georgia"/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1911095"/>
            <a:ext cx="14721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1295C"/>
                </a:solidFill>
                <a:latin typeface="Calibri"/>
              </a:rPr>
              <a:t>后端测试类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8064" y="2194560"/>
            <a:ext cx="13990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E747B"/>
                </a:solidFill>
                <a:latin typeface="Calibri"/>
              </a:rPr>
              <a:t>覆盖代码解析、AI 服务、工作流与截图工具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1234440"/>
            <a:ext cx="1691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8888" y="1344168"/>
            <a:ext cx="147218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21295C"/>
                </a:solidFill>
                <a:latin typeface="Georgia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8888" y="1911095"/>
            <a:ext cx="14721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1295C"/>
                </a:solidFill>
                <a:latin typeface="Calibri"/>
              </a:rPr>
              <a:t>微服务模块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5464" y="2194560"/>
            <a:ext cx="13990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E747B"/>
                </a:solidFill>
                <a:latin typeface="Calibri"/>
              </a:rPr>
              <a:t>common/model/client/user/app/ai/screenshot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1234440"/>
            <a:ext cx="1691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76288" y="1344168"/>
            <a:ext cx="147218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F59E0B"/>
                </a:solidFill>
                <a:latin typeface="Georgia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288" y="1911095"/>
            <a:ext cx="14721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1295C"/>
                </a:solidFill>
                <a:latin typeface="Calibri"/>
              </a:rPr>
              <a:t>CI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2864" y="2194560"/>
            <a:ext cx="13990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E747B"/>
                </a:solidFill>
                <a:latin typeface="Calibri"/>
              </a:rPr>
              <a:t>未发现 .github 工作流配置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06324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libri"/>
              </a:rPr>
              <a:t>运行指标建议接入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429000"/>
            <a:ext cx="1463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E747B"/>
                </a:solidFill>
                <a:latin typeface="Calibri"/>
              </a:rPr>
              <a:t>AI 调用量/成功率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23160" y="3447288"/>
            <a:ext cx="5120640" cy="100584"/>
          </a:xfrm>
          <a:prstGeom prst="roundRect">
            <a:avLst/>
          </a:prstGeom>
          <a:solidFill>
            <a:srgbClr val="E9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423160" y="3447288"/>
            <a:ext cx="3994099" cy="100584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721608"/>
            <a:ext cx="1463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E747B"/>
                </a:solidFill>
                <a:latin typeface="Calibri"/>
              </a:rPr>
              <a:t>生成耗时 P95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23160" y="3739896"/>
            <a:ext cx="5120640" cy="100584"/>
          </a:xfrm>
          <a:prstGeom prst="roundRect">
            <a:avLst/>
          </a:prstGeom>
          <a:solidFill>
            <a:srgbClr val="E9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423160" y="3739896"/>
            <a:ext cx="2816352" cy="100584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014215"/>
            <a:ext cx="1463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E747B"/>
                </a:solidFill>
                <a:latin typeface="Calibri"/>
              </a:rPr>
              <a:t>部署成功率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23160" y="4032503"/>
            <a:ext cx="5120640" cy="100584"/>
          </a:xfrm>
          <a:prstGeom prst="roundRect">
            <a:avLst/>
          </a:prstGeom>
          <a:solidFill>
            <a:srgbClr val="E9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423160" y="4032503"/>
            <a:ext cx="3482035" cy="100584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306824"/>
            <a:ext cx="1463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E747B"/>
                </a:solidFill>
                <a:latin typeface="Calibri"/>
              </a:rPr>
              <a:t>模型成本/用户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23160" y="4325112"/>
            <a:ext cx="5120640" cy="100584"/>
          </a:xfrm>
          <a:prstGeom prst="roundRect">
            <a:avLst/>
          </a:prstGeom>
          <a:solidFill>
            <a:srgbClr val="E9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423160" y="4325112"/>
            <a:ext cx="2150668" cy="100584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4572000"/>
            <a:ext cx="7223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747B"/>
                </a:solidFill>
                <a:latin typeface="Calibri"/>
              </a:rPr>
              <a:t>说明：运行态数据需依赖生产监控、业务埋点与 AI 模型日志，当前报告未连接外部监控源。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800600"/>
            <a:ext cx="4206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E747B"/>
                </a:solidFill>
                <a:latin typeface="Calibri"/>
              </a:rPr>
              <a:t>yu-ai-code-mother · 项目状态 · 2026-07-13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475488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5E747B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463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A896"/>
                </a:solidFill>
                <a:latin typeface="Calibri"/>
              </a:rPr>
              <a:t>风险清单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76072"/>
            <a:ext cx="81381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600" b="1" i="0">
                <a:solidFill>
                  <a:srgbClr val="21295C"/>
                </a:solidFill>
                <a:latin typeface="Georgia"/>
              </a:rPr>
              <a:t>风险与阻塞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7589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E747B"/>
                </a:solidFill>
                <a:latin typeface="Calibri"/>
              </a:rPr>
              <a:t>影响交付稳定性、协作效率和上线可控性的主要风险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61872"/>
            <a:ext cx="3611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58952" y="1417319"/>
            <a:ext cx="384048" cy="384048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35607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408175"/>
            <a:ext cx="280720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76F51"/>
                </a:solidFill>
                <a:latin typeface="Calibri"/>
              </a:rPr>
              <a:t>环境强依赖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324612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83642"/>
                </a:solidFill>
                <a:latin typeface="Calibri"/>
              </a:rPr>
              <a:t>MySQL、Redis、AI API Key、COS、Pexels/DashScope 等配置仍需真实环境支撑。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261872"/>
            <a:ext cx="3611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36592" y="1417319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435607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1408175"/>
            <a:ext cx="280720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CI 缺口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828800"/>
            <a:ext cx="324612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83642"/>
                </a:solidFill>
                <a:latin typeface="Calibri"/>
              </a:rPr>
              <a:t>未发现 GitHub Actions；自动构建、测试、制品验证与 PR 门禁需要补齐。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743200"/>
            <a:ext cx="3611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8952" y="2898648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291693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2889504"/>
            <a:ext cx="280720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测试可运行性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310128"/>
            <a:ext cx="324612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83642"/>
                </a:solidFill>
                <a:latin typeface="Calibri"/>
              </a:rPr>
              <a:t>部分 AI/截图/工作流测试可能依赖外部服务，需区分单元测试与集成测试。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2743200"/>
            <a:ext cx="3611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736592" y="2898648"/>
            <a:ext cx="384048" cy="384048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36592" y="291693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2889504"/>
            <a:ext cx="280720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微服务切换成本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310128"/>
            <a:ext cx="324612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83642"/>
                </a:solidFill>
                <a:latin typeface="Calibri"/>
              </a:rPr>
              <a:t>微服务目录已完成改造，但单体与微服务并存，部署拓扑和配置边界需持续确认。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E747B"/>
                </a:solidFill>
                <a:latin typeface="Calibri"/>
              </a:rPr>
              <a:t>当前阻塞更偏“工程化与环境验证”，不是单一业务模块缺失。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800600"/>
            <a:ext cx="4206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E747B"/>
                </a:solidFill>
                <a:latin typeface="Calibri"/>
              </a:rPr>
              <a:t>yu-ai-code-mother · 项目状态 · 2026-07-13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75488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5E747B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463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A896"/>
                </a:solidFill>
                <a:latin typeface="Calibri"/>
              </a:rPr>
              <a:t>下一步计划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76072"/>
            <a:ext cx="81381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600" b="1" i="0">
                <a:solidFill>
                  <a:srgbClr val="21295C"/>
                </a:solidFill>
                <a:latin typeface="Georgia"/>
              </a:rPr>
              <a:t>未完成项与建议下一步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7589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E747B"/>
                </a:solidFill>
                <a:latin typeface="Calibri"/>
              </a:rPr>
              <a:t>围绕可上线、可观测、可协作的近期执行重点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88720"/>
            <a:ext cx="3611880" cy="420624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289304"/>
            <a:ext cx="3291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未完成 / 待确认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188720"/>
            <a:ext cx="3611880" cy="420624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92624" y="1289304"/>
            <a:ext cx="3291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建议下一步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10512"/>
            <a:ext cx="36118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956816"/>
            <a:ext cx="328269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77440"/>
            <a:ext cx="3246120" cy="91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83642"/>
                </a:solidFill>
                <a:latin typeface="Calibri"/>
              </a:rPr>
              <a:t>生产配置与密钥管理策略未在仓库中落地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468880"/>
            <a:ext cx="36118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615184"/>
            <a:ext cx="328269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035808"/>
            <a:ext cx="3246120" cy="91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83642"/>
                </a:solidFill>
                <a:latin typeface="Calibri"/>
              </a:rPr>
              <a:t>监控面板与业务指标口径需对齐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127248"/>
            <a:ext cx="36118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273552"/>
            <a:ext cx="328269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694176"/>
            <a:ext cx="3246120" cy="91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83642"/>
                </a:solidFill>
                <a:latin typeface="Calibri"/>
              </a:rPr>
              <a:t>单体/微服务部署方式需明确推荐路径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85616"/>
            <a:ext cx="36118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931920"/>
            <a:ext cx="328269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352544"/>
            <a:ext cx="3246120" cy="91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83642"/>
                </a:solidFill>
                <a:latin typeface="Calibri"/>
              </a:rPr>
              <a:t>AI 成本、限流与失败降级策略需持续验证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0" y="1810512"/>
            <a:ext cx="36118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10912" y="1956816"/>
            <a:ext cx="328269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2377440"/>
            <a:ext cx="3246120" cy="91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83642"/>
                </a:solidFill>
                <a:latin typeface="Calibri"/>
              </a:rPr>
              <a:t>补齐 CI：后端 Maven、前端 type-check/build、基础安全扫描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2468880"/>
            <a:ext cx="36118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10912" y="2615184"/>
            <a:ext cx="328269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035808"/>
            <a:ext cx="3246120" cy="91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83642"/>
                </a:solidFill>
                <a:latin typeface="Calibri"/>
              </a:rPr>
              <a:t>将外部依赖测试分层，形成可稳定运行的单元测试集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3127248"/>
            <a:ext cx="36118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10912" y="3273552"/>
            <a:ext cx="328269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694176"/>
            <a:ext cx="3246120" cy="91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83642"/>
                </a:solidFill>
                <a:latin typeface="Calibri"/>
              </a:rPr>
              <a:t>完善部署文档与本地/生产环境配置样例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46320" y="3785616"/>
            <a:ext cx="36118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10912" y="3931920"/>
            <a:ext cx="328269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4352544"/>
            <a:ext cx="3246120" cy="91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83642"/>
                </a:solidFill>
                <a:latin typeface="Calibri"/>
              </a:rPr>
              <a:t>接入 AI 调用、生成耗时、部署成功率等看板指标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800600"/>
            <a:ext cx="4206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E747B"/>
                </a:solidFill>
                <a:latin typeface="Calibri"/>
              </a:rPr>
              <a:t>yu-ai-code-mother · 项目状态 · 2026-07-13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475488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5E747B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463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A896"/>
                </a:solidFill>
                <a:latin typeface="Calibri"/>
              </a:rPr>
              <a:t>工程质量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76072"/>
            <a:ext cx="81381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600" b="1" i="0">
                <a:solidFill>
                  <a:srgbClr val="21295C"/>
                </a:solidFill>
                <a:latin typeface="Georgia"/>
              </a:rPr>
              <a:t>CI / 测试配置状态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7589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E747B"/>
                </a:solidFill>
                <a:latin typeface="Calibri"/>
              </a:rPr>
              <a:t>仓库内测试与自动化入口的当前观察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1234440" cy="384048"/>
          </a:xfrm>
          <a:prstGeom prst="roundRect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3502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存在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280160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后端测试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280160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83642"/>
                </a:solidFill>
                <a:latin typeface="Calibri"/>
              </a:rPr>
              <a:t>src/test/java 下 14 个 Test 类，覆盖核心解析、AI 服务、LangGraph4j 工作流和截图工具。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920240"/>
            <a:ext cx="1234440" cy="384048"/>
          </a:xfrm>
          <a:prstGeom prst="roundRect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02082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存在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1965960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前端脚本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965960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83642"/>
                </a:solidFill>
                <a:latin typeface="Calibri"/>
              </a:rPr>
              <a:t>package.json 提供 build、type-check、lint、format、dev、preview 等脚本。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06040"/>
            <a:ext cx="123444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70662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缺失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2651760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CI 工作流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651760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83642"/>
                </a:solidFill>
                <a:latin typeface="Calibri"/>
              </a:rPr>
              <a:t>.github 工作流目录未发现，当前无法从仓库判断最近 CI 运行状态。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291840"/>
            <a:ext cx="1234440" cy="384048"/>
          </a:xfrm>
          <a:prstGeom prst="roundRect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39242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已验证报告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3337560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本次执行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337560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83642"/>
                </a:solidFill>
                <a:latin typeface="Calibri"/>
              </a:rPr>
              <a:t>报告生成未运行业务测试；PPT 文件通过文本提取与占位符检查。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160520"/>
            <a:ext cx="7498079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2" y="4315968"/>
            <a:ext cx="384048" cy="38404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433425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35607" y="4306824"/>
            <a:ext cx="6693407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A896"/>
                </a:solidFill>
                <a:latin typeface="Calibri"/>
              </a:rPr>
              <a:t>建议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727448"/>
            <a:ext cx="7132319" cy="91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83642"/>
                </a:solidFill>
                <a:latin typeface="Calibri"/>
              </a:rPr>
              <a:t>PR 门禁优先从“无需外部服务”的后端单元测试和前端 type-check/build 开始，再逐步接入集成测试环境。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800600"/>
            <a:ext cx="4206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E747B"/>
                </a:solidFill>
                <a:latin typeface="Calibri"/>
              </a:rPr>
              <a:t>yu-ai-code-mother · 项目状态 · 2026-07-13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75488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5E747B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cean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777240"/>
            <a:ext cx="3840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417320"/>
            <a:ext cx="72237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DDF4F1"/>
                </a:solidFill>
                <a:latin typeface="Calibri"/>
              </a:rPr>
              <a:t>当前项目已形成“AI 生成 - 实时预览 - 可视化编辑 - 部署分享 - 管理监控”的完整产品骨架。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2240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2" y="2487168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50545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2478024"/>
            <a:ext cx="143560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alibri"/>
              </a:rPr>
              <a:t>能力面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98648"/>
            <a:ext cx="187452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83642"/>
                </a:solidFill>
                <a:latin typeface="Calibri"/>
              </a:rPr>
              <a:t>功能覆盖面完整，适合继续围绕稳定性与工程化推进。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331720"/>
            <a:ext cx="2240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39312" y="2487168"/>
            <a:ext cx="384048" cy="38404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50545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7" y="2478024"/>
            <a:ext cx="143560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A896"/>
                </a:solidFill>
                <a:latin typeface="Calibri"/>
              </a:rPr>
              <a:t>近期状态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898648"/>
            <a:ext cx="187452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83642"/>
                </a:solidFill>
                <a:latin typeface="Calibri"/>
              </a:rPr>
              <a:t>近 7 天无代码提交，最近提交聚焦微服务改造、部署与可观测性。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331720"/>
            <a:ext cx="2240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91072" y="2487168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250545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2478024"/>
            <a:ext cx="143560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优先级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898648"/>
            <a:ext cx="187452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83642"/>
                </a:solidFill>
                <a:latin typeface="Calibri"/>
              </a:rPr>
              <a:t>建议先补 CI、测试分层、环境配置文档和运行指标闭环。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443984"/>
            <a:ext cx="6217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DDF4F1"/>
                </a:solidFill>
                <a:latin typeface="Calibri"/>
              </a:rPr>
              <a:t>报告文件：docs/reports/project-status-2026-07-13.pptx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2026-07-13</dc:title>
  <dc:subject>yu-ai-code-mother 项目状态</dc:subject>
  <dc:creator>Cursor Automation</dc:creator>
  <cp:keywords/>
  <dc:description>Generated from README, module directory and git history.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