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5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D3B"/>
          </a:solidFill>
          <a:ln w="12700">
            <a:solidFill>
              <a:srgbClr val="052D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4754880" cy="4754880"/>
          </a:xfrm>
          <a:prstGeom prst="arc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3474720"/>
            <a:ext cx="4114800" cy="4114800"/>
          </a:xfrm>
          <a:prstGeom prst="arc">
            <a:avLst/>
          </a:prstGeom>
          <a:solidFill>
            <a:srgbClr val="02C39A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09728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184708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68096" y="2542032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DF3F0"/>
                </a:solidFill>
              </a:rPr>
              <a:t>面向项目维护者 / 团队 · 北京时间 2026-06-08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9808" y="3931920"/>
            <a:ext cx="4160520" cy="621792"/>
          </a:xfrm>
          <a:prstGeom prst="roundRect">
            <a:avLst>
              <a:gd name="adj" fmla="val 8824"/>
            </a:avLst>
          </a:prstGeom>
          <a:solidFill>
            <a:srgbClr val="065A82"/>
          </a:solidFill>
          <a:ln w="1397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142232"/>
            <a:ext cx="3767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分支：cursor/bc-51fc82a9...df14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52360" y="1920240"/>
            <a:ext cx="960120" cy="713232"/>
          </a:xfrm>
          <a:prstGeom prst="chevron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920240"/>
            <a:ext cx="960120" cy="713232"/>
          </a:xfrm>
          <a:prstGeom prst="chevron">
            <a:avLst/>
          </a:prstGeom>
          <a:solidFill>
            <a:srgbClr val="00A896">
              <a:alpha val="7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06840" y="1920240"/>
            <a:ext cx="960120" cy="713232"/>
          </a:xfrm>
          <a:prstGeom prst="chevron">
            <a:avLst/>
          </a:prstGeom>
          <a:solidFill>
            <a:srgbClr val="1C7293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2852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状态维度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06640" y="3182112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2369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能力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083296" y="3182112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74736" y="32369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变更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759952" y="3182112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51392" y="32369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风险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436608" y="3182112"/>
            <a:ext cx="530352" cy="310896"/>
          </a:xfrm>
          <a:prstGeom prst="roundRect">
            <a:avLst>
              <a:gd name="adj" fmla="val 23529"/>
            </a:avLst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28048" y="3236976"/>
            <a:ext cx="3474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计划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6327648"/>
            <a:ext cx="7223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EE8E2"/>
                </a:solidFill>
              </a:rPr>
              <a:t>资料来源：README、主要模块目录、近期 git 提交与构建/测试配置。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当前定位：面向教学与实战的企业级 AI 应用/代码生成平台。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149961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170078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71907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产品目标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2286000"/>
            <a:ext cx="2011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用户通过自然语言创建网站应用，支持预览、二次对话修改、部署、分享与源码下载。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3529584" y="149961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30752" y="1700784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97680" y="171907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技术底座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767328" y="2286000"/>
            <a:ext cx="2011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Spring Boot 3 + Java 21，结合 LangChain4j、LangGraph4j 与响应式流式输出。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272784" y="149961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73952" y="1700784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040880" y="171907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前端体验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10528" y="2286000"/>
            <a:ext cx="2011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Vue 3 + TypeScript + Ant Design Vue，提供对话、预览、管理与部署交互。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9015984" y="1499616"/>
            <a:ext cx="248716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217152" y="1700784"/>
            <a:ext cx="438912" cy="438912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17152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784080" y="1719072"/>
            <a:ext cx="1527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运维视角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53728" y="2286000"/>
            <a:ext cx="20116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Actuator + Prometheus 指标端点已配置，支持后续接入仪表盘与告警。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1005840" y="3730752"/>
            <a:ext cx="10277856" cy="1316736"/>
          </a:xfrm>
          <a:prstGeom prst="roundRect">
            <a:avLst>
              <a:gd name="adj" fmla="val 5556"/>
            </a:avLst>
          </a:prstGeom>
          <a:solidFill>
            <a:srgbClr val="EAF8F7"/>
          </a:solidFill>
          <a:ln w="10160">
            <a:solidFill>
              <a:srgbClr val="DDF3F0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72768" y="411480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72768" y="423824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33856" y="4617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13A"/>
                </a:solidFill>
              </a:rPr>
              <a:t>需求输入</a:t>
            </a:r>
            <a:endParaRPr lang="en-US" sz="1130" dirty="0"/>
          </a:p>
        </p:txBody>
      </p:sp>
      <p:sp>
        <p:nvSpPr>
          <p:cNvPr id="35" name="Shape 33"/>
          <p:cNvSpPr/>
          <p:nvPr/>
        </p:nvSpPr>
        <p:spPr>
          <a:xfrm>
            <a:off x="2359152" y="4151376"/>
            <a:ext cx="438912" cy="310896"/>
          </a:xfrm>
          <a:prstGeom prst="chevron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84448" y="411480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423824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145536" y="4617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13A"/>
                </a:solidFill>
              </a:rPr>
              <a:t>AI 路由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4370832" y="4151376"/>
            <a:ext cx="438912" cy="310896"/>
          </a:xfrm>
          <a:prstGeom prst="chevron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96128" y="411480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96128" y="423824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157216" y="4617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13A"/>
                </a:solidFill>
              </a:rPr>
              <a:t>代码生成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6382512" y="4151376"/>
            <a:ext cx="438912" cy="310896"/>
          </a:xfrm>
          <a:prstGeom prst="chevron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07808" y="4114800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07808" y="423824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168896" y="4617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13A"/>
                </a:solidFill>
              </a:rPr>
              <a:t>预览部署</a:t>
            </a:r>
            <a:endParaRPr lang="en-US" sz="1130" dirty="0"/>
          </a:p>
        </p:txBody>
      </p:sp>
      <p:sp>
        <p:nvSpPr>
          <p:cNvPr id="47" name="Shape 45"/>
          <p:cNvSpPr/>
          <p:nvPr/>
        </p:nvSpPr>
        <p:spPr>
          <a:xfrm>
            <a:off x="8394192" y="4151376"/>
            <a:ext cx="438912" cy="310896"/>
          </a:xfrm>
          <a:prstGeom prst="chevron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619488" y="411480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619488" y="423824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180576" y="46177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17313A"/>
                </a:solidFill>
              </a:rPr>
              <a:t>管理监控</a:t>
            </a:r>
            <a:endParaRPr lang="en-US" sz="11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从“提示词”到“可访问应用”的主流程已经具备较完整闭环。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1417320"/>
            <a:ext cx="516636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161848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74193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54480" y="1636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智能代码生成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2203704"/>
            <a:ext cx="4690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支持 HTML、多文件项目与 Vue 项目流式生成；后端按应用 ID 维度创建 AI 服务实例并保存生成产物。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6236208" y="1417320"/>
            <a:ext cx="516636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161848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74193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004304" y="163677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可视化编辑与实时预览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73952" y="2203704"/>
            <a:ext cx="4690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应用对话页提供生成结果 iframe 预览、编辑模式、选中元素上下文和追加对话能力。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86384" y="3200400"/>
            <a:ext cx="516636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87552" y="3401568"/>
            <a:ext cx="438912" cy="438912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35250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554480" y="3419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部署、下载与分享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24128" y="3986784"/>
            <a:ext cx="4690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后端提供部署接口、源码 ZIP 下载和静态资源访问，前端含部署成功弹窗与新窗口打开。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236208" y="3200400"/>
            <a:ext cx="5166360" cy="1426464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7376" y="3401568"/>
            <a:ext cx="438912" cy="438912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52501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004304" y="3419856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13A"/>
                </a:solidFill>
              </a:rPr>
              <a:t>企业级管理与治理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73952" y="3986784"/>
            <a:ext cx="4690872" cy="493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A7078"/>
                </a:solidFill>
              </a:rPr>
              <a:t>应用/用户/对话历史管理、鉴权、限流、缓存、监控指标和精选应用配置均已有基础。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1170432" y="5321808"/>
            <a:ext cx="9784080" cy="512064"/>
          </a:xfrm>
          <a:prstGeom prst="roundRect">
            <a:avLst>
              <a:gd name="adj" fmla="val 14286"/>
            </a:avLst>
          </a:prstGeom>
          <a:solidFill>
            <a:srgbClr val="052D3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71600" y="5513832"/>
            <a:ext cx="9326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FFFFFF"/>
                </a:solidFill>
              </a:rPr>
              <a:t>能力闭环：创建应用 -&gt; SSE 生成 -&gt; 右侧预览 -&gt; 对话编辑 -&gt; 部署/下载 -&gt; 管理运营</a:t>
            </a:r>
            <a:endParaRPr lang="en-US" sz="12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模块与架构状态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当前保留单体完整代码，同时包含微服务拆分版本。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1389888"/>
            <a:ext cx="510235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15568" y="1682496"/>
            <a:ext cx="1298448" cy="292608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7008" y="1751076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单体主应用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152144" y="2295144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89888" y="2249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controller：应用、用户、对话历史、健康检查、工作流 SSE、静态资源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52144" y="286207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89888" y="2816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core/ai/langgraph4j：代码解析、保存、工作流节点、工具调用和质量检查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152144" y="3429000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89888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service/mapper/model：应用与用户领域、MyBatis-Flex 数据访问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52144" y="3995928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89888" y="3950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monitor/ratelimiter/config：Prometheus 指标、限流、Redis/COS/AI 模型配置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91072" y="1389888"/>
            <a:ext cx="510235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1682496"/>
            <a:ext cx="1298448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751076"/>
            <a:ext cx="11155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微服务版本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620256" y="2295144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2249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yu-ai-code-common / model / client：公共基础、模型与跨服务客户端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20256" y="2862072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816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yu-ai-code-user：用户与鉴权服务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0256" y="3429000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yu-ai-code-app：应用生命周期服务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20256" y="3995928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0" y="3950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yu-ai-code-ai / screenshot：AI 生成与截图能力独立部署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60120" y="5715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17313A"/>
                </a:solidFill>
              </a:rPr>
              <a:t>架构观察：主线已覆盖从业务 API 到 AI 工作流的完整链路，后续重点是稳定微服务运行态与自动化验证。</a:t>
            </a:r>
            <a:endParaRPr lang="en-US" sz="13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 / 近期变更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近 7 天引用中，以日报沉淀与一次前端架构重构为主。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17320" y="1920240"/>
            <a:ext cx="928116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68249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80594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77240" y="21762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06-07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" y="2487168"/>
            <a:ext cx="1664208" cy="215798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86384" y="272491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13A"/>
                </a:solidFill>
              </a:rPr>
              <a:t>日报新增与版式润色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804672" y="3246120"/>
            <a:ext cx="1307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7078"/>
                </a:solidFill>
              </a:rPr>
              <a:t>新增 2026-06-07 状态汇报，并继续 polish layout。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246120" y="168249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80594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926080" y="21762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06-06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70632" y="2487168"/>
            <a:ext cx="1664208" cy="215798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35224" y="272491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13A"/>
                </a:solidFill>
              </a:rPr>
              <a:t>日报持续补齐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2953512" y="3246120"/>
            <a:ext cx="1307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7078"/>
                </a:solidFill>
              </a:rPr>
              <a:t>新增 2026-06-06 项目状态汇报。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394960" y="168249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180594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21762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06-05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19472" y="2487168"/>
            <a:ext cx="1664208" cy="215798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84064" y="272491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13A"/>
                </a:solidFill>
              </a:rPr>
              <a:t>中文日报提交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5102352" y="3246120"/>
            <a:ext cx="1307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7078"/>
                </a:solidFill>
              </a:rPr>
              <a:t>新增 2026-06-05 每日项目状态汇报。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7543800" y="1682496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43800" y="180594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223760" y="21762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06-04/03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068312" y="2487168"/>
            <a:ext cx="1664208" cy="215798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32904" y="272491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13A"/>
                </a:solidFill>
              </a:rPr>
              <a:t>汇报版式迭代</a:t>
            </a:r>
            <a:endParaRPr lang="en-US" sz="1220" dirty="0"/>
          </a:p>
        </p:txBody>
      </p:sp>
      <p:sp>
        <p:nvSpPr>
          <p:cNvPr id="35" name="Text 33"/>
          <p:cNvSpPr/>
          <p:nvPr/>
        </p:nvSpPr>
        <p:spPr>
          <a:xfrm>
            <a:off x="7251192" y="3246120"/>
            <a:ext cx="1307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7078"/>
                </a:solidFill>
              </a:rPr>
              <a:t>修复时间线、清理文本层、恢复封面标题。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9692640" y="1682496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92640" y="180594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372600" y="2176272"/>
            <a:ext cx="10789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06-02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217152" y="2487168"/>
            <a:ext cx="1664208" cy="2157984"/>
          </a:xfrm>
          <a:prstGeom prst="roundRect">
            <a:avLst>
              <a:gd name="adj" fmla="val 4396"/>
            </a:avLst>
          </a:prstGeom>
          <a:solidFill>
            <a:srgbClr val="E4F9F2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381744" y="2724912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313A"/>
                </a:solidFill>
              </a:rPr>
              <a:t>前端架构重构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9400032" y="3246120"/>
            <a:ext cx="1307592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7078"/>
                </a:solidFill>
              </a:rPr>
              <a:t>提取 composables、拆分聊天页组件、补充类型与菜单常量。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1051560" y="5120640"/>
            <a:ext cx="10104120" cy="658368"/>
          </a:xfrm>
          <a:prstGeom prst="roundRect">
            <a:avLst>
              <a:gd name="adj" fmla="val 11111"/>
            </a:avLst>
          </a:prstGeom>
          <a:solidFill>
            <a:srgbClr val="EAF8F7"/>
          </a:solidFill>
          <a:ln w="10160">
            <a:solidFill>
              <a:srgbClr val="DDF3F0">
                <a:alpha val="6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298448" y="5358384"/>
            <a:ext cx="9601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17313A"/>
                </a:solidFill>
              </a:rPr>
              <a:t>当前工作分支最近提交停在“教程第 14 期 - 微服务改造完成”；近期日报/前端重构来自全仓库引用视角。</a:t>
            </a:r>
            <a:endParaRPr lang="en-US" sz="12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 / 指标要点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本页为仓库静态扫描视角，业务运行指标需接入监控后持续沉淀。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14630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14984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033272" y="212140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7078"/>
                </a:solidFill>
              </a:rPr>
              <a:t>主应用 Java 文件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2971800" y="14630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118104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136392" y="212140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7078"/>
                </a:solidFill>
              </a:rPr>
              <a:t>后端控制器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074920" y="14630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21224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239512" y="212140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7078"/>
                </a:solidFill>
              </a:rPr>
              <a:t>后端测试类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178040" y="14630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24344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342632" y="212140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7078"/>
                </a:solidFill>
              </a:rPr>
              <a:t>前端 Vue 文件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9281160" y="1463040"/>
            <a:ext cx="19202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427464" y="1600200"/>
            <a:ext cx="1627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9445752" y="2121408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7078"/>
                </a:solidFill>
              </a:rPr>
              <a:t>微服务模块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914400" y="3218688"/>
            <a:ext cx="5166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70432" y="35021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</a:rPr>
              <a:t>监控配置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70432" y="3959352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08176" y="3913632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313A"/>
                </a:solidFill>
              </a:rPr>
              <a:t>Spring Boot 暴露 health / info / prometheus</a:t>
            </a:r>
            <a:endParaRPr lang="en-US" sz="1230" dirty="0"/>
          </a:p>
        </p:txBody>
      </p:sp>
      <p:sp>
        <p:nvSpPr>
          <p:cNvPr id="30" name="Shape 28"/>
          <p:cNvSpPr/>
          <p:nvPr/>
        </p:nvSpPr>
        <p:spPr>
          <a:xfrm>
            <a:off x="1170432" y="4361688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08176" y="43159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313A"/>
                </a:solidFill>
              </a:rPr>
              <a:t>prometheus.yml 抓取 /api/actuator/prometheus</a:t>
            </a:r>
            <a:endParaRPr lang="en-US" sz="1230" dirty="0"/>
          </a:p>
        </p:txBody>
      </p:sp>
      <p:sp>
        <p:nvSpPr>
          <p:cNvPr id="32" name="Shape 30"/>
          <p:cNvSpPr/>
          <p:nvPr/>
        </p:nvSpPr>
        <p:spPr>
          <a:xfrm>
            <a:off x="1170432" y="4764024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08176" y="47183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313A"/>
                </a:solidFill>
              </a:rPr>
              <a:t>默认抓取目标 localhost:8123，间隔 10 秒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6400800" y="3218688"/>
            <a:ext cx="48006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56832" y="350215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13A"/>
                </a:solidFill>
              </a:rPr>
              <a:t>质量信号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56832" y="395935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94576" y="391363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313A"/>
                </a:solidFill>
              </a:rPr>
              <a:t>根目录未发现 GitHub Actions workflow</a:t>
            </a:r>
            <a:endParaRPr lang="en-US" sz="1230" dirty="0"/>
          </a:p>
        </p:txBody>
      </p:sp>
      <p:sp>
        <p:nvSpPr>
          <p:cNvPr id="38" name="Shape 36"/>
          <p:cNvSpPr/>
          <p:nvPr/>
        </p:nvSpPr>
        <p:spPr>
          <a:xfrm>
            <a:off x="6656832" y="4361688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94576" y="4315968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313A"/>
                </a:solidFill>
              </a:rPr>
              <a:t>前端 package.json 提供 build / lint 脚本</a:t>
            </a:r>
            <a:endParaRPr lang="en-US" sz="1230" dirty="0"/>
          </a:p>
        </p:txBody>
      </p:sp>
      <p:sp>
        <p:nvSpPr>
          <p:cNvPr id="40" name="Shape 38"/>
          <p:cNvSpPr/>
          <p:nvPr/>
        </p:nvSpPr>
        <p:spPr>
          <a:xfrm>
            <a:off x="6656832" y="4764024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4576" y="4718304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313A"/>
                </a:solidFill>
              </a:rPr>
              <a:t>后端存在 Spring Boot 测试与工作流测试资产</a:t>
            </a:r>
            <a:endParaRPr lang="en-US" sz="12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测试配置状态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目前更像“可本地运行测试资产”，尚未形成自动化 CI 反馈闭环。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1426464"/>
            <a:ext cx="3246120" cy="416966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115568" y="1755648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187909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91640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</a:rPr>
              <a:t>后端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115568" y="2651760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53312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Spring Boot Test 依赖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1115568" y="3090672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53312" y="3044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代码解析与 AI 生成相关测试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115568" y="3529584"/>
            <a:ext cx="118872" cy="1188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3483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工作流与工具调用测试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80560" y="1426464"/>
            <a:ext cx="3246120" cy="416966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755648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87909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30952" y="18562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</a:rPr>
              <a:t>前端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754880" y="2651760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92624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npm run build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754880" y="3090672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92624" y="3044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npm run lint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754880" y="3529584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92624" y="3483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Vite + vue-tsc 类型检查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19872" y="1426464"/>
            <a:ext cx="3246120" cy="4169664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94192" y="1755648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94192" y="187909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70264" y="1856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13A"/>
                </a:solidFill>
              </a:rPr>
              <a:t>CI 状态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394192" y="2651760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31936" y="2606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未发现 .github/workflows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394192" y="3090672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31936" y="30449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无法读取最近 CI 运行结果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94192" y="3529584"/>
            <a:ext cx="118872" cy="1188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31936" y="3483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313A"/>
                </a:solidFill>
              </a:rPr>
              <a:t>建议补齐最小验证流水线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1024128" y="5998464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5A82"/>
                </a:solidFill>
              </a:rPr>
              <a:t>本次汇报未改动业务代码，因此验证重点放在 PPT 结构、文本提取与占位残留检查。</a:t>
            </a:r>
            <a:endParaRPr lang="en-US" sz="12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未完成项、风险与阻塞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主要风险来自运行环境、自动化验证和分支状态可见性。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1417320"/>
            <a:ext cx="10195560" cy="603504"/>
          </a:xfrm>
          <a:prstGeom prst="roundRect">
            <a:avLst>
              <a:gd name="adj" fmla="val 12121"/>
            </a:avLst>
          </a:prstGeom>
          <a:solidFill>
            <a:srgbClr val="EAF8F7"/>
          </a:solidFill>
          <a:ln w="10160">
            <a:solidFill>
              <a:srgbClr val="B8DDE0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70432" y="1499616"/>
            <a:ext cx="438912" cy="43891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70432" y="1623060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783080" y="1581912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13A"/>
                </a:solidFill>
              </a:rPr>
              <a:t>配置依赖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3246120" y="1545336"/>
            <a:ext cx="7424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A7078"/>
                </a:solidFill>
              </a:rPr>
              <a:t>本地 MySQL/Redis、COS、Pexels、DashScope/DeepSeek 等仍需真实配置，样例中仍是示例值。</a:t>
            </a:r>
            <a:endParaRPr lang="en-US" sz="1170" dirty="0"/>
          </a:p>
        </p:txBody>
      </p:sp>
      <p:sp>
        <p:nvSpPr>
          <p:cNvPr id="16" name="Shape 14"/>
          <p:cNvSpPr/>
          <p:nvPr/>
        </p:nvSpPr>
        <p:spPr>
          <a:xfrm>
            <a:off x="914400" y="2258568"/>
            <a:ext cx="101955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0432" y="2340864"/>
            <a:ext cx="438912" cy="438912"/>
          </a:xfrm>
          <a:prstGeom prst="ellipse">
            <a:avLst/>
          </a:prstGeom>
          <a:solidFill>
            <a:srgbClr val="D76D77"/>
          </a:solidFill>
          <a:ln w="12700">
            <a:solidFill>
              <a:srgbClr val="D76D7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246430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783080" y="2423160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13A"/>
                </a:solidFill>
              </a:rPr>
              <a:t>自动化验证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3246120" y="2386584"/>
            <a:ext cx="7424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A7078"/>
                </a:solidFill>
              </a:rPr>
              <a:t>未发现 CI workflow，前后端 build/test/lint 未形成合并前强制反馈。</a:t>
            </a:r>
            <a:endParaRPr lang="en-US" sz="1170" dirty="0"/>
          </a:p>
        </p:txBody>
      </p:sp>
      <p:sp>
        <p:nvSpPr>
          <p:cNvPr id="21" name="Shape 19"/>
          <p:cNvSpPr/>
          <p:nvPr/>
        </p:nvSpPr>
        <p:spPr>
          <a:xfrm>
            <a:off x="914400" y="3099816"/>
            <a:ext cx="10195560" cy="603504"/>
          </a:xfrm>
          <a:prstGeom prst="roundRect">
            <a:avLst>
              <a:gd name="adj" fmla="val 12121"/>
            </a:avLst>
          </a:prstGeom>
          <a:solidFill>
            <a:srgbClr val="EAF8F7"/>
          </a:solidFill>
          <a:ln w="10160">
            <a:solidFill>
              <a:srgbClr val="B8DDE0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70432" y="3182112"/>
            <a:ext cx="438912" cy="43891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70432" y="3305556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783080" y="3264408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13A"/>
                </a:solidFill>
              </a:rPr>
              <a:t>AI 稳定性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3246120" y="3227832"/>
            <a:ext cx="7424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A7078"/>
                </a:solidFill>
              </a:rPr>
              <a:t>生成链路依赖外部模型、工具调用与网络质量，成本、超时、重试和质量评估仍需持续压测。</a:t>
            </a:r>
            <a:endParaRPr lang="en-US" sz="1170" dirty="0"/>
          </a:p>
        </p:txBody>
      </p:sp>
      <p:sp>
        <p:nvSpPr>
          <p:cNvPr id="26" name="Shape 24"/>
          <p:cNvSpPr/>
          <p:nvPr/>
        </p:nvSpPr>
        <p:spPr>
          <a:xfrm>
            <a:off x="914400" y="3941064"/>
            <a:ext cx="101955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70432" y="4023360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70432" y="4146804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783080" y="4105656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13A"/>
                </a:solidFill>
              </a:rPr>
              <a:t>微服务运行态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3246120" y="4069080"/>
            <a:ext cx="7424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A7078"/>
                </a:solidFill>
              </a:rPr>
              <a:t>微服务拆分已完成，但跨服务调用、Nacos/Dubbo 配置与单体兼容需要持续回归。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914400" y="4782312"/>
            <a:ext cx="10195560" cy="603504"/>
          </a:xfrm>
          <a:prstGeom prst="roundRect">
            <a:avLst>
              <a:gd name="adj" fmla="val 12121"/>
            </a:avLst>
          </a:prstGeom>
          <a:solidFill>
            <a:srgbClr val="EAF8F7"/>
          </a:solidFill>
          <a:ln w="10160">
            <a:solidFill>
              <a:srgbClr val="B8DDE0">
                <a:alpha val="6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70432" y="4864608"/>
            <a:ext cx="438912" cy="43891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70432" y="4988052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783080" y="4946904"/>
            <a:ext cx="13898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13A"/>
                </a:solidFill>
              </a:rPr>
              <a:t>报告连续性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3246120" y="4910328"/>
            <a:ext cx="7424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A7078"/>
                </a:solidFill>
              </a:rPr>
              <a:t>近 7 天日报频繁新增，但当前工作树未包含历史 docs/reports 文件，需要关注分支/引用同步。</a:t>
            </a:r>
            <a:endParaRPr lang="en-US" sz="11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B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19456" y="0"/>
            <a:ext cx="109728" cy="6858000"/>
          </a:xfrm>
          <a:prstGeom prst="rect">
            <a:avLst/>
          </a:prstGeom>
          <a:solidFill>
            <a:srgbClr val="02C3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-1280160"/>
            <a:ext cx="3474720" cy="3474720"/>
          </a:xfrm>
          <a:prstGeom prst="arc">
            <a:avLst/>
          </a:prstGeom>
          <a:solidFill>
            <a:srgbClr val="DDF3F0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38404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73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建议下一步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94944" y="96012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7078"/>
                </a:solidFill>
              </a:rPr>
              <a:t>优先把“能跑通”沉淀成“可持续验证、可观测、可交付”。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9525">
            <a:solidFill>
              <a:srgbClr val="B8DDE0">
                <a:alpha val="7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6510528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7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/ 每日项目状态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045952" y="6473952"/>
            <a:ext cx="438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59536" y="1481328"/>
            <a:ext cx="3236976" cy="1572768"/>
          </a:xfrm>
          <a:prstGeom prst="roundRect">
            <a:avLst>
              <a:gd name="adj" fmla="val 4651"/>
            </a:avLst>
          </a:prstGeom>
          <a:solidFill>
            <a:srgbClr val="EAF8F7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97280" y="1700784"/>
            <a:ext cx="438912" cy="43891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45920" y="173736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7313A"/>
                </a:solidFill>
              </a:rPr>
              <a:t>补齐最小 CI</a:t>
            </a:r>
            <a:endParaRPr lang="en-US" sz="1460" dirty="0"/>
          </a:p>
        </p:txBody>
      </p:sp>
      <p:sp>
        <p:nvSpPr>
          <p:cNvPr id="15" name="Text 13"/>
          <p:cNvSpPr/>
          <p:nvPr/>
        </p:nvSpPr>
        <p:spPr>
          <a:xfrm>
            <a:off x="1115568" y="2267712"/>
            <a:ext cx="27249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A7078"/>
                </a:solidFill>
              </a:rPr>
              <a:t>后端编译/单测、前端 type-check/build/lint，先覆盖主分支合并门禁。</a:t>
            </a:r>
            <a:endParaRPr lang="en-US" sz="1190" dirty="0"/>
          </a:p>
        </p:txBody>
      </p:sp>
      <p:sp>
        <p:nvSpPr>
          <p:cNvPr id="16" name="Shape 14"/>
          <p:cNvSpPr/>
          <p:nvPr/>
        </p:nvSpPr>
        <p:spPr>
          <a:xfrm>
            <a:off x="4636008" y="1481328"/>
            <a:ext cx="323697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73752" y="170078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73752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22392" y="173736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7313A"/>
                </a:solidFill>
              </a:rPr>
              <a:t>完善环境配置</a:t>
            </a:r>
            <a:endParaRPr lang="en-US" sz="1460" dirty="0"/>
          </a:p>
        </p:txBody>
      </p:sp>
      <p:sp>
        <p:nvSpPr>
          <p:cNvPr id="20" name="Text 18"/>
          <p:cNvSpPr/>
          <p:nvPr/>
        </p:nvSpPr>
        <p:spPr>
          <a:xfrm>
            <a:off x="4892040" y="2267712"/>
            <a:ext cx="27249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A7078"/>
                </a:solidFill>
              </a:rPr>
              <a:t>区分 local/sample/prod，收敛密钥注入方式，明确 MySQL/Redis/COS/AI 服务启动说明。</a:t>
            </a:r>
            <a:endParaRPr lang="en-US" sz="1190" dirty="0"/>
          </a:p>
        </p:txBody>
      </p:sp>
      <p:sp>
        <p:nvSpPr>
          <p:cNvPr id="21" name="Shape 19"/>
          <p:cNvSpPr/>
          <p:nvPr/>
        </p:nvSpPr>
        <p:spPr>
          <a:xfrm>
            <a:off x="8412480" y="1481328"/>
            <a:ext cx="3236976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50224" y="170078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50224" y="182422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198864" y="1737360"/>
            <a:ext cx="22128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7313A"/>
                </a:solidFill>
              </a:rPr>
              <a:t>建立端到端冒烟</a:t>
            </a:r>
            <a:endParaRPr lang="en-US" sz="1460" dirty="0"/>
          </a:p>
        </p:txBody>
      </p:sp>
      <p:sp>
        <p:nvSpPr>
          <p:cNvPr id="25" name="Text 23"/>
          <p:cNvSpPr/>
          <p:nvPr/>
        </p:nvSpPr>
        <p:spPr>
          <a:xfrm>
            <a:off x="8668512" y="2267712"/>
            <a:ext cx="272491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A7078"/>
                </a:solidFill>
              </a:rPr>
              <a:t>覆盖创建应用、SSE 生成、预览、部署、下载和管理员精选的主流程。</a:t>
            </a:r>
            <a:endParaRPr lang="en-US" sz="1190" dirty="0"/>
          </a:p>
        </p:txBody>
      </p:sp>
      <p:sp>
        <p:nvSpPr>
          <p:cNvPr id="26" name="Shape 24"/>
          <p:cNvSpPr/>
          <p:nvPr/>
        </p:nvSpPr>
        <p:spPr>
          <a:xfrm>
            <a:off x="859536" y="3858768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7280" y="407822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420166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645920" y="4114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7313A"/>
                </a:solidFill>
              </a:rPr>
              <a:t>强化工作流观测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1115568" y="4645152"/>
            <a:ext cx="46268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A7078"/>
                </a:solidFill>
              </a:rPr>
              <a:t>围绕 AI 模型耗时、token、失败率、重试次数和工具调用产物增加指标看板。</a:t>
            </a:r>
            <a:endParaRPr lang="en-US" sz="1190" dirty="0"/>
          </a:p>
        </p:txBody>
      </p:sp>
      <p:sp>
        <p:nvSpPr>
          <p:cNvPr id="31" name="Shape 29"/>
          <p:cNvSpPr/>
          <p:nvPr/>
        </p:nvSpPr>
        <p:spPr>
          <a:xfrm>
            <a:off x="4636008" y="3858768"/>
            <a:ext cx="5138928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B8DDE0">
                <a:alpha val="6500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6A8E96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73752" y="4078224"/>
            <a:ext cx="438912" cy="43891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73752" y="4201668"/>
            <a:ext cx="4389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22392" y="411480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b="1" dirty="0">
                <a:solidFill>
                  <a:srgbClr val="17313A"/>
                </a:solidFill>
              </a:rPr>
              <a:t>同步分支与日报资产</a:t>
            </a:r>
            <a:endParaRPr lang="en-US" sz="1460" dirty="0"/>
          </a:p>
        </p:txBody>
      </p:sp>
      <p:sp>
        <p:nvSpPr>
          <p:cNvPr id="35" name="Text 33"/>
          <p:cNvSpPr/>
          <p:nvPr/>
        </p:nvSpPr>
        <p:spPr>
          <a:xfrm>
            <a:off x="4892040" y="4645152"/>
            <a:ext cx="4626864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A7078"/>
                </a:solidFill>
              </a:rPr>
              <a:t>确认近日报告提交所在引用，避免自动化报告在不同分支上产生重复或缺失。</a:t>
            </a:r>
            <a:endParaRPr lang="en-US" sz="119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2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2D3B"/>
          </a:solidFill>
          <a:ln w="12700">
            <a:solidFill>
              <a:srgbClr val="052D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-731520"/>
            <a:ext cx="4754880" cy="4754880"/>
          </a:xfrm>
          <a:prstGeom prst="arc">
            <a:avLst/>
          </a:prstGeom>
          <a:solidFill>
            <a:srgbClr val="00A896">
              <a:alpha val="35000"/>
            </a:srgbClr>
          </a:solidFill>
          <a:ln w="12700">
            <a:solidFill>
              <a:srgbClr val="00A896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3474720"/>
            <a:ext cx="4114800" cy="4114800"/>
          </a:xfrm>
          <a:prstGeom prst="arc">
            <a:avLst/>
          </a:prstGeom>
          <a:solidFill>
            <a:srgbClr val="02C39A">
              <a:alpha val="24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065A82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82296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841248" y="1682496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>
              <a:alpha val="92000"/>
            </a:srgbClr>
          </a:solidFill>
          <a:ln w="10160">
            <a:solidFill>
              <a:srgbClr val="00A896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70432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当前判断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70432" y="2578608"/>
            <a:ext cx="4334256" cy="12252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DF3F0"/>
                </a:solidFill>
              </a:rPr>
              <a:t>平台能力面较完整，已经覆盖 AI 生成、预览编辑、部署下载、后台管理与监控基础；近期重点应从功能实现转向稳定性、自动化验证和可观测闭环。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691640"/>
            <a:ext cx="4526280" cy="749808"/>
          </a:xfrm>
          <a:prstGeom prst="roundRect">
            <a:avLst>
              <a:gd name="adj" fmla="val 9756"/>
            </a:avLst>
          </a:prstGeom>
          <a:solidFill>
            <a:srgbClr val="02C39A">
              <a:alpha val="9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38544" y="193852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2D3B"/>
                </a:solidFill>
              </a:rPr>
              <a:t>今日交付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699248" y="1938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052D3B"/>
                </a:solidFill>
              </a:rPr>
              <a:t>docs/reports/project-status-2026-06-08.pptx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419088" y="2926080"/>
            <a:ext cx="4480560" cy="310896"/>
          </a:xfrm>
          <a:prstGeom prst="roundRect">
            <a:avLst>
              <a:gd name="adj" fmla="val 11765"/>
            </a:avLst>
          </a:prstGeom>
          <a:solidFill>
            <a:srgbClr val="028090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0256" y="3008376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能力闭环清晰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419088" y="3456432"/>
            <a:ext cx="4480560" cy="310896"/>
          </a:xfrm>
          <a:prstGeom prst="roundRect">
            <a:avLst>
              <a:gd name="adj" fmla="val 11765"/>
            </a:avLst>
          </a:prstGeom>
          <a:solidFill>
            <a:srgbClr val="065A82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0256" y="353872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CI 需补齐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419088" y="3986784"/>
            <a:ext cx="4480560" cy="310896"/>
          </a:xfrm>
          <a:prstGeom prst="roundRect">
            <a:avLst>
              <a:gd name="adj" fmla="val 11765"/>
            </a:avLst>
          </a:prstGeom>
          <a:solidFill>
            <a:srgbClr val="028090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4069080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配置需治理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419088" y="4517136"/>
            <a:ext cx="4480560" cy="310896"/>
          </a:xfrm>
          <a:prstGeom prst="roundRect">
            <a:avLst>
              <a:gd name="adj" fmla="val 11765"/>
            </a:avLst>
          </a:prstGeom>
          <a:solidFill>
            <a:srgbClr val="065A82">
              <a:alpha val="96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4599432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FFFFFF"/>
                </a:solidFill>
              </a:rPr>
              <a:t>观测需深化</a:t>
            </a:r>
            <a:endParaRPr lang="en-US" sz="1180" dirty="0"/>
          </a:p>
        </p:txBody>
      </p:sp>
      <p:sp>
        <p:nvSpPr>
          <p:cNvPr id="22" name="Text 20"/>
          <p:cNvSpPr/>
          <p:nvPr/>
        </p:nvSpPr>
        <p:spPr>
          <a:xfrm>
            <a:off x="841248" y="6272784"/>
            <a:ext cx="7863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EE8E2"/>
                </a:solidFill>
              </a:rPr>
              <a:t>下一次日报建议增加：自动化测试运行结果、业务指标快照、风险项关闭进度。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 2026-06-08</dc:title>
  <dc:subject>每日项目状态汇报</dc:subject>
  <dc:creator>Cursor Automation</dc:creator>
  <cp:lastModifiedBy>Cursor Automation</cp:lastModifiedBy>
  <cp:revision>1</cp:revision>
  <dcterms:created xsi:type="dcterms:W3CDTF">2026-06-08T09:08:22Z</dcterms:created>
  <dcterms:modified xsi:type="dcterms:W3CDTF">2026-06-08T09:08:22Z</dcterms:modified>
</cp:coreProperties>
</file>