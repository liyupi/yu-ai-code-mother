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2700">
            <a:solidFill>
              <a:srgbClr val="C9DD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7589520" y="-1097280"/>
            <a:ext cx="5212080" cy="5212080"/>
          </a:xfrm>
          <a:prstGeom prst="arc">
            <a:avLst/>
          </a:prstGeom>
          <a:solidFill>
            <a:srgbClr val="073B4C">
              <a:alpha val="0"/>
            </a:srgbClr>
          </a:solidFill>
          <a:ln w="38100">
            <a:solidFill>
              <a:srgbClr val="12B8A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429000"/>
            <a:ext cx="3017520" cy="3017520"/>
          </a:xfrm>
          <a:prstGeom prst="ellipse">
            <a:avLst/>
          </a:prstGeom>
          <a:solidFill>
            <a:srgbClr val="12B8A6">
              <a:alpha val="18000"/>
            </a:srgbClr>
          </a:solidFill>
          <a:ln w="25400">
            <a:solidFill>
              <a:srgbClr val="42D6C8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02752" y="4169664"/>
            <a:ext cx="1005840" cy="1005840"/>
          </a:xfrm>
          <a:prstGeom prst="ellipse">
            <a:avLst/>
          </a:prstGeom>
          <a:solidFill>
            <a:srgbClr val="42D6C8">
              <a:alpha val="85000"/>
            </a:srgbClr>
          </a:solidFill>
          <a:ln w="12700">
            <a:solidFill>
              <a:srgbClr val="42D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00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ZERO-CODE · DAILY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261872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每日项目状态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F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零代码应用生成平台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5212080" cy="0"/>
          </a:xfrm>
          <a:prstGeom prst="line">
            <a:avLst/>
          </a:prstGeom>
          <a:noFill/>
          <a:ln w="16510">
            <a:solidFill>
              <a:srgbClr val="3E7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930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年 7 月 14 日 · 北京时间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0782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存量稳定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66544" y="4069080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40782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演进待续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D7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汇报范围：README · 主要模块 · Git 历史 · 测试与 CI 配置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0899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AE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团队内部状态快照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项目概览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当前结论：单体功能完整，微服务基础拆分完成，但双轨维护与验证体系仍有缺口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64208"/>
            <a:ext cx="73152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84708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13816" y="24140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顶层工程形态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" y="27432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单体后端 / 微服务父工程 / Vue 前端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664208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64208"/>
            <a:ext cx="73152" cy="1508760"/>
          </a:xfrm>
          <a:prstGeom prst="rect">
            <a:avLst/>
          </a:prstGeom>
          <a:solidFill>
            <a:srgbClr val="2AA9C4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84708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584448" y="24140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微服务子模块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84448" y="27432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common、model、client、user、app、ai、screenshot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08192" y="1664208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1664208"/>
            <a:ext cx="73152" cy="1508760"/>
          </a:xfrm>
          <a:prstGeom prst="rect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84708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355080" y="24140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代码生成模式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7432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HTML / 多文件 / Vue Project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78824" y="1664208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78824" y="1664208"/>
            <a:ext cx="73152" cy="1508760"/>
          </a:xfrm>
          <a:prstGeom prst="rect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184708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A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25712" y="24140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后端测试文件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25712" y="27432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全部集中在单体；微服务与前端为 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502152"/>
            <a:ext cx="5413248" cy="2331720"/>
          </a:xfrm>
          <a:prstGeom prst="roundRect">
            <a:avLst>
              <a:gd name="adj" fmla="val 4706"/>
            </a:avLst>
          </a:prstGeom>
          <a:solidFill>
            <a:srgbClr val="E5F6F3"/>
          </a:solidFill>
          <a:ln w="12700">
            <a:solidFill>
              <a:srgbClr val="B8E4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749040"/>
            <a:ext cx="402336" cy="402336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75818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53312" y="3758184"/>
            <a:ext cx="4361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当前能力判断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9536" y="4389120"/>
            <a:ext cx="109728" cy="109728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4297680"/>
            <a:ext cx="4489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流式生成、可视化编辑、部署与源码下载已形成闭环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9536" y="4837176"/>
            <a:ext cx="109728" cy="109728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4745736"/>
            <a:ext cx="4489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用户、应用、对话管理及精选应用等后台能力已落地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9536" y="5285232"/>
            <a:ext cx="109728" cy="109728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5193792"/>
            <a:ext cx="4489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Prometheus / Grafana、限流与 AI 护轨已在单体实现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99632" y="3502152"/>
            <a:ext cx="5239512" cy="2331720"/>
          </a:xfrm>
          <a:prstGeom prst="roundRect">
            <a:avLst>
              <a:gd name="adj" fmla="val 4706"/>
            </a:avLst>
          </a:prstGeom>
          <a:solidFill>
            <a:srgbClr val="FFF4E8"/>
          </a:solidFill>
          <a:ln w="12700">
            <a:solidFill>
              <a:srgbClr val="F7D4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55664" y="3749040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375818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86016" y="3758184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状态边界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92240" y="438912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11696" y="4297680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 7 天、昨日均无新提交；不能视为活跃迭代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92240" y="4837176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11696" y="4745736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前端默认仍连接单体 8123，微服务无统一 Gateway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92240" y="528523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11696" y="5193792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 工作流、监控与测试尚未迁移到微服务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yu-ai-code-mother · 每日项目状态 · 2026-07-14（北京时间）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架构现状：双轨并存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生产能力主要集中在单体；微服务版完成基础模块拆分与 Dubbo / Nacos 调用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3504" y="2029968"/>
            <a:ext cx="1965960" cy="2331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B9D9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267712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276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" y="280720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B4C"/>
                </a:solidFill>
              </a:rPr>
              <a:t>Vue 3 + TypeScript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246120"/>
            <a:ext cx="148132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D777B"/>
                </a:solidFill>
              </a:rPr>
              <a:t>8 个页面路由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D777B"/>
                </a:solidFill>
              </a:rPr>
              <a:t>SSE 对话 · 实时预览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D777B"/>
                </a:solidFill>
              </a:rPr>
              <a:t>可视化编辑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64408" y="1572768"/>
            <a:ext cx="3310128" cy="3291840"/>
          </a:xfrm>
          <a:prstGeom prst="roundRect">
            <a:avLst>
              <a:gd name="adj" fmla="val 3333"/>
            </a:avLst>
          </a:prstGeom>
          <a:solidFill>
            <a:srgbClr val="DDF5F1"/>
          </a:solidFill>
          <a:ln w="12700">
            <a:solidFill>
              <a:srgbClr val="8ED5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810512"/>
            <a:ext cx="1115568" cy="310896"/>
          </a:xfrm>
          <a:prstGeom prst="roundRect">
            <a:avLst>
              <a:gd name="adj" fmla="val 35294"/>
            </a:avLst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18196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主能力面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76472" y="23134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单体后端 · 8123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11880" y="287121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8986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</a:rPr>
              <a:t>LangChain4j + LangGraph4j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11880" y="339242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4198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业务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3410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</a:rPr>
              <a:t>用户 / 应用 / 对话 / 部署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11880" y="391363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9410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工程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</a:rPr>
              <a:t>监控 / 限流 / 缓存 / 护轨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69480" y="1572768"/>
            <a:ext cx="42976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9D9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7968" y="1810512"/>
            <a:ext cx="1060704" cy="310896"/>
          </a:xfrm>
          <a:prstGeom prst="roundRect">
            <a:avLst>
              <a:gd name="adj" fmla="val 35294"/>
            </a:avLst>
          </a:prstGeom>
          <a:solidFill>
            <a:srgbClr val="2AA9C4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87968" y="1819656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演进轨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99832" y="23134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微服务父工程 · 7 模块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635240" y="2926080"/>
            <a:ext cx="1024128" cy="749808"/>
          </a:xfrm>
          <a:prstGeom prst="roundRect">
            <a:avLst>
              <a:gd name="adj" fmla="val 9756"/>
            </a:avLst>
          </a:prstGeom>
          <a:solidFill>
            <a:srgbClr val="EDF8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03580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9680" y="2926080"/>
            <a:ext cx="1024128" cy="749808"/>
          </a:xfrm>
          <a:prstGeom prst="roundRect">
            <a:avLst>
              <a:gd name="adj" fmla="val 9756"/>
            </a:avLst>
          </a:prstGeom>
          <a:solidFill>
            <a:srgbClr val="EDF8F8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303580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104120" y="2926080"/>
            <a:ext cx="1097280" cy="749808"/>
          </a:xfrm>
          <a:prstGeom prst="roundRect">
            <a:avLst>
              <a:gd name="adj" fmla="val 9756"/>
            </a:avLst>
          </a:prstGeom>
          <a:solidFill>
            <a:srgbClr val="EDF8F8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49840" y="303580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D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36992" y="3995928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0A4B5B"/>
          </a:solidFill>
          <a:ln w="12700">
            <a:solidFill>
              <a:srgbClr val="0A4B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36992" y="40050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Dubbo 3.3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26880" y="3995928"/>
            <a:ext cx="1024128" cy="310896"/>
          </a:xfrm>
          <a:prstGeom prst="roundRect">
            <a:avLst>
              <a:gd name="adj" fmla="val 35294"/>
            </a:avLst>
          </a:prstGeom>
          <a:solidFill>
            <a:srgbClr val="0A4B5B"/>
          </a:solidFill>
          <a:ln w="12700">
            <a:solidFill>
              <a:srgbClr val="0A4B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40050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Nacos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506456" y="3995928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0A4B5B"/>
          </a:solidFill>
          <a:ln w="12700">
            <a:solidFill>
              <a:srgbClr val="0A4B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06456" y="4005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库模块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70048" y="2798064"/>
            <a:ext cx="411480" cy="566928"/>
          </a:xfrm>
          <a:prstGeom prst="chevron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2798064"/>
            <a:ext cx="365760" cy="566928"/>
          </a:xfrm>
          <a:prstGeom prst="chevron">
            <a:avLst/>
          </a:prstGeom>
          <a:solidFill>
            <a:srgbClr val="C9DDDD"/>
          </a:solidFill>
          <a:ln w="12700">
            <a:solidFill>
              <a:srgbClr val="C9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" y="5193792"/>
            <a:ext cx="10963656" cy="658368"/>
          </a:xfrm>
          <a:prstGeom prst="roundRect">
            <a:avLst>
              <a:gd name="adj" fmla="val 13889"/>
            </a:avLst>
          </a:prstGeom>
          <a:solidFill>
            <a:srgbClr val="FFF4E8"/>
          </a:solidFill>
          <a:ln w="12700">
            <a:solidFill>
              <a:srgbClr val="F7D4A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5376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D5D"/>
                </a:solidFill>
              </a:rPr>
              <a:t>关键缺口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865376" y="5358384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3A40"/>
                </a:solidFill>
              </a:rPr>
              <a:t>前端仍固定代理 8123 · 无 Gateway · 微服务缺 LangGraph、监控与测试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yu-ai-code-mother · 每日项目状态 · 2026-07-14（北京时间）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核心能力地图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从需求描述到可访问应用，已具备生成、编辑、部署和治理的端到端链路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5216" y="1645920"/>
            <a:ext cx="5413248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645920"/>
            <a:ext cx="118872" cy="19019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901952"/>
            <a:ext cx="576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82496" y="1920240"/>
            <a:ext cx="3611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3B4C"/>
                </a:solidFill>
              </a:rPr>
              <a:t>智能代码生成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682496" y="25694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2478024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SSE 流式输出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682496" y="291693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01952" y="2825496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三种生成模式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682496" y="326440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3172968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文件工具调用 + 路由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9632" y="1645920"/>
            <a:ext cx="5413248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645920"/>
            <a:ext cx="118872" cy="1901952"/>
          </a:xfrm>
          <a:prstGeom prst="rect">
            <a:avLst/>
          </a:prstGeom>
          <a:solidFill>
            <a:srgbClr val="2AA9C4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901952"/>
            <a:ext cx="576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96912" y="1920240"/>
            <a:ext cx="3611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3B4C"/>
                </a:solidFill>
              </a:rPr>
              <a:t>可视化编辑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296912" y="2569464"/>
            <a:ext cx="109728" cy="109728"/>
          </a:xfrm>
          <a:prstGeom prst="ellipse">
            <a:avLst/>
          </a:prstGeom>
          <a:solidFill>
            <a:srgbClr val="2AA9C4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68" y="2478024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iframe 元素选中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96912" y="2916936"/>
            <a:ext cx="109728" cy="109728"/>
          </a:xfrm>
          <a:prstGeom prst="ellipse">
            <a:avLst/>
          </a:prstGeom>
          <a:solidFill>
            <a:srgbClr val="2AA9C4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2825496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编辑模式切换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96912" y="3264408"/>
            <a:ext cx="109728" cy="109728"/>
          </a:xfrm>
          <a:prstGeom prst="ellipse">
            <a:avLst/>
          </a:prstGeom>
          <a:solidFill>
            <a:srgbClr val="2AA9C4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3172968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对话驱动页面修改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5216" y="3913632"/>
            <a:ext cx="5413248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" y="3913632"/>
            <a:ext cx="118872" cy="1901952"/>
          </a:xfrm>
          <a:prstGeom prst="rect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4169664"/>
            <a:ext cx="576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82496" y="4187952"/>
            <a:ext cx="3611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3B4C"/>
                </a:solidFill>
              </a:rPr>
              <a:t>部署与分享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1682496" y="4837176"/>
            <a:ext cx="109728" cy="109728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01952" y="4745736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一键部署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682496" y="5184648"/>
            <a:ext cx="109728" cy="109728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01952" y="5093208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Selenium 自动截图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682496" y="5532120"/>
            <a:ext cx="109728" cy="109728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01952" y="5440680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 ZIP 下载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99632" y="3913632"/>
            <a:ext cx="5413248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9632" y="3913632"/>
            <a:ext cx="118872" cy="1901952"/>
          </a:xfrm>
          <a:prstGeom prst="rect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4169664"/>
            <a:ext cx="576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A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296912" y="4187952"/>
            <a:ext cx="3611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3B4C"/>
                </a:solidFill>
              </a:rPr>
              <a:t>企业级治理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7296912" y="4837176"/>
            <a:ext cx="109728" cy="109728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16368" y="4745736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 / 应用 / 对话管理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296912" y="5184648"/>
            <a:ext cx="109728" cy="109728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16368" y="5093208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限流、缓存与 AI 护轨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296912" y="5532120"/>
            <a:ext cx="109728" cy="109728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16368" y="5440680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Prometheus + Grafana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yu-ai-code-mother · 每日项目状态 · 2026-07-14（北京时间）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AI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生成工作流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单体版已实现 LangGraph4j 主流程、并发流程与子图流程；微服务侧尚未迁移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56064" y="667512"/>
            <a:ext cx="1572768" cy="310896"/>
          </a:xfrm>
          <a:prstGeom prst="roundRect">
            <a:avLst>
              <a:gd name="adj" fmla="val 35294"/>
            </a:avLst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6064" y="6766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已实现 · 单体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06424" y="182880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" y="19293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" y="2578608"/>
            <a:ext cx="1572768" cy="1216152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163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B4C"/>
                </a:solidFill>
              </a:rPr>
              <a:t>图片收集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3227832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搜索 / Logo / 插画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21992" y="2898648"/>
            <a:ext cx="256032" cy="420624"/>
          </a:xfrm>
          <a:prstGeom prst="chevron">
            <a:avLst/>
          </a:prstGeom>
          <a:solidFill>
            <a:srgbClr val="A7CFD0"/>
          </a:solidFill>
          <a:ln w="12700">
            <a:solidFill>
              <a:srgbClr val="A7CF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08376" y="1828800"/>
            <a:ext cx="566928" cy="566928"/>
          </a:xfrm>
          <a:prstGeom prst="ellipse">
            <a:avLst/>
          </a:prstGeom>
          <a:solidFill>
            <a:srgbClr val="2AA9C4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19293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05456" y="2578608"/>
            <a:ext cx="1572768" cy="1216152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5184" y="28163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B4C"/>
                </a:solidFill>
              </a:rPr>
              <a:t>提示增强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15184" y="3227832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补全结构与约束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23944" y="2898648"/>
            <a:ext cx="256032" cy="420624"/>
          </a:xfrm>
          <a:prstGeom prst="chevron">
            <a:avLst/>
          </a:prstGeom>
          <a:solidFill>
            <a:srgbClr val="A7CFD0"/>
          </a:solidFill>
          <a:ln w="12700">
            <a:solidFill>
              <a:srgbClr val="A7CF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0328" y="1828800"/>
            <a:ext cx="566928" cy="566928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9293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07408" y="2578608"/>
            <a:ext cx="1572768" cy="1216152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7136" y="28163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B4C"/>
                </a:solidFill>
              </a:rPr>
              <a:t>智能路由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17136" y="3227832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HTML / Multi / Vue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25896" y="2898648"/>
            <a:ext cx="256032" cy="420624"/>
          </a:xfrm>
          <a:prstGeom prst="chevron">
            <a:avLst/>
          </a:prstGeom>
          <a:solidFill>
            <a:srgbClr val="A7CFD0"/>
          </a:solidFill>
          <a:ln w="12700">
            <a:solidFill>
              <a:srgbClr val="A7CF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182880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9293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2578608"/>
            <a:ext cx="1572768" cy="1216152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28163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B4C"/>
                </a:solidFill>
              </a:rPr>
              <a:t>代码生成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19088" y="3227832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流式输出 + 工具调用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27848" y="2898648"/>
            <a:ext cx="256032" cy="420624"/>
          </a:xfrm>
          <a:prstGeom prst="chevron">
            <a:avLst/>
          </a:prstGeom>
          <a:solidFill>
            <a:srgbClr val="A7CFD0"/>
          </a:solidFill>
          <a:ln w="12700">
            <a:solidFill>
              <a:srgbClr val="A7CF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14232" y="1828800"/>
            <a:ext cx="566928" cy="566928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19293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211312" y="2578608"/>
            <a:ext cx="1572768" cy="1216152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28163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B4C"/>
                </a:solidFill>
              </a:rPr>
              <a:t>质量检查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21040" y="3227832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护轨 + 结果校验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829800" y="2898648"/>
            <a:ext cx="256032" cy="420624"/>
          </a:xfrm>
          <a:prstGeom prst="chevron">
            <a:avLst/>
          </a:prstGeom>
          <a:solidFill>
            <a:srgbClr val="A7CFD0"/>
          </a:solidFill>
          <a:ln w="12700">
            <a:solidFill>
              <a:srgbClr val="A7CF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16184" y="1828800"/>
            <a:ext cx="566928" cy="566928"/>
          </a:xfrm>
          <a:prstGeom prst="ellipse">
            <a:avLst/>
          </a:prstGeom>
          <a:solidFill>
            <a:srgbClr val="0A4B5B"/>
          </a:solidFill>
          <a:ln w="12700">
            <a:solidFill>
              <a:srgbClr val="0A4B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16184" y="19293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113264" y="2578608"/>
            <a:ext cx="1572768" cy="1216152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0A4B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22992" y="28163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B4C"/>
                </a:solidFill>
              </a:rPr>
              <a:t>项目构建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222992" y="3227832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落盘 / 预览 / 部署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3504" y="4389120"/>
            <a:ext cx="6812280" cy="1298448"/>
          </a:xfrm>
          <a:prstGeom prst="roundRect">
            <a:avLst>
              <a:gd name="adj" fmla="val 8451"/>
            </a:avLst>
          </a:prstGeom>
          <a:solidFill>
            <a:srgbClr val="E5F6F3"/>
          </a:solidFill>
          <a:ln w="12700">
            <a:solidFill>
              <a:srgbClr val="B8E4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536" y="4645152"/>
            <a:ext cx="402336" cy="402336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" y="465429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389888" y="4654296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稳定性与成本控制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96112" y="5212080"/>
            <a:ext cx="109728" cy="109728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15568" y="5120640"/>
            <a:ext cx="5980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安全审查、空响应/短响应重试、工具调用上限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896112" y="5541264"/>
            <a:ext cx="109728" cy="109728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5568" y="5449824"/>
            <a:ext cx="5980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路由模型使用 qwen-turbo，仅分流分类任务以控制 Token 成本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644384" y="4389120"/>
            <a:ext cx="3913632" cy="1298448"/>
          </a:xfrm>
          <a:prstGeom prst="roundRect">
            <a:avLst>
              <a:gd name="adj" fmla="val 8451"/>
            </a:avLst>
          </a:prstGeom>
          <a:solidFill>
            <a:srgbClr val="FFF4E8"/>
          </a:solidFill>
          <a:ln w="12700">
            <a:solidFill>
              <a:srgbClr val="F7D4A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0416" y="4645152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00416" y="465429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430768" y="4654296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迁移边界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936992" y="5129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3A40"/>
                </a:solidFill>
              </a:rPr>
              <a:t>微服务目录中没有 LangGraph4j 工作流与 Workflow SSE Controller。</a:t>
            </a:r>
            <a:endParaRPr lang="en-US" sz="1220" dirty="0"/>
          </a:p>
        </p:txBody>
      </p:sp>
      <p:sp>
        <p:nvSpPr>
          <p:cNvPr id="55" name="Text 53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yu-ai-code-mother · 每日项目状态 · 2026-07-14（北京时间）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RECENT PROGRESS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昨日 / 近期进展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昨日及最近 7 天无提交；以下为仓库最近一轮可验证演进（2025-08）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24544" y="603504"/>
            <a:ext cx="2322576" cy="731520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12700">
            <a:solidFill>
              <a:srgbClr val="F7D4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62288" y="685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710928" y="7498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A40"/>
                </a:solidFill>
              </a:rPr>
              <a:t>近 7 天提交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136392"/>
            <a:ext cx="10195560" cy="0"/>
          </a:xfrm>
          <a:prstGeom prst="line">
            <a:avLst/>
          </a:prstGeom>
          <a:noFill/>
          <a:ln w="38100">
            <a:solidFill>
              <a:srgbClr val="8BC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935224"/>
            <a:ext cx="402336" cy="402336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2724912"/>
            <a:ext cx="0" cy="201168"/>
          </a:xfrm>
          <a:prstGeom prst="line">
            <a:avLst/>
          </a:prstGeom>
          <a:noFill/>
          <a:ln w="1778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700784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81051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08/13 · 3e71e72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5528" y="2057400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73B4C"/>
                </a:solidFill>
              </a:rPr>
              <a:t>安全优化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5528" y="2331720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777B"/>
                </a:solidFill>
              </a:rPr>
              <a:t>Prompt 审查护轨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154680" y="2935224"/>
            <a:ext cx="402336" cy="402336"/>
          </a:xfrm>
          <a:prstGeom prst="ellipse">
            <a:avLst/>
          </a:prstGeom>
          <a:solidFill>
            <a:srgbClr val="2AA9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5848" y="3337560"/>
            <a:ext cx="0" cy="219456"/>
          </a:xfrm>
          <a:prstGeom prst="line">
            <a:avLst/>
          </a:prstGeom>
          <a:noFill/>
          <a:ln w="17780">
            <a:solidFill>
              <a:srgbClr val="2AA9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07208" y="3575304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36850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08/13 · 5d45f3a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44368" y="3931920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73B4C"/>
                </a:solidFill>
              </a:rPr>
              <a:t>稳定性 / 成本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944368" y="4206240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777B"/>
                </a:solidFill>
              </a:rPr>
              <a:t>重试、退出工具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D777B"/>
                </a:solidFill>
              </a:rPr>
              <a:t>qwen-turbo 路由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303520" y="2935224"/>
            <a:ext cx="402336" cy="402336"/>
          </a:xfrm>
          <a:prstGeom prst="ellipse">
            <a:avLst/>
          </a:prstGeom>
          <a:solidFill>
            <a:srgbClr val="3D7E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4688" y="2724912"/>
            <a:ext cx="0" cy="201168"/>
          </a:xfrm>
          <a:prstGeom prst="line">
            <a:avLst/>
          </a:prstGeom>
          <a:noFill/>
          <a:ln w="17780">
            <a:solidFill>
              <a:srgbClr val="3D7E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6048" y="1700784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181051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D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08/14 · ad303cc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93208" y="2057400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73B4C"/>
                </a:solidFill>
              </a:rPr>
              <a:t>部署上线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93208" y="2331720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777B"/>
                </a:solidFill>
              </a:rPr>
              <a:t>生产配置与部署域名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452360" y="2935224"/>
            <a:ext cx="402336" cy="402336"/>
          </a:xfrm>
          <a:prstGeom prst="ellipse">
            <a:avLst/>
          </a:prstGeom>
          <a:solidFill>
            <a:srgbClr val="3AA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53528" y="3337560"/>
            <a:ext cx="0" cy="219456"/>
          </a:xfrm>
          <a:prstGeom prst="line">
            <a:avLst/>
          </a:prstGeom>
          <a:noFill/>
          <a:ln w="17780">
            <a:solidFill>
              <a:srgbClr val="3AA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04888" y="3575304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36850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AA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08/14 · 18c86bc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42048" y="3931920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73B4C"/>
                </a:solidFill>
              </a:rPr>
              <a:t>可观测性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242048" y="4206240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777B"/>
                </a:solidFill>
              </a:rPr>
              <a:t>Prometheus + Grafana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601200" y="2935224"/>
            <a:ext cx="402336" cy="402336"/>
          </a:xfrm>
          <a:prstGeom prst="ellipse">
            <a:avLst/>
          </a:prstGeom>
          <a:solidFill>
            <a:srgbClr val="0A4B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02368" y="2724912"/>
            <a:ext cx="0" cy="201168"/>
          </a:xfrm>
          <a:prstGeom prst="line">
            <a:avLst/>
          </a:prstGeom>
          <a:noFill/>
          <a:ln w="17780">
            <a:solidFill>
              <a:srgbClr val="0A4B5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53728" y="1700784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A4B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90888" y="181051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4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08/26 · 893918c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390888" y="2057400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73B4C"/>
                </a:solidFill>
              </a:rPr>
              <a:t>微服务改造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390888" y="2331720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777B"/>
                </a:solidFill>
              </a:rPr>
              <a:t>7 模块 + Dubbo/Nacos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03504" y="5001768"/>
            <a:ext cx="10954512" cy="786384"/>
          </a:xfrm>
          <a:prstGeom prst="roundRect">
            <a:avLst>
              <a:gd name="adj" fmla="val 11628"/>
            </a:avLst>
          </a:prstGeom>
          <a:solidFill>
            <a:srgbClr val="EAF6F7"/>
          </a:solidFill>
          <a:ln w="12700">
            <a:solidFill>
              <a:srgbClr val="C5E2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" y="52578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活跃度判断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938528" y="5230368"/>
            <a:ext cx="9052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3A40"/>
                </a:solidFill>
              </a:rPr>
              <a:t>最新提交距本报告约 11 个月；当前属于“能力存量可分析、近期交付不可证明”的状态。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yu-ai-code-mother · 每日项目状态 · 2026-07-14（北京时间）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数据与指标要点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代码仓库静态快照；未接入线上访问量、生成成功率、Token 成本等运行数据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5216" y="1664208"/>
            <a:ext cx="6931152" cy="4261104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29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B4C"/>
                </a:solidFill>
              </a:rPr>
              <a:t>代码与测试分布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57860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A40"/>
                </a:solidFill>
              </a:rPr>
              <a:t>单体主代码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67712" y="2596896"/>
            <a:ext cx="3493008" cy="201168"/>
          </a:xfrm>
          <a:prstGeom prst="roundRect">
            <a:avLst>
              <a:gd name="adj" fmla="val 22727"/>
            </a:avLst>
          </a:prstGeom>
          <a:solidFill>
            <a:srgbClr val="E8F0F0"/>
          </a:solidFill>
          <a:ln w="12700">
            <a:solidFill>
              <a:srgbClr val="E8F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2596896"/>
            <a:ext cx="3362020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25312" y="254203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5877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777B"/>
                </a:solidFill>
              </a:rPr>
              <a:t>Java 文件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331012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A40"/>
                </a:solidFill>
              </a:rPr>
              <a:t>微服务主代码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267712" y="3328416"/>
            <a:ext cx="3493008" cy="201168"/>
          </a:xfrm>
          <a:prstGeom prst="roundRect">
            <a:avLst>
              <a:gd name="adj" fmla="val 22727"/>
            </a:avLst>
          </a:prstGeom>
          <a:solidFill>
            <a:srgbClr val="E8F0F0"/>
          </a:solidFill>
          <a:ln w="12700">
            <a:solidFill>
              <a:srgbClr val="E8F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7712" y="3328416"/>
            <a:ext cx="2576093" cy="201168"/>
          </a:xfrm>
          <a:prstGeom prst="roundRect">
            <a:avLst>
              <a:gd name="adj" fmla="val 22727"/>
            </a:avLst>
          </a:prstGeom>
          <a:solidFill>
            <a:srgbClr val="2AA9C4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327355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3192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777B"/>
                </a:solidFill>
              </a:rPr>
              <a:t>Java 文件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" y="404164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A40"/>
                </a:solidFill>
              </a:rPr>
              <a:t>单体测试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67712" y="4059936"/>
            <a:ext cx="3493008" cy="201168"/>
          </a:xfrm>
          <a:prstGeom prst="roundRect">
            <a:avLst>
              <a:gd name="adj" fmla="val 22727"/>
            </a:avLst>
          </a:prstGeom>
          <a:solidFill>
            <a:srgbClr val="E8F0F0"/>
          </a:solidFill>
          <a:ln w="12700">
            <a:solidFill>
              <a:srgbClr val="E8F0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7712" y="4059936"/>
            <a:ext cx="2619756" cy="201168"/>
          </a:xfrm>
          <a:prstGeom prst="roundRect">
            <a:avLst>
              <a:gd name="adj" fmla="val 22727"/>
            </a:avLst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400507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AA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40507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777B"/>
                </a:solidFill>
              </a:rPr>
              <a:t>测试文件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96112" y="477316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A40"/>
                </a:solidFill>
              </a:rPr>
              <a:t>微服务测试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267712" y="4791456"/>
            <a:ext cx="3493008" cy="201168"/>
          </a:xfrm>
          <a:prstGeom prst="roundRect">
            <a:avLst>
              <a:gd name="adj" fmla="val 22727"/>
            </a:avLst>
          </a:prstGeom>
          <a:solidFill>
            <a:srgbClr val="E8F0F0"/>
          </a:solidFill>
          <a:ln w="12700">
            <a:solidFill>
              <a:srgbClr val="E8F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67712" y="4791456"/>
            <a:ext cx="45720" cy="201168"/>
          </a:xfrm>
          <a:prstGeom prst="roundRect">
            <a:avLst>
              <a:gd name="adj" fmla="val 100000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25312" y="4736592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47823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777B"/>
                </a:solidFill>
              </a:rPr>
              <a:t>测试文件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0" y="1664208"/>
            <a:ext cx="1755648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D7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664208"/>
            <a:ext cx="73152" cy="1490472"/>
          </a:xfrm>
          <a:prstGeom prst="rect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1847088"/>
            <a:ext cx="1344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8019288" y="241401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前端页面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19288" y="2743200"/>
            <a:ext cx="1344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路由页面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710928" y="1664208"/>
            <a:ext cx="1755648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D7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0928" y="1664208"/>
            <a:ext cx="73152" cy="1490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57816" y="1847088"/>
            <a:ext cx="1344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9957816" y="241401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可部署服务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957816" y="2743200"/>
            <a:ext cx="1344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单体 + 3 服务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72400" y="3346704"/>
            <a:ext cx="1755648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D7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0" y="3346704"/>
            <a:ext cx="73152" cy="1490472"/>
          </a:xfrm>
          <a:prstGeom prst="rect">
            <a:avLst/>
          </a:prstGeom>
          <a:solidFill>
            <a:srgbClr val="2AA9C4"/>
          </a:solidFill>
          <a:ln w="12700">
            <a:solidFill>
              <a:srgbClr val="2AA9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19288" y="3529584"/>
            <a:ext cx="1344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8019288" y="409651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数据库表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19288" y="4425696"/>
            <a:ext cx="1344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 / 应用 / 对话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710928" y="3346704"/>
            <a:ext cx="1755648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D7E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10928" y="3346704"/>
            <a:ext cx="73152" cy="1490472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57816" y="3529584"/>
            <a:ext cx="1344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9957816" y="409651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 流水线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957816" y="4425696"/>
            <a:ext cx="1344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仓库未发现配置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72400" y="5084064"/>
            <a:ext cx="3694176" cy="841248"/>
          </a:xfrm>
          <a:prstGeom prst="roundRect">
            <a:avLst>
              <a:gd name="adj" fmla="val 10870"/>
            </a:avLst>
          </a:prstGeom>
          <a:solidFill>
            <a:srgbClr val="FFF4E8"/>
          </a:solidFill>
          <a:ln w="12700">
            <a:solidFill>
              <a:srgbClr val="F7D4A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28432" y="528523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261"/>
                </a:solidFill>
              </a:rPr>
              <a:t>运行数据缺口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162288" y="5257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3A40"/>
                </a:solidFill>
              </a:rPr>
              <a:t>需从 Prometheus / 业务库接入真实趋势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yu-ai-code-mother · 每日项目状态 · 2026-07-14（北京时间）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QUALITY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质量与 CI 状态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仓库存在测试代码，但缺少自动化流水线，且现有集成测试强依赖外部环境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5216" y="1737360"/>
            <a:ext cx="2487168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984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B4C"/>
                </a:solidFill>
              </a:rPr>
              <a:t>单体后端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93976" y="1938528"/>
            <a:ext cx="731520" cy="310896"/>
          </a:xfrm>
          <a:prstGeom prst="roundRect">
            <a:avLst>
              <a:gd name="adj" fmla="val 35294"/>
            </a:avLst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93976" y="1947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有基础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" y="24688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A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09344" y="26791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77B"/>
                </a:solidFill>
              </a:rPr>
              <a:t>测试文件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3816" y="3236976"/>
            <a:ext cx="1993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A40"/>
                </a:solidFill>
              </a:rPr>
              <a:t>多为 @SpringBootTest；涉及 AI、Redis、数据库、Selenium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1737360"/>
            <a:ext cx="2487168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984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B4C"/>
                </a:solidFill>
              </a:rPr>
              <a:t>微服务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1938528"/>
            <a:ext cx="731520" cy="310896"/>
          </a:xfrm>
          <a:prstGeom prst="roundRect">
            <a:avLst>
              <a:gd name="adj" fmla="val 35294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947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4688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453128" y="26791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77B"/>
                </a:solidFill>
              </a:rPr>
              <a:t>测试文件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0" y="3236976"/>
            <a:ext cx="1993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A40"/>
                </a:solidFill>
              </a:rPr>
              <a:t>7 个子模块未发现 src/test 测试代码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2784" y="1737360"/>
            <a:ext cx="2487168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1984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B4C"/>
                </a:solidFill>
              </a:rPr>
              <a:t>前端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81544" y="1938528"/>
            <a:ext cx="731520" cy="310896"/>
          </a:xfrm>
          <a:prstGeom prst="roundRect">
            <a:avLst>
              <a:gd name="adj" fmla="val 35294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81544" y="1947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01384" y="24688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296912" y="26791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77B"/>
                </a:solidFill>
              </a:rPr>
              <a:t>测试脚本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01384" y="3236976"/>
            <a:ext cx="1993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A40"/>
                </a:solidFill>
              </a:rPr>
              <a:t>有 build / type-check / lint，无 Vitest 或 E2E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16568" y="1737360"/>
            <a:ext cx="2487168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45168" y="1984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3B4C"/>
                </a:solidFill>
              </a:rPr>
              <a:t>CI/CD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625328" y="1938528"/>
            <a:ext cx="731520" cy="310896"/>
          </a:xfrm>
          <a:prstGeom prst="roundRect">
            <a:avLst>
              <a:gd name="adj" fmla="val 3529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25328" y="1947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未配置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45168" y="24688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10140696" y="26791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77B"/>
                </a:solidFill>
              </a:rPr>
              <a:t>流水线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345168" y="3236976"/>
            <a:ext cx="1993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A40"/>
                </a:solidFill>
              </a:rPr>
              <a:t>未发现 GitHub Actions、GitLab CI 或 Jenkins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5216" y="4315968"/>
            <a:ext cx="6931152" cy="1408176"/>
          </a:xfrm>
          <a:prstGeom prst="roundRect">
            <a:avLst>
              <a:gd name="adj" fmla="val 7792"/>
            </a:avLst>
          </a:prstGeom>
          <a:solidFill>
            <a:srgbClr val="E5F6F3"/>
          </a:solidFill>
          <a:ln w="12700">
            <a:solidFill>
              <a:srgbClr val="B8E4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" y="459028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459943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89888" y="4599432"/>
            <a:ext cx="5824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当前可验证范围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6112" y="515721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15568" y="5065776"/>
            <a:ext cx="5961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静态可确认：模块、接口、测试文件与监控配置存在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6112" y="546811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76672"/>
            <a:ext cx="5961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3A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动态不可确认：无可用流水线历史，未报告“测试通过”结论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54112" y="4315968"/>
            <a:ext cx="3849624" cy="1408176"/>
          </a:xfrm>
          <a:prstGeom prst="roundRect">
            <a:avLst>
              <a:gd name="adj" fmla="val 7792"/>
            </a:avLst>
          </a:prstGeom>
          <a:solidFill>
            <a:srgbClr val="FFF4E8"/>
          </a:solidFill>
          <a:ln w="12700">
            <a:solidFill>
              <a:srgbClr val="F7D4A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10144" y="4590288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10144" y="459943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540496" y="459943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首要质量门禁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046720" y="50840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3A40"/>
                </a:solidFill>
              </a:rPr>
              <a:t>建立可重复的 build + unit test + type-check，外部 API 测试分层隔离。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yu-ai-code-mother · 每日项目状态 · 2026-07-14（北京时间）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RISKS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风险与未完成项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按影响与紧迫度排序；均来自当前仓库代码与配置的可验证事实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 rot="16200000">
            <a:off x="521208" y="29718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77B"/>
                </a:solidFill>
              </a:rPr>
              <a:t>影响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13832" y="5897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777B"/>
                </a:solidFill>
              </a:rPr>
              <a:t>紧迫度 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7552" y="5641848"/>
            <a:ext cx="10314432" cy="0"/>
          </a:xfrm>
          <a:prstGeom prst="line">
            <a:avLst/>
          </a:prstGeom>
          <a:noFill/>
          <a:ln w="15240">
            <a:solidFill>
              <a:srgbClr val="C9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682496"/>
            <a:ext cx="0" cy="3959352"/>
          </a:xfrm>
          <a:prstGeom prst="line">
            <a:avLst/>
          </a:prstGeom>
          <a:noFill/>
          <a:ln w="15240">
            <a:solidFill>
              <a:srgbClr val="C9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74520"/>
            <a:ext cx="312724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066544"/>
            <a:ext cx="438912" cy="438912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1396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84832" y="20208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</a:rPr>
              <a:t>双轨代码漂移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84832" y="235000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单体与微服务重复实现、依赖版本不一致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90288" y="1874520"/>
            <a:ext cx="312724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2066544"/>
            <a:ext cx="438912" cy="438912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1396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49240" y="20208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</a:rPr>
              <a:t>微服务入口缺失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35000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无 Gateway，前端仍固定连接 8123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54696" y="1874520"/>
            <a:ext cx="312724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37576" y="2066544"/>
            <a:ext cx="438912" cy="438912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37576" y="21396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13648" y="20208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</a:rPr>
              <a:t>自动化验证缺失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13648" y="235000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无 CI；微服务 / 前端测试为 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71800" y="3246120"/>
            <a:ext cx="312724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54680" y="3438144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35112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30752" y="3392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</a:rPr>
              <a:t>环境依赖阻塞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30752" y="372160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MySQL、Redis、Nacos、云 API、Chrome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36208" y="3246120"/>
            <a:ext cx="3127248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9088" y="3438144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35112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95160" y="3392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</a:rPr>
              <a:t>功能缺口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95160" y="372160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对话删除是假成功；AI 筛选枚举不一致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54696" y="4617720"/>
            <a:ext cx="312724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37576" y="4809744"/>
            <a:ext cx="438912" cy="438912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37576" y="48828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13648" y="47640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</a:rPr>
              <a:t>安全配置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13648" y="5093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777B"/>
                </a:solidFill>
              </a:rPr>
              <a:t>弱默认密码与本地配置模板依赖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yu-ai-code-mother · 每日项目状态 · 2026-07-14（北京时间）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建议的下一步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目标：先建立可验证基线，再收敛架构与功能缺口，最后补齐运行指标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5216" y="1673352"/>
            <a:ext cx="1100937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673352"/>
            <a:ext cx="1298448" cy="1133856"/>
          </a:xfrm>
          <a:prstGeom prst="roundRect">
            <a:avLst>
              <a:gd name="adj" fmla="val 8065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83664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建立最小质量门禁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21408" y="1956816"/>
            <a:ext cx="384048" cy="384048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20299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33472" y="190195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</a:rPr>
              <a:t>后端编译 + 纯单元测试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18888" y="2029968"/>
            <a:ext cx="228600" cy="320040"/>
          </a:xfrm>
          <a:prstGeom prst="chevron">
            <a:avLst/>
          </a:prstGeom>
          <a:solidFill>
            <a:srgbClr val="C9DDDD"/>
          </a:solidFill>
          <a:ln w="12700">
            <a:solidFill>
              <a:srgbClr val="C9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1956816"/>
            <a:ext cx="384048" cy="384048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0299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78424" y="190195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</a:rPr>
              <a:t>前端 type-check + build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0" y="2029968"/>
            <a:ext cx="228600" cy="320040"/>
          </a:xfrm>
          <a:prstGeom prst="chevron">
            <a:avLst/>
          </a:prstGeom>
          <a:solidFill>
            <a:srgbClr val="C9DDDD"/>
          </a:solidFill>
          <a:ln w="12700">
            <a:solidFill>
              <a:srgbClr val="C9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1956816"/>
            <a:ext cx="384048" cy="384048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0299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23376" y="190195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</a:rPr>
              <a:t>CI 中隔离外部 API 测试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5216" y="3063240"/>
            <a:ext cx="1100937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" y="3063240"/>
            <a:ext cx="1298448" cy="1133856"/>
          </a:xfrm>
          <a:prstGeom prst="roundRect">
            <a:avLst>
              <a:gd name="adj" fmla="val 806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273552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明确架构主线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21408" y="3346704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3419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33472" y="32918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</a:rPr>
              <a:t>确认单体或微服务为主版本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18888" y="3419856"/>
            <a:ext cx="228600" cy="320040"/>
          </a:xfrm>
          <a:prstGeom prst="chevron">
            <a:avLst/>
          </a:prstGeom>
          <a:solidFill>
            <a:srgbClr val="C9DDDD"/>
          </a:solidFill>
          <a:ln w="12700">
            <a:solidFill>
              <a:srgbClr val="C9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3346704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419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78424" y="32918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</a:rPr>
              <a:t>若走微服务：新增 Gateway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863840" y="3419856"/>
            <a:ext cx="228600" cy="320040"/>
          </a:xfrm>
          <a:prstGeom prst="chevron">
            <a:avLst/>
          </a:prstGeom>
          <a:solidFill>
            <a:srgbClr val="C9DDDD"/>
          </a:solidFill>
          <a:ln w="12700">
            <a:solidFill>
              <a:srgbClr val="C9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11312" y="3346704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11312" y="3419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23376" y="32918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</a:rPr>
              <a:t>统一依赖版本与配置入口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5216" y="4453128"/>
            <a:ext cx="1100937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E6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5216" y="4453128"/>
            <a:ext cx="1298448" cy="1133856"/>
          </a:xfrm>
          <a:prstGeom prst="roundRect">
            <a:avLst>
              <a:gd name="adj" fmla="val 80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663440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31520" y="5138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补齐产品与观测闭环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21408" y="473659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1408" y="48097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33472" y="46817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</a:rPr>
              <a:t>修复对话删除与 ai 枚举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18888" y="4809744"/>
            <a:ext cx="228600" cy="320040"/>
          </a:xfrm>
          <a:prstGeom prst="chevron">
            <a:avLst/>
          </a:prstGeom>
          <a:solidFill>
            <a:srgbClr val="C9DDDD"/>
          </a:solidFill>
          <a:ln w="12700">
            <a:solidFill>
              <a:srgbClr val="C9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473659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48097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78424" y="46817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</a:rPr>
              <a:t>迁移 LangGraph / 监控 / 测试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863840" y="4809744"/>
            <a:ext cx="228600" cy="320040"/>
          </a:xfrm>
          <a:prstGeom prst="chevron">
            <a:avLst/>
          </a:prstGeom>
          <a:solidFill>
            <a:srgbClr val="C9DDDD"/>
          </a:solidFill>
          <a:ln w="12700">
            <a:solidFill>
              <a:srgbClr val="C9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11312" y="473659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11312" y="48097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723376" y="46817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A40"/>
                </a:solidFill>
              </a:rPr>
              <a:t>接入成功率、耗时与 Token 成本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77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yu-ai-code-mother · 每日项目状态 · 2026-07-14（北京时间）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E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-777240"/>
            <a:ext cx="4389120" cy="4389120"/>
          </a:xfrm>
          <a:prstGeom prst="ellipse">
            <a:avLst/>
          </a:prstGeom>
          <a:solidFill>
            <a:srgbClr val="12B8A6">
              <a:alpha val="16000"/>
            </a:srgbClr>
          </a:solidFill>
          <a:ln w="25400">
            <a:solidFill>
              <a:srgbClr val="42D6C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48672" y="4334256"/>
            <a:ext cx="2468880" cy="2468880"/>
          </a:xfrm>
          <a:prstGeom prst="ellipse">
            <a:avLst/>
          </a:prstGeom>
          <a:solidFill>
            <a:srgbClr val="2AA9C4">
              <a:alpha val="14000"/>
            </a:srgbClr>
          </a:solidFill>
          <a:ln w="25400">
            <a:solidFill>
              <a:srgbClr val="2AA9C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2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005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总结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76656" y="175564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8F3EE"/>
                </a:solidFill>
              </a:rPr>
              <a:t>能力完整度较高，工程化可信度仍需补强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94944" y="2697480"/>
            <a:ext cx="475488" cy="475488"/>
          </a:xfrm>
          <a:prstGeom prst="ellipse">
            <a:avLst/>
          </a:prstGeom>
          <a:solidFill>
            <a:srgbClr val="3AA981"/>
          </a:solidFill>
          <a:ln w="12700">
            <a:solidFill>
              <a:srgbClr val="3AA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7889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89888" y="26883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A981"/>
                </a:solidFill>
              </a:rPr>
              <a:t>当前可用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16352" y="2679192"/>
            <a:ext cx="5687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单体具备生成、编辑、部署、管理、工作流与监控闭环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" y="3639312"/>
            <a:ext cx="475488" cy="47548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7307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89888" y="3630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</a:rPr>
              <a:t>当前停滞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16352" y="3621024"/>
            <a:ext cx="5687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近 7 天无提交，最新演进记录为 2025-08 微服务改造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4944" y="4581144"/>
            <a:ext cx="475488" cy="47548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46725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89888" y="4572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A6"/>
                </a:solidFill>
              </a:rPr>
              <a:t>当前优先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16352" y="4562856"/>
            <a:ext cx="5687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用 CI 与可重复测试建立基线，再决定架构主线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" y="5650992"/>
            <a:ext cx="7973568" cy="612648"/>
          </a:xfrm>
          <a:prstGeom prst="roundRect">
            <a:avLst>
              <a:gd name="adj" fmla="val 14925"/>
            </a:avLst>
          </a:prstGeom>
          <a:solidFill>
            <a:srgbClr val="0A4B5B"/>
          </a:solidFill>
          <a:ln w="12700">
            <a:solidFill>
              <a:srgbClr val="2D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5824728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D7F6F2"/>
                </a:solidFill>
              </a:rPr>
              <a:t>建议维护者决策：是否继续微服务化；若继续，Gateway + 自动化测试应先于新增功能。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281160" y="60990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A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· 2026-07-14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2026-07-14</dc:title>
  <dc:subject>AI 零代码应用生成平台每日项目状态</dc:subject>
  <dc:creator>Cursor Cloud Agent</dc:creator>
  <cp:lastModifiedBy>Cursor Cloud Agent</cp:lastModifiedBy>
  <cp:revision>1</cp:revision>
  <dcterms:created xsi:type="dcterms:W3CDTF">2026-07-14T09:09:06Z</dcterms:created>
  <dcterms:modified xsi:type="dcterms:W3CDTF">2026-07-14T09:09:06Z</dcterms:modified>
</cp:coreProperties>
</file>