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3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9464040" y="0"/>
            <a:ext cx="2697480" cy="6858000"/>
          </a:xfrm>
          <a:prstGeom prst="rect">
            <a:avLst/>
          </a:prstGeom>
          <a:solidFill>
            <a:srgbClr val="0A4A55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-777240"/>
            <a:ext cx="2468880" cy="2468880"/>
          </a:xfrm>
          <a:prstGeom prst="ellipse">
            <a:avLst/>
          </a:prstGeom>
          <a:solidFill>
            <a:srgbClr val="028090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89720" y="5212080"/>
            <a:ext cx="2194560" cy="2194560"/>
          </a:xfrm>
          <a:prstGeom prst="ellipse">
            <a:avLst/>
          </a:prstGeom>
          <a:solidFill>
            <a:srgbClr val="00A896">
              <a:alpha val="4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097280"/>
            <a:ext cx="2148840" cy="36576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97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STATUS  ·  2026-08-15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AI 零代码应用生成平台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2944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4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面向项目维护者与研发团队  ·  北京时间 2026 年 8 月 15 日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4937760" cy="530352"/>
          </a:xfrm>
          <a:prstGeom prst="roundRect">
            <a:avLst>
              <a:gd name="adj" fmla="val 13793"/>
            </a:avLst>
          </a:prstGeom>
          <a:solidFill>
            <a:srgbClr val="0E5560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" y="3758184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822192"/>
            <a:ext cx="201168" cy="20116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80160" y="3657600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+ 微服务双形态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40080" y="4315968"/>
            <a:ext cx="4937760" cy="530352"/>
          </a:xfrm>
          <a:prstGeom prst="roundRect">
            <a:avLst>
              <a:gd name="adj" fmla="val 13793"/>
            </a:avLst>
          </a:prstGeom>
          <a:solidFill>
            <a:srgbClr val="0E5560"/>
          </a:solidFill>
          <a:ln/>
        </p:spPr>
      </p:sp>
      <p:sp>
        <p:nvSpPr>
          <p:cNvPr id="16" name="Shape 13"/>
          <p:cNvSpPr/>
          <p:nvPr/>
        </p:nvSpPr>
        <p:spPr>
          <a:xfrm>
            <a:off x="804672" y="4416552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480560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280160" y="4315968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 / LangGraph4j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640080" y="4974336"/>
            <a:ext cx="4937760" cy="530352"/>
          </a:xfrm>
          <a:prstGeom prst="roundRect">
            <a:avLst>
              <a:gd name="adj" fmla="val 13793"/>
            </a:avLst>
          </a:prstGeom>
          <a:solidFill>
            <a:srgbClr val="0E5560"/>
          </a:solidFill>
          <a:ln/>
        </p:spPr>
      </p:sp>
      <p:sp>
        <p:nvSpPr>
          <p:cNvPr id="20" name="Shape 16"/>
          <p:cNvSpPr/>
          <p:nvPr/>
        </p:nvSpPr>
        <p:spPr>
          <a:xfrm>
            <a:off x="804672" y="5074920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138928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80160" y="4974336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教程第 14 期完结基线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960120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日业务提交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9601200" y="23774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6800" dirty="0"/>
          </a:p>
        </p:txBody>
      </p:sp>
      <p:sp>
        <p:nvSpPr>
          <p:cNvPr id="25" name="Text 20"/>
          <p:cNvSpPr/>
          <p:nvPr/>
        </p:nvSpPr>
        <p:spPr>
          <a:xfrm>
            <a:off x="9601200" y="35661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最近一次业务提交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06354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51052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0" y="65105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6720840" cy="5349240"/>
          </a:xfrm>
          <a:prstGeom prst="roundRect">
            <a:avLst>
              <a:gd name="adj" fmla="val 17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6354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960120"/>
            <a:ext cx="91440" cy="5349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1143000"/>
            <a:ext cx="347472" cy="34747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216152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1143000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定位与形态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22960" y="1627632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教学向企业级 AI 代码生成平台：用户用自然语言描述需求，系统自动路由生成策略、流式产出代码，并支持可视化改稿、一键部署与后台治理。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" y="260604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2960" y="2862072"/>
            <a:ext cx="6126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3.5、Java 21、LangChain4j 1.1、LangGraph4j 1.6-rc2、Vue 3 / TypeScript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2960" y="347472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交付形态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22960" y="3730752"/>
            <a:ext cx="6126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根目录保留完整单体；微服务拆为 7 个模块，通过 Dubbo 与 Nacos 协作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22960" y="434340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业务闭环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22960" y="4599432"/>
            <a:ext cx="6126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创建应用、SSE 生成、预览改稿、云端部署截图、源码下载、管理后台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22960" y="52120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观测配套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22960" y="5468112"/>
            <a:ext cx="6126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+ Prometheus 抓取 + Grafana 看板样例；告警规则尚未落地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498080" y="960120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063540"/>
          </a:solidFill>
          <a:ln/>
        </p:spPr>
      </p:sp>
      <p:sp>
        <p:nvSpPr>
          <p:cNvPr id="22" name="Text 19"/>
          <p:cNvSpPr/>
          <p:nvPr/>
        </p:nvSpPr>
        <p:spPr>
          <a:xfrm>
            <a:off x="7726680" y="105156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7726680" y="1581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累计提交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726680" y="18379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截至 2025-08-26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7498080" y="2331720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063540"/>
          </a:solidFill>
          <a:ln/>
        </p:spPr>
      </p:sp>
      <p:sp>
        <p:nvSpPr>
          <p:cNvPr id="26" name="Text 23"/>
          <p:cNvSpPr/>
          <p:nvPr/>
        </p:nvSpPr>
        <p:spPr>
          <a:xfrm>
            <a:off x="7726680" y="242316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000" dirty="0"/>
          </a:p>
        </p:txBody>
      </p:sp>
      <p:sp>
        <p:nvSpPr>
          <p:cNvPr id="27" name="Text 24"/>
          <p:cNvSpPr/>
          <p:nvPr/>
        </p:nvSpPr>
        <p:spPr>
          <a:xfrm>
            <a:off x="7726680" y="29535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726680" y="32095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 common / client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7498080" y="3703320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063540"/>
          </a:solidFill>
          <a:ln/>
        </p:spPr>
      </p:sp>
      <p:sp>
        <p:nvSpPr>
          <p:cNvPr id="30" name="Text 27"/>
          <p:cNvSpPr/>
          <p:nvPr/>
        </p:nvSpPr>
        <p:spPr>
          <a:xfrm>
            <a:off x="7726680" y="379476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000" dirty="0"/>
          </a:p>
        </p:txBody>
      </p:sp>
      <p:sp>
        <p:nvSpPr>
          <p:cNvPr id="31" name="Text 28"/>
          <p:cNvSpPr/>
          <p:nvPr/>
        </p:nvSpPr>
        <p:spPr>
          <a:xfrm>
            <a:off x="7726680" y="43251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后端测试类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7726680" y="45811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多为集成向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7498080" y="5074920"/>
            <a:ext cx="4160520" cy="1234440"/>
          </a:xfrm>
          <a:prstGeom prst="roundRect">
            <a:avLst>
              <a:gd name="adj" fmla="val 7407"/>
            </a:avLst>
          </a:prstGeom>
          <a:solidFill>
            <a:srgbClr val="063540"/>
          </a:solidFill>
          <a:ln/>
        </p:spPr>
      </p:sp>
      <p:sp>
        <p:nvSpPr>
          <p:cNvPr id="34" name="Text 31"/>
          <p:cNvSpPr/>
          <p:nvPr/>
        </p:nvSpPr>
        <p:spPr>
          <a:xfrm>
            <a:off x="7726680" y="516636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35" name="Text 32"/>
          <p:cNvSpPr/>
          <p:nvPr/>
        </p:nvSpPr>
        <p:spPr>
          <a:xfrm>
            <a:off x="7726680" y="56967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生成策略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726680" y="59527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多文件 / Vue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06354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51052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0" y="65105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54406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6354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58952" y="1243584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134416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261872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58952" y="194767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需求经路由模型选择 HTML、多文件或 Vue 工程策略；工具调用写文件，SSE 流式展示执行过程。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17920" y="987552"/>
            <a:ext cx="54406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6354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73952" y="1243584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1344168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086600" y="1261872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473952" y="194767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生成页实时预览，可选中元素与 AI 对话改稿。原生模式全量改，工程模式增量改（第 9 期）。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02920" y="3639312"/>
            <a:ext cx="54406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6354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58952" y="3895344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3995928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3913632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758952" y="459943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部署到云端，Selenium 自动截封面，获得可访问地址；同时支持完整项目源码下载。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6217920" y="3639312"/>
            <a:ext cx="54406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6354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73952" y="3895344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3995928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086600" y="3913632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6473952" y="4599432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用户、应用、对话管理与精选应用；限流与 Prompt 审查；AI 调用与系统指标监控。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06354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51052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0" y="65105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架构与模块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553212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6354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097280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170432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15568" y="109728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单体后端（根目录）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13232" y="1554480"/>
            <a:ext cx="5074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控制器：应用、用户、对话、静态资源、工作流 SSE、健康检查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AI：路由、生成工厂、输入输出护栏、文件工具与退出工具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工作流：收集图片、增强提示、路由、生成、质检、构建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横切：鉴权 AOP、Redisson 限流、Redis 会话与记忆、COS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观测：Micrometer 指标采集，Grafana 看板样例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09360" y="960120"/>
            <a:ext cx="534924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6354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92240" y="109728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1170432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31152" y="1097280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微服务拆分（第 14 期）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6537960" y="1600200"/>
            <a:ext cx="1170432" cy="960120"/>
          </a:xfrm>
          <a:prstGeom prst="roundRect">
            <a:avLst>
              <a:gd name="adj" fmla="val 7619"/>
            </a:avLst>
          </a:prstGeom>
          <a:solidFill>
            <a:srgbClr val="E8F4F3"/>
          </a:solidFill>
          <a:ln/>
        </p:spPr>
      </p:sp>
      <p:sp>
        <p:nvSpPr>
          <p:cNvPr id="17" name="Text 13"/>
          <p:cNvSpPr/>
          <p:nvPr/>
        </p:nvSpPr>
        <p:spPr>
          <a:xfrm>
            <a:off x="6611112" y="1746504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611112" y="207568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通用能力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799832" y="1600200"/>
            <a:ext cx="1170432" cy="960120"/>
          </a:xfrm>
          <a:prstGeom prst="roundRect">
            <a:avLst>
              <a:gd name="adj" fmla="val 7619"/>
            </a:avLst>
          </a:prstGeom>
          <a:solidFill>
            <a:srgbClr val="E8F4F3"/>
          </a:solidFill>
          <a:ln/>
        </p:spPr>
      </p:sp>
      <p:sp>
        <p:nvSpPr>
          <p:cNvPr id="20" name="Text 16"/>
          <p:cNvSpPr/>
          <p:nvPr/>
        </p:nvSpPr>
        <p:spPr>
          <a:xfrm>
            <a:off x="7872984" y="1746504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872984" y="207568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数据模型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9061704" y="1600200"/>
            <a:ext cx="1170432" cy="960120"/>
          </a:xfrm>
          <a:prstGeom prst="roundRect">
            <a:avLst>
              <a:gd name="adj" fmla="val 7619"/>
            </a:avLst>
          </a:prstGeom>
          <a:solidFill>
            <a:srgbClr val="E8F4F3"/>
          </a:solidFill>
          <a:ln/>
        </p:spPr>
      </p:sp>
      <p:sp>
        <p:nvSpPr>
          <p:cNvPr id="23" name="Text 19"/>
          <p:cNvSpPr/>
          <p:nvPr/>
        </p:nvSpPr>
        <p:spPr>
          <a:xfrm>
            <a:off x="9134856" y="1746504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9134856" y="207568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服务接口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0323576" y="1600200"/>
            <a:ext cx="1170432" cy="960120"/>
          </a:xfrm>
          <a:prstGeom prst="roundRect">
            <a:avLst>
              <a:gd name="adj" fmla="val 7619"/>
            </a:avLst>
          </a:prstGeom>
          <a:solidFill>
            <a:srgbClr val="E8F4F3"/>
          </a:solidFill>
          <a:ln/>
        </p:spPr>
      </p:sp>
      <p:sp>
        <p:nvSpPr>
          <p:cNvPr id="26" name="Text 22"/>
          <p:cNvSpPr/>
          <p:nvPr/>
        </p:nvSpPr>
        <p:spPr>
          <a:xfrm>
            <a:off x="10396728" y="1746504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10396728" y="207568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用户服务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537960" y="2697480"/>
            <a:ext cx="1170432" cy="960120"/>
          </a:xfrm>
          <a:prstGeom prst="roundRect">
            <a:avLst>
              <a:gd name="adj" fmla="val 7619"/>
            </a:avLst>
          </a:prstGeom>
          <a:solidFill>
            <a:srgbClr val="E8F4F3"/>
          </a:solidFill>
          <a:ln/>
        </p:spPr>
      </p:sp>
      <p:sp>
        <p:nvSpPr>
          <p:cNvPr id="29" name="Text 25"/>
          <p:cNvSpPr/>
          <p:nvPr/>
        </p:nvSpPr>
        <p:spPr>
          <a:xfrm>
            <a:off x="6611112" y="2843784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6611112" y="317296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应用服务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7799832" y="2697480"/>
            <a:ext cx="1170432" cy="960120"/>
          </a:xfrm>
          <a:prstGeom prst="roundRect">
            <a:avLst>
              <a:gd name="adj" fmla="val 7619"/>
            </a:avLst>
          </a:prstGeom>
          <a:solidFill>
            <a:srgbClr val="E8F4F3"/>
          </a:solidFill>
          <a:ln/>
        </p:spPr>
      </p:sp>
      <p:sp>
        <p:nvSpPr>
          <p:cNvPr id="32" name="Text 28"/>
          <p:cNvSpPr/>
          <p:nvPr/>
        </p:nvSpPr>
        <p:spPr>
          <a:xfrm>
            <a:off x="7872984" y="2843784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7872984" y="317296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模块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9061704" y="2697480"/>
            <a:ext cx="2523744" cy="960120"/>
          </a:xfrm>
          <a:prstGeom prst="roundRect">
            <a:avLst>
              <a:gd name="adj" fmla="val 7619"/>
            </a:avLst>
          </a:prstGeom>
          <a:solidFill>
            <a:srgbClr val="E8F4F3"/>
          </a:solidFill>
          <a:ln/>
        </p:spPr>
      </p:sp>
      <p:sp>
        <p:nvSpPr>
          <p:cNvPr id="35" name="Text 31"/>
          <p:cNvSpPr/>
          <p:nvPr/>
        </p:nvSpPr>
        <p:spPr>
          <a:xfrm>
            <a:off x="9134856" y="28437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9134856" y="31729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截图服务</a:t>
            </a:r>
            <a:endParaRPr lang="en-US" sz="1300" dirty="0"/>
          </a:p>
        </p:txBody>
      </p:sp>
      <p:sp>
        <p:nvSpPr>
          <p:cNvPr id="37" name="Shape 33"/>
          <p:cNvSpPr/>
          <p:nvPr/>
        </p:nvSpPr>
        <p:spPr>
          <a:xfrm>
            <a:off x="502920" y="4206240"/>
            <a:ext cx="11155680" cy="2103120"/>
          </a:xfrm>
          <a:prstGeom prst="roundRect">
            <a:avLst>
              <a:gd name="adj" fmla="val 4348"/>
            </a:avLst>
          </a:prstGeom>
          <a:solidFill>
            <a:srgbClr val="063540"/>
          </a:solidFill>
          <a:ln/>
        </p:spPr>
      </p:sp>
      <p:sp>
        <p:nvSpPr>
          <p:cNvPr id="38" name="Text 34"/>
          <p:cNvSpPr/>
          <p:nvPr/>
        </p:nvSpPr>
        <p:spPr>
          <a:xfrm>
            <a:off x="731520" y="4315968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工作流主链路（LangGraph4j）</a:t>
            </a:r>
            <a:endParaRPr lang="en-US" sz="1600" dirty="0"/>
          </a:p>
        </p:txBody>
      </p:sp>
      <p:sp>
        <p:nvSpPr>
          <p:cNvPr id="39" name="Shape 35"/>
          <p:cNvSpPr/>
          <p:nvPr/>
        </p:nvSpPr>
        <p:spPr>
          <a:xfrm>
            <a:off x="731520" y="4736592"/>
            <a:ext cx="1664208" cy="1325880"/>
          </a:xfrm>
          <a:prstGeom prst="roundRect">
            <a:avLst>
              <a:gd name="adj" fmla="val 5517"/>
            </a:avLst>
          </a:prstGeom>
          <a:solidFill>
            <a:srgbClr val="0A4A55"/>
          </a:solidFill>
          <a:ln/>
        </p:spPr>
      </p:sp>
      <p:sp>
        <p:nvSpPr>
          <p:cNvPr id="40" name="Text 36"/>
          <p:cNvSpPr/>
          <p:nvPr/>
        </p:nvSpPr>
        <p:spPr>
          <a:xfrm>
            <a:off x="731520" y="484632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41" name="Text 37"/>
          <p:cNvSpPr/>
          <p:nvPr/>
        </p:nvSpPr>
        <p:spPr>
          <a:xfrm>
            <a:off x="731520" y="528523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图片收集</a:t>
            </a:r>
            <a:endParaRPr lang="en-US" sz="1500" dirty="0"/>
          </a:p>
        </p:txBody>
      </p:sp>
      <p:sp>
        <p:nvSpPr>
          <p:cNvPr id="42" name="Shape 38"/>
          <p:cNvSpPr/>
          <p:nvPr/>
        </p:nvSpPr>
        <p:spPr>
          <a:xfrm>
            <a:off x="2542032" y="4736592"/>
            <a:ext cx="1664208" cy="1325880"/>
          </a:xfrm>
          <a:prstGeom prst="roundRect">
            <a:avLst>
              <a:gd name="adj" fmla="val 5517"/>
            </a:avLst>
          </a:prstGeom>
          <a:solidFill>
            <a:srgbClr val="0A4A55"/>
          </a:solidFill>
          <a:ln/>
        </p:spPr>
      </p:sp>
      <p:sp>
        <p:nvSpPr>
          <p:cNvPr id="43" name="Text 39"/>
          <p:cNvSpPr/>
          <p:nvPr/>
        </p:nvSpPr>
        <p:spPr>
          <a:xfrm>
            <a:off x="2542032" y="484632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44" name="Text 40"/>
          <p:cNvSpPr/>
          <p:nvPr/>
        </p:nvSpPr>
        <p:spPr>
          <a:xfrm>
            <a:off x="2542032" y="528523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提示增强</a:t>
            </a:r>
            <a:endParaRPr lang="en-US" sz="1500" dirty="0"/>
          </a:p>
        </p:txBody>
      </p:sp>
      <p:sp>
        <p:nvSpPr>
          <p:cNvPr id="45" name="Shape 41"/>
          <p:cNvSpPr/>
          <p:nvPr/>
        </p:nvSpPr>
        <p:spPr>
          <a:xfrm>
            <a:off x="4352544" y="4736592"/>
            <a:ext cx="1664208" cy="1325880"/>
          </a:xfrm>
          <a:prstGeom prst="roundRect">
            <a:avLst>
              <a:gd name="adj" fmla="val 5517"/>
            </a:avLst>
          </a:prstGeom>
          <a:solidFill>
            <a:srgbClr val="0A4A55"/>
          </a:solidFill>
          <a:ln/>
        </p:spPr>
      </p:sp>
      <p:sp>
        <p:nvSpPr>
          <p:cNvPr id="46" name="Text 42"/>
          <p:cNvSpPr/>
          <p:nvPr/>
        </p:nvSpPr>
        <p:spPr>
          <a:xfrm>
            <a:off x="4352544" y="484632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47" name="Text 43"/>
          <p:cNvSpPr/>
          <p:nvPr/>
        </p:nvSpPr>
        <p:spPr>
          <a:xfrm>
            <a:off x="4352544" y="528523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智能路由</a:t>
            </a:r>
            <a:endParaRPr lang="en-US" sz="1500" dirty="0"/>
          </a:p>
        </p:txBody>
      </p:sp>
      <p:sp>
        <p:nvSpPr>
          <p:cNvPr id="48" name="Shape 44"/>
          <p:cNvSpPr/>
          <p:nvPr/>
        </p:nvSpPr>
        <p:spPr>
          <a:xfrm>
            <a:off x="6163056" y="4736592"/>
            <a:ext cx="1664208" cy="1325880"/>
          </a:xfrm>
          <a:prstGeom prst="roundRect">
            <a:avLst>
              <a:gd name="adj" fmla="val 5517"/>
            </a:avLst>
          </a:prstGeom>
          <a:solidFill>
            <a:srgbClr val="0A4A55"/>
          </a:solidFill>
          <a:ln/>
        </p:spPr>
      </p:sp>
      <p:sp>
        <p:nvSpPr>
          <p:cNvPr id="49" name="Text 45"/>
          <p:cNvSpPr/>
          <p:nvPr/>
        </p:nvSpPr>
        <p:spPr>
          <a:xfrm>
            <a:off x="6163056" y="484632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50" name="Text 46"/>
          <p:cNvSpPr/>
          <p:nvPr/>
        </p:nvSpPr>
        <p:spPr>
          <a:xfrm>
            <a:off x="6163056" y="528523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代码生成</a:t>
            </a:r>
            <a:endParaRPr lang="en-US" sz="1500" dirty="0"/>
          </a:p>
        </p:txBody>
      </p:sp>
      <p:sp>
        <p:nvSpPr>
          <p:cNvPr id="51" name="Shape 47"/>
          <p:cNvSpPr/>
          <p:nvPr/>
        </p:nvSpPr>
        <p:spPr>
          <a:xfrm>
            <a:off x="7973568" y="4736592"/>
            <a:ext cx="1664208" cy="1325880"/>
          </a:xfrm>
          <a:prstGeom prst="roundRect">
            <a:avLst>
              <a:gd name="adj" fmla="val 5517"/>
            </a:avLst>
          </a:prstGeom>
          <a:solidFill>
            <a:srgbClr val="0A4A55"/>
          </a:solidFill>
          <a:ln/>
        </p:spPr>
      </p:sp>
      <p:sp>
        <p:nvSpPr>
          <p:cNvPr id="52" name="Text 48"/>
          <p:cNvSpPr/>
          <p:nvPr/>
        </p:nvSpPr>
        <p:spPr>
          <a:xfrm>
            <a:off x="7973568" y="484632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53" name="Text 49"/>
          <p:cNvSpPr/>
          <p:nvPr/>
        </p:nvSpPr>
        <p:spPr>
          <a:xfrm>
            <a:off x="7973568" y="528523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质量检查</a:t>
            </a:r>
            <a:endParaRPr lang="en-US" sz="1500" dirty="0"/>
          </a:p>
        </p:txBody>
      </p:sp>
      <p:sp>
        <p:nvSpPr>
          <p:cNvPr id="54" name="Shape 50"/>
          <p:cNvSpPr/>
          <p:nvPr/>
        </p:nvSpPr>
        <p:spPr>
          <a:xfrm>
            <a:off x="9784080" y="4736592"/>
            <a:ext cx="1664208" cy="1325880"/>
          </a:xfrm>
          <a:prstGeom prst="roundRect">
            <a:avLst>
              <a:gd name="adj" fmla="val 5517"/>
            </a:avLst>
          </a:prstGeom>
          <a:solidFill>
            <a:srgbClr val="0A4A55"/>
          </a:solidFill>
          <a:ln/>
        </p:spPr>
      </p:sp>
      <p:sp>
        <p:nvSpPr>
          <p:cNvPr id="55" name="Text 51"/>
          <p:cNvSpPr/>
          <p:nvPr/>
        </p:nvSpPr>
        <p:spPr>
          <a:xfrm>
            <a:off x="9784080" y="484632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56" name="Text 52"/>
          <p:cNvSpPr/>
          <p:nvPr/>
        </p:nvSpPr>
        <p:spPr>
          <a:xfrm>
            <a:off x="9784080" y="528523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项目构建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06354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51052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0" y="65105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06354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789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日业务提交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3258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85800" y="212140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停在 2025-08-26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14 期微服务改造完成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89120" y="960120"/>
            <a:ext cx="72694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6354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097280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0872" y="1170432"/>
            <a:ext cx="182880" cy="1828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047488" y="1097280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昨日与本周观察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617720" y="1508760"/>
            <a:ext cx="6812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2026-08-08 至 08-15：无业务代码合入，仓库处于教学完结基线。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自动化持续产出「每日项目状态」DRAFT PR（08-08 / 09 / 10 / 12 / 14）。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无项目构建工作流；可见 Actions 仅为 Copilot 仓库访问检查。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建议本周作为维护窗口：补齐 CI、收敛双树、清理调试残留。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2920" y="315468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最近业务里程碑（2025 年 8 月）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02920" y="3547872"/>
            <a:ext cx="2633472" cy="2697480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6354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02920" y="3547872"/>
            <a:ext cx="2633472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6"/>
          <p:cNvSpPr/>
          <p:nvPr/>
        </p:nvSpPr>
        <p:spPr>
          <a:xfrm>
            <a:off x="667512" y="376732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08-12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67512" y="4041648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 10 期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67512" y="4526280"/>
            <a:ext cx="23042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工作流与图片并发收集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3319272" y="3547872"/>
            <a:ext cx="2633472" cy="2697480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6354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319272" y="3547872"/>
            <a:ext cx="2633472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1"/>
          <p:cNvSpPr/>
          <p:nvPr/>
        </p:nvSpPr>
        <p:spPr>
          <a:xfrm>
            <a:off x="3483864" y="376732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08-13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483864" y="4041648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 11 期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3483864" y="4526280"/>
            <a:ext cx="23042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并发、安全、稳定与成本优化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6135624" y="3547872"/>
            <a:ext cx="2633472" cy="2697480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63540">
                <a:alpha val="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135624" y="3547872"/>
            <a:ext cx="2633472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Text 26"/>
          <p:cNvSpPr/>
          <p:nvPr/>
        </p:nvSpPr>
        <p:spPr>
          <a:xfrm>
            <a:off x="6300216" y="376732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08-14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300216" y="4041648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 12–13 期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6300216" y="4526280"/>
            <a:ext cx="23042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部署上线与可观测性落地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8951976" y="3547872"/>
            <a:ext cx="2633472" cy="2697480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63540">
                <a:alpha val="8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951976" y="3547872"/>
            <a:ext cx="2633472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4" name="Text 31"/>
          <p:cNvSpPr/>
          <p:nvPr/>
        </p:nvSpPr>
        <p:spPr>
          <a:xfrm>
            <a:off x="9116568" y="376732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08-26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9116568" y="4041648"/>
            <a:ext cx="2304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第 14 期</a:t>
            </a:r>
            <a:endParaRPr lang="en-US" sz="2000" dirty="0"/>
          </a:p>
        </p:txBody>
      </p:sp>
      <p:sp>
        <p:nvSpPr>
          <p:cNvPr id="36" name="Text 33"/>
          <p:cNvSpPr/>
          <p:nvPr/>
        </p:nvSpPr>
        <p:spPr>
          <a:xfrm>
            <a:off x="9116568" y="4526280"/>
            <a:ext cx="23042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微服务改造完成，并保留完整单体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06354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51052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0" y="65105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数据与指标要点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2633472" cy="1874520"/>
          </a:xfrm>
          <a:prstGeom prst="roundRect">
            <a:avLst>
              <a:gd name="adj" fmla="val 4878"/>
            </a:avLst>
          </a:prstGeom>
          <a:solidFill>
            <a:srgbClr val="063540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078992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146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9224" y="178308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单体业务 Java 文件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" y="2304288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com.yupi 包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19272" y="960120"/>
            <a:ext cx="263347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6354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65576" y="1078992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118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465576" y="178308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 Java 文件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65576" y="2304288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模块合计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35624" y="960120"/>
            <a:ext cx="263347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6354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81928" y="1078992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281928" y="178308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Vue / TS 文件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81928" y="2304288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src 目录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51976" y="960120"/>
            <a:ext cx="2633472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6354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098280" y="1078992"/>
            <a:ext cx="2340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9098280" y="1783080"/>
            <a:ext cx="2340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 提交数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098280" y="2304288"/>
            <a:ext cx="2340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10–14 期密集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3063240"/>
            <a:ext cx="55321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6354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" y="3218688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3291840"/>
            <a:ext cx="182880" cy="1828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115568" y="321868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仓库静态盘点（可核验）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13232" y="3703320"/>
            <a:ext cx="50749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文件工具 6 个加 ExitTool；工作流图片工具 4 个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前端：首页、对话、编辑、登录注册、三类管理页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后端测试类 14 个，覆盖路由、解析、工作流与截图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初始化脚本 1 份；Prometheus 抓取间隔 10 秒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教程提交：第 10、11、14 期各约 7 至 10 次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309360" y="3063240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E8F4F3"/>
          </a:solidFill>
          <a:ln/>
        </p:spPr>
      </p:sp>
      <p:sp>
        <p:nvSpPr>
          <p:cNvPr id="29" name="Shape 26"/>
          <p:cNvSpPr/>
          <p:nvPr/>
        </p:nvSpPr>
        <p:spPr>
          <a:xfrm>
            <a:off x="6492240" y="3218688"/>
            <a:ext cx="329184" cy="329184"/>
          </a:xfrm>
          <a:prstGeom prst="ellipse">
            <a:avLst/>
          </a:prstGeom>
          <a:solidFill>
            <a:srgbClr val="A14A12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3291840"/>
            <a:ext cx="182880" cy="18288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931152" y="32186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运行时指标待环境回填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6537960" y="370332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本次为仓库静态扫描，未连接演示或生产环境。下列指标需从 Grafana 或 Actuator 读取后再写入日报：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6537960" y="4526280"/>
            <a:ext cx="4892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调用次数、Token 消耗、失败率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生成任务耗时与并发排队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部署成功率、截图失败次数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限流触发次数、护栏拦截次数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06354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51052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0" y="65105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测试与质量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7452360" cy="530352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6354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13232" y="1115568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188720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1115568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现有测试覆盖（单体 src/test）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13232" y="1627632"/>
            <a:ext cx="7040880" cy="640080"/>
          </a:xfrm>
          <a:prstGeom prst="roundRect">
            <a:avLst>
              <a:gd name="adj" fmla="val 8571"/>
            </a:avLst>
          </a:prstGeom>
          <a:solidFill>
            <a:srgbClr val="E8F4F3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162763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AiCodeGenTypeRoutingServiceTest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74920" y="162763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生成类型智能路由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13232" y="2359152"/>
            <a:ext cx="7040880" cy="640080"/>
          </a:xfrm>
          <a:prstGeom prst="roundRect">
            <a:avLst>
              <a:gd name="adj" fmla="val 8571"/>
            </a:avLst>
          </a:prstGeom>
          <a:solidFill>
            <a:srgbClr val="F7FBFB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235915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AiCodeGeneratorServiceTest / Facade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74920" y="235915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生成服务与门面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13232" y="3090672"/>
            <a:ext cx="7040880" cy="640080"/>
          </a:xfrm>
          <a:prstGeom prst="roundRect">
            <a:avLst>
              <a:gd name="adj" fmla="val 8571"/>
            </a:avLst>
          </a:prstGeom>
          <a:solidFill>
            <a:srgbClr val="E8F4F3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309067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CodeParserTest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074920" y="309067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与多文件解析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13232" y="3822192"/>
            <a:ext cx="7040880" cy="640080"/>
          </a:xfrm>
          <a:prstGeom prst="roundRect">
            <a:avLst>
              <a:gd name="adj" fmla="val 8571"/>
            </a:avLst>
          </a:prstGeom>
          <a:solidFill>
            <a:srgbClr val="F7FBFB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" y="382219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 Workflow 测试（3 类）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074920" y="382219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串行、子图、并发工作流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13232" y="4553712"/>
            <a:ext cx="7040880" cy="640080"/>
          </a:xfrm>
          <a:prstGeom prst="roundRect">
            <a:avLst>
              <a:gd name="adj" fmla="val 8571"/>
            </a:avLst>
          </a:prstGeom>
          <a:solidFill>
            <a:srgbClr val="E8F4F3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455371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ImageCollection 与 4 个 Tool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074920" y="455371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配图与外部工具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13232" y="5285232"/>
            <a:ext cx="7040880" cy="640080"/>
          </a:xfrm>
          <a:prstGeom prst="roundRect">
            <a:avLst>
              <a:gd name="adj" fmla="val 8571"/>
            </a:avLst>
          </a:prstGeom>
          <a:solidFill>
            <a:srgbClr val="F7FBFB"/>
          </a:solidFill>
          <a:ln/>
        </p:spPr>
      </p:sp>
      <p:sp>
        <p:nvSpPr>
          <p:cNvPr id="27" name="Text 24"/>
          <p:cNvSpPr/>
          <p:nvPr/>
        </p:nvSpPr>
        <p:spPr>
          <a:xfrm>
            <a:off x="868680" y="5285232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WebScreenshotUtilsTest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074920" y="528523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网页截图工具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8183880" y="960120"/>
            <a:ext cx="3474720" cy="2468880"/>
          </a:xfrm>
          <a:prstGeom prst="roundRect">
            <a:avLst>
              <a:gd name="adj" fmla="val 3704"/>
            </a:avLst>
          </a:prstGeom>
          <a:solidFill>
            <a:srgbClr val="063540"/>
          </a:solidFill>
          <a:ln/>
        </p:spPr>
      </p:sp>
      <p:sp>
        <p:nvSpPr>
          <p:cNvPr id="30" name="Text 27"/>
          <p:cNvSpPr/>
          <p:nvPr/>
        </p:nvSpPr>
        <p:spPr>
          <a:xfrm>
            <a:off x="8366760" y="10972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状态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8366760" y="141732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未配置</a:t>
            </a:r>
            <a:endParaRPr lang="en-US" sz="2600" dirty="0"/>
          </a:p>
        </p:txBody>
      </p:sp>
      <p:sp>
        <p:nvSpPr>
          <p:cNvPr id="32" name="Text 29"/>
          <p:cNvSpPr/>
          <p:nvPr/>
        </p:nvSpPr>
        <p:spPr>
          <a:xfrm>
            <a:off x="8366760" y="20116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仓库没有 GitHub Actions 构建工作流。近期记录仅为 Copilot 访问检查，不能代表测试通过。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8183880" y="3703320"/>
            <a:ext cx="347472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63540">
                <a:alpha val="8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8366760" y="385876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执行前提</a:t>
            </a:r>
            <a:endParaRPr lang="en-US" sz="1700" dirty="0"/>
          </a:p>
        </p:txBody>
      </p:sp>
      <p:sp>
        <p:nvSpPr>
          <p:cNvPr id="35" name="Text 32"/>
          <p:cNvSpPr/>
          <p:nvPr/>
        </p:nvSpPr>
        <p:spPr>
          <a:xfrm>
            <a:off x="8366760" y="4279392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多数用例是 SpringBootTest，需要 MySQL、Redis 与真实模型密钥。本次环境未跑通，结论来自代码盘点。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06354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51052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0" y="65105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风险与问题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356616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6354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188720"/>
            <a:ext cx="402336" cy="402336"/>
          </a:xfrm>
          <a:prstGeom prst="ellipse">
            <a:avLst/>
          </a:prstGeom>
          <a:solidFill>
            <a:srgbClr val="9B1C1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80160"/>
            <a:ext cx="219456" cy="21945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197864" y="1243584"/>
            <a:ext cx="438912" cy="292608"/>
          </a:xfrm>
          <a:prstGeom prst="roundRect">
            <a:avLst>
              <a:gd name="adj" fmla="val 18750"/>
            </a:avLst>
          </a:prstGeom>
          <a:solidFill>
            <a:srgbClr val="F8D7D4"/>
          </a:solidFill>
          <a:ln/>
        </p:spPr>
      </p:sp>
      <p:sp>
        <p:nvSpPr>
          <p:cNvPr id="11" name="Text 8"/>
          <p:cNvSpPr/>
          <p:nvPr/>
        </p:nvSpPr>
        <p:spPr>
          <a:xfrm>
            <a:off x="1197864" y="1243584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709928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双树并行维护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85800" y="1764792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单体与微服务同步成本高。中间态提交曾污染单体，后续改动容易分叉。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251960" y="987552"/>
            <a:ext cx="356616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6354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34840" y="1188720"/>
            <a:ext cx="402336" cy="402336"/>
          </a:xfrm>
          <a:prstGeom prst="ellipse">
            <a:avLst/>
          </a:prstGeom>
          <a:solidFill>
            <a:srgbClr val="9B1C1C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280160"/>
            <a:ext cx="219456" cy="219456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946904" y="1243584"/>
            <a:ext cx="438912" cy="292608"/>
          </a:xfrm>
          <a:prstGeom prst="roundRect">
            <a:avLst>
              <a:gd name="adj" fmla="val 18750"/>
            </a:avLst>
          </a:prstGeom>
          <a:solidFill>
            <a:srgbClr val="F8D7D4"/>
          </a:solidFill>
          <a:ln/>
        </p:spPr>
      </p:sp>
      <p:sp>
        <p:nvSpPr>
          <p:cNvPr id="18" name="Text 14"/>
          <p:cNvSpPr/>
          <p:nvPr/>
        </p:nvSpPr>
        <p:spPr>
          <a:xfrm>
            <a:off x="4946904" y="1243584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5458968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无持续集成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434840" y="1764792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缺少构建、单测与前端检查流水线。回归只能靠本地手工，合并风险放大。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8001000" y="987552"/>
            <a:ext cx="356616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6354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183880" y="1188720"/>
            <a:ext cx="402336" cy="402336"/>
          </a:xfrm>
          <a:prstGeom prst="ellipse">
            <a:avLst/>
          </a:prstGeom>
          <a:solidFill>
            <a:srgbClr val="A14A12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280160"/>
            <a:ext cx="219456" cy="219456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8695944" y="1243584"/>
            <a:ext cx="438912" cy="292608"/>
          </a:xfrm>
          <a:prstGeom prst="roundRect">
            <a:avLst>
              <a:gd name="adj" fmla="val 18750"/>
            </a:avLst>
          </a:prstGeom>
          <a:solidFill>
            <a:srgbClr val="F8E6D4"/>
          </a:solidFill>
          <a:ln/>
        </p:spPr>
      </p:sp>
      <p:sp>
        <p:nvSpPr>
          <p:cNvPr id="25" name="Text 20"/>
          <p:cNvSpPr/>
          <p:nvPr/>
        </p:nvSpPr>
        <p:spPr>
          <a:xfrm>
            <a:off x="8695944" y="1243584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1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9208008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内嵌 SDK 残留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8183880" y="1764792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dev.langchain4j 被拷入源码，含调试打印与待办注释，增加误改与噪音。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502920" y="3639312"/>
            <a:ext cx="356616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63540">
                <a:alpha val="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85800" y="3840480"/>
            <a:ext cx="402336" cy="402336"/>
          </a:xfrm>
          <a:prstGeom prst="ellipse">
            <a:avLst/>
          </a:prstGeom>
          <a:solidFill>
            <a:srgbClr val="A14A12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931920"/>
            <a:ext cx="219456" cy="219456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1197864" y="3895344"/>
            <a:ext cx="438912" cy="292608"/>
          </a:xfrm>
          <a:prstGeom prst="roundRect">
            <a:avLst>
              <a:gd name="adj" fmla="val 18750"/>
            </a:avLst>
          </a:prstGeom>
          <a:solidFill>
            <a:srgbClr val="F8E6D4"/>
          </a:solidFill>
          <a:ln/>
        </p:spPr>
      </p:sp>
      <p:sp>
        <p:nvSpPr>
          <p:cNvPr id="32" name="Text 26"/>
          <p:cNvSpPr/>
          <p:nvPr/>
        </p:nvSpPr>
        <p:spPr>
          <a:xfrm>
            <a:off x="1197864" y="3895344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1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1709928" y="384048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基线长期静止</a:t>
            </a:r>
            <a:endParaRPr lang="en-US" sz="1500" dirty="0"/>
          </a:p>
        </p:txBody>
      </p:sp>
      <p:sp>
        <p:nvSpPr>
          <p:cNvPr id="34" name="Text 28"/>
          <p:cNvSpPr/>
          <p:nvPr/>
        </p:nvSpPr>
        <p:spPr>
          <a:xfrm>
            <a:off x="685800" y="4416552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业务提交停在约一年前。LangGraph4j RC 与 HikariCP 4.x 可能已经落后。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4251960" y="3639312"/>
            <a:ext cx="356616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63540">
                <a:alpha val="8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4434840" y="3840480"/>
            <a:ext cx="402336" cy="402336"/>
          </a:xfrm>
          <a:prstGeom prst="ellipse">
            <a:avLst/>
          </a:prstGeom>
          <a:solidFill>
            <a:srgbClr val="A14A12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3931920"/>
            <a:ext cx="219456" cy="219456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4946904" y="3895344"/>
            <a:ext cx="438912" cy="292608"/>
          </a:xfrm>
          <a:prstGeom prst="roundRect">
            <a:avLst>
              <a:gd name="adj" fmla="val 18750"/>
            </a:avLst>
          </a:prstGeom>
          <a:solidFill>
            <a:srgbClr val="F8E6D4"/>
          </a:solidFill>
          <a:ln/>
        </p:spPr>
      </p:sp>
      <p:sp>
        <p:nvSpPr>
          <p:cNvPr id="39" name="Text 32"/>
          <p:cNvSpPr/>
          <p:nvPr/>
        </p:nvSpPr>
        <p:spPr>
          <a:xfrm>
            <a:off x="4946904" y="3895344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1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5458968" y="384048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测试难自动化</a:t>
            </a:r>
            <a:endParaRPr lang="en-US" sz="1500" dirty="0"/>
          </a:p>
        </p:txBody>
      </p:sp>
      <p:sp>
        <p:nvSpPr>
          <p:cNvPr id="41" name="Text 34"/>
          <p:cNvSpPr/>
          <p:nvPr/>
        </p:nvSpPr>
        <p:spPr>
          <a:xfrm>
            <a:off x="4434840" y="4416552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集成测试绑定外部模型与中间件，无密钥环境无法作为合并门禁。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001000" y="3639312"/>
            <a:ext cx="3566160" cy="242316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63540">
                <a:alpha val="8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8183880" y="384048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5320" y="3931920"/>
            <a:ext cx="219456" cy="219456"/>
          </a:xfrm>
          <a:prstGeom prst="rect">
            <a:avLst/>
          </a:prstGeom>
        </p:spPr>
      </p:pic>
      <p:sp>
        <p:nvSpPr>
          <p:cNvPr id="45" name="Shape 37"/>
          <p:cNvSpPr/>
          <p:nvPr/>
        </p:nvSpPr>
        <p:spPr>
          <a:xfrm>
            <a:off x="8695944" y="3895344"/>
            <a:ext cx="438912" cy="292608"/>
          </a:xfrm>
          <a:prstGeom prst="roundRect">
            <a:avLst>
              <a:gd name="adj" fmla="val 18750"/>
            </a:avLst>
          </a:prstGeom>
          <a:solidFill>
            <a:srgbClr val="D4EDE9"/>
          </a:solidFill>
          <a:ln/>
        </p:spPr>
      </p:sp>
      <p:sp>
        <p:nvSpPr>
          <p:cNvPr id="46" name="Text 38"/>
          <p:cNvSpPr/>
          <p:nvPr/>
        </p:nvSpPr>
        <p:spPr>
          <a:xfrm>
            <a:off x="8695944" y="3895344"/>
            <a:ext cx="438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200" dirty="0"/>
          </a:p>
        </p:txBody>
      </p:sp>
      <p:sp>
        <p:nvSpPr>
          <p:cNvPr id="47" name="Text 39"/>
          <p:cNvSpPr/>
          <p:nvPr/>
        </p:nvSpPr>
        <p:spPr>
          <a:xfrm>
            <a:off x="9208008" y="384048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观测未闭环</a:t>
            </a:r>
            <a:endParaRPr lang="en-US" sz="1500" dirty="0"/>
          </a:p>
        </p:txBody>
      </p:sp>
      <p:sp>
        <p:nvSpPr>
          <p:cNvPr id="48" name="Text 40"/>
          <p:cNvSpPr/>
          <p:nvPr/>
        </p:nvSpPr>
        <p:spPr>
          <a:xfrm>
            <a:off x="8183880" y="4416552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告警规则为空。Token 与失败率无法从仓库直接读出。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10528"/>
            <a:ext cx="12161520" cy="347472"/>
          </a:xfrm>
          <a:prstGeom prst="rect">
            <a:avLst/>
          </a:prstGeom>
          <a:solidFill>
            <a:srgbClr val="06354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51052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每日状态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0" y="65105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347472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下一步计划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1115568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6354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960120"/>
            <a:ext cx="1005840" cy="9326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960120"/>
            <a:ext cx="1005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37360" y="105156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补齐最小 CI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737360" y="139903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增加 Maven 编译与前端 type-check / lint；先排除需密钥的集成测试，形成可合并门禁。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020824"/>
            <a:ext cx="1115568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6354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020824"/>
            <a:ext cx="1005840" cy="9326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020824"/>
            <a:ext cx="1005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737360" y="2112264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明确双树策略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737360" y="2459736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书面约定以微服务或单体为准，或用脚本同步公共模块，避免再次中间态污染。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" y="3081528"/>
            <a:ext cx="1115568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6354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081528"/>
            <a:ext cx="1005840" cy="9326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081528"/>
            <a:ext cx="1005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737360" y="3172968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清理内嵌 SDK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737360" y="3520440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删除调试输出与待办噪音，评估回退到官方依赖，降低误改面。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4142232"/>
            <a:ext cx="1115568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6354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2920" y="4142232"/>
            <a:ext cx="1005840" cy="9326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4142232"/>
            <a:ext cx="1005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737360" y="4233672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可测性改造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737360" y="4581144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为路由、解析、限流补纯单元测试；工作流使用替身模型，避免依赖真实 API。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02920" y="5202936"/>
            <a:ext cx="1115568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8100000">
              <a:srgbClr val="06354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2920" y="5202936"/>
            <a:ext cx="1005840" cy="9326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" y="5202936"/>
            <a:ext cx="1005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737360" y="5294376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观测回填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737360" y="564184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3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启用告警规则，约定 Token、失败率、部署成功率看板，供后续日报直接引用。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3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960120"/>
            <a:ext cx="2834640" cy="2834640"/>
          </a:xfrm>
          <a:prstGeom prst="ellipse">
            <a:avLst/>
          </a:prstGeom>
          <a:solidFill>
            <a:srgbClr val="028090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987552"/>
            <a:ext cx="10972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能力完整、基线静止。本周重点是可维护性，而不是新功能。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0A4A55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72821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19656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53312" y="170992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能力已闭环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41248" y="2258568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生成、预览改稿、部署截图、后台治理与工作流均已在第 9 至 14 期落地。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309360" y="150876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0A4A55"/>
          </a:solidFill>
          <a:ln/>
        </p:spPr>
      </p:sp>
      <p:sp>
        <p:nvSpPr>
          <p:cNvPr id="12" name="Shape 9"/>
          <p:cNvSpPr/>
          <p:nvPr/>
        </p:nvSpPr>
        <p:spPr>
          <a:xfrm>
            <a:off x="6510528" y="172821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1819656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22592" y="170992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 7 日无业务变更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510528" y="2258568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停在 2025-08-26。昨日仅有自动化状态汇报，无功能合入。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40080" y="356616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0A4A55"/>
          </a:solidFill>
          <a:ln/>
        </p:spPr>
      </p:sp>
      <p:sp>
        <p:nvSpPr>
          <p:cNvPr id="17" name="Shape 13"/>
          <p:cNvSpPr/>
          <p:nvPr/>
        </p:nvSpPr>
        <p:spPr>
          <a:xfrm>
            <a:off x="841248" y="378561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877056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53312" y="376732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主要阻塞在工程化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41248" y="4315968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CI、双树并行、集成测试绑密钥、观测未回填，阻碍安全演进。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6309360" y="3566160"/>
            <a:ext cx="5394960" cy="1874520"/>
          </a:xfrm>
          <a:prstGeom prst="roundRect">
            <a:avLst>
              <a:gd name="adj" fmla="val 4878"/>
            </a:avLst>
          </a:prstGeom>
          <a:solidFill>
            <a:srgbClr val="0A4A55"/>
          </a:solidFill>
          <a:ln/>
        </p:spPr>
      </p:sp>
      <p:sp>
        <p:nvSpPr>
          <p:cNvPr id="22" name="Shape 17"/>
          <p:cNvSpPr/>
          <p:nvPr/>
        </p:nvSpPr>
        <p:spPr>
          <a:xfrm>
            <a:off x="6510528" y="378561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3877056"/>
            <a:ext cx="201168" cy="2011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022592" y="376732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建议本周只做三件事</a:t>
            </a:r>
            <a:endParaRPr lang="en-US" sz="1800" dirty="0"/>
          </a:p>
        </p:txBody>
      </p:sp>
      <p:sp>
        <p:nvSpPr>
          <p:cNvPr id="25" name="Text 19"/>
          <p:cNvSpPr/>
          <p:nvPr/>
        </p:nvSpPr>
        <p:spPr>
          <a:xfrm>
            <a:off x="6510528" y="4315968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4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 CI、双树策略书面化、把可离线单测从 SpringBootTest 中拆出。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E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下一份日报若仍无业务提交，将只更新风险跟踪与 CI 进展，不再重复能力介绍。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2026-08-15</dc:title>
  <dc:subject>AI 零代码应用生成平台项目状态</dc:subject>
  <dc:creator>yu-ai-code-mother 维护组</dc:creator>
  <cp:lastModifiedBy>yu-ai-code-mother 维护组</cp:lastModifiedBy>
  <cp:revision>1</cp:revision>
  <dcterms:created xsi:type="dcterms:W3CDTF">2026-08-15T09:20:48Z</dcterms:created>
  <dcterms:modified xsi:type="dcterms:W3CDTF">2026-08-15T09:20:48Z</dcterms:modified>
</cp:coreProperties>
</file>