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-1188720"/>
            <a:ext cx="5303520" cy="5303520"/>
          </a:xfrm>
          <a:prstGeom prst="ellipse">
            <a:avLst/>
          </a:prstGeom>
          <a:solidFill>
            <a:srgbClr val="028090">
              <a:alpha val="82000"/>
            </a:srgbClr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35440" y="1097280"/>
            <a:ext cx="3474720" cy="3474720"/>
          </a:xfrm>
          <a:prstGeom prst="ellipse">
            <a:avLst/>
          </a:prstGeom>
          <a:solidFill>
            <a:srgbClr val="02C39A">
              <a:alpha val="58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85632" y="192024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94000"/>
            </a:srgbClr>
          </a:solidFill>
          <a:ln w="15240">
            <a:solidFill>
              <a:srgbClr val="9BE3DB"/>
            </a:solidFill>
            <a:prstDash val="solid"/>
          </a:ln>
          <a:effectLst>
            <a:outerShdw sx="100000" sy="100000" kx="0" ky="0" algn="bl" rotWithShape="0" blurRad="38100" dist="50800" dir="2700000">
              <a:srgbClr val="073B4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85632" y="1920240"/>
            <a:ext cx="2651760" cy="310896"/>
          </a:xfrm>
          <a:prstGeom prst="rect">
            <a:avLst/>
          </a:prstGeom>
          <a:solidFill>
            <a:srgbClr val="D8F3EF"/>
          </a:solidFill>
          <a:ln w="12700">
            <a:solidFill>
              <a:srgbClr val="D8F3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32520" y="2029968"/>
            <a:ext cx="73152" cy="73152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42832" y="2029968"/>
            <a:ext cx="73152" cy="73152"/>
          </a:xfrm>
          <a:prstGeom prst="ellipse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53144" y="2029968"/>
            <a:ext cx="73152" cy="73152"/>
          </a:xfrm>
          <a:prstGeom prst="ellipse">
            <a:avLst/>
          </a:prstGeom>
          <a:solidFill>
            <a:srgbClr val="39A96B"/>
          </a:solidFill>
          <a:ln w="12700">
            <a:solidFill>
              <a:srgbClr val="39A9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87968" y="260604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961120" y="324612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9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→ APP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62179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D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 · 2026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1417320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85800" y="2395728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7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零代码应用生成平台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685800" y="3154680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6D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能力盘点 · 近期进展 · 风险判断 · 下一步建议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85800" y="5047488"/>
            <a:ext cx="1005840" cy="320040"/>
          </a:xfrm>
          <a:prstGeom prst="roundRect">
            <a:avLst>
              <a:gd name="adj" fmla="val 2285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134356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北京时间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74520" y="51114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 7 月 15 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561441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D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面向：项目维护者 / 团队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3504" y="6510528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A6D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 AI CODE MOTHER  ·  DAILY STATUS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SNAPSHOT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21792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73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项目概览：功能完整，工程化仍待补齐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927080" y="347472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27080" y="52120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3504" y="6510528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F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 AI CODE MOTHER  ·  DAILY STATUS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" y="1463040"/>
            <a:ext cx="2331720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BE4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463040"/>
            <a:ext cx="82296" cy="19019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82496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700" dirty="0"/>
          </a:p>
        </p:txBody>
      </p:sp>
      <p:sp>
        <p:nvSpPr>
          <p:cNvPr id="11" name="Text 9"/>
          <p:cNvSpPr/>
          <p:nvPr/>
        </p:nvSpPr>
        <p:spPr>
          <a:xfrm>
            <a:off x="932688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核心产品能力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32688" y="274320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生成、编辑、部署、管理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18688" y="1463040"/>
            <a:ext cx="2331720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BE4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18688" y="1463040"/>
            <a:ext cx="82296" cy="19019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11296" y="1682496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700" dirty="0"/>
          </a:p>
        </p:txBody>
      </p:sp>
      <p:sp>
        <p:nvSpPr>
          <p:cNvPr id="16" name="Text 14"/>
          <p:cNvSpPr/>
          <p:nvPr/>
        </p:nvSpPr>
        <p:spPr>
          <a:xfrm>
            <a:off x="3529584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后端形态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29584" y="274320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完整单体 + 微服务拆分版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815584" y="1463040"/>
            <a:ext cx="2331720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BE4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15584" y="1463040"/>
            <a:ext cx="82296" cy="19019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08192" y="1682496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700" dirty="0"/>
          </a:p>
        </p:txBody>
      </p:sp>
      <p:sp>
        <p:nvSpPr>
          <p:cNvPr id="21" name="Text 19"/>
          <p:cNvSpPr/>
          <p:nvPr/>
        </p:nvSpPr>
        <p:spPr>
          <a:xfrm>
            <a:off x="612648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微服务子模块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26480" y="274320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/ model / client 等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412480" y="1463040"/>
            <a:ext cx="2331720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BE4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1463040"/>
            <a:ext cx="82296" cy="190195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05088" y="1682496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700" dirty="0"/>
          </a:p>
        </p:txBody>
      </p:sp>
      <p:sp>
        <p:nvSpPr>
          <p:cNvPr id="26" name="Text 24"/>
          <p:cNvSpPr/>
          <p:nvPr/>
        </p:nvSpPr>
        <p:spPr>
          <a:xfrm>
            <a:off x="8723376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天提交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723376" y="274320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最新提交：2025-08-26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1792" y="3840480"/>
            <a:ext cx="10122408" cy="1737360"/>
          </a:xfrm>
          <a:prstGeom prst="roundRect">
            <a:avLst>
              <a:gd name="adj" fmla="val 4211"/>
            </a:avLst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1832" y="41605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6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当前判断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395728" y="4078224"/>
            <a:ext cx="7818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教学型全栈平台已形成可演示闭环；单体能力领先，微服务骨架已拆分，但测试、网关、配置治理与发布自动化尚未形成生产级闭环。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7982712" y="5029200"/>
            <a:ext cx="2240280" cy="320040"/>
          </a:xfrm>
          <a:prstGeom prst="roundRect">
            <a:avLst>
              <a:gd name="adj" fmla="val 2285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82712" y="5116068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建议：先恢复持续交付节奏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21792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73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架构与模块版图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927080" y="347472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27080" y="52120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3504" y="6510528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F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 AI CODE MOTHER  ·  DAILY STATUS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508760"/>
            <a:ext cx="2907792" cy="4160520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2700">
            <a:solidFill>
              <a:srgbClr val="CBE4E1"/>
            </a:solidFill>
            <a:prstDash val="solid"/>
          </a:ln>
          <a:effectLst>
            <a:outerShdw sx="100000" sy="100000" kx="0" ky="0" algn="bl" rotWithShape="0" blurRad="38100" dist="50800" dir="2700000">
              <a:srgbClr val="073B4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508760"/>
            <a:ext cx="2907792" cy="67665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0992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98448" y="168249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体验层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50976" y="2542032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2633472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44752" y="256032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+ TypeScript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950976" y="3346704"/>
            <a:ext cx="329184" cy="329184"/>
          </a:xfrm>
          <a:prstGeom prst="ellipse">
            <a:avLst/>
          </a:prstGeom>
          <a:solidFill>
            <a:srgbClr val="D8F3EF"/>
          </a:solidFill>
          <a:ln w="12700">
            <a:solidFill>
              <a:srgbClr val="D8F3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43814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44752" y="336499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个核心页面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950976" y="4151376"/>
            <a:ext cx="329184" cy="329184"/>
          </a:xfrm>
          <a:prstGeom prst="ellipse">
            <a:avLst/>
          </a:prstGeom>
          <a:solidFill>
            <a:srgbClr val="D8F3EF"/>
          </a:solidFill>
          <a:ln w="12700">
            <a:solidFill>
              <a:srgbClr val="D8F3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" y="4242816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444752" y="4169664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+ iframe 实时预览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50976" y="50749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F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前端默认对接单体 8123/api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069080" y="1508760"/>
            <a:ext cx="2907792" cy="4160520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2700">
            <a:solidFill>
              <a:srgbClr val="CBE4E1"/>
            </a:solidFill>
            <a:prstDash val="solid"/>
          </a:ln>
          <a:effectLst>
            <a:outerShdw sx="100000" sy="100000" kx="0" ky="0" algn="bl" rotWithShape="0" blurRad="38100" dist="50800" dir="2700000">
              <a:srgbClr val="073B4C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069080" y="1508760"/>
            <a:ext cx="2907792" cy="67665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88536" y="170992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727448" y="168249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业务与 AI 层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4379976" y="2542032"/>
            <a:ext cx="329184" cy="3291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79976" y="2633472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73752" y="256032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 / Java 21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4379976" y="3346704"/>
            <a:ext cx="329184" cy="329184"/>
          </a:xfrm>
          <a:prstGeom prst="ellipse">
            <a:avLst/>
          </a:prstGeom>
          <a:solidFill>
            <a:srgbClr val="D8F3EF"/>
          </a:solidFill>
          <a:ln w="12700">
            <a:solidFill>
              <a:srgbClr val="D8F3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79976" y="343814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73752" y="336499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LangChain4j 工具调用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4379976" y="4151376"/>
            <a:ext cx="329184" cy="329184"/>
          </a:xfrm>
          <a:prstGeom prst="ellipse">
            <a:avLst/>
          </a:prstGeom>
          <a:solidFill>
            <a:srgbClr val="D8F3EF"/>
          </a:solidFill>
          <a:ln w="12700">
            <a:solidFill>
              <a:srgbClr val="D8F3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79976" y="4242816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73752" y="4169664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LangGraph4j 工作流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4379976" y="50749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F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单体能力目前更完整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498080" y="1508760"/>
            <a:ext cx="2907792" cy="4160520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2700">
            <a:solidFill>
              <a:srgbClr val="CBE4E1"/>
            </a:solidFill>
            <a:prstDash val="solid"/>
          </a:ln>
          <a:effectLst>
            <a:outerShdw sx="100000" sy="100000" kx="0" ky="0" algn="bl" rotWithShape="0" blurRad="38100" dist="50800" dir="2700000">
              <a:srgbClr val="073B4C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498080" y="1508760"/>
            <a:ext cx="2907792" cy="67665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17536" y="170992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156448" y="168249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平台与基础设施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7808976" y="2542032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08976" y="2633472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302752" y="256032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+ Redis</a:t>
            </a:r>
            <a:endParaRPr lang="en-US" sz="1450" dirty="0"/>
          </a:p>
        </p:txBody>
      </p:sp>
      <p:sp>
        <p:nvSpPr>
          <p:cNvPr id="43" name="Shape 41"/>
          <p:cNvSpPr/>
          <p:nvPr/>
        </p:nvSpPr>
        <p:spPr>
          <a:xfrm>
            <a:off x="7808976" y="3346704"/>
            <a:ext cx="329184" cy="329184"/>
          </a:xfrm>
          <a:prstGeom prst="ellipse">
            <a:avLst/>
          </a:prstGeom>
          <a:solidFill>
            <a:srgbClr val="D8F3EF"/>
          </a:solidFill>
          <a:ln w="12700">
            <a:solidFill>
              <a:srgbClr val="D8F3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08976" y="343814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302752" y="336499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 + Selenium 截图</a:t>
            </a:r>
            <a:endParaRPr lang="en-US" sz="1450" dirty="0"/>
          </a:p>
        </p:txBody>
      </p:sp>
      <p:sp>
        <p:nvSpPr>
          <p:cNvPr id="46" name="Shape 44"/>
          <p:cNvSpPr/>
          <p:nvPr/>
        </p:nvSpPr>
        <p:spPr>
          <a:xfrm>
            <a:off x="7808976" y="4151376"/>
            <a:ext cx="329184" cy="329184"/>
          </a:xfrm>
          <a:prstGeom prst="ellipse">
            <a:avLst/>
          </a:prstGeom>
          <a:solidFill>
            <a:srgbClr val="D8F3EF"/>
          </a:solidFill>
          <a:ln w="12700">
            <a:solidFill>
              <a:srgbClr val="D8F3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808976" y="4242816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302752" y="4169664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Nacos + Dubbo / Prometheus</a:t>
            </a:r>
            <a:endParaRPr lang="en-US" sz="1450" dirty="0"/>
          </a:p>
        </p:txBody>
      </p:sp>
      <p:sp>
        <p:nvSpPr>
          <p:cNvPr id="49" name="Text 47"/>
          <p:cNvSpPr/>
          <p:nvPr/>
        </p:nvSpPr>
        <p:spPr>
          <a:xfrm>
            <a:off x="7808976" y="50749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F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多项外部服务需配置密钥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639312" y="3502152"/>
            <a:ext cx="329184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7068312" y="3502152"/>
            <a:ext cx="329184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CAPABILITY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21792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73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核心能力：已覆盖从需求到分享的闭环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927080" y="347472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27080" y="52120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3504" y="6510528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F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 AI CODE MOTHER  ·  DAILY STATUS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5257800" cy="1938528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8EBE8"/>
            </a:solidFill>
            <a:prstDash val="solid"/>
          </a:ln>
          <a:effectLst>
            <a:outerShdw sx="100000" sy="100000" kx="0" ky="0" algn="bl" rotWithShape="0" blurRad="38100" dist="50800" dir="2700000">
              <a:srgbClr val="073B4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6112" y="1673352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76936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17320" y="165506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智能代码生成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14400" y="2203704"/>
            <a:ext cx="47091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49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输入需求后自动路由 HTML、多文件或 Vue 工程策略；以 SSE 流式展示 AI 执行，并通过工具调用落盘代码。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6291072" y="1417320"/>
            <a:ext cx="5257800" cy="1938528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8EBE8"/>
            </a:solidFill>
            <a:prstDash val="solid"/>
          </a:ln>
          <a:effectLst>
            <a:outerShdw sx="100000" sy="100000" kx="0" ky="0" algn="bl" rotWithShape="0" blurRad="38100" dist="50800" dir="2700000">
              <a:srgbClr val="073B4C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47104" y="1673352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47104" y="176936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068312" y="165506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可视化对话编辑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565392" y="2203704"/>
            <a:ext cx="47091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49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右侧 iframe 即时预览生成物；支持点选页面元素、携带上下文继续对话修改，缩短迭代路径。</a:t>
            </a:r>
            <a:endParaRPr lang="en-US" sz="1420" dirty="0"/>
          </a:p>
        </p:txBody>
      </p:sp>
      <p:sp>
        <p:nvSpPr>
          <p:cNvPr id="18" name="Shape 16"/>
          <p:cNvSpPr/>
          <p:nvPr/>
        </p:nvSpPr>
        <p:spPr>
          <a:xfrm>
            <a:off x="640080" y="3703320"/>
            <a:ext cx="5257800" cy="1938528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8EBE8"/>
            </a:solidFill>
            <a:prstDash val="solid"/>
          </a:ln>
          <a:effectLst>
            <a:outerShdw sx="100000" sy="100000" kx="0" ky="0" algn="bl" rotWithShape="0" blurRad="38100" dist="50800" dir="2700000">
              <a:srgbClr val="073B4C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96112" y="3959352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405536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17320" y="394106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部署、封面与源码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14400" y="4489704"/>
            <a:ext cx="47091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49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一键部署获得分享地址；Selenium 自动截图并上传 COS；同时提供完整项目 ZIP 下载。</a:t>
            </a:r>
            <a:endParaRPr lang="en-US" sz="1420" dirty="0"/>
          </a:p>
        </p:txBody>
      </p:sp>
      <p:sp>
        <p:nvSpPr>
          <p:cNvPr id="23" name="Shape 21"/>
          <p:cNvSpPr/>
          <p:nvPr/>
        </p:nvSpPr>
        <p:spPr>
          <a:xfrm>
            <a:off x="6291072" y="3703320"/>
            <a:ext cx="5257800" cy="1938528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8EBE8"/>
            </a:solidFill>
            <a:prstDash val="solid"/>
          </a:ln>
          <a:effectLst>
            <a:outerShdw sx="100000" sy="100000" kx="0" ky="0" algn="bl" rotWithShape="0" blurRad="38100" dist="50800" dir="2700000">
              <a:srgbClr val="073B4C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47104" y="3959352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47104" y="405536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068312" y="394106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用户、权限与运营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565392" y="4489704"/>
            <a:ext cx="47091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49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+ Redis 共享登录态，AOP 权限校验；含用户、应用和对话管理，以及精选案例与 AI 指标监控。</a:t>
            </a:r>
            <a:endParaRPr lang="en-US" sz="14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HISTORY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21792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73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近期进展：最近一轮集中完成微服务改造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927080" y="347472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27080" y="52120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3504" y="6510528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F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 AI CODE MOTHER  ·  DAILY STATUS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97280" y="2926080"/>
            <a:ext cx="9921240" cy="0"/>
          </a:xfrm>
          <a:prstGeom prst="line">
            <a:avLst/>
          </a:prstGeom>
          <a:noFill/>
          <a:ln w="50800">
            <a:solidFill>
              <a:srgbClr val="9BCF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2578608"/>
            <a:ext cx="694944" cy="694944"/>
          </a:xfrm>
          <a:prstGeom prst="ellipse">
            <a:avLst/>
          </a:prstGeom>
          <a:solidFill>
            <a:srgbClr val="02809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779776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60120" y="1572768"/>
            <a:ext cx="1060704" cy="320040"/>
          </a:xfrm>
          <a:prstGeom prst="roundRect">
            <a:avLst>
              <a:gd name="adj" fmla="val 2285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659636"/>
            <a:ext cx="10607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08/13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41832" y="20116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系统优化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41832" y="356616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9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并发、实时性、限流、Prompt 审查与成本优化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794760" y="2578608"/>
            <a:ext cx="694944" cy="694944"/>
          </a:xfrm>
          <a:prstGeom prst="ellipse">
            <a:avLst/>
          </a:prstGeom>
          <a:solidFill>
            <a:srgbClr val="00A89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94760" y="2779776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11880" y="1572768"/>
            <a:ext cx="1060704" cy="320040"/>
          </a:xfrm>
          <a:prstGeom prst="roundRect">
            <a:avLst>
              <a:gd name="adj" fmla="val 22857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1659636"/>
            <a:ext cx="10607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08/14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93592" y="20116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部署与观测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593592" y="356616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9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上线能力、Actuator、Prometheus 与业务指标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46520" y="2578608"/>
            <a:ext cx="694944" cy="694944"/>
          </a:xfrm>
          <a:prstGeom prst="ellipse">
            <a:avLst/>
          </a:prstGeom>
          <a:solidFill>
            <a:srgbClr val="065A8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2779776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63640" y="1572768"/>
            <a:ext cx="1060704" cy="320040"/>
          </a:xfrm>
          <a:prstGeom prst="roundRect">
            <a:avLst>
              <a:gd name="adj" fmla="val 2285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1659636"/>
            <a:ext cx="10607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08/26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45352" y="20116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微服务拆分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245352" y="356616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9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Dubbo + Nacos；用户、应用、AI、截图等 7 模块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9098280" y="2578608"/>
            <a:ext cx="694944" cy="694944"/>
          </a:xfrm>
          <a:prstGeom prst="ellipse">
            <a:avLst/>
          </a:prstGeom>
          <a:solidFill>
            <a:srgbClr val="E76F5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98280" y="2779776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915400" y="1572768"/>
            <a:ext cx="1060704" cy="320040"/>
          </a:xfrm>
          <a:prstGeom prst="roundRect">
            <a:avLst>
              <a:gd name="adj" fmla="val 22857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15400" y="1659636"/>
            <a:ext cx="10607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天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897112" y="20116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无新增提交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897112" y="356616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9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仓库当前处于静止期，未发现昨日变更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749808" y="5047488"/>
            <a:ext cx="10287000" cy="658368"/>
          </a:xfrm>
          <a:prstGeom prst="roundRect">
            <a:avLst>
              <a:gd name="adj" fmla="val 8333"/>
            </a:avLst>
          </a:prstGeom>
          <a:solidFill>
            <a:srgbClr val="FFF2E2"/>
          </a:solidFill>
          <a:ln w="12700">
            <a:solidFill>
              <a:srgbClr val="F7D4A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5840" y="52486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时间口径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901952" y="52120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“近期”按仓库最近提交解释；最新提交为 2025-08-26，距本次汇报约 322 天。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SIGNALS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21792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73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数据要点：静态仓库扫描快照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927080" y="347472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27080" y="52120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3504" y="6510528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F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 AI CODE MOTHER  ·  DAILY STATUS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33375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E4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417320"/>
            <a:ext cx="82296" cy="1783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636776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386</a:t>
            </a:r>
            <a:endParaRPr lang="en-US" sz="3700" dirty="0"/>
          </a:p>
        </p:txBody>
      </p:sp>
      <p:sp>
        <p:nvSpPr>
          <p:cNvPr id="11" name="Text 9"/>
          <p:cNvSpPr/>
          <p:nvPr/>
        </p:nvSpPr>
        <p:spPr>
          <a:xfrm>
            <a:off x="950976" y="2331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受版本控制文件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50976" y="269748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整体仓库规模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89120" y="1417320"/>
            <a:ext cx="33375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E4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1417320"/>
            <a:ext cx="82296" cy="1783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1636776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154</a:t>
            </a:r>
            <a:endParaRPr lang="en-US" sz="3700" dirty="0"/>
          </a:p>
        </p:txBody>
      </p:sp>
      <p:sp>
        <p:nvSpPr>
          <p:cNvPr id="16" name="Text 14"/>
          <p:cNvSpPr/>
          <p:nvPr/>
        </p:nvSpPr>
        <p:spPr>
          <a:xfrm>
            <a:off x="4700016" y="2331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单体主 Java 文件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00016" y="269748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src/main 统计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38160" y="1417320"/>
            <a:ext cx="33375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E4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1417320"/>
            <a:ext cx="82296" cy="1783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30768" y="1636776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700" dirty="0"/>
          </a:p>
        </p:txBody>
      </p:sp>
      <p:sp>
        <p:nvSpPr>
          <p:cNvPr id="21" name="Text 19"/>
          <p:cNvSpPr/>
          <p:nvPr/>
        </p:nvSpPr>
        <p:spPr>
          <a:xfrm>
            <a:off x="8449056" y="2331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微服务子模块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49056" y="269748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父 pom 声明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3566160"/>
            <a:ext cx="33375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E4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566160"/>
            <a:ext cx="82296" cy="1783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" y="3785616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700" dirty="0"/>
          </a:p>
        </p:txBody>
      </p:sp>
      <p:sp>
        <p:nvSpPr>
          <p:cNvPr id="26" name="Text 24"/>
          <p:cNvSpPr/>
          <p:nvPr/>
        </p:nvSpPr>
        <p:spPr>
          <a:xfrm>
            <a:off x="950976" y="4480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单体测试文件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50976" y="484632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多数依赖真实外部服务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389120" y="3566160"/>
            <a:ext cx="33375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E4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89120" y="3566160"/>
            <a:ext cx="82296" cy="1783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1728" y="3785616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700" dirty="0"/>
          </a:p>
        </p:txBody>
      </p:sp>
      <p:sp>
        <p:nvSpPr>
          <p:cNvPr id="31" name="Text 29"/>
          <p:cNvSpPr/>
          <p:nvPr/>
        </p:nvSpPr>
        <p:spPr>
          <a:xfrm>
            <a:off x="4700016" y="4480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前端核心页面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700016" y="484632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主页 / 对话 / 管理等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138160" y="3566160"/>
            <a:ext cx="33375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E4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38160" y="3566160"/>
            <a:ext cx="82296" cy="17830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30768" y="3785616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</a:t>
            </a:r>
            <a:endParaRPr lang="en-US" sz="3700" dirty="0"/>
          </a:p>
        </p:txBody>
      </p:sp>
      <p:sp>
        <p:nvSpPr>
          <p:cNvPr id="36" name="Text 34"/>
          <p:cNvSpPr/>
          <p:nvPr/>
        </p:nvSpPr>
        <p:spPr>
          <a:xfrm>
            <a:off x="8449056" y="4480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/ FIXME 命中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449056" y="484632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 vendored LangChain4j 代码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58368" y="58064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F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注：以上为 2026-07-15 对仓库内容的静态统计，不代表线上用户量、生成成功率或模型成本等运行时 KPI。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REMAINING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21792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73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未完成项：产品缺口与工程债并存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927080" y="347472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27080" y="52120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3504" y="6510528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F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 AI CODE MOTHER  ·  DAILY STATUS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426464"/>
            <a:ext cx="3063240" cy="44348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CBE4E1"/>
            </a:solidFill>
            <a:prstDash val="solid"/>
          </a:ln>
          <a:effectLst>
            <a:outerShdw sx="100000" sy="100000" kx="0" ky="0" algn="bl" rotWithShape="0" blurRad="38100" dist="50800" dir="2700000">
              <a:srgbClr val="073B4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426464"/>
            <a:ext cx="3063240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6642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产品体验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96112" y="2487168"/>
            <a:ext cx="2542032" cy="667512"/>
          </a:xfrm>
          <a:prstGeom prst="roundRect">
            <a:avLst>
              <a:gd name="adj" fmla="val 5479"/>
            </a:avLst>
          </a:prstGeom>
          <a:solidFill>
            <a:srgbClr val="E8F7F4"/>
          </a:solidFill>
          <a:ln w="12700">
            <a:solidFill>
              <a:srgbClr val="D7EB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6974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81328" y="264261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对话历史删除仅前端假操作</a:t>
            </a:r>
            <a:endParaRPr lang="en-US" sz="1360" dirty="0"/>
          </a:p>
        </p:txBody>
      </p:sp>
      <p:sp>
        <p:nvSpPr>
          <p:cNvPr id="14" name="Shape 12"/>
          <p:cNvSpPr/>
          <p:nvPr/>
        </p:nvSpPr>
        <p:spPr>
          <a:xfrm>
            <a:off x="896112" y="3456432"/>
            <a:ext cx="2542032" cy="667512"/>
          </a:xfrm>
          <a:prstGeom prst="roundRect">
            <a:avLst>
              <a:gd name="adj" fmla="val 5479"/>
            </a:avLst>
          </a:prstGeom>
          <a:solidFill>
            <a:srgbClr val="F5FAF9"/>
          </a:solidFill>
          <a:ln w="12700">
            <a:solidFill>
              <a:srgbClr val="D7EB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666744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81328" y="36118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浏览 view=1 模式未消费</a:t>
            </a:r>
            <a:endParaRPr lang="en-US" sz="1360" dirty="0"/>
          </a:p>
        </p:txBody>
      </p:sp>
      <p:sp>
        <p:nvSpPr>
          <p:cNvPr id="17" name="Shape 15"/>
          <p:cNvSpPr/>
          <p:nvPr/>
        </p:nvSpPr>
        <p:spPr>
          <a:xfrm>
            <a:off x="896112" y="4425696"/>
            <a:ext cx="2542032" cy="667512"/>
          </a:xfrm>
          <a:prstGeom prst="roundRect">
            <a:avLst>
              <a:gd name="adj" fmla="val 5479"/>
            </a:avLst>
          </a:prstGeom>
          <a:solidFill>
            <a:srgbClr val="F5FAF9"/>
          </a:solidFill>
          <a:ln w="12700">
            <a:solidFill>
              <a:srgbClr val="D7EB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63600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81328" y="45811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登录 redirect 参数未回跳</a:t>
            </a:r>
            <a:endParaRPr lang="en-US" sz="1360" dirty="0"/>
          </a:p>
        </p:txBody>
      </p:sp>
      <p:sp>
        <p:nvSpPr>
          <p:cNvPr id="20" name="Shape 18"/>
          <p:cNvSpPr/>
          <p:nvPr/>
        </p:nvSpPr>
        <p:spPr>
          <a:xfrm>
            <a:off x="4114800" y="1426464"/>
            <a:ext cx="3063240" cy="44348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CBE4E1"/>
            </a:solidFill>
            <a:prstDash val="solid"/>
          </a:ln>
          <a:effectLst>
            <a:outerShdw sx="100000" sy="100000" kx="0" ky="0" algn="bl" rotWithShape="0" blurRad="38100" dist="50800" dir="2700000">
              <a:srgbClr val="073B4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0" y="1426464"/>
            <a:ext cx="3063240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4840" y="16642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架构对齐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370832" y="2487168"/>
            <a:ext cx="2542032" cy="667512"/>
          </a:xfrm>
          <a:prstGeom prst="roundRect">
            <a:avLst>
              <a:gd name="adj" fmla="val 5479"/>
            </a:avLst>
          </a:prstGeom>
          <a:solidFill>
            <a:srgbClr val="E8F7F4"/>
          </a:solidFill>
          <a:ln w="12700">
            <a:solidFill>
              <a:srgbClr val="D7EB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6280" y="26974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56048" y="264261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微服务缺 LangGraph 工作流</a:t>
            </a:r>
            <a:endParaRPr lang="en-US" sz="1360" dirty="0"/>
          </a:p>
        </p:txBody>
      </p:sp>
      <p:sp>
        <p:nvSpPr>
          <p:cNvPr id="26" name="Shape 24"/>
          <p:cNvSpPr/>
          <p:nvPr/>
        </p:nvSpPr>
        <p:spPr>
          <a:xfrm>
            <a:off x="4370832" y="3456432"/>
            <a:ext cx="2542032" cy="667512"/>
          </a:xfrm>
          <a:prstGeom prst="roundRect">
            <a:avLst>
              <a:gd name="adj" fmla="val 5479"/>
            </a:avLst>
          </a:prstGeom>
          <a:solidFill>
            <a:srgbClr val="F5FAF9"/>
          </a:solidFill>
          <a:ln w="12700">
            <a:solidFill>
              <a:srgbClr val="D7EB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3666744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56048" y="36118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无统一 API Gateway</a:t>
            </a:r>
            <a:endParaRPr lang="en-US" sz="1360" dirty="0"/>
          </a:p>
        </p:txBody>
      </p:sp>
      <p:sp>
        <p:nvSpPr>
          <p:cNvPr id="29" name="Shape 27"/>
          <p:cNvSpPr/>
          <p:nvPr/>
        </p:nvSpPr>
        <p:spPr>
          <a:xfrm>
            <a:off x="4370832" y="4425696"/>
            <a:ext cx="2542032" cy="667512"/>
          </a:xfrm>
          <a:prstGeom prst="roundRect">
            <a:avLst>
              <a:gd name="adj" fmla="val 5479"/>
            </a:avLst>
          </a:prstGeom>
          <a:solidFill>
            <a:srgbClr val="F5FAF9"/>
          </a:solidFill>
          <a:ln w="12700">
            <a:solidFill>
              <a:srgbClr val="D7EB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26280" y="463600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56048" y="45811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单体与微服务代码双轨维护</a:t>
            </a:r>
            <a:endParaRPr lang="en-US" sz="1360" dirty="0"/>
          </a:p>
        </p:txBody>
      </p:sp>
      <p:sp>
        <p:nvSpPr>
          <p:cNvPr id="32" name="Shape 30"/>
          <p:cNvSpPr/>
          <p:nvPr/>
        </p:nvSpPr>
        <p:spPr>
          <a:xfrm>
            <a:off x="7589520" y="1426464"/>
            <a:ext cx="3063240" cy="44348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CBE4E1"/>
            </a:solidFill>
            <a:prstDash val="solid"/>
          </a:ln>
          <a:effectLst>
            <a:outerShdw sx="100000" sy="100000" kx="0" ky="0" algn="bl" rotWithShape="0" blurRad="38100" dist="50800" dir="2700000">
              <a:srgbClr val="073B4C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589520" y="1426464"/>
            <a:ext cx="3063240" cy="71323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09560" y="16642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交付基础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7845552" y="2487168"/>
            <a:ext cx="2542032" cy="667512"/>
          </a:xfrm>
          <a:prstGeom prst="roundRect">
            <a:avLst>
              <a:gd name="adj" fmla="val 5479"/>
            </a:avLst>
          </a:prstGeom>
          <a:solidFill>
            <a:srgbClr val="E8F7F4"/>
          </a:solidFill>
          <a:ln w="12700">
            <a:solidFill>
              <a:srgbClr val="D7EB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01000" y="26974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430768" y="264261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微服务与前端无自动化测试</a:t>
            </a:r>
            <a:endParaRPr lang="en-US" sz="1360" dirty="0"/>
          </a:p>
        </p:txBody>
      </p:sp>
      <p:sp>
        <p:nvSpPr>
          <p:cNvPr id="38" name="Shape 36"/>
          <p:cNvSpPr/>
          <p:nvPr/>
        </p:nvSpPr>
        <p:spPr>
          <a:xfrm>
            <a:off x="7845552" y="3456432"/>
            <a:ext cx="2542032" cy="667512"/>
          </a:xfrm>
          <a:prstGeom prst="roundRect">
            <a:avLst>
              <a:gd name="adj" fmla="val 5479"/>
            </a:avLst>
          </a:prstGeom>
          <a:solidFill>
            <a:srgbClr val="F5FAF9"/>
          </a:solidFill>
          <a:ln w="12700">
            <a:solidFill>
              <a:srgbClr val="D7EB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01000" y="3666744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430768" y="36118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 CI/CD 工作流</a:t>
            </a:r>
            <a:endParaRPr lang="en-US" sz="1360" dirty="0"/>
          </a:p>
        </p:txBody>
      </p:sp>
      <p:sp>
        <p:nvSpPr>
          <p:cNvPr id="41" name="Shape 39"/>
          <p:cNvSpPr/>
          <p:nvPr/>
        </p:nvSpPr>
        <p:spPr>
          <a:xfrm>
            <a:off x="7845552" y="4425696"/>
            <a:ext cx="2542032" cy="667512"/>
          </a:xfrm>
          <a:prstGeom prst="roundRect">
            <a:avLst>
              <a:gd name="adj" fmla="val 5479"/>
            </a:avLst>
          </a:prstGeom>
          <a:solidFill>
            <a:srgbClr val="F5FAF9"/>
          </a:solidFill>
          <a:ln w="12700">
            <a:solidFill>
              <a:srgbClr val="D7EB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01000" y="463600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430768" y="45811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密钥、COS、数据库需手工配置</a:t>
            </a:r>
            <a:endParaRPr lang="en-US" sz="13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MATRIX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21792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73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风险与阻塞：优先处理高影响项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927080" y="347472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27080" y="52120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3504" y="6510528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F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 AI CODE MOTHER  ·  DAILY STATUS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51960" y="124358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F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发生可能性 →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4944" y="306324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F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影响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6F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程度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463040" y="1572768"/>
            <a:ext cx="2377440" cy="1828800"/>
          </a:xfrm>
          <a:prstGeom prst="rect">
            <a:avLst/>
          </a:prstGeom>
          <a:solidFill>
            <a:srgbClr val="E9F7F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17922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高影响 / 低可能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709928" y="2386584"/>
            <a:ext cx="146304" cy="146304"/>
          </a:xfrm>
          <a:prstGeom prst="ellipse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02536" y="228600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依赖 RC / beta 版本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1709928" y="2889504"/>
            <a:ext cx="146304" cy="146304"/>
          </a:xfrm>
          <a:prstGeom prst="ellipse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02536" y="278892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截图运行环境不稳定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3840480" y="1572768"/>
            <a:ext cx="2377440" cy="1828800"/>
          </a:xfrm>
          <a:prstGeom prst="rect">
            <a:avLst/>
          </a:prstGeom>
          <a:solidFill>
            <a:srgbClr val="FCE9E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69080" y="17922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高影响 / 高可能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087368" y="2386584"/>
            <a:ext cx="146304" cy="146304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79976" y="228600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 CI 与测试隔离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4087368" y="2889504"/>
            <a:ext cx="146304" cy="146304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79976" y="278892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配置与密钥治理不足</a:t>
            </a:r>
            <a:endParaRPr lang="en-US" sz="1230" dirty="0"/>
          </a:p>
        </p:txBody>
      </p:sp>
      <p:sp>
        <p:nvSpPr>
          <p:cNvPr id="22" name="Shape 20"/>
          <p:cNvSpPr/>
          <p:nvPr/>
        </p:nvSpPr>
        <p:spPr>
          <a:xfrm>
            <a:off x="1463040" y="3401568"/>
            <a:ext cx="2377440" cy="1828800"/>
          </a:xfrm>
          <a:prstGeom prst="rect">
            <a:avLst/>
          </a:prstGeom>
          <a:solidFill>
            <a:srgbClr val="EFF8F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91640" y="36210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低影响 / 低可能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709928" y="4215384"/>
            <a:ext cx="146304" cy="14630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02536" y="411480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 README 结构漂移</a:t>
            </a:r>
            <a:endParaRPr lang="en-US" sz="1230" dirty="0"/>
          </a:p>
        </p:txBody>
      </p:sp>
      <p:sp>
        <p:nvSpPr>
          <p:cNvPr id="26" name="Shape 24"/>
          <p:cNvSpPr/>
          <p:nvPr/>
        </p:nvSpPr>
        <p:spPr>
          <a:xfrm>
            <a:off x="1709928" y="4718304"/>
            <a:ext cx="146304" cy="14630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02536" y="461772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直接依赖声明不完整</a:t>
            </a:r>
            <a:endParaRPr lang="en-US" sz="1230" dirty="0"/>
          </a:p>
        </p:txBody>
      </p:sp>
      <p:sp>
        <p:nvSpPr>
          <p:cNvPr id="28" name="Shape 26"/>
          <p:cNvSpPr/>
          <p:nvPr/>
        </p:nvSpPr>
        <p:spPr>
          <a:xfrm>
            <a:off x="3840480" y="3401568"/>
            <a:ext cx="2377440" cy="1828800"/>
          </a:xfrm>
          <a:prstGeom prst="rect">
            <a:avLst/>
          </a:prstGeom>
          <a:solidFill>
            <a:srgbClr val="FFF4E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69080" y="36210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低影响 / 高可能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087368" y="4215384"/>
            <a:ext cx="146304" cy="146304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9976" y="411480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双轨代码逐步分叉</a:t>
            </a:r>
            <a:endParaRPr lang="en-US" sz="1230" dirty="0"/>
          </a:p>
        </p:txBody>
      </p:sp>
      <p:sp>
        <p:nvSpPr>
          <p:cNvPr id="32" name="Shape 30"/>
          <p:cNvSpPr/>
          <p:nvPr/>
        </p:nvSpPr>
        <p:spPr>
          <a:xfrm>
            <a:off x="4087368" y="4718304"/>
            <a:ext cx="146304" cy="146304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79976" y="461772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连接未主动释放</a:t>
            </a:r>
            <a:endParaRPr lang="en-US" sz="1230" dirty="0"/>
          </a:p>
        </p:txBody>
      </p:sp>
      <p:sp>
        <p:nvSpPr>
          <p:cNvPr id="34" name="Shape 32"/>
          <p:cNvSpPr/>
          <p:nvPr/>
        </p:nvSpPr>
        <p:spPr>
          <a:xfrm>
            <a:off x="6748272" y="1572768"/>
            <a:ext cx="4343400" cy="3657600"/>
          </a:xfrm>
          <a:prstGeom prst="roundRect">
            <a:avLst>
              <a:gd name="adj" fmla="val 2000"/>
            </a:avLst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14032" y="190195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6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关键阻塞链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7132320" y="2514600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0" y="261975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662672" y="254203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 AI / Redis / MySQL / COS 依赖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306056" y="2862072"/>
            <a:ext cx="0" cy="274320"/>
          </a:xfrm>
          <a:prstGeom prst="line">
            <a:avLst/>
          </a:prstGeom>
          <a:noFill/>
          <a:ln w="19050">
            <a:solidFill>
              <a:srgbClr val="72CFC5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7132320" y="3127248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0" y="323240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662672" y="31546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测试无法稳定离线执行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306056" y="3474720"/>
            <a:ext cx="0" cy="274320"/>
          </a:xfrm>
          <a:prstGeom prst="line">
            <a:avLst/>
          </a:prstGeom>
          <a:noFill/>
          <a:ln w="19050">
            <a:solidFill>
              <a:srgbClr val="72CFC5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7132320" y="3739896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32320" y="384505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662672" y="37673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 CI 质量门禁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7306056" y="4087368"/>
            <a:ext cx="0" cy="274320"/>
          </a:xfrm>
          <a:prstGeom prst="line">
            <a:avLst/>
          </a:prstGeom>
          <a:noFill/>
          <a:ln w="19050">
            <a:solidFill>
              <a:srgbClr val="72CFC5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7132320" y="4352544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32320" y="445770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662672" y="437997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发布与回归依赖人工判断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SIGNALS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21792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73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测试与 CI：有单体测试，缺自动化门禁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927080" y="347472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27080" y="52120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3504" y="6510528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F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 AI CODE MOTHER  ·  DAILY STATUS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490472"/>
            <a:ext cx="1920240" cy="192024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9659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21208" y="36393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单体测试文件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9768" y="40416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F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 AI、工作流、解析与工具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1490472"/>
            <a:ext cx="1920240" cy="192024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E76F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9659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108960" y="36393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微服务测试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017520" y="40416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F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 *Test.java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833872" y="1490472"/>
            <a:ext cx="1920240" cy="192024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E76F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33872" y="19659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5696712" y="36393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前端测试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05272" y="40416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F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 Vitest / Jest / E2E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421624" y="1490472"/>
            <a:ext cx="1920240" cy="192024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D149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21624" y="19659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149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8284464" y="36393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工作流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93024" y="40416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F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 .github/workflows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8368" y="4892040"/>
            <a:ext cx="9692640" cy="786384"/>
          </a:xfrm>
          <a:prstGeom prst="roundRect">
            <a:avLst>
              <a:gd name="adj" fmla="val 6977"/>
            </a:avLst>
          </a:prstGeom>
          <a:solidFill>
            <a:srgbClr val="FFF2E2"/>
          </a:solidFill>
          <a:ln w="12700">
            <a:solidFill>
              <a:srgbClr val="F4D19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" y="51572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近期状态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920240" y="5074920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仓库没有可查询的 CI 记录；现有 SpringBootTest 多数依赖真实外部服务，缺少密钥或基础设施时不适合作为稳定流水线门禁。</a:t>
            </a:r>
            <a:endParaRPr lang="en-US" sz="14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21792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73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下一步：先恢复可验证的持续交付闭环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927080" y="347472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27080" y="52120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3504" y="6510528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F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 AI CODE MOTHER  ·  DAILY STATUS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2999232" cy="4041648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CBE4E1"/>
            </a:solidFill>
            <a:prstDash val="solid"/>
          </a:ln>
          <a:effectLst>
            <a:outerShdw sx="100000" sy="100000" kx="0" ky="0" algn="bl" rotWithShape="0" blurRad="38100" dist="50800" dir="2700000">
              <a:srgbClr val="073B4C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828800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645920" y="189280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建立质量基线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950976" y="2752344"/>
            <a:ext cx="146304" cy="1463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43584" y="265176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9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新增后端单元测试 profile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50976" y="3465576"/>
            <a:ext cx="146304" cy="1463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3584" y="3364992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9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AI / COS / 截图外部依赖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50976" y="4178808"/>
            <a:ext cx="146304" cy="1463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43584" y="4078224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9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接入前端类型检查与基础测试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50976" y="4956048"/>
            <a:ext cx="1024128" cy="320040"/>
          </a:xfrm>
          <a:prstGeom prst="roundRect">
            <a:avLst>
              <a:gd name="adj" fmla="val 2285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5042916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优先级 P0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0" y="1554480"/>
            <a:ext cx="2999232" cy="4041648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CBE4E1"/>
            </a:solidFill>
            <a:prstDash val="solid"/>
          </a:ln>
          <a:effectLst>
            <a:outerShdw sx="100000" sy="100000" kx="0" ky="0" algn="bl" rotWithShape="0" blurRad="38100" dist="50800" dir="2700000">
              <a:srgbClr val="073B4C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1828800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5102352" y="189280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补齐交付管线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4407408" y="2752344"/>
            <a:ext cx="146304" cy="14630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0016" y="265176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9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 Maven + npm CI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407408" y="3465576"/>
            <a:ext cx="146304" cy="14630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0016" y="3364992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9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加入密钥扫描与依赖检查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407408" y="4178808"/>
            <a:ext cx="146304" cy="14630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0016" y="4078224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9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产出可复现构建与制品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407408" y="4956048"/>
            <a:ext cx="1024128" cy="320040"/>
          </a:xfrm>
          <a:prstGeom prst="roundRect">
            <a:avLst>
              <a:gd name="adj" fmla="val 22857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07408" y="5042916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优先级 P1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571232" y="1554480"/>
            <a:ext cx="2999232" cy="4041648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CBE4E1"/>
            </a:solidFill>
            <a:prstDash val="solid"/>
          </a:ln>
          <a:effectLst>
            <a:outerShdw sx="100000" sy="100000" kx="0" ky="0" algn="bl" rotWithShape="0" blurRad="38100" dist="50800" dir="2700000">
              <a:srgbClr val="073B4C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827264" y="1828800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8558784" y="189280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收敛架构边界</a:t>
            </a:r>
            <a:endParaRPr lang="en-US" sz="1900" dirty="0"/>
          </a:p>
        </p:txBody>
      </p:sp>
      <p:sp>
        <p:nvSpPr>
          <p:cNvPr id="33" name="Shape 31"/>
          <p:cNvSpPr/>
          <p:nvPr/>
        </p:nvSpPr>
        <p:spPr>
          <a:xfrm>
            <a:off x="7863840" y="2752344"/>
            <a:ext cx="146304" cy="14630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56448" y="265176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9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明确单体或微服务主线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863840" y="3465576"/>
            <a:ext cx="146304" cy="14630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56448" y="3364992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9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补统一网关与配置治理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863840" y="4178808"/>
            <a:ext cx="146304" cy="14630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56448" y="4078224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9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对齐工作流、监控和版本矩阵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863840" y="4956048"/>
            <a:ext cx="1024128" cy="320040"/>
          </a:xfrm>
          <a:prstGeom prst="roundRect">
            <a:avLst>
              <a:gd name="adj" fmla="val 2285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63840" y="5042916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优先级 P2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39312" y="3502152"/>
            <a:ext cx="347472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095744" y="3502152"/>
            <a:ext cx="347472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3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17320"/>
            <a:ext cx="4754880" cy="4754880"/>
          </a:xfrm>
          <a:prstGeom prst="ellipse">
            <a:avLst/>
          </a:prstGeom>
          <a:solidFill>
            <a:srgbClr val="028090">
              <a:alpha val="74000"/>
            </a:srgbClr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303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6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41832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结论与今日建议</a:t>
            </a:r>
            <a:endParaRPr lang="en-US" sz="4300" dirty="0"/>
          </a:p>
        </p:txBody>
      </p:sp>
      <p:sp>
        <p:nvSpPr>
          <p:cNvPr id="5" name="Shape 3"/>
          <p:cNvSpPr/>
          <p:nvPr/>
        </p:nvSpPr>
        <p:spPr>
          <a:xfrm>
            <a:off x="694944" y="1993392"/>
            <a:ext cx="566928" cy="5669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218084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36192" y="197510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产品闭环已具备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767328" y="1975104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C7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生成、编辑、部署、分享与运营管理能力完整，适合教学演示与架构实践。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694944" y="3044952"/>
            <a:ext cx="566928" cy="566928"/>
          </a:xfrm>
          <a:prstGeom prst="ellipse">
            <a:avLst/>
          </a:prstGeom>
          <a:solidFill>
            <a:srgbClr val="66D9CC"/>
          </a:solidFill>
          <a:ln w="12700">
            <a:solidFill>
              <a:srgbClr val="66D9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323240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36192" y="302666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工程化成熟度偏低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767328" y="3026664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C7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天无提交，测试与 CI 缺口明显，微服务能力尚未与单体完全对齐。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694944" y="4096512"/>
            <a:ext cx="566928" cy="566928"/>
          </a:xfrm>
          <a:prstGeom prst="ellipse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42839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36192" y="407822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先补验证，再扩功能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767328" y="4078224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C7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建议把离线可测、自动构建、配置治理作为恢复开发节奏的第一批任务。</a:t>
            </a:r>
            <a:endParaRPr lang="en-US" sz="1420" dirty="0"/>
          </a:p>
        </p:txBody>
      </p:sp>
      <p:sp>
        <p:nvSpPr>
          <p:cNvPr id="17" name="Shape 15"/>
          <p:cNvSpPr/>
          <p:nvPr/>
        </p:nvSpPr>
        <p:spPr>
          <a:xfrm>
            <a:off x="9006840" y="2761488"/>
            <a:ext cx="22402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A6D9D3"/>
            </a:solidFill>
            <a:prstDash val="solid"/>
          </a:ln>
          <a:effectLst>
            <a:outerShdw sx="100000" sy="100000" kx="0" ky="0" algn="bl" rotWithShape="0" blurRad="38100" dist="50800" dir="2700000">
              <a:srgbClr val="073B4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345168" y="309981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281160" y="3529584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73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恢复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073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可验证交付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85800" y="587044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D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报告路径：docs/reports/project-status-2026-07-15.pptx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03504" y="6510528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A6D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 AI CODE MOTHER  ·  DAILY STATUS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yu-ai-code-mother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2026-07-15</dc:title>
  <dc:subject>AI 零代码应用生成平台每日项目状态</dc:subject>
  <dc:creator>Cursor Automation</dc:creator>
  <cp:lastModifiedBy>Cursor Automation</cp:lastModifiedBy>
  <cp:revision>1</cp:revision>
  <dcterms:created xsi:type="dcterms:W3CDTF">2026-07-15T09:06:54Z</dcterms:created>
  <dcterms:modified xsi:type="dcterms:W3CDTF">2026-07-15T09:06:54Z</dcterms:modified>
</cp:coreProperties>
</file>