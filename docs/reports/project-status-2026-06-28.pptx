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92000"/>
            </a:srgbClr>
          </a:solidFill>
          <a:ln w="12700">
            <a:solidFill>
              <a:srgbClr val="21295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772400" y="-914400"/>
            <a:ext cx="5120640" cy="5120640"/>
          </a:xfrm>
          <a:prstGeom prst="ellipse">
            <a:avLst/>
          </a:prstGeom>
          <a:solidFill>
            <a:srgbClr val="1C7293">
              <a:alpha val="7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1097280" y="4572000"/>
            <a:ext cx="2926080" cy="2926080"/>
          </a:xfrm>
          <a:prstGeom prst="ellipse">
            <a:avLst/>
          </a:prstGeom>
          <a:solidFill>
            <a:srgbClr val="02C39A">
              <a:alpha val="88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02920" y="502920"/>
            <a:ext cx="137160" cy="5212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96012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每日项目状态汇报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41248" y="16002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yu-ai-code-mother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68680" y="2395728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E6F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9718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D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范围：README、主要模块目录、近 7 天优先的 git 提交、本地测试/CI 配置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794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 2026-06-28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1325880"/>
            <a:ext cx="3063240" cy="338328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58200" y="1719072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58200" y="17922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098280" y="179222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458200" y="2432304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58200" y="2505456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098280" y="250545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实时预览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458200" y="3145536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458200" y="3218688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32186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一键部署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458200" y="3858768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58200" y="393192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8280" y="393192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企业监控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8680" y="5897880"/>
            <a:ext cx="9875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E6F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今日结论：功能主线完整，近期本地提交无新增；工程化与运行依赖仍是主要关注点。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49840" y="-685800"/>
            <a:ext cx="2468880" cy="246888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429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31089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项目概览：面向 AI 代码生成的全栈平台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46920" y="393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 | 2026-06-28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1143000"/>
            <a:ext cx="4297680" cy="45262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1417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定位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18745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 Spring Boot 3 + LangChain4j + Vue 3 的企业级 AI 代码生成平台，支持用户用自然语言创建、编辑、部署和管理应用。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14400" y="3246120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02C39A">
              <a:alpha val="92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87552" y="331927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维护者视角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14400" y="370332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377647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536192" y="37398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单体版与微服务版并存</a:t>
            </a:r>
            <a:endParaRPr lang="en-US" sz="1360" dirty="0"/>
          </a:p>
        </p:txBody>
      </p:sp>
      <p:sp>
        <p:nvSpPr>
          <p:cNvPr id="16" name="Shape 14"/>
          <p:cNvSpPr/>
          <p:nvPr/>
        </p:nvSpPr>
        <p:spPr>
          <a:xfrm>
            <a:off x="914400" y="420624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14400" y="42793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536192" y="424281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前端覆盖用户与管理后台</a:t>
            </a:r>
            <a:endParaRPr lang="en-US" sz="1360" dirty="0"/>
          </a:p>
        </p:txBody>
      </p:sp>
      <p:sp>
        <p:nvSpPr>
          <p:cNvPr id="19" name="Shape 17"/>
          <p:cNvSpPr/>
          <p:nvPr/>
        </p:nvSpPr>
        <p:spPr>
          <a:xfrm>
            <a:off x="914400" y="4709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" y="478231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536192" y="47457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监控、限流、缓存等企业化能力已铺底</a:t>
            </a:r>
            <a:endParaRPr lang="en-US" sz="1360" dirty="0"/>
          </a:p>
        </p:txBody>
      </p:sp>
      <p:sp>
        <p:nvSpPr>
          <p:cNvPr id="22" name="Shape 20"/>
          <p:cNvSpPr/>
          <p:nvPr/>
        </p:nvSpPr>
        <p:spPr>
          <a:xfrm>
            <a:off x="5532120" y="1234440"/>
            <a:ext cx="21488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678424" y="138074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377</a:t>
            </a:r>
            <a:endParaRPr lang="en-US" sz="2900" dirty="0"/>
          </a:p>
        </p:txBody>
      </p:sp>
      <p:sp>
        <p:nvSpPr>
          <p:cNvPr id="24" name="Text 22"/>
          <p:cNvSpPr/>
          <p:nvPr/>
        </p:nvSpPr>
        <p:spPr>
          <a:xfrm>
            <a:off x="5715000" y="188366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仓库文件</a:t>
            </a:r>
            <a:endParaRPr lang="en-US" sz="1130" dirty="0"/>
          </a:p>
        </p:txBody>
      </p:sp>
      <p:sp>
        <p:nvSpPr>
          <p:cNvPr id="25" name="Text 23"/>
          <p:cNvSpPr/>
          <p:nvPr/>
        </p:nvSpPr>
        <p:spPr>
          <a:xfrm>
            <a:off x="5715000" y="214884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 可见文件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001000" y="1234440"/>
            <a:ext cx="21488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147304" y="138074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287</a:t>
            </a:r>
            <a:endParaRPr lang="en-US" sz="2900" dirty="0"/>
          </a:p>
        </p:txBody>
      </p:sp>
      <p:sp>
        <p:nvSpPr>
          <p:cNvPr id="28" name="Text 26"/>
          <p:cNvSpPr/>
          <p:nvPr/>
        </p:nvSpPr>
        <p:spPr>
          <a:xfrm>
            <a:off x="8183880" y="188366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文件</a:t>
            </a:r>
            <a:endParaRPr lang="en-US" sz="1130" dirty="0"/>
          </a:p>
        </p:txBody>
      </p:sp>
      <p:sp>
        <p:nvSpPr>
          <p:cNvPr id="29" name="Text 27"/>
          <p:cNvSpPr/>
          <p:nvPr/>
        </p:nvSpPr>
        <p:spPr>
          <a:xfrm>
            <a:off x="8183880" y="214884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+ 微服务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532120" y="2743200"/>
            <a:ext cx="21488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678424" y="28895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900" dirty="0"/>
          </a:p>
        </p:txBody>
      </p:sp>
      <p:sp>
        <p:nvSpPr>
          <p:cNvPr id="32" name="Text 30"/>
          <p:cNvSpPr/>
          <p:nvPr/>
        </p:nvSpPr>
        <p:spPr>
          <a:xfrm>
            <a:off x="5715000" y="339242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文件</a:t>
            </a:r>
            <a:endParaRPr lang="en-US" sz="1130" dirty="0"/>
          </a:p>
        </p:txBody>
      </p:sp>
      <p:sp>
        <p:nvSpPr>
          <p:cNvPr id="33" name="Text 31"/>
          <p:cNvSpPr/>
          <p:nvPr/>
        </p:nvSpPr>
        <p:spPr>
          <a:xfrm>
            <a:off x="5715000" y="365760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前端视图层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001000" y="2743200"/>
            <a:ext cx="21488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147304" y="28895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900" dirty="0"/>
          </a:p>
        </p:txBody>
      </p:sp>
      <p:sp>
        <p:nvSpPr>
          <p:cNvPr id="36" name="Text 34"/>
          <p:cNvSpPr/>
          <p:nvPr/>
        </p:nvSpPr>
        <p:spPr>
          <a:xfrm>
            <a:off x="8183880" y="339242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</a:t>
            </a:r>
            <a:endParaRPr lang="en-US" sz="1130" dirty="0"/>
          </a:p>
        </p:txBody>
      </p:sp>
      <p:sp>
        <p:nvSpPr>
          <p:cNvPr id="37" name="Text 35"/>
          <p:cNvSpPr/>
          <p:nvPr/>
        </p:nvSpPr>
        <p:spPr>
          <a:xfrm>
            <a:off x="8183880" y="365760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src/test/java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532120" y="43434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AF7F8"/>
          </a:solidFill>
          <a:ln w="10160">
            <a:solidFill>
              <a:srgbClr val="BEE3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806440" y="4599432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7 天本地 git log 无提交；最新可见提交集中在 2025-08 的微服务改造与可观测性。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594360" y="6455664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/ Cursor 自动化汇报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7315200" y="6455664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资料口径：README、主要目录、本地 git 历史与测试配置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49840" y="-685800"/>
            <a:ext cx="2468880" cy="246888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429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31089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当前核心能力：从需求到可访问应用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46920" y="393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 | 2026-06-28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1234440"/>
            <a:ext cx="324612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14400" y="146304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14400" y="15361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54480" y="150876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智能代码生成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2020824"/>
            <a:ext cx="2670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用户输入需求后由 AI 路由生成 html / multi_file / vue_project 代码。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4434840" y="1234440"/>
            <a:ext cx="324612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663440" y="1463040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63440" y="15361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303520" y="150876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SSE 流式对话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63440" y="2020824"/>
            <a:ext cx="2670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TEXT_EVENT_STREAM 输出生成过程，前端 EventSource 实时接收。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8183880" y="1234440"/>
            <a:ext cx="324612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412480" y="146304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0" y="15361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52560" y="150876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可视化编辑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12480" y="2020824"/>
            <a:ext cx="2670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生成应用可预览并选择页面元素，继续通过 AI 对话修改。</a:t>
            </a:r>
            <a:endParaRPr lang="en-US" sz="1270" dirty="0"/>
          </a:p>
        </p:txBody>
      </p:sp>
      <p:sp>
        <p:nvSpPr>
          <p:cNvPr id="23" name="Shape 21"/>
          <p:cNvSpPr/>
          <p:nvPr/>
        </p:nvSpPr>
        <p:spPr>
          <a:xfrm>
            <a:off x="685800" y="3246120"/>
            <a:ext cx="324612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14400" y="3474720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14400" y="354787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554480" y="352044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部署与分享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14400" y="4032504"/>
            <a:ext cx="2670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支持一键部署、自动截图封面、获取访问地址和源码下载。</a:t>
            </a:r>
            <a:endParaRPr lang="en-US" sz="1270" dirty="0"/>
          </a:p>
        </p:txBody>
      </p:sp>
      <p:sp>
        <p:nvSpPr>
          <p:cNvPr id="28" name="Shape 26"/>
          <p:cNvSpPr/>
          <p:nvPr/>
        </p:nvSpPr>
        <p:spPr>
          <a:xfrm>
            <a:off x="4434840" y="3246120"/>
            <a:ext cx="324612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663440" y="347472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63440" y="354787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303520" y="352044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管理后台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63440" y="4032504"/>
            <a:ext cx="2670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用户、应用、对话历史与精选应用管理能力已覆盖。</a:t>
            </a:r>
            <a:endParaRPr lang="en-US" sz="1270" dirty="0"/>
          </a:p>
        </p:txBody>
      </p:sp>
      <p:sp>
        <p:nvSpPr>
          <p:cNvPr id="33" name="Shape 31"/>
          <p:cNvSpPr/>
          <p:nvPr/>
        </p:nvSpPr>
        <p:spPr>
          <a:xfrm>
            <a:off x="8183880" y="3246120"/>
            <a:ext cx="324612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412480" y="3474720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412480" y="354787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9052560" y="352044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监控基础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8412480" y="4032504"/>
            <a:ext cx="2670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Actuator、Prometheus、Grafana 配置用于系统与 AI 调用观测。</a:t>
            </a:r>
            <a:endParaRPr lang="en-US" sz="1270" dirty="0"/>
          </a:p>
        </p:txBody>
      </p:sp>
      <p:sp>
        <p:nvSpPr>
          <p:cNvPr id="38" name="Shape 36"/>
          <p:cNvSpPr/>
          <p:nvPr/>
        </p:nvSpPr>
        <p:spPr>
          <a:xfrm>
            <a:off x="960120" y="5623560"/>
            <a:ext cx="10058400" cy="4572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143000" y="5779008"/>
            <a:ext cx="9646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能力链路：创建需求 -&gt; AI 生成 -&gt; 实时预览 -&gt; 二次编辑 -&gt; 部署分享 -&gt; 管理监控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94360" y="6455664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/ Cursor 自动化汇报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7315200" y="6455664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资料口径：README、主要目录、本地 git 历史与测试配置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49840" y="-685800"/>
            <a:ext cx="2468880" cy="246888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429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31089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模块地图：单体主线 + 微服务演进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46920" y="393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 | 2026-06-28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507492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05840" y="14173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单体后端 /src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87552" y="1938528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87552" y="201168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09344" y="197510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controller：应用、用户、对话、静态资源接口</a:t>
            </a:r>
            <a:endParaRPr lang="en-US" sz="1360" dirty="0"/>
          </a:p>
        </p:txBody>
      </p:sp>
      <p:sp>
        <p:nvSpPr>
          <p:cNvPr id="13" name="Shape 11"/>
          <p:cNvSpPr/>
          <p:nvPr/>
        </p:nvSpPr>
        <p:spPr>
          <a:xfrm>
            <a:off x="987552" y="2441448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87552" y="251460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09344" y="247802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ai/core：LangChain4j、代码解析保存与构建</a:t>
            </a:r>
            <a:endParaRPr lang="en-US" sz="1360" dirty="0"/>
          </a:p>
        </p:txBody>
      </p:sp>
      <p:sp>
        <p:nvSpPr>
          <p:cNvPr id="16" name="Shape 14"/>
          <p:cNvSpPr/>
          <p:nvPr/>
        </p:nvSpPr>
        <p:spPr>
          <a:xfrm>
            <a:off x="987552" y="2944368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87552" y="301752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09344" y="298094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langgraph4j：工作流、图片收集、质量检查</a:t>
            </a:r>
            <a:endParaRPr lang="en-US" sz="1360" dirty="0"/>
          </a:p>
        </p:txBody>
      </p:sp>
      <p:sp>
        <p:nvSpPr>
          <p:cNvPr id="19" name="Shape 17"/>
          <p:cNvSpPr/>
          <p:nvPr/>
        </p:nvSpPr>
        <p:spPr>
          <a:xfrm>
            <a:off x="987552" y="3447288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7552" y="352044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09344" y="348386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service/mapper/model：业务、数据访问与 DTO/VO</a:t>
            </a:r>
            <a:endParaRPr lang="en-US" sz="1360" dirty="0"/>
          </a:p>
        </p:txBody>
      </p:sp>
      <p:sp>
        <p:nvSpPr>
          <p:cNvPr id="22" name="Shape 20"/>
          <p:cNvSpPr/>
          <p:nvPr/>
        </p:nvSpPr>
        <p:spPr>
          <a:xfrm>
            <a:off x="987552" y="3950208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87552" y="402336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609344" y="398678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monitor/ratelimiter：指标采集与 Redis 限流</a:t>
            </a:r>
            <a:endParaRPr lang="en-US" sz="1360" dirty="0"/>
          </a:p>
        </p:txBody>
      </p:sp>
      <p:sp>
        <p:nvSpPr>
          <p:cNvPr id="25" name="Shape 23"/>
          <p:cNvSpPr/>
          <p:nvPr/>
        </p:nvSpPr>
        <p:spPr>
          <a:xfrm>
            <a:off x="6400800" y="1143000"/>
            <a:ext cx="4800600" cy="1920240"/>
          </a:xfrm>
          <a:prstGeom prst="roundRect">
            <a:avLst>
              <a:gd name="adj" fmla="val 3810"/>
            </a:avLst>
          </a:prstGeom>
          <a:solidFill>
            <a:srgbClr val="ECFDF5"/>
          </a:solidFill>
          <a:ln w="10160">
            <a:solidFill>
              <a:srgbClr val="C5F2E2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693408" y="14173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前端 /yu-ai-code-mother-frontend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693408" y="1874520"/>
            <a:ext cx="3950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4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 + Ant Design Vue，覆盖首页、应用对话、编辑页、管理后台、Pinia 状态与 API 封装。</a:t>
            </a:r>
            <a:endParaRPr lang="en-US" sz="1440" dirty="0"/>
          </a:p>
        </p:txBody>
      </p:sp>
      <p:sp>
        <p:nvSpPr>
          <p:cNvPr id="28" name="Shape 26"/>
          <p:cNvSpPr/>
          <p:nvPr/>
        </p:nvSpPr>
        <p:spPr>
          <a:xfrm>
            <a:off x="6400800" y="3429000"/>
            <a:ext cx="4800600" cy="2148840"/>
          </a:xfrm>
          <a:prstGeom prst="roundRect">
            <a:avLst>
              <a:gd name="adj" fmla="val 3404"/>
            </a:avLst>
          </a:prstGeom>
          <a:solidFill>
            <a:srgbClr val="EFF6FF"/>
          </a:solidFill>
          <a:ln w="10160">
            <a:solidFill>
              <a:srgbClr val="BFD7EA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693408" y="369417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微服务版 /yu-ai-code-mother-microservice</a:t>
            </a:r>
            <a:endParaRPr lang="en-US" sz="1850" dirty="0"/>
          </a:p>
        </p:txBody>
      </p:sp>
      <p:sp>
        <p:nvSpPr>
          <p:cNvPr id="30" name="Text 28"/>
          <p:cNvSpPr/>
          <p:nvPr/>
        </p:nvSpPr>
        <p:spPr>
          <a:xfrm>
            <a:off x="6693408" y="4160520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 / client / user / app / ai / screenshot 七个 Maven 模块，基于 Spring Cloud Alibaba + Dubbo + Nacos 演进。</a:t>
            </a:r>
            <a:endParaRPr lang="en-US" sz="1430" dirty="0"/>
          </a:p>
        </p:txBody>
      </p:sp>
      <p:sp>
        <p:nvSpPr>
          <p:cNvPr id="31" name="Shape 29"/>
          <p:cNvSpPr/>
          <p:nvPr/>
        </p:nvSpPr>
        <p:spPr>
          <a:xfrm>
            <a:off x="5897880" y="2011680"/>
            <a:ext cx="411480" cy="0"/>
          </a:xfrm>
          <a:prstGeom prst="line">
            <a:avLst/>
          </a:prstGeom>
          <a:noFill/>
          <a:ln w="27940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897880" y="4389120"/>
            <a:ext cx="411480" cy="0"/>
          </a:xfrm>
          <a:prstGeom prst="line">
            <a:avLst/>
          </a:prstGeom>
          <a:noFill/>
          <a:ln w="27940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6455664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/ Cursor 自动化汇报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315200" y="6455664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资料口径：README、主要目录、本地 git 历史与测试配置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49840" y="-685800"/>
            <a:ext cx="2468880" cy="246888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429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31089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生成与交付链路：AI 工作流贯穿前后端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46920" y="393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 | 2026-06-28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1874520"/>
            <a:ext cx="18288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435608" y="214884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435608" y="22219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78408" y="290779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需求输入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78408" y="33832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首页提示词创建应用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2633472" y="3035808"/>
            <a:ext cx="384048" cy="0"/>
          </a:xfrm>
          <a:prstGeom prst="line">
            <a:avLst/>
          </a:prstGeom>
          <a:noFill/>
          <a:ln w="30480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017520" y="1874520"/>
            <a:ext cx="1828800" cy="2331720"/>
          </a:xfrm>
          <a:prstGeom prst="roundRect">
            <a:avLst>
              <a:gd name="adj" fmla="val 4000"/>
            </a:avLst>
          </a:prstGeom>
          <a:solidFill>
            <a:srgbClr val="EAF7F8"/>
          </a:solidFill>
          <a:ln w="10160">
            <a:solidFill>
              <a:srgbClr val="BEE3E8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675888" y="214884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75888" y="22219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18688" y="290779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类型路由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218688" y="33832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选择 html / multi_file / vue_project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4873752" y="3035808"/>
            <a:ext cx="384048" cy="0"/>
          </a:xfrm>
          <a:prstGeom prst="line">
            <a:avLst/>
          </a:prstGeom>
          <a:noFill/>
          <a:ln w="30480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257800" y="1874520"/>
            <a:ext cx="18288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916168" y="214884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16168" y="22219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58968" y="290779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工具调用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58968" y="33832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生成文件并流式输出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7114032" y="3035808"/>
            <a:ext cx="384048" cy="0"/>
          </a:xfrm>
          <a:prstGeom prst="line">
            <a:avLst/>
          </a:prstGeom>
          <a:noFill/>
          <a:ln w="30480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498080" y="1874520"/>
            <a:ext cx="1828800" cy="2331720"/>
          </a:xfrm>
          <a:prstGeom prst="roundRect">
            <a:avLst>
              <a:gd name="adj" fmla="val 4000"/>
            </a:avLst>
          </a:prstGeom>
          <a:solidFill>
            <a:srgbClr val="EAF7F8"/>
          </a:solidFill>
          <a:ln w="10160">
            <a:solidFill>
              <a:srgbClr val="BEE3E8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156448" y="214884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156448" y="22219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699248" y="290779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预览编辑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7699248" y="33832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页面展示与可视化二次修改</a:t>
            </a:r>
            <a:endParaRPr lang="en-US" sz="1180" dirty="0"/>
          </a:p>
        </p:txBody>
      </p:sp>
      <p:sp>
        <p:nvSpPr>
          <p:cNvPr id="31" name="Shape 29"/>
          <p:cNvSpPr/>
          <p:nvPr/>
        </p:nvSpPr>
        <p:spPr>
          <a:xfrm>
            <a:off x="9354312" y="3035808"/>
            <a:ext cx="384048" cy="0"/>
          </a:xfrm>
          <a:prstGeom prst="line">
            <a:avLst/>
          </a:prstGeom>
          <a:noFill/>
          <a:ln w="30480">
            <a:solidFill>
              <a:srgbClr val="02C39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738360" y="1874520"/>
            <a:ext cx="18288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0396728" y="214884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0396728" y="22219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939528" y="290779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部署截图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939528" y="33832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8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发布地址、封面图与源码下载</a:t>
            </a:r>
            <a:endParaRPr lang="en-US" sz="1180" dirty="0"/>
          </a:p>
        </p:txBody>
      </p:sp>
      <p:sp>
        <p:nvSpPr>
          <p:cNvPr id="37" name="Shape 35"/>
          <p:cNvSpPr/>
          <p:nvPr/>
        </p:nvSpPr>
        <p:spPr>
          <a:xfrm>
            <a:off x="960120" y="4983480"/>
            <a:ext cx="10012680" cy="749808"/>
          </a:xfrm>
          <a:prstGeom prst="roundRect">
            <a:avLst>
              <a:gd name="adj" fmla="val 9756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170432" y="5257800"/>
            <a:ext cx="9464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关键价值：生成过程可观测、结果可预览、交付可部署，形成端到端闭环。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94360" y="6455664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/ Cursor 自动化汇报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315200" y="6455664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资料口径：README、主要目录、本地 git 历史与测试配置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49840" y="-685800"/>
            <a:ext cx="2468880" cy="246888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429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31089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昨日/近期变更：本地最近 7 天无新提交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46920" y="393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 | 2026-06-28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3886200" cy="452628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78992" y="15361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 7 天观察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78992" y="2057400"/>
            <a:ext cx="3182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git log 在运行日向前 7 天内未发现提交，因此本次汇报将“近期变更”扩展到最新可见提交序列。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133856" y="3154680"/>
            <a:ext cx="21488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80160" y="330098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316736" y="380390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天提交</a:t>
            </a:r>
            <a:endParaRPr lang="en-US" sz="1130" dirty="0"/>
          </a:p>
        </p:txBody>
      </p:sp>
      <p:sp>
        <p:nvSpPr>
          <p:cNvPr id="14" name="Text 12"/>
          <p:cNvSpPr/>
          <p:nvPr/>
        </p:nvSpPr>
        <p:spPr>
          <a:xfrm>
            <a:off x="1316736" y="406908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 git log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337560" y="3154680"/>
            <a:ext cx="21488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483864" y="330098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3520440" y="380390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最新可见提交</a:t>
            </a:r>
            <a:endParaRPr lang="en-US" sz="1130" dirty="0"/>
          </a:p>
        </p:txBody>
      </p:sp>
      <p:sp>
        <p:nvSpPr>
          <p:cNvPr id="18" name="Text 16"/>
          <p:cNvSpPr/>
          <p:nvPr/>
        </p:nvSpPr>
        <p:spPr>
          <a:xfrm>
            <a:off x="3520440" y="406908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摘要纳入分析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349240" y="1234440"/>
            <a:ext cx="5669280" cy="4526280"/>
          </a:xfrm>
          <a:prstGeom prst="roundRect">
            <a:avLst>
              <a:gd name="adj" fmla="val 1616"/>
            </a:avLst>
          </a:prstGeom>
          <a:solidFill>
            <a:srgbClr val="EAF7F8"/>
          </a:solidFill>
          <a:ln w="10160">
            <a:solidFill>
              <a:srgbClr val="BEE3E8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687568" y="1627632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687568" y="1700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27648" y="164592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60920" y="160934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14 期：微服务改造完成，包含完整单体项目代码</a:t>
            </a:r>
            <a:endParaRPr lang="en-US" sz="1330" dirty="0"/>
          </a:p>
        </p:txBody>
      </p:sp>
      <p:sp>
        <p:nvSpPr>
          <p:cNvPr id="24" name="Shape 22"/>
          <p:cNvSpPr/>
          <p:nvPr/>
        </p:nvSpPr>
        <p:spPr>
          <a:xfrm>
            <a:off x="5687568" y="2450592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687568" y="25237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27648" y="246888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60920" y="243230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14 期：Dubbo + Nacos 跨服务调用、用户/应用/AI/截图服务拆分</a:t>
            </a:r>
            <a:endParaRPr lang="en-US" sz="1330" dirty="0"/>
          </a:p>
        </p:txBody>
      </p:sp>
      <p:sp>
        <p:nvSpPr>
          <p:cNvPr id="28" name="Shape 26"/>
          <p:cNvSpPr/>
          <p:nvPr/>
        </p:nvSpPr>
        <p:spPr>
          <a:xfrm>
            <a:off x="5687568" y="3273552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687568" y="3346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27648" y="329184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60920" y="32552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13 期：可观测性能力补充</a:t>
            </a:r>
            <a:endParaRPr lang="en-US" sz="1330" dirty="0"/>
          </a:p>
        </p:txBody>
      </p:sp>
      <p:sp>
        <p:nvSpPr>
          <p:cNvPr id="32" name="Shape 30"/>
          <p:cNvSpPr/>
          <p:nvPr/>
        </p:nvSpPr>
        <p:spPr>
          <a:xfrm>
            <a:off x="5687568" y="4096512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687568" y="41696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411480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2025-08-14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60920" y="407822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12 期：部署上线相关能力</a:t>
            </a:r>
            <a:endParaRPr lang="en-US" sz="1330" dirty="0"/>
          </a:p>
        </p:txBody>
      </p:sp>
      <p:sp>
        <p:nvSpPr>
          <p:cNvPr id="36" name="Text 34"/>
          <p:cNvSpPr/>
          <p:nvPr/>
        </p:nvSpPr>
        <p:spPr>
          <a:xfrm>
            <a:off x="5687568" y="5084064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提示：多个微服务改造中间态提交注明“不建议单独使用当前提交”，维护分支时需以最终完成态为基准。</a:t>
            </a:r>
            <a:endParaRPr lang="en-US" sz="1220" dirty="0"/>
          </a:p>
        </p:txBody>
      </p:sp>
      <p:sp>
        <p:nvSpPr>
          <p:cNvPr id="37" name="Text 35"/>
          <p:cNvSpPr/>
          <p:nvPr/>
        </p:nvSpPr>
        <p:spPr>
          <a:xfrm>
            <a:off x="594360" y="6455664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/ Cursor 自动化汇报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315200" y="6455664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资料口径：README、主要目录、本地 git 历史与测试配置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49840" y="-685800"/>
            <a:ext cx="2468880" cy="246888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429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31089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数据/指标要点：当前仓库可见口径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46920" y="393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 | 2026-06-28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1234440"/>
            <a:ext cx="21488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9264" y="138074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05840" y="188366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生成模式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1005840" y="214884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multi_file / vue_project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46120" y="1234440"/>
            <a:ext cx="21488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392424" y="138074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3429000" y="188366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130" dirty="0"/>
          </a:p>
        </p:txBody>
      </p:sp>
      <p:sp>
        <p:nvSpPr>
          <p:cNvPr id="15" name="Text 13"/>
          <p:cNvSpPr/>
          <p:nvPr/>
        </p:nvSpPr>
        <p:spPr>
          <a:xfrm>
            <a:off x="3429000" y="214884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到 screenshot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1234440"/>
            <a:ext cx="21488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15584" y="138074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5852160" y="188366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</a:t>
            </a:r>
            <a:endParaRPr lang="en-US" sz="1130" dirty="0"/>
          </a:p>
        </p:txBody>
      </p:sp>
      <p:sp>
        <p:nvSpPr>
          <p:cNvPr id="19" name="Text 17"/>
          <p:cNvSpPr/>
          <p:nvPr/>
        </p:nvSpPr>
        <p:spPr>
          <a:xfrm>
            <a:off x="5852160" y="214884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偏集成化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092440" y="1234440"/>
            <a:ext cx="214884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38744" y="138074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900" dirty="0"/>
          </a:p>
        </p:txBody>
      </p:sp>
      <p:sp>
        <p:nvSpPr>
          <p:cNvPr id="22" name="Text 20"/>
          <p:cNvSpPr/>
          <p:nvPr/>
        </p:nvSpPr>
        <p:spPr>
          <a:xfrm>
            <a:off x="8275320" y="188366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workflow</a:t>
            </a:r>
            <a:endParaRPr lang="en-US" sz="1130" dirty="0"/>
          </a:p>
        </p:txBody>
      </p:sp>
      <p:sp>
        <p:nvSpPr>
          <p:cNvPr id="23" name="Text 21"/>
          <p:cNvSpPr/>
          <p:nvPr/>
        </p:nvSpPr>
        <p:spPr>
          <a:xfrm>
            <a:off x="8275320" y="214884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.github/workflows 未发现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68680" y="2971800"/>
            <a:ext cx="498348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143000" y="32735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测试与构建入口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1143000" y="3730752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143000" y="38039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764792" y="3767328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后端单体：mvn test</a:t>
            </a:r>
            <a:endParaRPr lang="en-US" sz="1360" dirty="0"/>
          </a:p>
        </p:txBody>
      </p:sp>
      <p:sp>
        <p:nvSpPr>
          <p:cNvPr id="29" name="Shape 27"/>
          <p:cNvSpPr/>
          <p:nvPr/>
        </p:nvSpPr>
        <p:spPr>
          <a:xfrm>
            <a:off x="1143000" y="4123944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143000" y="4197096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764792" y="4160520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微服务聚合：cd yu-ai-code-mother-microservice &amp;&amp; mvn test</a:t>
            </a:r>
            <a:endParaRPr lang="en-US" sz="1360" dirty="0"/>
          </a:p>
        </p:txBody>
      </p:sp>
      <p:sp>
        <p:nvSpPr>
          <p:cNvPr id="32" name="Shape 30"/>
          <p:cNvSpPr/>
          <p:nvPr/>
        </p:nvSpPr>
        <p:spPr>
          <a:xfrm>
            <a:off x="1143000" y="4517136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143000" y="4590288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764792" y="455371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前端：npm run build / type-check / lint</a:t>
            </a:r>
            <a:endParaRPr lang="en-US" sz="1360" dirty="0"/>
          </a:p>
        </p:txBody>
      </p:sp>
      <p:sp>
        <p:nvSpPr>
          <p:cNvPr id="35" name="Shape 33"/>
          <p:cNvSpPr/>
          <p:nvPr/>
        </p:nvSpPr>
        <p:spPr>
          <a:xfrm>
            <a:off x="1143000" y="4910328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143000" y="498348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764792" y="4946904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lint 会执行 --fix，CI 中需谨慎使用</a:t>
            </a:r>
            <a:endParaRPr lang="en-US" sz="1360" dirty="0"/>
          </a:p>
        </p:txBody>
      </p:sp>
      <p:sp>
        <p:nvSpPr>
          <p:cNvPr id="38" name="Shape 36"/>
          <p:cNvSpPr/>
          <p:nvPr/>
        </p:nvSpPr>
        <p:spPr>
          <a:xfrm>
            <a:off x="6400800" y="2971800"/>
            <a:ext cx="4480560" cy="2606040"/>
          </a:xfrm>
          <a:prstGeom prst="roundRect">
            <a:avLst>
              <a:gd name="adj" fmla="val 2807"/>
            </a:avLst>
          </a:prstGeom>
          <a:solidFill>
            <a:srgbClr val="EFF6FF"/>
          </a:solidFill>
          <a:ln w="10160">
            <a:solidFill>
              <a:srgbClr val="BFD7EA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812280" y="342900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080" dirty="0"/>
          </a:p>
        </p:txBody>
      </p:sp>
      <p:sp>
        <p:nvSpPr>
          <p:cNvPr id="40" name="Shape 38"/>
          <p:cNvSpPr/>
          <p:nvPr/>
        </p:nvSpPr>
        <p:spPr>
          <a:xfrm>
            <a:off x="7452360" y="3447288"/>
            <a:ext cx="3108960" cy="164592"/>
          </a:xfrm>
          <a:prstGeom prst="rect">
            <a:avLst/>
          </a:prstGeom>
          <a:solidFill>
            <a:srgbClr val="DDEFF4"/>
          </a:solidFill>
          <a:ln w="12700">
            <a:solidFill>
              <a:srgbClr val="DDEFF4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7452360" y="3447288"/>
            <a:ext cx="3108960" cy="1645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10652760" y="342900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8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6812280" y="3959352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</a:t>
            </a:r>
            <a:endParaRPr lang="en-US" sz="1080" dirty="0"/>
          </a:p>
        </p:txBody>
      </p:sp>
      <p:sp>
        <p:nvSpPr>
          <p:cNvPr id="44" name="Shape 42"/>
          <p:cNvSpPr/>
          <p:nvPr/>
        </p:nvSpPr>
        <p:spPr>
          <a:xfrm>
            <a:off x="7452360" y="3977640"/>
            <a:ext cx="3108960" cy="164592"/>
          </a:xfrm>
          <a:prstGeom prst="rect">
            <a:avLst/>
          </a:prstGeom>
          <a:solidFill>
            <a:srgbClr val="DDEFF4"/>
          </a:solidFill>
          <a:ln w="12700">
            <a:solidFill>
              <a:srgbClr val="DDEFF4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7452360" y="3977640"/>
            <a:ext cx="184154" cy="16459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10652760" y="3959352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8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80" dirty="0"/>
          </a:p>
        </p:txBody>
      </p:sp>
      <p:sp>
        <p:nvSpPr>
          <p:cNvPr id="47" name="Text 45"/>
          <p:cNvSpPr/>
          <p:nvPr/>
        </p:nvSpPr>
        <p:spPr>
          <a:xfrm>
            <a:off x="6812280" y="448970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80" dirty="0"/>
          </a:p>
        </p:txBody>
      </p:sp>
      <p:sp>
        <p:nvSpPr>
          <p:cNvPr id="48" name="Shape 46"/>
          <p:cNvSpPr/>
          <p:nvPr/>
        </p:nvSpPr>
        <p:spPr>
          <a:xfrm>
            <a:off x="7452360" y="4507992"/>
            <a:ext cx="3108960" cy="164592"/>
          </a:xfrm>
          <a:prstGeom prst="rect">
            <a:avLst/>
          </a:prstGeom>
          <a:solidFill>
            <a:srgbClr val="DDEFF4"/>
          </a:solidFill>
          <a:ln w="12700">
            <a:solidFill>
              <a:srgbClr val="DDEFF4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7452360" y="4507992"/>
            <a:ext cx="151657" cy="1645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10652760" y="4489704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8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80" dirty="0"/>
          </a:p>
        </p:txBody>
      </p:sp>
      <p:sp>
        <p:nvSpPr>
          <p:cNvPr id="51" name="Text 49"/>
          <p:cNvSpPr/>
          <p:nvPr/>
        </p:nvSpPr>
        <p:spPr>
          <a:xfrm>
            <a:off x="6784848" y="5166360"/>
            <a:ext cx="3675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3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文件体量显示后端与微服务代码占主导，前端页面已具备主要业务闭环。</a:t>
            </a:r>
            <a:endParaRPr lang="en-US" sz="1130" dirty="0"/>
          </a:p>
        </p:txBody>
      </p:sp>
      <p:sp>
        <p:nvSpPr>
          <p:cNvPr id="52" name="Text 50"/>
          <p:cNvSpPr/>
          <p:nvPr/>
        </p:nvSpPr>
        <p:spPr>
          <a:xfrm>
            <a:off x="594360" y="6455664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/ Cursor 自动化汇报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315200" y="6455664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资料口径：README、主要目录、本地 git 历史与测试配置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49840" y="-685800"/>
            <a:ext cx="2468880" cy="246888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429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31089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风险与阻塞：运行依赖和工程化短板优先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46920" y="393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 | 2026-06-28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41248" y="1207008"/>
            <a:ext cx="103784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078992" y="1316736"/>
            <a:ext cx="475488" cy="475488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78992" y="1389888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755648" y="137160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外部依赖较多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886200" y="1362456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MySQL、Redis、DeepSeek、DashScope、Pexels、COS、Nacos/Dubbo 未配置时会阻塞运行与测试。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41248" y="2148840"/>
            <a:ext cx="10378440" cy="694944"/>
          </a:xfrm>
          <a:prstGeom prst="roundRect">
            <a:avLst>
              <a:gd name="adj" fmla="val 10526"/>
            </a:avLst>
          </a:prstGeom>
          <a:solidFill>
            <a:srgbClr val="EAF7F8"/>
          </a:solidFill>
          <a:ln w="10160">
            <a:solidFill>
              <a:srgbClr val="D6E9E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78992" y="2258568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78992" y="233172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55648" y="2313432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缺少 CI 配置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3886200" y="2304288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GitHub Actions、GitLab CI、Jenkins 等自动化流水线。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41248" y="3090672"/>
            <a:ext cx="103784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78992" y="3200400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78992" y="327355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755648" y="3255264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测试隔离不足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886200" y="3246120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后端测试多为 SpringBootTest，容易依赖真实上下文和外部服务。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41248" y="4032504"/>
            <a:ext cx="10378440" cy="694944"/>
          </a:xfrm>
          <a:prstGeom prst="roundRect">
            <a:avLst>
              <a:gd name="adj" fmla="val 10526"/>
            </a:avLst>
          </a:prstGeom>
          <a:solidFill>
            <a:srgbClr val="EAF7F8"/>
          </a:solidFill>
          <a:ln w="10160">
            <a:solidFill>
              <a:srgbClr val="D6E9EE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078992" y="4142232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78992" y="42153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755648" y="41970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主线分叉风险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886200" y="4187952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单体版与微服务版并存，后续功能归属需明确，避免重复实现。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841248" y="4974336"/>
            <a:ext cx="103784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78992" y="5084064"/>
            <a:ext cx="475488" cy="475488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78992" y="5157216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755648" y="5138928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安全与凭证治理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3886200" y="5129784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示例配置和默认凭证需生产替换；静态资源路径访问建议继续审查。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2011680" y="5989320"/>
            <a:ext cx="8138160" cy="411480"/>
          </a:xfrm>
          <a:prstGeom prst="roundRect">
            <a:avLst>
              <a:gd name="adj" fmla="val 13333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240280" y="6135624"/>
            <a:ext cx="77266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优先级建议：先补自动化验证与环境配置说明，再处理主线归属和安全审查。</a:t>
            </a:r>
            <a:endParaRPr lang="en-US" sz="1220" dirty="0"/>
          </a:p>
        </p:txBody>
      </p:sp>
      <p:sp>
        <p:nvSpPr>
          <p:cNvPr id="35" name="Text 33"/>
          <p:cNvSpPr/>
          <p:nvPr/>
        </p:nvSpPr>
        <p:spPr>
          <a:xfrm>
            <a:off x="594360" y="6455664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/ Cursor 自动化汇报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315200" y="6455664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资料口径：README、主要目录、本地 git 历史与测试配置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49840" y="-685800"/>
            <a:ext cx="2468880" cy="246888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429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31089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未完成项：从“能跑”走向“可维护”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46920" y="393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 | 2026-06-28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1280160"/>
            <a:ext cx="306324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051560" y="1490472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02C39A">
              <a:alpha val="92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24712" y="156362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待推进 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51560" y="19385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 基线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051560" y="234086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新增构建、测试、类型检查流水线，避免回归靠人工发现。</a:t>
            </a:r>
            <a:endParaRPr lang="en-US" sz="1260" dirty="0"/>
          </a:p>
        </p:txBody>
      </p:sp>
      <p:sp>
        <p:nvSpPr>
          <p:cNvPr id="13" name="Shape 11"/>
          <p:cNvSpPr/>
          <p:nvPr/>
        </p:nvSpPr>
        <p:spPr>
          <a:xfrm>
            <a:off x="4526280" y="1280160"/>
            <a:ext cx="306324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54880" y="1490472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00A896">
              <a:alpha val="92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28032" y="156362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待推进 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754880" y="19385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配置模板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4754880" y="234086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完善本地/测试/生产 profile、依赖启动说明和密钥注入方式。</a:t>
            </a:r>
            <a:endParaRPr lang="en-US" sz="1260" dirty="0"/>
          </a:p>
        </p:txBody>
      </p:sp>
      <p:sp>
        <p:nvSpPr>
          <p:cNvPr id="18" name="Shape 16"/>
          <p:cNvSpPr/>
          <p:nvPr/>
        </p:nvSpPr>
        <p:spPr>
          <a:xfrm>
            <a:off x="8229600" y="1280160"/>
            <a:ext cx="306324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458200" y="1490472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02C39A">
              <a:alpha val="92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31352" y="156362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待推进 3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458200" y="19385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测试分层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8458200" y="234086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拆出不依赖外部服务的单元测试，集成测试使用可替换配置。</a:t>
            </a:r>
            <a:endParaRPr lang="en-US" sz="1260" dirty="0"/>
          </a:p>
        </p:txBody>
      </p:sp>
      <p:sp>
        <p:nvSpPr>
          <p:cNvPr id="23" name="Shape 21"/>
          <p:cNvSpPr/>
          <p:nvPr/>
        </p:nvSpPr>
        <p:spPr>
          <a:xfrm>
            <a:off x="2697480" y="3886200"/>
            <a:ext cx="306324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926080" y="4096512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00A896">
              <a:alpha val="92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9232" y="416966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待推进 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926080" y="454456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安全审查</a:t>
            </a:r>
            <a:endParaRPr lang="en-US" sz="1750" dirty="0"/>
          </a:p>
        </p:txBody>
      </p:sp>
      <p:sp>
        <p:nvSpPr>
          <p:cNvPr id="27" name="Text 25"/>
          <p:cNvSpPr/>
          <p:nvPr/>
        </p:nvSpPr>
        <p:spPr>
          <a:xfrm>
            <a:off x="2926080" y="494690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检查静态资源访问、上传/下载路径、默认凭证和管理接口权限。</a:t>
            </a:r>
            <a:endParaRPr lang="en-US" sz="1260" dirty="0"/>
          </a:p>
        </p:txBody>
      </p:sp>
      <p:sp>
        <p:nvSpPr>
          <p:cNvPr id="28" name="Shape 26"/>
          <p:cNvSpPr/>
          <p:nvPr/>
        </p:nvSpPr>
        <p:spPr>
          <a:xfrm>
            <a:off x="6400800" y="3886200"/>
            <a:ext cx="306324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629400" y="4096512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02C39A">
              <a:alpha val="92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702552" y="4169664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待推进 5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629400" y="454456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演进路线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6629400" y="4946904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明确单体版与微服务版的功能同步策略和维护边界。</a:t>
            </a:r>
            <a:endParaRPr lang="en-US" sz="1260" dirty="0"/>
          </a:p>
        </p:txBody>
      </p:sp>
      <p:sp>
        <p:nvSpPr>
          <p:cNvPr id="33" name="Text 31"/>
          <p:cNvSpPr/>
          <p:nvPr/>
        </p:nvSpPr>
        <p:spPr>
          <a:xfrm>
            <a:off x="594360" y="6455664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/ Cursor 自动化汇报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315200" y="6455664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资料口径：README、主要目录、本地 git 历史与测试配置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149840" y="-685800"/>
            <a:ext cx="2468880" cy="2468880"/>
          </a:xfrm>
          <a:prstGeom prst="ellipse">
            <a:avLst/>
          </a:prstGeom>
          <a:solidFill>
            <a:srgbClr val="1C7293">
              <a:alpha val="1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42976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43000" y="310896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建议下一步：降低运行不确定性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646920" y="3931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每日项目状态 | 2026-06-28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1188720"/>
            <a:ext cx="3246120" cy="44805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078992" y="1581912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78992" y="1655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737360" y="167335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验证闭环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078992" y="2423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78992" y="249631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00784" y="2459736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 GitHub Actions 或同类 CI</a:t>
            </a:r>
            <a:endParaRPr lang="en-US" sz="1360" dirty="0"/>
          </a:p>
        </p:txBody>
      </p:sp>
      <p:sp>
        <p:nvSpPr>
          <p:cNvPr id="15" name="Shape 13"/>
          <p:cNvSpPr/>
          <p:nvPr/>
        </p:nvSpPr>
        <p:spPr>
          <a:xfrm>
            <a:off x="1078992" y="3044952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78992" y="31181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8152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拆分后端单元/集成测试</a:t>
            </a:r>
            <a:endParaRPr lang="en-US" sz="1360" dirty="0"/>
          </a:p>
        </p:txBody>
      </p:sp>
      <p:sp>
        <p:nvSpPr>
          <p:cNvPr id="18" name="Shape 16"/>
          <p:cNvSpPr/>
          <p:nvPr/>
        </p:nvSpPr>
        <p:spPr>
          <a:xfrm>
            <a:off x="1078992" y="3666744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78992" y="3739896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700784" y="370332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前端增加非修复型 lint 命令</a:t>
            </a:r>
            <a:endParaRPr lang="en-US" sz="1360" dirty="0"/>
          </a:p>
        </p:txBody>
      </p:sp>
      <p:sp>
        <p:nvSpPr>
          <p:cNvPr id="21" name="Shape 19"/>
          <p:cNvSpPr/>
          <p:nvPr/>
        </p:nvSpPr>
        <p:spPr>
          <a:xfrm>
            <a:off x="4434840" y="1188720"/>
            <a:ext cx="3246120" cy="4480560"/>
          </a:xfrm>
          <a:prstGeom prst="roundRect">
            <a:avLst>
              <a:gd name="adj" fmla="val 2254"/>
            </a:avLst>
          </a:prstGeom>
          <a:solidFill>
            <a:srgbClr val="EAF7F8"/>
          </a:solidFill>
          <a:ln w="10160">
            <a:solidFill>
              <a:srgbClr val="BEE3E8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736592" y="1581912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36592" y="1655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94960" y="167335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环境治理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4736592" y="2423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736592" y="249631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2459736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整理依赖服务清单与启动顺序</a:t>
            </a:r>
            <a:endParaRPr lang="en-US" sz="1360" dirty="0"/>
          </a:p>
        </p:txBody>
      </p:sp>
      <p:sp>
        <p:nvSpPr>
          <p:cNvPr id="28" name="Shape 26"/>
          <p:cNvSpPr/>
          <p:nvPr/>
        </p:nvSpPr>
        <p:spPr>
          <a:xfrm>
            <a:off x="4736592" y="3044952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736592" y="31181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358384" y="308152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 profile 与密钥注入</a:t>
            </a:r>
            <a:endParaRPr lang="en-US" sz="1360" dirty="0"/>
          </a:p>
        </p:txBody>
      </p:sp>
      <p:sp>
        <p:nvSpPr>
          <p:cNvPr id="31" name="Shape 29"/>
          <p:cNvSpPr/>
          <p:nvPr/>
        </p:nvSpPr>
        <p:spPr>
          <a:xfrm>
            <a:off x="4736592" y="3666744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736592" y="3739896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358384" y="370332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沉淀本地 smoke test 脚本</a:t>
            </a:r>
            <a:endParaRPr lang="en-US" sz="1360" dirty="0"/>
          </a:p>
        </p:txBody>
      </p:sp>
      <p:sp>
        <p:nvSpPr>
          <p:cNvPr id="34" name="Shape 32"/>
          <p:cNvSpPr/>
          <p:nvPr/>
        </p:nvSpPr>
        <p:spPr>
          <a:xfrm>
            <a:off x="8092440" y="1188720"/>
            <a:ext cx="3246120" cy="44805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0160">
            <a:solidFill>
              <a:srgbClr val="D6E9EE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8394192" y="1581912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394192" y="1655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167335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产品演进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8394192" y="24231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394192" y="249631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15984" y="2459736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明确单体/微服务主线</a:t>
            </a:r>
            <a:endParaRPr lang="en-US" sz="1360" dirty="0"/>
          </a:p>
        </p:txBody>
      </p:sp>
      <p:sp>
        <p:nvSpPr>
          <p:cNvPr id="41" name="Shape 39"/>
          <p:cNvSpPr/>
          <p:nvPr/>
        </p:nvSpPr>
        <p:spPr>
          <a:xfrm>
            <a:off x="8394192" y="3044952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394192" y="31181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15984" y="308152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补管理后台关键指标看板</a:t>
            </a:r>
            <a:endParaRPr lang="en-US" sz="1360" dirty="0"/>
          </a:p>
        </p:txBody>
      </p:sp>
      <p:sp>
        <p:nvSpPr>
          <p:cNvPr id="44" name="Shape 42"/>
          <p:cNvSpPr/>
          <p:nvPr/>
        </p:nvSpPr>
        <p:spPr>
          <a:xfrm>
            <a:off x="8394192" y="3666744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394192" y="3739896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015984" y="370332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跟踪安全路径与部署体验</a:t>
            </a:r>
            <a:endParaRPr lang="en-US" sz="1360" dirty="0"/>
          </a:p>
        </p:txBody>
      </p:sp>
      <p:sp>
        <p:nvSpPr>
          <p:cNvPr id="47" name="Shape 45"/>
          <p:cNvSpPr/>
          <p:nvPr/>
        </p:nvSpPr>
        <p:spPr>
          <a:xfrm>
            <a:off x="1874520" y="5989320"/>
            <a:ext cx="8412480" cy="384048"/>
          </a:xfrm>
          <a:prstGeom prst="roundRect">
            <a:avLst>
              <a:gd name="adj" fmla="val 14286"/>
            </a:avLst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2103120" y="6117336"/>
            <a:ext cx="8001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推进原则：先稳定交付与验证，再扩大功能面；优先减少外部依赖导致的不确定性。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94360" y="6455664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/ Cursor 自动化汇报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315200" y="6455664"/>
            <a:ext cx="4251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1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资料口径：README、主要目录、本地 git 历史与测试配置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92000"/>
            </a:srgbClr>
          </a:solidFill>
          <a:ln w="12700">
            <a:solidFill>
              <a:srgbClr val="21295C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772400" y="-914400"/>
            <a:ext cx="5120640" cy="5120640"/>
          </a:xfrm>
          <a:prstGeom prst="ellipse">
            <a:avLst/>
          </a:prstGeom>
          <a:solidFill>
            <a:srgbClr val="1C7293">
              <a:alpha val="7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1097280" y="4572000"/>
            <a:ext cx="2926080" cy="2926080"/>
          </a:xfrm>
          <a:prstGeom prst="ellipse">
            <a:avLst/>
          </a:prstGeom>
          <a:solidFill>
            <a:srgbClr val="02C39A">
              <a:alpha val="88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49808" y="777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150876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6F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当前平台已具备“需求输入 -&gt; AI 生成 -&gt; 预览编辑 -&gt; 部署分享 -&gt; 管理监控”的完整业务骨架。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2316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51560" y="26517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51560" y="272491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2615184"/>
            <a:ext cx="1508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能力成熟度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645920" y="295351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核心链路清晰，微服务改造和可观测性已有最近可见提交支撑。</a:t>
            </a:r>
            <a:endParaRPr lang="en-US" sz="1160" dirty="0"/>
          </a:p>
        </p:txBody>
      </p:sp>
      <p:sp>
        <p:nvSpPr>
          <p:cNvPr id="12" name="Shape 10"/>
          <p:cNvSpPr/>
          <p:nvPr/>
        </p:nvSpPr>
        <p:spPr>
          <a:xfrm>
            <a:off x="6126480" y="242316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55080" y="265176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55080" y="272491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49440" y="2615184"/>
            <a:ext cx="1508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近期状态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949440" y="295351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运行日近 7 天无新增提交，需重点关注既有能力的验证与维护。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822960" y="374904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051560" y="397764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51560" y="40507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45920" y="3941064"/>
            <a:ext cx="1508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主要风险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45920" y="427939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外部依赖、缺少 CI、测试隔离和主线分叉是当前优先风险。</a:t>
            </a:r>
            <a:endParaRPr lang="en-US" sz="1160" dirty="0"/>
          </a:p>
        </p:txBody>
      </p:sp>
      <p:sp>
        <p:nvSpPr>
          <p:cNvPr id="22" name="Shape 20"/>
          <p:cNvSpPr/>
          <p:nvPr/>
        </p:nvSpPr>
        <p:spPr>
          <a:xfrm>
            <a:off x="6126480" y="3749040"/>
            <a:ext cx="47091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17780" dir="27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355080" y="3977640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355080" y="40507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49440" y="3941064"/>
            <a:ext cx="1508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下一步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6949440" y="427939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60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补自动化验证、环境说明和安全审查，提升可维护性与交付确定性。</a:t>
            </a:r>
            <a:endParaRPr lang="en-US" sz="1160" dirty="0"/>
          </a:p>
        </p:txBody>
      </p:sp>
      <p:sp>
        <p:nvSpPr>
          <p:cNvPr id="27" name="Text 25"/>
          <p:cNvSpPr/>
          <p:nvPr/>
        </p:nvSpPr>
        <p:spPr>
          <a:xfrm>
            <a:off x="822960" y="6236208"/>
            <a:ext cx="5212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报告文件：docs/reports/project-status-2026-06-28.pptx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yu-ai-code-mother 每日项目状态汇报 2026-06-28</dc:title>
  <dc:subject>每日项目状态汇报</dc:subject>
  <dc:creator>Cursor Automation</dc:creator>
  <cp:lastModifiedBy>Cursor Automation</cp:lastModifiedBy>
  <cp:revision>1</cp:revision>
  <dcterms:created xsi:type="dcterms:W3CDTF">2026-06-28T09:07:33Z</dcterms:created>
  <dcterms:modified xsi:type="dcterms:W3CDTF">2026-06-28T09:07:33Z</dcterms:modified>
</cp:coreProperties>
</file>