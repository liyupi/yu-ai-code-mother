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1111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E9FBF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E9FBF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>
              <a:alpha val="76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005840"/>
            <a:ext cx="4846320" cy="4846320"/>
          </a:xfrm>
          <a:prstGeom prst="arc">
            <a:avLst/>
          </a:prstGeom>
          <a:solidFill>
            <a:srgbClr val="1C7293">
              <a:alpha val="18000"/>
            </a:srgbClr>
          </a:solidFill>
          <a:ln w="381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4297680"/>
            <a:ext cx="2194560" cy="2194560"/>
          </a:xfrm>
          <a:prstGeom prst="ellipse">
            <a:avLst/>
          </a:prstGeom>
          <a:solidFill>
            <a:srgbClr val="02C39A">
              <a:alpha val="65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430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每日项目状态汇报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零代码应用生成平台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13232" y="25420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5440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运行日：2026-07-02（北京时间）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818120" y="150876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FFFFFF">
              <a:alpha val="12000"/>
            </a:srgbClr>
          </a:solidFill>
          <a:ln w="1651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83880" y="187452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13648" y="18470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生成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83880" y="2441448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3648" y="24140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实时预览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83880" y="3008376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13648" y="29809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一键部署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83880" y="3575304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13648" y="35478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后台治理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11312" y="4160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DEDEB"/>
                </a:solidFill>
              </a:rPr>
              <a:t>Ocean Gradient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 w="12700">
            <a:solidFill>
              <a:srgbClr val="F4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-365760"/>
            <a:ext cx="1828800" cy="1828800"/>
          </a:xfrm>
          <a:prstGeom prst="ellipse">
            <a:avLst/>
          </a:prstGeom>
          <a:solidFill>
            <a:srgbClr val="DFF5F1"/>
          </a:solidFill>
          <a:ln w="12700">
            <a:solidFill>
              <a:srgbClr val="DF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项目状态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4572000" cy="3977640"/>
          </a:xfrm>
          <a:prstGeom prst="roundRect">
            <a:avLst>
              <a:gd name="adj" fmla="val 183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8288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定位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2240280"/>
            <a:ext cx="388620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面向维护者和团队的企业级 AI 代码生成平台，围绕“需求输入 → AI 生成 → 预览编辑 → 部署分享 → 管理监控”形成闭环。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87552" y="416052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FF5F1"/>
                </a:solidFill>
              </a:rPr>
              <a:t>技术底座：Spring Boot 3 / Java 21 / LangChain4j / LangGraph4j / Vue 3 / Ant Design Vue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0" y="150876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8EA">
                <a:alpha val="8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70448" y="170992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70448" y="181965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19088" y="1691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产品闭环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19088" y="2075688"/>
            <a:ext cx="8686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创建、对话生成、预览、部署、下载和分享已在 README 与 API 面体现。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18120" y="150876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8EA">
                <a:alpha val="8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19288" y="1709928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19288" y="181965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567928" y="1691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架构演进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567928" y="2075688"/>
            <a:ext cx="8686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单体代码保留，同时新增微服务目录，支持 Dubbo + Nacos 服务拆分。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966960" y="1508760"/>
            <a:ext cx="1691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8EA">
                <a:alpha val="8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168128" y="1709928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68128" y="181965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716768" y="16916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治理能力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16768" y="2075688"/>
            <a:ext cx="7315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含用户/应用后台、Prometheus 指标、限流和缓存优化。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715000" y="3474720"/>
            <a:ext cx="566928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当前更像“教学实战 + 可运行样例 + 架构演进路线”的综合仓库。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天无新增提交，最近有效变化来自前序教程阶段的微服务化与可观测性。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报告聚焦静态仓库事实，不推断线上运行指标。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" y="6272784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482"/>
                </a:solidFill>
              </a:rPr>
              <a:t>数据来源：README、目录结构、pom/package 配置与 git log 静态扫描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E9FBF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 w="12700">
            <a:solidFill>
              <a:srgbClr val="F4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-365760"/>
            <a:ext cx="1828800" cy="1828800"/>
          </a:xfrm>
          <a:prstGeom prst="ellipse">
            <a:avLst/>
          </a:prstGeom>
          <a:solidFill>
            <a:srgbClr val="DFF5F1"/>
          </a:solidFill>
          <a:ln w="12700">
            <a:solidFill>
              <a:srgbClr val="DF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模块视图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架构地图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107442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591056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5564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UI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737360" y="15819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547"/>
                </a:solidFill>
              </a:rPr>
              <a:t>前端体验层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977640" y="1554480"/>
            <a:ext cx="6949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</a:rPr>
              <a:t>Vue 3 + TypeScript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</a:rPr>
              <a:t>Ant Design Vue / Pinia / Router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</a:rPr>
              <a:t>首页、对话、应用编辑、后台管理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0" y="2258568"/>
            <a:ext cx="411480" cy="292608"/>
          </a:xfrm>
          <a:prstGeom prst="downArrow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560320"/>
            <a:ext cx="10744200" cy="850392"/>
          </a:xfrm>
          <a:prstGeom prst="roundRect">
            <a:avLst>
              <a:gd name="adj" fmla="val 8602"/>
            </a:avLst>
          </a:prstGeom>
          <a:solidFill>
            <a:srgbClr val="EEF8F7"/>
          </a:solidFill>
          <a:ln w="12700">
            <a:solidFill>
              <a:srgbClr val="CBE4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2734056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89864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API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737360" y="27249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547"/>
                </a:solidFill>
              </a:rPr>
              <a:t>业务 API 层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977640" y="2697480"/>
            <a:ext cx="6949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</a:rPr>
              <a:t>App / User / ChatHistory / StaticResource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</a:rPr>
              <a:t>SSE 流式生成与下载部署入口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</a:rPr>
              <a:t>Knife4j 接口文档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0" y="3401568"/>
            <a:ext cx="411480" cy="292608"/>
          </a:xfrm>
          <a:prstGeom prst="downArrow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703320"/>
            <a:ext cx="107442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3877056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04164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AI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737360" y="38679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547"/>
                </a:solidFill>
              </a:rPr>
              <a:t>AI 编排层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3977640" y="3840480"/>
            <a:ext cx="6949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</a:rPr>
              <a:t>LangChain4j / LangGraph4j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</a:rPr>
              <a:t>代码解析、文件保存、项目构建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</a:rPr>
              <a:t>工具调用与质量检查节点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0" y="4544568"/>
            <a:ext cx="411480" cy="292608"/>
          </a:xfrm>
          <a:prstGeom prst="downArrow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846320"/>
            <a:ext cx="10744200" cy="850392"/>
          </a:xfrm>
          <a:prstGeom prst="roundRect">
            <a:avLst>
              <a:gd name="adj" fmla="val 8602"/>
            </a:avLst>
          </a:prstGeom>
          <a:solidFill>
            <a:srgbClr val="EEF8F7"/>
          </a:solidFill>
          <a:ln w="12700">
            <a:solidFill>
              <a:srgbClr val="CBE4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5020056"/>
            <a:ext cx="502920" cy="50292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18464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OPS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737360" y="50109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547"/>
                </a:solidFill>
              </a:rPr>
              <a:t>服务与运维层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3977640" y="4983480"/>
            <a:ext cx="6949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</a:rPr>
              <a:t>微服务：common/model/client/user/app/ai/screenshot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</a:rPr>
              <a:t>Redis / MySQL / COS / Prometheus / Grafana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94360" y="6272784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482"/>
                </a:solidFill>
              </a:rPr>
              <a:t>提示：仓库同时保留单体项目与微服务改造目录，部署路径需要维护者明确主线。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E9FBF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 w="12700">
            <a:solidFill>
              <a:srgbClr val="F4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-365760"/>
            <a:ext cx="1828800" cy="1828800"/>
          </a:xfrm>
          <a:prstGeom prst="ellipse">
            <a:avLst/>
          </a:prstGeom>
          <a:solidFill>
            <a:srgbClr val="DFF5F1"/>
          </a:solidFill>
          <a:ln w="12700">
            <a:solidFill>
              <a:srgbClr val="DF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产品能力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当前核心能力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E8EA">
                <a:alpha val="8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78408" y="170992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81965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527048" y="169164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智能代码生成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527048" y="2075688"/>
            <a:ext cx="42976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用户输入需求后，通过 AI 服务和工具调用生成 HTML/多文件/Vue 项目代码，并用 SSE 展示执行过程。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50876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E8EA">
                <a:alpha val="8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64808" y="1709928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181965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013448" y="169164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013448" y="2075688"/>
            <a:ext cx="42976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前端具备应用对话页、实时预览和 visualEditor 工具，用于元素选择与对话式修改。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36576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E8EA">
                <a:alpha val="8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78408" y="3858768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396849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527048" y="384048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部署与分享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527048" y="4224528"/>
            <a:ext cx="42976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后端提供应用部署、静态资源访问、项目源码下载、封面截图与 COS 存储相关能力。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36576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E8EA">
                <a:alpha val="8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64808" y="3858768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4808" y="396849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013448" y="384048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企业级管理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013448" y="4224528"/>
            <a:ext cx="42976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用户登录/注册、个人应用列表、精选应用、管理员应用/用户/对话历史管理和业务指标监控。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" y="6272784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482"/>
                </a:solidFill>
              </a:rPr>
              <a:t>数据来源：README、目录结构、pom/package 配置与 git log 静态扫描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E9FBF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 w="12700">
            <a:solidFill>
              <a:srgbClr val="F4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-365760"/>
            <a:ext cx="1828800" cy="1828800"/>
          </a:xfrm>
          <a:prstGeom prst="ellipse">
            <a:avLst/>
          </a:prstGeom>
          <a:solidFill>
            <a:srgbClr val="DFF5F1"/>
          </a:solidFill>
          <a:ln w="12700">
            <a:solidFill>
              <a:srgbClr val="DF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提交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143000" y="2788920"/>
            <a:ext cx="98755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505456"/>
            <a:ext cx="566928" cy="5669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6791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08/13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2644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3547"/>
                </a:solidFill>
              </a:rPr>
              <a:t>系统优化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3639312"/>
            <a:ext cx="1920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F7482"/>
                </a:solidFill>
              </a:rPr>
              <a:t>AI 并发、Redis 缓存、限流、Prompt 审查与稳定性优化。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3154680" y="2505456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26791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08/14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651760" y="32644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3547"/>
                </a:solidFill>
              </a:rPr>
              <a:t>部署上线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3639312"/>
            <a:ext cx="1920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F7482"/>
                </a:solidFill>
              </a:rPr>
              <a:t>部署能力与可观测性接入，Prometheus/Grafana 配置出现。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5349240" y="2505456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26791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08/26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0" y="32644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3547"/>
                </a:solidFill>
              </a:rPr>
              <a:t>微服务拆分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3639312"/>
            <a:ext cx="1920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F7482"/>
                </a:solidFill>
              </a:rPr>
              <a:t>common/model/client/user/app/ai/screenshot 模块逐步落地。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7543800" y="2505456"/>
            <a:ext cx="566928" cy="56692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26791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08/26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040880" y="32644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3547"/>
                </a:solidFill>
              </a:rPr>
              <a:t>跨服务调用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3639312"/>
            <a:ext cx="1920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F7482"/>
                </a:solidFill>
              </a:rPr>
              <a:t>Dubbo + Nacos 服务调用链完善，截图服务纳入拆分范围。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9738360" y="2505456"/>
            <a:ext cx="566928" cy="5669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38360" y="26791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近 7 天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235440" y="32644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3547"/>
                </a:solidFill>
              </a:rPr>
              <a:t>无新提交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52560" y="3639312"/>
            <a:ext cx="1920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F7482"/>
                </a:solidFill>
              </a:rPr>
              <a:t>按当前 git log，运行日前 7 天没有新增提交。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822960" y="4892040"/>
            <a:ext cx="10607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FE7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5102352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3547"/>
                </a:solidFill>
              </a:rPr>
              <a:t>解读：近期变更重心不是新增前端功能，而是后端架构治理与微服务化收口；后续应补齐自动验证，降低多模块演进风险。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94360" y="6272784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482"/>
                </a:solidFill>
              </a:rPr>
              <a:t>Git 近期提交：最近 20 条提交，近 7 天无新增；最新提交主题为“教程第 14 期 - 微服务改造完成”。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E9FBF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 w="12700">
            <a:solidFill>
              <a:srgbClr val="F4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-365760"/>
            <a:ext cx="1828800" cy="1828800"/>
          </a:xfrm>
          <a:prstGeom prst="ellipse">
            <a:avLst/>
          </a:prstGeom>
          <a:solidFill>
            <a:srgbClr val="DFF5F1"/>
          </a:solidFill>
          <a:ln w="12700">
            <a:solidFill>
              <a:srgbClr val="DF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静态扫描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155448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FE7E6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1700784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231343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文件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261518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含单体与微服务后端源码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480560" y="155448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FE7E6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0288" y="1700784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17720" y="231343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页面/组件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17720" y="261518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前端视图与公共组件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183880" y="155448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FE7E6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93608" y="1700784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21040" y="231343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文件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21040" y="261518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API、路由、状态和工具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77240" y="338328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FE7E6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6968" y="3529584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4400" y="414223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后端测试类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14400" y="444398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 AI、工作流、解析与截图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80560" y="338328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FE7E6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90288" y="3529584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617720" y="414223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17720" y="444398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common/model/client/user/app/ai/screenshot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183880" y="338328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FE7E6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93608" y="3529584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8321040" y="414223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工作流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321040" y="444398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.github/workflows 配置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77240" y="5486400"/>
            <a:ext cx="10561320" cy="502920"/>
          </a:xfrm>
          <a:prstGeom prst="roundRect">
            <a:avLst>
              <a:gd name="adj" fmla="val 14545"/>
            </a:avLst>
          </a:prstGeom>
          <a:solidFill>
            <a:srgbClr val="DFF5F1"/>
          </a:solidFill>
          <a:ln w="12700">
            <a:solidFill>
              <a:srgbClr val="DFF5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5650992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A82"/>
                </a:solidFill>
              </a:rPr>
              <a:t>说明：以上为仓库静态计数，不代表线上请求量、用户数或 AI 调用成本；真实业务指标需接入 Prometheus / 应用日志 / 数据库报表后确认。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94360" y="6272784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482"/>
                </a:solidFill>
              </a:rPr>
              <a:t>数据来源：README、目录结构、pom/package 配置与 git log 静态扫描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E9FBF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 w="12700">
            <a:solidFill>
              <a:srgbClr val="F4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-365760"/>
            <a:ext cx="1828800" cy="1828800"/>
          </a:xfrm>
          <a:prstGeom prst="ellipse">
            <a:avLst/>
          </a:prstGeom>
          <a:solidFill>
            <a:srgbClr val="DFF5F1"/>
          </a:solidFill>
          <a:ln w="12700">
            <a:solidFill>
              <a:srgbClr val="DF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质量信号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测试与 CI 状态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146304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CFE7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46304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EEF8F7"/>
          </a:solidFill>
          <a:ln w="12700">
            <a:solidFill>
              <a:srgbClr val="CFE7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已有质量入口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2331720"/>
            <a:ext cx="438912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Maven 项目包含 spring-boot-starter-test。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单体测试类覆盖 CodeParser、AI 生成服务、LangGraph 工作流、图片采集与截图工具。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package 提供 build、type-check、lint、format 脚本。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当前缺口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29400" y="2331720"/>
            <a:ext cx="438912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GitHub Actions / CI 工作流。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部分测试可能依赖 AI Key、Redis、MySQL、浏览器驱动或外部图片服务。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尚未看到前端 e2e / 组件测试配置。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40680" y="50749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52212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51937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dirty="0">
                <a:solidFill>
                  <a:srgbClr val="065A82"/>
                </a:solidFill>
              </a:rPr>
              <a:t>建议先建立最小 CI：后端编译 + 可离线单测 + 前端 type-check/build，再逐步纳入集成依赖。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594360" y="6272784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482"/>
                </a:solidFill>
              </a:rPr>
              <a:t>本次任务仅生成报告，未改动业务代码；未运行完整构建测试。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E9FBF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 w="12700">
            <a:solidFill>
              <a:srgbClr val="F4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-365760"/>
            <a:ext cx="1828800" cy="1828800"/>
          </a:xfrm>
          <a:prstGeom prst="ellipse">
            <a:avLst/>
          </a:prstGeom>
          <a:solidFill>
            <a:srgbClr val="DFF5F1"/>
          </a:solidFill>
          <a:ln w="12700">
            <a:solidFill>
              <a:srgbClr val="DF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8EA">
                <a:alpha val="8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78408" y="161848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72821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527048" y="1600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配置治理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527048" y="1984248"/>
            <a:ext cx="2331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 仍含 AI、COS、Pexels、DashScope 等环境配置模板；需形成 profile 和密钥注入规范。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34840" y="141732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8EA">
                <a:alpha val="8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36008" y="161848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172821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184648" y="1600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部署主线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184648" y="1984248"/>
            <a:ext cx="2331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单体与微服务目录并存，需要明确维护者当前推荐部署路径与启动顺序。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2440" y="141732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8EA">
                <a:alpha val="8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93608" y="1618488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3608" y="172821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842248" y="1600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自动验证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842248" y="1984248"/>
            <a:ext cx="2331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缺少 CI 工作流和前端 e2e，难以在微服务拆分后快速发现契约回归。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34290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8EA">
                <a:alpha val="8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78408" y="3630168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" y="373989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527048" y="3611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运行文档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527048" y="3995928"/>
            <a:ext cx="2331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Nacos、Redis、MySQL、COS、Selenium/Chrome、Prometheus 依赖较多，需补齐本地与线上运行清单。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34840" y="34290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8EA">
                <a:alpha val="8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36008" y="3630168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6008" y="373989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184648" y="3611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指标闭环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5184648" y="3995928"/>
            <a:ext cx="2331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抓取已配置，但业务指标、告警规则、仪表盘导入路径仍需标准化。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92440" y="34290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8EA">
                <a:alpha val="8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93608" y="3630168"/>
            <a:ext cx="420624" cy="42062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93608" y="373989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842248" y="3611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成本策略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8842248" y="3995928"/>
            <a:ext cx="2331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README/提交显示已做成本优化，但还需要预算阈值、模型路由策略与失败降级说明。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94360" y="6272784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482"/>
                </a:solidFill>
              </a:rPr>
              <a:t>数据来源：README、目录结构、pom/package 配置与 git log 静态扫描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E9FBF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 w="12700">
            <a:solidFill>
              <a:srgbClr val="F4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-365760"/>
            <a:ext cx="1828800" cy="1828800"/>
          </a:xfrm>
          <a:prstGeom prst="ellipse">
            <a:avLst/>
          </a:prstGeom>
          <a:solidFill>
            <a:srgbClr val="DFF5F1"/>
          </a:solidFill>
          <a:ln w="12700">
            <a:solidFill>
              <a:srgbClr val="DF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需要关注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10515600" cy="804672"/>
          </a:xfrm>
          <a:prstGeom prst="roundRect">
            <a:avLst>
              <a:gd name="adj" fmla="val 9091"/>
            </a:avLst>
          </a:prstGeom>
          <a:solidFill>
            <a:srgbClr val="EEF8F7"/>
          </a:solidFill>
          <a:ln w="12700">
            <a:solidFill>
              <a:srgbClr val="D4E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618488"/>
            <a:ext cx="621792" cy="292608"/>
          </a:xfrm>
          <a:prstGeom prst="roundRect">
            <a:avLst>
              <a:gd name="adj" fmla="val 12500"/>
            </a:avLst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700784"/>
            <a:ext cx="621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高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874520" y="1591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3547"/>
                </a:solidFill>
              </a:rPr>
              <a:t>外部服务耦合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86200" y="1591056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F7482"/>
                </a:solidFill>
              </a:rPr>
              <a:t>AI 模型、图片搜索、对象存储、截图浏览器、Redis/MySQL/Nacos 都会影响生成和部署主链路。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822960" y="2496312"/>
            <a:ext cx="10515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4E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697480"/>
            <a:ext cx="621792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779776"/>
            <a:ext cx="621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中高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874520" y="26700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3547"/>
                </a:solidFill>
              </a:rPr>
              <a:t>微服务契约风险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86200" y="2670048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F7482"/>
                </a:solidFill>
              </a:rPr>
              <a:t>模块拆分后跨服务接口、Session 共享、鉴权拦截和数据模型版本需要同步验证。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822960" y="3575304"/>
            <a:ext cx="10515600" cy="804672"/>
          </a:xfrm>
          <a:prstGeom prst="roundRect">
            <a:avLst>
              <a:gd name="adj" fmla="val 9091"/>
            </a:avLst>
          </a:prstGeom>
          <a:solidFill>
            <a:srgbClr val="EEF8F7"/>
          </a:solidFill>
          <a:ln w="12700">
            <a:solidFill>
              <a:srgbClr val="D4E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776472"/>
            <a:ext cx="621792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858768"/>
            <a:ext cx="621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中高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874520" y="3749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3547"/>
                </a:solidFill>
              </a:rPr>
              <a:t>安全与成本风险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886200" y="374904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F7482"/>
                </a:solidFill>
              </a:rPr>
              <a:t>Prompt 审查、限流和缓存已有实现基础，但密钥治理、调用预算和审计仍需持续落地。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822960" y="4654296"/>
            <a:ext cx="10515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4E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560" y="4855464"/>
            <a:ext cx="621792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937760"/>
            <a:ext cx="621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中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874520" y="4828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3547"/>
                </a:solidFill>
              </a:rPr>
              <a:t>可观测性未闭环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886200" y="482803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F7482"/>
                </a:solidFill>
              </a:rPr>
              <a:t>已有 Actuator/Prometheus 配置，但缺少告警规则与近期 CI/运行状态证据。</a:t>
            </a:r>
            <a:endParaRPr lang="en-US" sz="1160" dirty="0"/>
          </a:p>
        </p:txBody>
      </p:sp>
      <p:sp>
        <p:nvSpPr>
          <p:cNvPr id="27" name="Shape 25"/>
          <p:cNvSpPr/>
          <p:nvPr/>
        </p:nvSpPr>
        <p:spPr>
          <a:xfrm>
            <a:off x="5074920" y="5715000"/>
            <a:ext cx="1920240" cy="329184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5788152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</a:rPr>
              <a:t>先验证主链路，再扩展能力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6272784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482"/>
                </a:solidFill>
              </a:rPr>
              <a:t>数据来源：README、目录结构、pom/package 配置与 git log 静态扫描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E9FBF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>
              <a:alpha val="76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005840"/>
            <a:ext cx="4846320" cy="4846320"/>
          </a:xfrm>
          <a:prstGeom prst="arc">
            <a:avLst/>
          </a:prstGeom>
          <a:solidFill>
            <a:srgbClr val="1C7293">
              <a:alpha val="18000"/>
            </a:srgbClr>
          </a:solidFill>
          <a:ln w="381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4297680"/>
            <a:ext cx="2194560" cy="2194560"/>
          </a:xfrm>
          <a:prstGeom prst="ellipse">
            <a:avLst/>
          </a:prstGeom>
          <a:solidFill>
            <a:srgbClr val="02C39A">
              <a:alpha val="65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5836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下一步建议与总结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13232" y="1325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维护者视角优先级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20824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1901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建立最小 CI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886200" y="1892808"/>
            <a:ext cx="6309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FF5F1"/>
                </a:solidFill>
              </a:rPr>
              <a:t>后端编译/离线单测 + 前端 type-check/build，先覆盖可稳定执行的质量门禁。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2724912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87121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7523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固化部署路径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2743200"/>
            <a:ext cx="6309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FF5F1"/>
                </a:solidFill>
              </a:rPr>
              <a:t>明确单体或微服务作为主线，补齐依赖清单、启动脚本和环境变量模板。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3575304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2160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6027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验证生成主链路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886200" y="3593592"/>
            <a:ext cx="6309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FF5F1"/>
                </a:solidFill>
              </a:rPr>
              <a:t>创建应用 → AI SSE 生成 → 预览编辑 → 部署 → 截图 → 下载，形成 smoke checklist。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425696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57200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453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完善观测与成本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3886200" y="4443984"/>
            <a:ext cx="6309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FF5F1"/>
                </a:solidFill>
              </a:rPr>
              <a:t>落地 Prometheus 告警、Grafana 仪表盘、模型调用预算与失败降级策略。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01000" y="1234440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14721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结论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21040" y="17556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项目能力链条完整，下一阶段重点是“可验证、可部署、可观测”。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3232" y="612648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FF5F1"/>
                </a:solidFill>
              </a:rPr>
              <a:t>报告文件：docs/reports/project-status-2026-07-02.pptx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2026-07-02</dc:title>
  <dc:subject>每日项目状态汇报</dc:subject>
  <dc:creator>Cursor Automation</dc:creator>
  <cp:lastModifiedBy>Cursor Automation</cp:lastModifiedBy>
  <cp:revision>1</cp:revision>
  <dcterms:created xsi:type="dcterms:W3CDTF">2026-07-02T09:06:45Z</dcterms:created>
  <dcterms:modified xsi:type="dcterms:W3CDTF">2026-07-02T09:06:45Z</dcterms:modified>
</cp:coreProperties>
</file>