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6949440" y="-1143000"/>
            <a:ext cx="6309360" cy="4754880"/>
          </a:xfrm>
          <a:prstGeom prst="arc">
            <a:avLst/>
          </a:prstGeom>
          <a:noFill/>
          <a:ln w="50800">
            <a:solidFill>
              <a:srgbClr val="19A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548640"/>
            <a:ext cx="2057400" cy="2057400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4251960"/>
            <a:ext cx="2743200" cy="27432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9DE2D6"/>
                </a:solidFill>
                <a:latin typeface="Calibri"/>
              </a:rPr>
              <a:t>每日项目状态汇报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76809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AI 零代码应用生成平台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BF8F9"/>
                </a:solidFill>
                <a:latin typeface="Calibri"/>
              </a:rPr>
              <a:t>yu-ai-code-mother | 面向项目维护者与团队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90672"/>
            <a:ext cx="7040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DE2D6"/>
                </a:solidFill>
                <a:latin typeface="Calibri"/>
              </a:rPr>
              <a:t>运行日：2026-07-08（北京时间）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572000"/>
            <a:ext cx="1417320" cy="658368"/>
          </a:xfrm>
          <a:prstGeom prst="roundRect">
            <a:avLst>
              <a:gd name="adj" fmla="val 20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782312"/>
            <a:ext cx="1289304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输入需求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4901184"/>
            <a:ext cx="457200" cy="0"/>
          </a:xfrm>
          <a:prstGeom prst="line">
            <a:avLst/>
          </a:prstGeom>
          <a:ln w="25400">
            <a:solidFill>
              <a:srgbClr val="9D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4572000"/>
            <a:ext cx="1417320" cy="658368"/>
          </a:xfrm>
          <a:prstGeom prst="roundRect">
            <a:avLst>
              <a:gd name="adj" fmla="val 20000"/>
            </a:avLst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7" y="4782312"/>
            <a:ext cx="1289304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AI 工作流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4901184"/>
            <a:ext cx="457200" cy="0"/>
          </a:xfrm>
          <a:prstGeom prst="line">
            <a:avLst/>
          </a:prstGeom>
          <a:ln w="25400">
            <a:solidFill>
              <a:srgbClr val="9D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09160" y="4572000"/>
            <a:ext cx="1417320" cy="658368"/>
          </a:xfrm>
          <a:prstGeom prst="roundRect">
            <a:avLst>
              <a:gd name="adj" fmla="val 20000"/>
            </a:avLst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4782312"/>
            <a:ext cx="1289304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生成应用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4901184"/>
            <a:ext cx="457200" cy="0"/>
          </a:xfrm>
          <a:prstGeom prst="line">
            <a:avLst/>
          </a:prstGeom>
          <a:ln w="25400">
            <a:solidFill>
              <a:srgbClr val="9DE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29400" y="4572000"/>
            <a:ext cx="1417320" cy="658368"/>
          </a:xfrm>
          <a:prstGeom prst="roundRect">
            <a:avLst>
              <a:gd name="adj" fmla="val 20000"/>
            </a:avLst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4782312"/>
            <a:ext cx="1289304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部署分享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9DE2D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9DE2D6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项目概览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全栈 AI 代码生成平台，覆盖从对话生成到部署分享的闭环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62456"/>
            <a:ext cx="3337560" cy="18288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82296" cy="1828800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527048"/>
            <a:ext cx="457200" cy="457200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60020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527048"/>
            <a:ext cx="2377439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39112"/>
            <a:ext cx="29260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15363"/>
                </a:solidFill>
                <a:latin typeface="Calibri"/>
              </a:rPr>
              <a:t>基于 Spring Boot 3、LangChain4j、LangGraph4j 与 Vue 3 的企业级 AI 代码生成平台教程项目。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1362456"/>
            <a:ext cx="3337560" cy="18288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132588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325880"/>
            <a:ext cx="82296" cy="1828800"/>
          </a:xfrm>
          <a:prstGeom prst="rect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36007" y="1527048"/>
            <a:ext cx="457200" cy="4572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160020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1527048"/>
            <a:ext cx="23774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产品闭环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39112"/>
            <a:ext cx="29260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15363"/>
                </a:solidFill>
                <a:latin typeface="Calibri"/>
              </a:rPr>
              <a:t>用户输入需求，AI 分析生成策略并流式输出代码；前端实时预览，支持部署、分享与源码下载。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1311" y="1362456"/>
            <a:ext cx="3337560" cy="18288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3879" y="132588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325880"/>
            <a:ext cx="82296" cy="1828800"/>
          </a:xfrm>
          <a:prstGeom prst="rect">
            <a:avLst/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85048" y="1527048"/>
            <a:ext cx="457200" cy="457200"/>
          </a:xfrm>
          <a:prstGeom prst="ellipse">
            <a:avLst/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160020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1527048"/>
            <a:ext cx="23774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工程形态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039112"/>
            <a:ext cx="29260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15363"/>
                </a:solidFill>
                <a:latin typeface="Calibri"/>
              </a:rPr>
              <a:t>仓库同时保留完整单体项目、微服务拆分版本、Vue 前端、SQL 与监控配置。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749039"/>
            <a:ext cx="10652760" cy="1417320"/>
          </a:xfrm>
          <a:prstGeom prst="roundRect">
            <a:avLst>
              <a:gd name="adj" fmla="val 12000"/>
            </a:avLst>
          </a:prstGeom>
          <a:solidFill>
            <a:srgbClr val="EBF8F9"/>
          </a:solidFill>
          <a:ln w="12700">
            <a:solidFill>
              <a:srgbClr val="9D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" y="4160520"/>
            <a:ext cx="1234440" cy="502920"/>
          </a:xfrm>
          <a:prstGeom prst="roundRect">
            <a:avLst>
              <a:gd name="adj" fmla="val 2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325112"/>
            <a:ext cx="11430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Vue 3 前端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194560" y="4416552"/>
            <a:ext cx="393192" cy="0"/>
          </a:xfrm>
          <a:prstGeom prst="line">
            <a:avLst/>
          </a:prstGeom>
          <a:ln w="19050">
            <a:solidFill>
              <a:srgbClr val="008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697480" y="4160520"/>
            <a:ext cx="1234440" cy="502920"/>
          </a:xfrm>
          <a:prstGeom prst="roundRect">
            <a:avLst>
              <a:gd name="adj" fmla="val 25000"/>
            </a:avLst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4325112"/>
            <a:ext cx="11430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应用服务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31920" y="4416552"/>
            <a:ext cx="393192" cy="0"/>
          </a:xfrm>
          <a:prstGeom prst="line">
            <a:avLst/>
          </a:prstGeom>
          <a:ln w="19050">
            <a:solidFill>
              <a:srgbClr val="008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434840" y="4160520"/>
            <a:ext cx="1234440" cy="502920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59" y="4325112"/>
            <a:ext cx="11430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AI 模块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79" y="4416552"/>
            <a:ext cx="393193" cy="0"/>
          </a:xfrm>
          <a:prstGeom prst="line">
            <a:avLst/>
          </a:prstGeom>
          <a:ln w="19050">
            <a:solidFill>
              <a:srgbClr val="008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172199" y="4160520"/>
            <a:ext cx="1234440" cy="502920"/>
          </a:xfrm>
          <a:prstGeom prst="roundRect">
            <a:avLst>
              <a:gd name="adj" fmla="val 25000"/>
            </a:avLst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19" y="4325112"/>
            <a:ext cx="11430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用户服务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06640" y="4416552"/>
            <a:ext cx="393191" cy="0"/>
          </a:xfrm>
          <a:prstGeom prst="line">
            <a:avLst/>
          </a:prstGeom>
          <a:ln w="19050">
            <a:solidFill>
              <a:srgbClr val="008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909560" y="4160520"/>
            <a:ext cx="1234440" cy="502920"/>
          </a:xfrm>
          <a:prstGeom prst="roundRect">
            <a:avLst>
              <a:gd name="adj" fmla="val 25000"/>
            </a:avLst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4325112"/>
            <a:ext cx="11430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截图服务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44000" y="4416552"/>
            <a:ext cx="393192" cy="0"/>
          </a:xfrm>
          <a:prstGeom prst="line">
            <a:avLst/>
          </a:prstGeom>
          <a:ln w="19050">
            <a:solidFill>
              <a:srgbClr val="008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646920" y="4160520"/>
            <a:ext cx="1234440" cy="502920"/>
          </a:xfrm>
          <a:prstGeom prst="roundRect">
            <a:avLst>
              <a:gd name="adj" fmla="val 25000"/>
            </a:avLst>
          </a:prstGeom>
          <a:solidFill>
            <a:srgbClr val="415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4325112"/>
            <a:ext cx="11430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监控配置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README 与前端功能说明中的主线能力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453896"/>
            <a:ext cx="4983480" cy="169164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49834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82296" cy="1691640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" y="1618488"/>
            <a:ext cx="457200" cy="457200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169164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618488"/>
            <a:ext cx="40233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智能代码生成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130552"/>
            <a:ext cx="4572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415363"/>
                </a:solidFill>
                <a:latin typeface="Calibri"/>
              </a:rPr>
              <a:t>输入需求后由 AI 选择 HTML、多文件或 Vue 项目生成策略，流式展示生成过程。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1453896"/>
            <a:ext cx="4983480" cy="169164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1417320"/>
            <a:ext cx="49834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417320"/>
            <a:ext cx="82296" cy="1691640"/>
          </a:xfrm>
          <a:prstGeom prst="rect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7" y="1618488"/>
            <a:ext cx="457200" cy="4572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169164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1618488"/>
            <a:ext cx="40233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可视化编辑与预览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130552"/>
            <a:ext cx="4572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415363"/>
                </a:solidFill>
                <a:latin typeface="Calibri"/>
              </a:rPr>
              <a:t>生成应用在对话页实时预览，并支持围绕页面效果继续对话迭代。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3602736"/>
            <a:ext cx="4983480" cy="169164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566160"/>
            <a:ext cx="49834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566160"/>
            <a:ext cx="82296" cy="1691640"/>
          </a:xfrm>
          <a:prstGeom prst="rect">
            <a:avLst/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" y="3767328"/>
            <a:ext cx="457200" cy="457200"/>
          </a:xfrm>
          <a:prstGeom prst="ellipse">
            <a:avLst/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84048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767328"/>
            <a:ext cx="40233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一键部署分享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79392"/>
            <a:ext cx="4572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415363"/>
                </a:solidFill>
                <a:latin typeface="Calibri"/>
              </a:rPr>
              <a:t>部署生成应用到静态资源目录，返回可访问地址，并支持源码下载。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3602736"/>
            <a:ext cx="4983480" cy="169164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59" y="3566160"/>
            <a:ext cx="49834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3566160"/>
            <a:ext cx="82296" cy="1691640"/>
          </a:xfrm>
          <a:prstGeom prst="rect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10527" y="3767328"/>
            <a:ext cx="457200" cy="457200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7" y="384048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599" y="3767328"/>
            <a:ext cx="40233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企业级管理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4279392"/>
            <a:ext cx="4572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415363"/>
                </a:solidFill>
                <a:latin typeface="Calibri"/>
              </a:rPr>
              <a:t>提供用户管理、应用管理、精选应用、对话历史管理与管理员权限控制。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15000"/>
            <a:ext cx="2029967" cy="502920"/>
          </a:xfrm>
          <a:prstGeom prst="roundRect">
            <a:avLst>
              <a:gd name="adj" fmla="val 50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5870448"/>
            <a:ext cx="1883663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流式对话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90088" y="5715000"/>
            <a:ext cx="2029967" cy="502920"/>
          </a:xfrm>
          <a:prstGeom prst="roundRect">
            <a:avLst>
              <a:gd name="adj" fmla="val 50000"/>
            </a:avLst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40" y="5870448"/>
            <a:ext cx="1883663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应用列表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02936" y="5715000"/>
            <a:ext cx="2029967" cy="502920"/>
          </a:xfrm>
          <a:prstGeom prst="roundRect">
            <a:avLst>
              <a:gd name="adj" fmla="val 50000"/>
            </a:avLst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76088" y="5870448"/>
            <a:ext cx="1883663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精选展示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15783" y="5715000"/>
            <a:ext cx="2029967" cy="502920"/>
          </a:xfrm>
          <a:prstGeom prst="roundRect">
            <a:avLst>
              <a:gd name="adj" fmla="val 50000"/>
            </a:avLst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88936" y="5870448"/>
            <a:ext cx="1883663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权限控制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28632" y="5715000"/>
            <a:ext cx="2029967" cy="502920"/>
          </a:xfrm>
          <a:prstGeom prst="roundRect">
            <a:avLst>
              <a:gd name="adj" fmla="val 50000"/>
            </a:avLst>
          </a:prstGeom>
          <a:solidFill>
            <a:srgbClr val="415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01784" y="5870448"/>
            <a:ext cx="1883663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源码下载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技术与架构快照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单体可运行基线 + 微服务改造模块并存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12080" cy="4343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12080" cy="4343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Georgia"/>
              </a:rPr>
              <a:t>后端 / AI 基座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48840"/>
            <a:ext cx="438912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Java 21 + Spring Boot 3.5.x</a:t>
            </a:r>
          </a:p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LangChain4j、LangGraph4j、DashScope</a:t>
            </a:r>
          </a:p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Redis / Caffeine 缓存、限流与 Prompt 审查</a:t>
            </a:r>
          </a:p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MyBatis-Flex、MySQL、COS、Selenium 截图</a:t>
            </a:r>
          </a:p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Actuator + Prometheus 指标暴露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" y="2203704"/>
            <a:ext cx="73152" cy="731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2596896"/>
            <a:ext cx="73152" cy="731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2990088"/>
            <a:ext cx="73152" cy="731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8408" y="3383280"/>
            <a:ext cx="73152" cy="731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3776472"/>
            <a:ext cx="73152" cy="731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6002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  <a:latin typeface="Georgia"/>
              </a:rPr>
              <a:t>前端 / 微服务形态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148840"/>
            <a:ext cx="4343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Vue 3 + TypeScript + Ant Design Vue</a:t>
            </a:r>
          </a:p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Vue Router、Pinia、Axios、Vite</a:t>
            </a:r>
          </a:p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微服务模块：common、model、client、user、app、ai、screenshot</a:t>
            </a:r>
          </a:p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Spring Cloud Alibaba + Dubbo + Nacos 跨服务调用</a:t>
            </a:r>
          </a:p>
          <a:p>
            <a:pPr>
              <a:buNone/>
              <a:spcAft>
                <a:spcPts val="600"/>
              </a:spcAft>
              <a:defRPr sz="1320">
                <a:solidFill>
                  <a:srgbClr val="415363"/>
                </a:solidFill>
                <a:latin typeface="Calibri"/>
              </a:defRPr>
            </a:pPr>
            <a:r>
              <a:t>保留 SQL、Grafana、Prometheus 运维资产</a:t>
            </a:r>
          </a:p>
        </p:txBody>
      </p:sp>
      <p:sp>
        <p:nvSpPr>
          <p:cNvPr id="20" name="Oval 19"/>
          <p:cNvSpPr/>
          <p:nvPr/>
        </p:nvSpPr>
        <p:spPr>
          <a:xfrm>
            <a:off x="6556248" y="2203704"/>
            <a:ext cx="73152" cy="731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56248" y="2596896"/>
            <a:ext cx="73152" cy="731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56248" y="2990088"/>
            <a:ext cx="73152" cy="731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56248" y="3383280"/>
            <a:ext cx="73152" cy="731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6248" y="3776472"/>
            <a:ext cx="73152" cy="731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5166360"/>
            <a:ext cx="9875520" cy="502920"/>
          </a:xfrm>
          <a:prstGeom prst="roundRect">
            <a:avLst>
              <a:gd name="adj" fmla="val 25000"/>
            </a:avLst>
          </a:prstGeom>
          <a:solidFill>
            <a:srgbClr val="EBF8F9"/>
          </a:solidFill>
          <a:ln w="12700">
            <a:solidFill>
              <a:srgbClr val="9D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321808"/>
            <a:ext cx="9372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008784"/>
                </a:solidFill>
                <a:latin typeface="Calibri"/>
              </a:rPr>
              <a:t>架构重点：当前更像“教学与演进仓库”，既展示完整单体实现，也提供微服务拆分后的目标结构。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近期进展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最近 7 天无新增提交；历史最新提交集中在微服务改造与可观测性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3246120"/>
            <a:ext cx="9829800" cy="0"/>
          </a:xfrm>
          <a:prstGeom prst="line">
            <a:avLst/>
          </a:prstGeom>
          <a:ln w="31750">
            <a:solidFill>
              <a:srgbClr val="008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490472" y="3054096"/>
            <a:ext cx="384048" cy="384048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8784"/>
                </a:solidFill>
                <a:latin typeface="Calibri"/>
              </a:rPr>
              <a:t>2025-08-13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2249424"/>
            <a:ext cx="2057400" cy="82296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" y="2212848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" y="2212848"/>
            <a:ext cx="82296" cy="822960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414016"/>
            <a:ext cx="16459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A2540"/>
                </a:solidFill>
                <a:latin typeface="Calibri"/>
              </a:rPr>
              <a:t>系统优化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1645920" cy="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415363"/>
                </a:solidFill>
                <a:latin typeface="Calibri"/>
              </a:rPr>
              <a:t>并发、实时性、限流、Prompt 审查、稳定性与成本优化。</a:t>
            </a:r>
          </a:p>
        </p:txBody>
      </p:sp>
      <p:sp>
        <p:nvSpPr>
          <p:cNvPr id="17" name="Oval 16"/>
          <p:cNvSpPr/>
          <p:nvPr/>
        </p:nvSpPr>
        <p:spPr>
          <a:xfrm>
            <a:off x="4690872" y="3054096"/>
            <a:ext cx="384048" cy="384048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370332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9A7CE"/>
                </a:solidFill>
                <a:latin typeface="Calibri"/>
              </a:rPr>
              <a:t>2025-08-14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50792" y="4078224"/>
            <a:ext cx="2057400" cy="82296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23360" y="4041648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60" y="4041648"/>
            <a:ext cx="82296" cy="822960"/>
          </a:xfrm>
          <a:prstGeom prst="rect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4242816"/>
            <a:ext cx="16459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A2540"/>
                </a:solidFill>
                <a:latin typeface="Calibri"/>
              </a:rPr>
              <a:t>部署与可观测性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754880"/>
            <a:ext cx="1645920" cy="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415363"/>
                </a:solidFill>
                <a:latin typeface="Calibri"/>
              </a:rPr>
              <a:t>部署上线与 Prometheus / Grafana 监控资产接入。</a:t>
            </a:r>
          </a:p>
        </p:txBody>
      </p:sp>
      <p:sp>
        <p:nvSpPr>
          <p:cNvPr id="24" name="Oval 23"/>
          <p:cNvSpPr/>
          <p:nvPr/>
        </p:nvSpPr>
        <p:spPr>
          <a:xfrm>
            <a:off x="7891272" y="3054096"/>
            <a:ext cx="384048" cy="384048"/>
          </a:xfrm>
          <a:prstGeom prst="ellipse">
            <a:avLst/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874519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329A70"/>
                </a:solidFill>
                <a:latin typeface="Calibri"/>
              </a:rPr>
              <a:t>2025-08-26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51192" y="2249424"/>
            <a:ext cx="2057400" cy="82296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3760" y="2212848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3760" y="2212848"/>
            <a:ext cx="82296" cy="822960"/>
          </a:xfrm>
          <a:prstGeom prst="rect">
            <a:avLst/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414016"/>
            <a:ext cx="16459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A2540"/>
                </a:solidFill>
                <a:latin typeface="Calibri"/>
              </a:rPr>
              <a:t>微服务改造完成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926080"/>
            <a:ext cx="1645920" cy="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415363"/>
                </a:solidFill>
                <a:latin typeface="Calibri"/>
              </a:rPr>
              <a:t>完成 common/model/client/user/app/ai/screenshot 模块拆分。</a:t>
            </a:r>
          </a:p>
        </p:txBody>
      </p:sp>
      <p:sp>
        <p:nvSpPr>
          <p:cNvPr id="31" name="Oval 30"/>
          <p:cNvSpPr/>
          <p:nvPr/>
        </p:nvSpPr>
        <p:spPr>
          <a:xfrm>
            <a:off x="11091672" y="3054096"/>
            <a:ext cx="384048" cy="384048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370332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2AB27"/>
                </a:solidFill>
                <a:latin typeface="Calibri"/>
              </a:rPr>
              <a:t>2026-07-08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51592" y="4078224"/>
            <a:ext cx="2057400" cy="82296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24160" y="4041648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24160" y="4041648"/>
            <a:ext cx="82296" cy="822960"/>
          </a:xfrm>
          <a:prstGeom prst="rect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60" y="4242816"/>
            <a:ext cx="16459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A2540"/>
                </a:solidFill>
                <a:latin typeface="Calibri"/>
              </a:rPr>
              <a:t>本次日报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4754880"/>
            <a:ext cx="1645920" cy="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415363"/>
                </a:solidFill>
                <a:latin typeface="Calibri"/>
              </a:rPr>
              <a:t>仅新增项目状态 PPT，不修改业务代码。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532120"/>
            <a:ext cx="10607040" cy="502920"/>
          </a:xfrm>
          <a:prstGeom prst="roundRect">
            <a:avLst>
              <a:gd name="adj" fmla="val 22000"/>
            </a:avLst>
          </a:prstGeom>
          <a:solidFill>
            <a:srgbClr val="FFF8E5"/>
          </a:solidFill>
          <a:ln w="12700">
            <a:solidFill>
              <a:srgbClr val="F2A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687568"/>
            <a:ext cx="10149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415363"/>
                </a:solidFill>
                <a:latin typeface="Calibri"/>
              </a:rPr>
              <a:t>Git 观察：以运行日为基准，最近 7 天没有业务提交；汇报中的“近期”按仓库最新历史提交归纳。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数据 / 指标要点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当前可从仓库静态信息读取，生产业务指标待接入运行环境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2331720" cy="1645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91639"/>
            <a:ext cx="200253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008784"/>
                </a:solidFill>
                <a:latin typeface="Georg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21991"/>
            <a:ext cx="20391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Calibri"/>
              </a:rPr>
              <a:t>README 核心能力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32888"/>
            <a:ext cx="2002536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415363"/>
                </a:solidFill>
                <a:latin typeface="Calibri"/>
              </a:rPr>
              <a:t>生成、编辑、部署、管理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508760"/>
            <a:ext cx="2331720" cy="1645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1691639"/>
            <a:ext cx="200253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9A7CE"/>
                </a:solidFill>
                <a:latin typeface="Georgia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221991"/>
            <a:ext cx="20391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Calibri"/>
              </a:rPr>
              <a:t>微服务模块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532888"/>
            <a:ext cx="2002536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415363"/>
                </a:solidFill>
                <a:latin typeface="Calibri"/>
              </a:rPr>
              <a:t>common/model/client/user/app/ai/screenshot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508760"/>
            <a:ext cx="2331720" cy="1645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1" y="1691639"/>
            <a:ext cx="200253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329A70"/>
                </a:solidFill>
                <a:latin typeface="Georgia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221991"/>
            <a:ext cx="20391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Calibri"/>
              </a:rPr>
              <a:t>前端页面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1" y="2532888"/>
            <a:ext cx="2002536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415363"/>
                </a:solidFill>
                <a:latin typeface="Calibri"/>
              </a:rPr>
              <a:t>首页、对话、编辑、管理、登录注册等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508760"/>
            <a:ext cx="2331720" cy="1645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1" y="1691639"/>
            <a:ext cx="200253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2AB27"/>
                </a:solidFill>
                <a:latin typeface="Georgia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3" y="2221991"/>
            <a:ext cx="20391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2540"/>
                </a:solidFill>
                <a:latin typeface="Calibri"/>
              </a:rPr>
              <a:t>后端测试文件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1" y="2532888"/>
            <a:ext cx="2002536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415363"/>
                </a:solidFill>
                <a:latin typeface="Calibri"/>
              </a:rPr>
              <a:t>覆盖 AI、工作流、工具与解析等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3831336"/>
            <a:ext cx="4937760" cy="132588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3794760"/>
            <a:ext cx="49377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3794760"/>
            <a:ext cx="82296" cy="1325880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9848" y="3995928"/>
            <a:ext cx="457200" cy="457200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406908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3995928"/>
            <a:ext cx="3977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可观测性指标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07992"/>
            <a:ext cx="4526280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15363"/>
                </a:solidFill>
                <a:latin typeface="Calibri"/>
              </a:rPr>
              <a:t>Prometheus 配置抓取 /api/actuator/prometheus，默认目标 localhost:8123，抓取间隔 10 秒。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3831336"/>
            <a:ext cx="4937760" cy="132588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09360" y="3794760"/>
            <a:ext cx="49377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794760"/>
            <a:ext cx="82296" cy="1325880"/>
          </a:xfrm>
          <a:prstGeom prst="rect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10528" y="3995928"/>
            <a:ext cx="457200" cy="4572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406908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995928"/>
            <a:ext cx="3977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生产数据口径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507992"/>
            <a:ext cx="4526280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15363"/>
                </a:solidFill>
                <a:latin typeface="Calibri"/>
              </a:rPr>
              <a:t>当前仓库未包含真实运行统计；建议接入 AI 调用量、生成成功率、部署成功率、平均响应耗时与成本。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测试与 CI 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有本地测试/构建入口，未发现 GitHub Actions 工作流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453896"/>
            <a:ext cx="3337560" cy="18288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82296" cy="1828800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" y="1618488"/>
            <a:ext cx="457200" cy="457200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169164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618488"/>
            <a:ext cx="2377439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后端测试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130552"/>
            <a:ext cx="29260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15363"/>
                </a:solidFill>
                <a:latin typeface="Calibri"/>
              </a:rPr>
              <a:t>根项目包含 Spring Boot Test 依赖与 15 个测试文件，覆盖 AI 生成、LangGraph4j 工作流、工具、截图与代码解析。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1453896"/>
            <a:ext cx="3337560" cy="18288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141732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417320"/>
            <a:ext cx="82296" cy="1828800"/>
          </a:xfrm>
          <a:prstGeom prst="rect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36007" y="1618488"/>
            <a:ext cx="457200" cy="4572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169164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1618488"/>
            <a:ext cx="23774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前端脚本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130552"/>
            <a:ext cx="29260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15363"/>
                </a:solidFill>
                <a:latin typeface="Calibri"/>
              </a:rPr>
              <a:t>package.json 提供 build、type-check、lint、format、openapi2ts、preview 等维护入口。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1" y="1453896"/>
            <a:ext cx="3337560" cy="18288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2440" y="141732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417320"/>
            <a:ext cx="82296" cy="1828800"/>
          </a:xfrm>
          <a:prstGeom prst="rect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93608" y="1618488"/>
            <a:ext cx="457200" cy="457200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1691640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618488"/>
            <a:ext cx="23774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Calibri"/>
              </a:rPr>
              <a:t>CI 发现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130552"/>
            <a:ext cx="29260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415363"/>
                </a:solidFill>
                <a:latin typeface="Calibri"/>
              </a:rPr>
              <a:t>未发现 .github/workflows 配置；最近状态无法从仓库 CI 历史直接判定。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88620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Georgia"/>
              </a:rPr>
              <a:t>建议优先级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434840"/>
            <a:ext cx="19202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15363"/>
                </a:solidFill>
                <a:latin typeface="Calibri"/>
              </a:rPr>
              <a:t>后端 mvn test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4434840"/>
            <a:ext cx="6858000" cy="210312"/>
          </a:xfrm>
          <a:prstGeom prst="roundRect">
            <a:avLst>
              <a:gd name="adj" fmla="val 50000"/>
            </a:avLst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834640" y="4434840"/>
            <a:ext cx="5623559" cy="210312"/>
          </a:xfrm>
          <a:prstGeom prst="roundRect">
            <a:avLst>
              <a:gd name="adj" fmla="val 50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937759"/>
            <a:ext cx="19202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15363"/>
                </a:solidFill>
                <a:latin typeface="Calibri"/>
              </a:rPr>
              <a:t>前端 npm run build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4937759"/>
            <a:ext cx="6858000" cy="210312"/>
          </a:xfrm>
          <a:prstGeom prst="roundRect">
            <a:avLst>
              <a:gd name="adj" fmla="val 50000"/>
            </a:avLst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834640" y="4937759"/>
            <a:ext cx="4937759" cy="210312"/>
          </a:xfrm>
          <a:prstGeom prst="roundRect">
            <a:avLst>
              <a:gd name="adj" fmla="val 50000"/>
            </a:avLst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440679"/>
            <a:ext cx="19202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15363"/>
                </a:solidFill>
                <a:latin typeface="Calibri"/>
              </a:rPr>
              <a:t>CI 工作流接入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40" y="5440679"/>
            <a:ext cx="6858000" cy="210312"/>
          </a:xfrm>
          <a:prstGeom prst="roundRect">
            <a:avLst>
              <a:gd name="adj" fmla="val 50000"/>
            </a:avLst>
          </a:prstGeom>
          <a:solidFill>
            <a:srgbClr val="E2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34640" y="5440679"/>
            <a:ext cx="6309360" cy="210312"/>
          </a:xfrm>
          <a:prstGeom prst="roundRect">
            <a:avLst>
              <a:gd name="adj" fmla="val 50000"/>
            </a:avLst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风险与阻塞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围绕交付稳定性、运行依赖和工程治理的主要关注点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1335024"/>
            <a:ext cx="4800600" cy="1024128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298448"/>
            <a:ext cx="48006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298448"/>
            <a:ext cx="82296" cy="1024128"/>
          </a:xfrm>
          <a:prstGeom prst="rect">
            <a:avLst/>
          </a:prstGeom>
          <a:solidFill>
            <a:srgbClr val="D2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9848" y="1499616"/>
            <a:ext cx="457200" cy="457200"/>
          </a:xfrm>
          <a:prstGeom prst="ellipse">
            <a:avLst/>
          </a:prstGeom>
          <a:solidFill>
            <a:srgbClr val="D2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1572768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1499616"/>
            <a:ext cx="38404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A2540"/>
                </a:solidFill>
                <a:latin typeface="Calibri"/>
              </a:rPr>
              <a:t>外部 AI 与模型依赖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011680"/>
            <a:ext cx="4389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15363"/>
                </a:solidFill>
                <a:latin typeface="Calibri"/>
              </a:rPr>
              <a:t>代码生成质量、成本与可用性受模型服务和 Key 配置影响。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335024"/>
            <a:ext cx="4800600" cy="1024128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298448"/>
            <a:ext cx="48006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98448"/>
            <a:ext cx="82296" cy="1024128"/>
          </a:xfrm>
          <a:prstGeom prst="rect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4808" y="1499616"/>
            <a:ext cx="457200" cy="457200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572768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499616"/>
            <a:ext cx="38404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A2540"/>
                </a:solidFill>
                <a:latin typeface="Calibri"/>
              </a:rPr>
              <a:t>部署/截图运行环境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11680"/>
            <a:ext cx="4389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15363"/>
                </a:solidFill>
                <a:latin typeface="Calibri"/>
              </a:rPr>
              <a:t>部署服务、静态资源目录、浏览器驱动和 COS 配置需要环境级保障。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2752344"/>
            <a:ext cx="4800600" cy="1024128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2715768"/>
            <a:ext cx="48006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2715768"/>
            <a:ext cx="82296" cy="1024128"/>
          </a:xfrm>
          <a:prstGeom prst="rect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9848" y="2916936"/>
            <a:ext cx="457200" cy="457200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2990087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19" y="2916936"/>
            <a:ext cx="38404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A2540"/>
                </a:solidFill>
                <a:latin typeface="Calibri"/>
              </a:rPr>
              <a:t>CI 覆盖缺口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29000"/>
            <a:ext cx="4389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15363"/>
                </a:solidFill>
                <a:latin typeface="Calibri"/>
              </a:rPr>
              <a:t>仓库未发现工作流，回归质量依赖本地执行与人工约束。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2" y="2752344"/>
            <a:ext cx="4800600" cy="1024128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3640" y="2715768"/>
            <a:ext cx="48006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715768"/>
            <a:ext cx="82296" cy="10241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64808" y="2916936"/>
            <a:ext cx="457200" cy="457200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2990087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916936"/>
            <a:ext cx="38404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A2540"/>
                </a:solidFill>
                <a:latin typeface="Calibri"/>
              </a:rPr>
              <a:t>微服务中间态认知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429000"/>
            <a:ext cx="4389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15363"/>
                </a:solidFill>
                <a:latin typeface="Calibri"/>
              </a:rPr>
              <a:t>历史提交说明多次中间态影响单体代码，使用时需以最新完成提交为准。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" y="4169663"/>
            <a:ext cx="10195560" cy="1024128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" y="4133087"/>
            <a:ext cx="101955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" y="4133087"/>
            <a:ext cx="82296" cy="1024128"/>
          </a:xfrm>
          <a:prstGeom prst="rect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4334255"/>
            <a:ext cx="457200" cy="4572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" y="4407407"/>
            <a:ext cx="457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19" y="4334255"/>
            <a:ext cx="92354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A2540"/>
                </a:solidFill>
                <a:latin typeface="Calibri"/>
              </a:rPr>
              <a:t>生产指标缺基线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846320"/>
            <a:ext cx="9784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15363"/>
                </a:solidFill>
                <a:latin typeface="Calibri"/>
              </a:rPr>
              <a:t>AI 成功率、耗时、成本和部署质量尚需接入真实监控看板。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未完成项与关注点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适合进入维护 Backlog 的工作项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3246120" cy="4251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1664208"/>
            <a:ext cx="2916936" cy="438912"/>
          </a:xfrm>
          <a:prstGeom prst="roundRect">
            <a:avLst>
              <a:gd name="adj" fmla="val 2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10512"/>
            <a:ext cx="26974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工程化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06040"/>
            <a:ext cx="24231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补齐 CI：后端测试、前端类型检查与构建</a:t>
            </a:r>
          </a:p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统一单体/微服务启动说明</a:t>
            </a:r>
          </a:p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标记必须配置的环境变量与密钥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" y="2660904"/>
            <a:ext cx="73152" cy="731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" y="3054096"/>
            <a:ext cx="73152" cy="731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" y="3447288"/>
            <a:ext cx="73152" cy="731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44568" y="1417320"/>
            <a:ext cx="3246120" cy="4251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59" y="1664208"/>
            <a:ext cx="2916936" cy="438912"/>
          </a:xfrm>
          <a:prstGeom prst="roundRect">
            <a:avLst>
              <a:gd name="adj" fmla="val 25000"/>
            </a:avLst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1810512"/>
            <a:ext cx="26974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产品指标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606040"/>
            <a:ext cx="24231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定义生成成功率、部署成功率与平均耗时</a:t>
            </a:r>
          </a:p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补充 AI 调用成本统计口径</a:t>
            </a:r>
          </a:p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沉淀示例应用与精选规则</a:t>
            </a:r>
          </a:p>
        </p:txBody>
      </p:sp>
      <p:sp>
        <p:nvSpPr>
          <p:cNvPr id="20" name="Oval 19"/>
          <p:cNvSpPr/>
          <p:nvPr/>
        </p:nvSpPr>
        <p:spPr>
          <a:xfrm>
            <a:off x="4882896" y="2660904"/>
            <a:ext cx="73152" cy="731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82896" y="3054096"/>
            <a:ext cx="73152" cy="731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82896" y="3447288"/>
            <a:ext cx="73152" cy="731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1896" y="1417320"/>
            <a:ext cx="3246120" cy="4251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76488" y="1664208"/>
            <a:ext cx="2916936" cy="438912"/>
          </a:xfrm>
          <a:prstGeom prst="roundRect">
            <a:avLst>
              <a:gd name="adj" fmla="val 25000"/>
            </a:avLst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6216" y="1810512"/>
            <a:ext cx="26974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稳定性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2606040"/>
            <a:ext cx="24231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回归部署、截图、下载链路</a:t>
            </a:r>
          </a:p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验证限流、缓存和异常恢复策略</a:t>
            </a:r>
          </a:p>
          <a:p>
            <a:pPr>
              <a:buNone/>
              <a:spcAft>
                <a:spcPts val="600"/>
              </a:spcAft>
              <a:defRPr sz="1220">
                <a:solidFill>
                  <a:srgbClr val="415363"/>
                </a:solidFill>
                <a:latin typeface="Calibri"/>
              </a:defRPr>
            </a:pPr>
            <a:r>
              <a:t>加强工作流失败场景测试</a:t>
            </a:r>
          </a:p>
        </p:txBody>
      </p:sp>
      <p:sp>
        <p:nvSpPr>
          <p:cNvPr id="27" name="Oval 26"/>
          <p:cNvSpPr/>
          <p:nvPr/>
        </p:nvSpPr>
        <p:spPr>
          <a:xfrm>
            <a:off x="8650224" y="2660904"/>
            <a:ext cx="73152" cy="73152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50224" y="3054096"/>
            <a:ext cx="73152" cy="73152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50224" y="3447288"/>
            <a:ext cx="73152" cy="73152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011680" cy="2011680"/>
          </a:xfrm>
          <a:prstGeom prst="ellipse">
            <a:avLst/>
          </a:prstGeom>
          <a:solidFill>
            <a:srgbClr val="9D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5760720"/>
            <a:ext cx="1828800" cy="18288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  <a:latin typeface="Georgia"/>
              </a:rPr>
              <a:t>建议的下一步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08784"/>
                </a:solidFill>
                <a:latin typeface="Calibri"/>
              </a:rPr>
              <a:t>以低侵入方式提升可维护性和交付确定性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417320"/>
            <a:ext cx="530352" cy="530352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53035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32588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Georgia"/>
              </a:rPr>
              <a:t>建立自动化质量门禁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673352"/>
            <a:ext cx="89611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15363"/>
                </a:solidFill>
                <a:latin typeface="Calibri"/>
              </a:rPr>
              <a:t>新增 CI 工作流覆盖 Maven test、前端 type-check/build，减少回归依赖人工。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79576" y="1947672"/>
            <a:ext cx="0" cy="429767"/>
          </a:xfrm>
          <a:prstGeom prst="line">
            <a:avLst/>
          </a:prstGeom>
          <a:ln w="19050">
            <a:solidFill>
              <a:srgbClr val="AB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14400" y="2496312"/>
            <a:ext cx="530352" cy="530352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60904"/>
            <a:ext cx="53035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40487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Georgia"/>
              </a:rPr>
              <a:t>固化运行与部署文档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752344"/>
            <a:ext cx="89611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15363"/>
                </a:solidFill>
                <a:latin typeface="Calibri"/>
              </a:rPr>
              <a:t>明确单体与微服务启动路径、Nacos/Dubbo/Redis/MySQL/COS/浏览器驱动配置。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79576" y="3026664"/>
            <a:ext cx="0" cy="429768"/>
          </a:xfrm>
          <a:prstGeom prst="line">
            <a:avLst/>
          </a:prstGeom>
          <a:ln w="19050">
            <a:solidFill>
              <a:srgbClr val="AB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4400" y="3575303"/>
            <a:ext cx="530352" cy="530352"/>
          </a:xfrm>
          <a:prstGeom prst="ellipse">
            <a:avLst/>
          </a:prstGeom>
          <a:solidFill>
            <a:srgbClr val="32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39896"/>
            <a:ext cx="53035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83863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Georgia"/>
              </a:rPr>
              <a:t>补齐业务监控看板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831335"/>
            <a:ext cx="89611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15363"/>
                </a:solidFill>
                <a:latin typeface="Calibri"/>
              </a:rPr>
              <a:t>围绕 AI 调用量、失败率、耗时、成本、部署成功率建立维护者仪表盘。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9576" y="4105655"/>
            <a:ext cx="0" cy="429768"/>
          </a:xfrm>
          <a:prstGeom prst="line">
            <a:avLst/>
          </a:prstGeom>
          <a:ln w="19050">
            <a:solidFill>
              <a:srgbClr val="AB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14400" y="4654296"/>
            <a:ext cx="530352" cy="530352"/>
          </a:xfrm>
          <a:prstGeom prst="ellipse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18888"/>
            <a:ext cx="53035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562856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Georgia"/>
              </a:rPr>
              <a:t>聚焦端到端链路回归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10328"/>
            <a:ext cx="89611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15363"/>
                </a:solidFill>
                <a:latin typeface="Calibri"/>
              </a:rPr>
              <a:t>选择创建应用、AI 对话生成、预览、部署、下载、后台管理作为核心冒烟流程。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5363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4153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6949440" y="-1143000"/>
            <a:ext cx="6309360" cy="4754880"/>
          </a:xfrm>
          <a:prstGeom prst="arc">
            <a:avLst/>
          </a:prstGeom>
          <a:noFill/>
          <a:ln w="50800">
            <a:solidFill>
              <a:srgbClr val="19A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548640"/>
            <a:ext cx="2057400" cy="2057400"/>
          </a:xfrm>
          <a:prstGeom prst="ellipse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4251960"/>
            <a:ext cx="2743200" cy="2743200"/>
          </a:xfrm>
          <a:prstGeom prst="ellipse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8961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9DE2D6"/>
                </a:solidFill>
                <a:latin typeface="Calibri"/>
              </a:rPr>
              <a:t>当前状态：能力闭环清晰，工程治理与运行数据是下一阶段重点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347472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2026-07-08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62179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项目已具备 AI 应用生成平台的核心产品骨架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31720"/>
            <a:ext cx="6309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50" b="0">
                <a:solidFill>
                  <a:srgbClr val="EBF8F9"/>
                </a:solidFill>
                <a:latin typeface="Calibri"/>
              </a:rPr>
              <a:t>建议围绕质量门禁、部署说明、监控指标和端到端回归继续收敛维护风险。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014215"/>
            <a:ext cx="3063240" cy="11430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977639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977639"/>
            <a:ext cx="82296" cy="1143000"/>
          </a:xfrm>
          <a:prstGeom prst="rect">
            <a:avLst/>
          </a:prstGeom>
          <a:solidFill>
            <a:srgbClr val="00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78807"/>
            <a:ext cx="2651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Calibri"/>
              </a:rPr>
              <a:t>当前能力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90872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15363"/>
                </a:solidFill>
                <a:latin typeface="Calibri"/>
              </a:rPr>
              <a:t>生成 / 预览 / 部署 / 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4014215"/>
            <a:ext cx="3063240" cy="11430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3977639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977639"/>
            <a:ext cx="82296" cy="1143000"/>
          </a:xfrm>
          <a:prstGeom prst="rect">
            <a:avLst/>
          </a:prstGeom>
          <a:solidFill>
            <a:srgbClr val="19A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178807"/>
            <a:ext cx="2651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Calibri"/>
              </a:rPr>
              <a:t>近期变化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690872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15363"/>
                </a:solidFill>
                <a:latin typeface="Calibri"/>
              </a:rPr>
              <a:t>微服务改造完成，7 天内无新增提交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1" y="4014215"/>
            <a:ext cx="3063240" cy="1143000"/>
          </a:xfrm>
          <a:prstGeom prst="roundRect">
            <a:avLst/>
          </a:prstGeom>
          <a:solidFill>
            <a:srgbClr val="CA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3977639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977639"/>
            <a:ext cx="82296" cy="1143000"/>
          </a:xfrm>
          <a:prstGeom prst="rect">
            <a:avLst/>
          </a:prstGeom>
          <a:solidFill>
            <a:srgbClr val="F2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178807"/>
            <a:ext cx="2651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2540"/>
                </a:solidFill>
                <a:latin typeface="Calibri"/>
              </a:rPr>
              <a:t>优先行动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690872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15363"/>
                </a:solidFill>
                <a:latin typeface="Calibri"/>
              </a:rPr>
              <a:t>CI + 运行文档 + 指标看板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9DE2D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46520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50" b="0">
                <a:solidFill>
                  <a:srgbClr val="9DE2D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- yu-ai-code-mother</dc:title>
  <dc:subject>AI 零代码应用生成平台项目状态</dc:subject>
  <dc:creator>Cursor Automation</dc:creator>
  <cp:keywords/>
  <dc:description>Generated from repository README, module structure, and git history.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