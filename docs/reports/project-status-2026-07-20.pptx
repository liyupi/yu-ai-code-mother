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73568" y="-1234440"/>
            <a:ext cx="5212080" cy="5212080"/>
          </a:xfrm>
          <a:prstGeom prst="ellipse">
            <a:avLst/>
          </a:prstGeom>
          <a:solidFill>
            <a:srgbClr val="028090">
              <a:alpha val="65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457200"/>
            <a:ext cx="3886200" cy="3886200"/>
          </a:xfrm>
          <a:prstGeom prst="ellipse">
            <a:avLst/>
          </a:prstGeom>
          <a:solidFill>
            <a:srgbClr val="00A896">
              <a:alpha val="74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64040" y="228600"/>
            <a:ext cx="2514600" cy="2514600"/>
          </a:xfrm>
          <a:prstGeom prst="ellipse">
            <a:avLst/>
          </a:prstGeom>
          <a:solidFill>
            <a:srgbClr val="02C39A">
              <a:alpha val="92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66928"/>
            <a:ext cx="2267712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676656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30" kern="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PROJECT PULSE · DAILY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389888"/>
            <a:ext cx="72237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每日项目状态汇报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94944" y="2423160"/>
            <a:ext cx="6629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7E7E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零代码应用生成平台 · yu-ai-code-mother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94944" y="29443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EDDD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2026-07-20 · 北京时间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197864" y="4745736"/>
            <a:ext cx="1097280" cy="0"/>
          </a:xfrm>
          <a:prstGeom prst="line">
            <a:avLst/>
          </a:prstGeom>
          <a:noFill/>
          <a:ln w="25400">
            <a:solidFill>
              <a:srgbClr val="52C8BB">
                <a:alpha val="70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13232" y="4471416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461772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51846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DF4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34056" y="4745736"/>
            <a:ext cx="1097280" cy="0"/>
          </a:xfrm>
          <a:prstGeom prst="line">
            <a:avLst/>
          </a:prstGeom>
          <a:noFill/>
          <a:ln w="25400">
            <a:solidFill>
              <a:srgbClr val="52C8BB">
                <a:alpha val="70000"/>
              </a:srgbClr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249424" y="4471416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49424" y="461772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76272" y="51846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DF4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70248" y="4745736"/>
            <a:ext cx="1097280" cy="0"/>
          </a:xfrm>
          <a:prstGeom prst="line">
            <a:avLst/>
          </a:prstGeom>
          <a:noFill/>
          <a:ln w="25400">
            <a:solidFill>
              <a:srgbClr val="52C8BB">
                <a:alpha val="70000"/>
              </a:srgbClr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785616" y="4471416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85616" y="461772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12464" y="51846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DF4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预览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321808" y="4471416"/>
            <a:ext cx="566928" cy="5669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21808" y="461772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48656" y="51846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DF4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部署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94944" y="60533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BE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面向项目维护者 / 团队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4360" y="6510528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9EDD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YU AI CODE MOTHER · 每日项目状态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91088" y="6455664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389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4572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· 项目概览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877824"/>
            <a:ext cx="8138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当前状态：能力完整，演进待收口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458200" y="941832"/>
            <a:ext cx="3127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5472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 README、模块代码与 Git 历史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6510528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78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YU AI CODE MOTHER · 每日项目状态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91088" y="6455664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700784"/>
            <a:ext cx="34564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9E5E3"/>
            </a:solidFill>
            <a:prstDash val="solid"/>
          </a:ln>
          <a:effectLst>
            <a:outerShdw sx="100000" sy="100000" kx="0" ky="0" algn="bl" rotWithShape="0" blurRad="50800" dist="50800" dir="8100000">
              <a:srgbClr val="0B4454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700784"/>
            <a:ext cx="91440" cy="1325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0195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4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68680" y="2386584"/>
            <a:ext cx="2697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核心产品能力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688336"/>
            <a:ext cx="2788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 / 编辑 / 部署 / 管理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16552" y="1700784"/>
            <a:ext cx="3456432" cy="1325880"/>
          </a:xfrm>
          <a:prstGeom prst="roundRect">
            <a:avLst>
              <a:gd name="adj" fmla="val 5517"/>
            </a:avLst>
          </a:prstGeom>
          <a:solidFill>
            <a:srgbClr val="FFF9EB"/>
          </a:solidFill>
          <a:ln w="12700">
            <a:solidFill>
              <a:srgbClr val="F4D899"/>
            </a:solidFill>
            <a:prstDash val="solid"/>
          </a:ln>
          <a:effectLst>
            <a:outerShdw sx="100000" sy="100000" kx="0" ky="0" algn="bl" rotWithShape="0" blurRad="50800" dist="50800" dir="8100000">
              <a:srgbClr val="0B4454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16552" y="1700784"/>
            <a:ext cx="91440" cy="132588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190195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B13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690872" y="2386584"/>
            <a:ext cx="2697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近 7 天提交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90872" y="2688336"/>
            <a:ext cx="2788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昨日同样无代码变更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38744" y="1700784"/>
            <a:ext cx="34564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9E5E3"/>
            </a:solidFill>
            <a:prstDash val="solid"/>
          </a:ln>
          <a:effectLst>
            <a:outerShdw sx="100000" sy="100000" kx="0" ky="0" algn="bl" rotWithShape="0" blurRad="50800" dist="50800" dir="8100000">
              <a:srgbClr val="0B4454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38744" y="1700784"/>
            <a:ext cx="91440" cy="1325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13064" y="190195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2025-08-26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513064" y="2386584"/>
            <a:ext cx="2697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最新代码提交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13064" y="2688336"/>
            <a:ext cx="2788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微服务改造完成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4360" y="3429000"/>
            <a:ext cx="5303520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C9E5E3"/>
            </a:solidFill>
            <a:prstDash val="solid"/>
          </a:ln>
          <a:effectLst>
            <a:outerShdw sx="100000" sy="100000" kx="0" ky="0" algn="bl" rotWithShape="0" blurRad="50800" dist="50800" dir="8100000">
              <a:srgbClr val="0B4454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3685032"/>
            <a:ext cx="969264" cy="292608"/>
          </a:xfrm>
          <a:prstGeom prst="roundRect">
            <a:avLst>
              <a:gd name="adj" fmla="val 25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3739896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已具备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05256" y="4133088"/>
            <a:ext cx="4572000" cy="1408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11772" indent="-211772">
              <a:buSzPct val="100000"/>
              <a:buChar char="•"/>
            </a:pPr>
            <a:r>
              <a:rPr lang="en-US" sz="145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端到端 AI 代码生成与 SSE 流式体验</a:t>
            </a:r>
            <a:endParaRPr lang="en-US" sz="1450" dirty="0"/>
          </a:p>
          <a:p>
            <a:pPr marL="211772" indent="-211772">
              <a:buSzPct val="100000"/>
              <a:buChar char="•"/>
            </a:pPr>
            <a:r>
              <a:rPr lang="en-US" sz="145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可视化编辑、部署、截图与源码下载</a:t>
            </a:r>
            <a:endParaRPr lang="en-US" sz="1450" dirty="0"/>
          </a:p>
          <a:p>
            <a:pPr marL="211772" indent="-211772">
              <a:buSzPct val="100000"/>
              <a:buChar char="•"/>
            </a:pPr>
            <a:r>
              <a:rPr lang="en-US" sz="145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用户端、管理端与可观测性基础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263640" y="3429000"/>
            <a:ext cx="5303520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C9E5E3"/>
            </a:solidFill>
            <a:prstDash val="solid"/>
          </a:ln>
          <a:effectLst>
            <a:outerShdw sx="100000" sy="100000" kx="0" ky="0" algn="bl" rotWithShape="0" blurRad="50800" dist="50800" dir="8100000">
              <a:srgbClr val="0B4454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37960" y="3685032"/>
            <a:ext cx="969264" cy="292608"/>
          </a:xfrm>
          <a:prstGeom prst="roundRect">
            <a:avLst>
              <a:gd name="adj" fmla="val 25000"/>
            </a:avLst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11112" y="3739896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待收口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74536" y="4133088"/>
            <a:ext cx="4572000" cy="1408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11772" indent="-211772">
              <a:buSzPct val="100000"/>
              <a:buChar char="•"/>
            </a:pPr>
            <a:r>
              <a:rPr lang="en-US" sz="145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单体与微服务能力存在差异</a:t>
            </a:r>
            <a:endParaRPr lang="en-US" sz="1450" dirty="0"/>
          </a:p>
          <a:p>
            <a:pPr marL="211772" indent="-211772">
              <a:buSzPct val="100000"/>
              <a:buChar char="•"/>
            </a:pPr>
            <a:r>
              <a:rPr lang="en-US" sz="145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前端默认仍指向单体 8123 端口</a:t>
            </a:r>
            <a:endParaRPr lang="en-US" sz="1450" dirty="0"/>
          </a:p>
          <a:p>
            <a:pPr marL="211772" indent="-211772">
              <a:buSzPct val="100000"/>
              <a:buChar char="•"/>
            </a:pPr>
            <a:r>
              <a:rPr lang="en-US" sz="145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微服务测试、网关与监控尚未闭环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389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4572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· 架构全景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877824"/>
            <a:ext cx="8138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三轨代码形态，共享同一产品目标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458200" y="941832"/>
            <a:ext cx="3127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5472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 + 单体后端 + 微服务后端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6510528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78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YU AI CODE MOTHER · 每日项目状态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91088" y="6455664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21024" y="2788920"/>
            <a:ext cx="658368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891272" y="2788920"/>
            <a:ext cx="658368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057400" y="4151376"/>
            <a:ext cx="0" cy="68580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99048" y="4151376"/>
            <a:ext cx="0" cy="68580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131552" y="4151376"/>
            <a:ext cx="0" cy="68580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94360" y="1719072"/>
            <a:ext cx="3017520" cy="2432304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E5E3"/>
            </a:solidFill>
            <a:prstDash val="solid"/>
          </a:ln>
          <a:effectLst>
            <a:outerShdw sx="100000" sy="100000" kx="0" ky="0" algn="bl" rotWithShape="0" blurRad="50800" dist="50800" dir="8100000">
              <a:srgbClr val="0B4454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0392" y="1975104"/>
            <a:ext cx="585216" cy="5852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148840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81912" y="1993392"/>
            <a:ext cx="1755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Vue 3 前端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81912" y="2368296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8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TypeScript · Ant Design Vue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05256" y="2852928"/>
            <a:ext cx="2359152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97167" indent="-197167">
              <a:buSzPct val="100000"/>
              <a:buChar char="•"/>
            </a:pPr>
            <a:r>
              <a:rPr lang="en-US" sz="135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创建 / 对话 / 预览</a:t>
            </a:r>
            <a:endParaRPr lang="en-US" sz="1350" dirty="0"/>
          </a:p>
          <a:p>
            <a:pPr marL="197167" indent="-197167">
              <a:buSzPct val="100000"/>
              <a:buChar char="•"/>
            </a:pPr>
            <a:r>
              <a:rPr lang="en-US" sz="135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可视化编辑</a:t>
            </a:r>
            <a:endParaRPr lang="en-US" sz="1350" dirty="0"/>
          </a:p>
          <a:p>
            <a:pPr marL="197167" indent="-197167">
              <a:buSzPct val="100000"/>
              <a:buChar char="•"/>
            </a:pPr>
            <a:r>
              <a:rPr lang="en-US" sz="135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用户与管理后台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590288" y="1719072"/>
            <a:ext cx="3017520" cy="2432304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E5E3"/>
            </a:solidFill>
            <a:prstDash val="solid"/>
          </a:ln>
          <a:effectLst>
            <a:outerShdw sx="100000" sy="100000" kx="0" ky="0" algn="bl" rotWithShape="0" blurRad="50800" dist="50800" dir="8100000">
              <a:srgbClr val="0B4454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975104"/>
            <a:ext cx="585216" cy="5852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148840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77840" y="1993392"/>
            <a:ext cx="1755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单体后端 · 8123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77840" y="2368296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8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Spring Boot 3.5 · Java 21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01184" y="2852928"/>
            <a:ext cx="2359152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97167" indent="-197167">
              <a:buSzPct val="100000"/>
              <a:buChar char="•"/>
            </a:pPr>
            <a:r>
              <a:rPr lang="en-US" sz="135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LangChain4j + LangGraph4j</a:t>
            </a:r>
            <a:endParaRPr lang="en-US" sz="1350" dirty="0"/>
          </a:p>
          <a:p>
            <a:pPr marL="197167" indent="-197167">
              <a:buSzPct val="100000"/>
              <a:buChar char="•"/>
            </a:pPr>
            <a:r>
              <a:rPr lang="en-US" sz="135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部署 / 截图 / 下载</a:t>
            </a:r>
            <a:endParaRPr lang="en-US" sz="1350" dirty="0"/>
          </a:p>
          <a:p>
            <a:pPr marL="197167" indent="-197167">
              <a:buSzPct val="100000"/>
              <a:buChar char="•"/>
            </a:pPr>
            <a:r>
              <a:rPr lang="en-US" sz="135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Actuator + Prometheus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577072" y="1719072"/>
            <a:ext cx="3017520" cy="2432304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9E5E3"/>
            </a:solidFill>
            <a:prstDash val="solid"/>
          </a:ln>
          <a:effectLst>
            <a:outerShdw sx="100000" sy="100000" kx="0" ky="0" algn="bl" rotWithShape="0" blurRad="50800" dist="50800" dir="8100000">
              <a:srgbClr val="0B4454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833104" y="1975104"/>
            <a:ext cx="585216" cy="5852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33104" y="2148840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564624" y="1993392"/>
            <a:ext cx="1755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微服务后端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564624" y="2368296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8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Dubbo · Nacos · Spring Cloud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887968" y="2852928"/>
            <a:ext cx="2359152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97167" indent="-197167">
              <a:buSzPct val="100000"/>
              <a:buChar char="•"/>
            </a:pPr>
            <a:r>
              <a:rPr lang="en-US" sz="135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 8124 / 应用 8125</a:t>
            </a:r>
            <a:endParaRPr lang="en-US" sz="1350" dirty="0"/>
          </a:p>
          <a:p>
            <a:pPr marL="197167" indent="-197167">
              <a:buSzPct val="100000"/>
              <a:buChar char="•"/>
            </a:pPr>
            <a:r>
              <a:rPr lang="en-US" sz="135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截图 8127 / AI 模块</a:t>
            </a:r>
            <a:endParaRPr lang="en-US" sz="1350" dirty="0"/>
          </a:p>
          <a:p>
            <a:pPr marL="197167" indent="-197167">
              <a:buSzPct val="100000"/>
              <a:buChar char="•"/>
            </a:pPr>
            <a:r>
              <a:rPr lang="en-US" sz="135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公共 / 模型 / Client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94360" y="4828032"/>
            <a:ext cx="11000232" cy="1024128"/>
          </a:xfrm>
          <a:prstGeom prst="roundRect">
            <a:avLst>
              <a:gd name="adj" fmla="val 7143"/>
            </a:avLst>
          </a:prstGeom>
          <a:solidFill>
            <a:srgbClr val="DFF4F1"/>
          </a:solidFill>
          <a:ln w="12700">
            <a:solidFill>
              <a:srgbClr val="B6E2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6112" y="5166360"/>
            <a:ext cx="676656" cy="292608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9264" y="5221224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DATA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700784" y="515721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MySQL · Redis · Caffeine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584448" y="5166360"/>
            <a:ext cx="676656" cy="292608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0" y="5221224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389120" y="515721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DeepSeek · DashScope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72784" y="5166360"/>
            <a:ext cx="676656" cy="292608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45936" y="5221224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CLOUD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077456" y="515721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COS · Selenium · Chrome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961120" y="5166360"/>
            <a:ext cx="676656" cy="292608"/>
          </a:xfrm>
          <a:prstGeom prst="roundRect">
            <a:avLst>
              <a:gd name="adj" fmla="val 25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34272" y="5221224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765792" y="515721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Prometheus · Grafana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389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4572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· 核心能力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877824"/>
            <a:ext cx="8138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产品闭环已形成：从一句话到可分享应用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458200" y="941832"/>
            <a:ext cx="3127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5472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README 能力与代码模块交叉核验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6510528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78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YU AI CODE MOTHER · 每日项目状态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91088" y="6455664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709928"/>
            <a:ext cx="530352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9E5E3"/>
            </a:solidFill>
            <a:prstDash val="solid"/>
          </a:ln>
          <a:effectLst>
            <a:outerShdw sx="100000" sy="100000" kx="0" ky="0" algn="bl" rotWithShape="0" blurRad="50800" dist="50800" dir="8100000">
              <a:srgbClr val="0B4454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975104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29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72184" y="19659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智能代码生成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86968" y="2496312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需求路由、工具调用、代码解析与保存，支持 SSE 实时反馈。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050792" y="1984248"/>
            <a:ext cx="1517904" cy="292608"/>
          </a:xfrm>
          <a:prstGeom prst="roundRect">
            <a:avLst>
              <a:gd name="adj" fmla="val 25000"/>
            </a:avLst>
          </a:prstGeom>
          <a:solidFill>
            <a:srgbClr val="DDF4F2"/>
          </a:solidFill>
          <a:ln w="12700">
            <a:solidFill>
              <a:srgbClr val="DDF4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23944" y="203911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HTML / 多文件 / Vue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86968" y="3108960"/>
            <a:ext cx="4572000" cy="73152"/>
          </a:xfrm>
          <a:prstGeom prst="rect">
            <a:avLst/>
          </a:prstGeom>
          <a:solidFill>
            <a:srgbClr val="DDEBEA"/>
          </a:solidFill>
          <a:ln w="12700">
            <a:solidFill>
              <a:srgbClr val="DDEB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6968" y="3108960"/>
            <a:ext cx="4315968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709928"/>
            <a:ext cx="530352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9E5E3"/>
            </a:solidFill>
            <a:prstDash val="solid"/>
          </a:ln>
          <a:effectLst>
            <a:outerShdw sx="100000" sy="100000" kx="0" ky="0" algn="bl" rotWithShape="0" blurRad="50800" dist="50800" dir="8100000">
              <a:srgbClr val="0B4454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37960" y="1975104"/>
            <a:ext cx="438912" cy="43891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029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41464" y="19659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可视化编辑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556248" y="2496312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iframe 中选择页面元素，通过对话继续修改生成结果。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720072" y="1984248"/>
            <a:ext cx="1517904" cy="292608"/>
          </a:xfrm>
          <a:prstGeom prst="roundRect">
            <a:avLst>
              <a:gd name="adj" fmla="val 25000"/>
            </a:avLst>
          </a:prstGeom>
          <a:solidFill>
            <a:srgbClr val="DDF4F2"/>
          </a:solidFill>
          <a:ln w="12700">
            <a:solidFill>
              <a:srgbClr val="DDF4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93224" y="203911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选中元素 + AI 修改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556248" y="3108960"/>
            <a:ext cx="4572000" cy="73152"/>
          </a:xfrm>
          <a:prstGeom prst="rect">
            <a:avLst/>
          </a:prstGeom>
          <a:solidFill>
            <a:srgbClr val="DDEBEA"/>
          </a:solidFill>
          <a:ln w="12700">
            <a:solidFill>
              <a:srgbClr val="DDEB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56248" y="3108960"/>
            <a:ext cx="397764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3822192"/>
            <a:ext cx="530352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9E5E3"/>
            </a:solidFill>
            <a:prstDash val="solid"/>
          </a:ln>
          <a:effectLst>
            <a:outerShdw sx="100000" sy="100000" kx="0" ky="0" algn="bl" rotWithShape="0" blurRad="50800" dist="50800" dir="8100000">
              <a:srgbClr val="0B4454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68680" y="4087368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14223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72184" y="407822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部署与分享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886968" y="4608576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构建产物、部署地址、自动封面截图与完整源码下载。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4050792" y="4096512"/>
            <a:ext cx="1517904" cy="292608"/>
          </a:xfrm>
          <a:prstGeom prst="roundRect">
            <a:avLst>
              <a:gd name="adj" fmla="val 25000"/>
            </a:avLst>
          </a:prstGeom>
          <a:solidFill>
            <a:srgbClr val="DDF4F2"/>
          </a:solidFill>
          <a:ln w="12700">
            <a:solidFill>
              <a:srgbClr val="DDF4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23944" y="4151376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构建 / 截图 / 下载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86968" y="5221224"/>
            <a:ext cx="4572000" cy="73152"/>
          </a:xfrm>
          <a:prstGeom prst="rect">
            <a:avLst/>
          </a:prstGeom>
          <a:solidFill>
            <a:srgbClr val="DDEBEA"/>
          </a:solidFill>
          <a:ln w="12700">
            <a:solidFill>
              <a:srgbClr val="DDEB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6968" y="5221224"/>
            <a:ext cx="3822192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3822192"/>
            <a:ext cx="530352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9E5E3"/>
            </a:solidFill>
            <a:prstDash val="solid"/>
          </a:ln>
          <a:effectLst>
            <a:outerShdw sx="100000" sy="100000" kx="0" ky="0" algn="bl" rotWithShape="0" blurRad="50800" dist="50800" dir="8100000">
              <a:srgbClr val="0B4454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537960" y="4087368"/>
            <a:ext cx="438912" cy="43891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414223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141464" y="407822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企业级管理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6556248" y="4608576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用户、应用、对话、精选管理，并具备 AI 调用监控基础。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9720072" y="4096512"/>
            <a:ext cx="1517904" cy="292608"/>
          </a:xfrm>
          <a:prstGeom prst="roundRect">
            <a:avLst>
              <a:gd name="adj" fmla="val 25000"/>
            </a:avLst>
          </a:prstGeom>
          <a:solidFill>
            <a:srgbClr val="DDF4F2"/>
          </a:solidFill>
          <a:ln w="12700">
            <a:solidFill>
              <a:srgbClr val="DDF4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793224" y="4151376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 / 限流 / 监控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556248" y="5221224"/>
            <a:ext cx="4572000" cy="73152"/>
          </a:xfrm>
          <a:prstGeom prst="rect">
            <a:avLst/>
          </a:prstGeom>
          <a:solidFill>
            <a:srgbClr val="DDEBEA"/>
          </a:solidFill>
          <a:ln w="12700">
            <a:solidFill>
              <a:srgbClr val="DDEB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56248" y="5221224"/>
            <a:ext cx="3822192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389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4572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· 近期进展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877824"/>
            <a:ext cx="8138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代码无新增；最近里程碑为微服务改造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458200" y="941832"/>
            <a:ext cx="3127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5472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近 7 天与近 30 天提交均为 0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6510528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78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YU AI CODE MOTHER · 每日项目状态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91088" y="6455664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43000" y="3054096"/>
            <a:ext cx="9921240" cy="0"/>
          </a:xfrm>
          <a:prstGeom prst="line">
            <a:avLst/>
          </a:prstGeom>
          <a:noFill/>
          <a:ln w="50800">
            <a:solidFill>
              <a:srgbClr val="A8D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2852928"/>
            <a:ext cx="402336" cy="402336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82880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2025-08-14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" y="2167128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可观测性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20040" y="25694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8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 18c86bc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40480" y="2852928"/>
            <a:ext cx="402336" cy="402336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8416" y="351129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2025-08-26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08960" y="3849624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微服务改造完成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3218688" y="42519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8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 893918c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87184" y="2852928"/>
            <a:ext cx="402336" cy="402336"/>
          </a:xfrm>
          <a:prstGeom prst="ellipse">
            <a:avLst/>
          </a:prstGeom>
          <a:solidFill>
            <a:srgbClr val="F2B13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82880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2026-07-19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55664" y="2167128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昨日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565392" y="25694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8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 个提交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515600" y="2852928"/>
            <a:ext cx="402336" cy="402336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03536" y="351129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2026-07-20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784080" y="3849624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今日快照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893808" y="42519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8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分支无业务变更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4892040"/>
            <a:ext cx="11000232" cy="960120"/>
          </a:xfrm>
          <a:prstGeom prst="roundRect">
            <a:avLst>
              <a:gd name="adj" fmla="val 7619"/>
            </a:avLst>
          </a:prstGeom>
          <a:solidFill>
            <a:srgbClr val="FFF8E7"/>
          </a:solidFill>
          <a:ln w="12700">
            <a:solidFill>
              <a:srgbClr val="F2D6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5148072"/>
            <a:ext cx="420624" cy="420624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23951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!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508760" y="51023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64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汇报口径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606040" y="5084064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7153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“近期进展”记录仓库的最后里程碑，不将历史提交表述为昨日完成；当前重点应转向集成验证与质量门禁。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389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4572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· 数据与指标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877824"/>
            <a:ext cx="8138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仓库规模快照：代码多，自动化覆盖偏弱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458200" y="941832"/>
            <a:ext cx="3127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5472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静态统计，不代表运行时业务指标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6510528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78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YU AI CODE MOTHER · 每日项目状态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91088" y="6455664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700784"/>
            <a:ext cx="2432304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C9E5E3"/>
            </a:solidFill>
            <a:prstDash val="solid"/>
          </a:ln>
          <a:effectLst>
            <a:outerShdw sx="100000" sy="100000" kx="0" ky="0" algn="bl" rotWithShape="0" blurRad="50800" dist="50800" dir="8100000">
              <a:srgbClr val="0B445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190195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065A8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272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2221992" y="21854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0392" y="2587752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Java 主代码文件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64992" y="1700784"/>
            <a:ext cx="2432304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C9E5E3"/>
            </a:solidFill>
            <a:prstDash val="solid"/>
          </a:ln>
          <a:effectLst>
            <a:outerShdw sx="100000" sy="100000" kx="0" ky="0" algn="bl" rotWithShape="0" blurRad="50800" dist="50800" dir="8100000">
              <a:srgbClr val="0B4454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21024" y="190195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02809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36</a:t>
            </a:r>
            <a:endParaRPr lang="en-US" sz="3500" dirty="0"/>
          </a:p>
        </p:txBody>
      </p:sp>
      <p:sp>
        <p:nvSpPr>
          <p:cNvPr id="14" name="Text 12"/>
          <p:cNvSpPr/>
          <p:nvPr/>
        </p:nvSpPr>
        <p:spPr>
          <a:xfrm>
            <a:off x="4992624" y="21854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21024" y="2587752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 src 文件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35624" y="1700784"/>
            <a:ext cx="2432304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C9E5E3"/>
            </a:solidFill>
            <a:prstDash val="solid"/>
          </a:ln>
          <a:effectLst>
            <a:outerShdw sx="100000" sy="100000" kx="0" ky="0" algn="bl" rotWithShape="0" blurRad="50800" dist="50800" dir="8100000">
              <a:srgbClr val="0B4454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91656" y="190195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00A89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14</a:t>
            </a:r>
            <a:endParaRPr lang="en-US" sz="3500" dirty="0"/>
          </a:p>
        </p:txBody>
      </p:sp>
      <p:sp>
        <p:nvSpPr>
          <p:cNvPr id="18" name="Text 16"/>
          <p:cNvSpPr/>
          <p:nvPr/>
        </p:nvSpPr>
        <p:spPr>
          <a:xfrm>
            <a:off x="7763256" y="21854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91656" y="2587752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后端测试类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906256" y="1700784"/>
            <a:ext cx="2432304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C9E5E3"/>
            </a:solidFill>
            <a:prstDash val="solid"/>
          </a:ln>
          <a:effectLst>
            <a:outerShdw sx="100000" sy="100000" kx="0" ky="0" algn="bl" rotWithShape="0" blurRad="50800" dist="50800" dir="8100000">
              <a:srgbClr val="0B4454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62288" y="190195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2A9D8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8</a:t>
            </a:r>
            <a:endParaRPr lang="en-US" sz="3500" dirty="0"/>
          </a:p>
        </p:txBody>
      </p:sp>
      <p:sp>
        <p:nvSpPr>
          <p:cNvPr id="22" name="Text 20"/>
          <p:cNvSpPr/>
          <p:nvPr/>
        </p:nvSpPr>
        <p:spPr>
          <a:xfrm>
            <a:off x="10533888" y="21854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份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62288" y="2587752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微服务 POM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" y="3529584"/>
            <a:ext cx="6812280" cy="226771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9E5E3"/>
            </a:solidFill>
            <a:prstDash val="solid"/>
          </a:ln>
          <a:effectLst>
            <a:outerShdw sx="100000" sy="100000" kx="0" ky="0" algn="bl" rotWithShape="0" blurRad="50800" dist="50800" dir="8100000">
              <a:srgbClr val="0B4454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96112" y="37856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代码形态分布（文件数）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96112" y="43434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72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Java 主代码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057400" y="4315968"/>
            <a:ext cx="4434840" cy="246888"/>
          </a:xfrm>
          <a:prstGeom prst="roundRect">
            <a:avLst>
              <a:gd name="adj" fmla="val 18519"/>
            </a:avLst>
          </a:prstGeom>
          <a:solidFill>
            <a:srgbClr val="E6F0EF"/>
          </a:solidFill>
          <a:ln w="12700">
            <a:solidFill>
              <a:srgbClr val="E6F0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57400" y="4315968"/>
            <a:ext cx="4434840" cy="246888"/>
          </a:xfrm>
          <a:prstGeom prst="roundRect">
            <a:avLst>
              <a:gd name="adj" fmla="val 1851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43342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272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96112" y="47823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72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 src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057400" y="4754880"/>
            <a:ext cx="4434840" cy="246888"/>
          </a:xfrm>
          <a:prstGeom prst="roundRect">
            <a:avLst>
              <a:gd name="adj" fmla="val 18519"/>
            </a:avLst>
          </a:prstGeom>
          <a:solidFill>
            <a:srgbClr val="E6F0EF"/>
          </a:solidFill>
          <a:ln w="12700">
            <a:solidFill>
              <a:srgbClr val="E6F0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57400" y="4754880"/>
            <a:ext cx="586964" cy="246888"/>
          </a:xfrm>
          <a:prstGeom prst="roundRect">
            <a:avLst>
              <a:gd name="adj" fmla="val 1851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47731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36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96112" y="522122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72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测试类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057400" y="5193792"/>
            <a:ext cx="4434840" cy="246888"/>
          </a:xfrm>
          <a:prstGeom prst="roundRect">
            <a:avLst>
              <a:gd name="adj" fmla="val 18519"/>
            </a:avLst>
          </a:prstGeom>
          <a:solidFill>
            <a:srgbClr val="E6F0EF"/>
          </a:solidFill>
          <a:ln w="12700">
            <a:solidFill>
              <a:srgbClr val="E6F0E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57400" y="5193792"/>
            <a:ext cx="256032" cy="246888"/>
          </a:xfrm>
          <a:prstGeom prst="roundRect">
            <a:avLst>
              <a:gd name="adj" fmla="val 18519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9400" y="52120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754112" y="3529584"/>
            <a:ext cx="3840480" cy="2267712"/>
          </a:xfrm>
          <a:prstGeom prst="roundRect">
            <a:avLst>
              <a:gd name="adj" fmla="val 3226"/>
            </a:avLst>
          </a:prstGeom>
          <a:solidFill>
            <a:srgbClr val="DFF4F1"/>
          </a:solidFill>
          <a:ln w="12700">
            <a:solidFill>
              <a:srgbClr val="B6E2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65008" y="378561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指标解读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065008" y="4270248"/>
            <a:ext cx="2999232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92786" indent="-192786">
              <a:buSzPct val="100000"/>
              <a:buChar char="•"/>
            </a:pPr>
            <a:r>
              <a:rPr lang="en-US" sz="132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 份 POM = 1 个聚合工程 + 7 个模块</a:t>
            </a:r>
            <a:endParaRPr lang="en-US" sz="1320" dirty="0"/>
          </a:p>
          <a:p>
            <a:pPr marL="192786" indent="-192786">
              <a:buSzPct val="100000"/>
              <a:buChar char="•"/>
            </a:pPr>
            <a:r>
              <a:rPr lang="en-US" sz="132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测试集中于单体后端，微服务与前端无自动化测试</a:t>
            </a:r>
            <a:endParaRPr lang="en-US" sz="1320" dirty="0"/>
          </a:p>
          <a:p>
            <a:pPr marL="192786" indent="-192786">
              <a:buSzPct val="100000"/>
              <a:buChar char="•"/>
            </a:pPr>
            <a:r>
              <a:rPr lang="en-US" sz="132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运行时调用量、成功率与成本数据未纳入本次快照</a:t>
            </a:r>
            <a:endParaRPr lang="en-US" sz="13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389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4572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· 质量与 CI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877824"/>
            <a:ext cx="8138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有测试资产，但缺少可重复的自动化门禁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458200" y="941832"/>
            <a:ext cx="3127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5472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仓库未发现 CI/CD 工作流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6510528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78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YU AI CODE MOTHER · 每日项目状态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91088" y="6455664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700784"/>
            <a:ext cx="3794760" cy="416052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C9E5E3"/>
            </a:solidFill>
            <a:prstDash val="solid"/>
          </a:ln>
          <a:effectLst>
            <a:outerShdw sx="100000" sy="100000" kx="0" ky="0" algn="bl" rotWithShape="0" blurRad="50800" dist="50800" dir="8100000">
              <a:srgbClr val="0B4454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25880" y="2212848"/>
            <a:ext cx="2267712" cy="2267712"/>
          </a:xfrm>
          <a:prstGeom prst="ellipse">
            <a:avLst/>
          </a:prstGeom>
          <a:solidFill>
            <a:srgbClr val="E7F3F2"/>
          </a:solidFill>
          <a:ln w="2286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65376" y="2752344"/>
            <a:ext cx="1188720" cy="1188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65376" y="29900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2809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14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1572768" y="455371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后端测试类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609344" y="5010912"/>
            <a:ext cx="1691640" cy="292608"/>
          </a:xfrm>
          <a:prstGeom prst="roundRect">
            <a:avLst>
              <a:gd name="adj" fmla="val 25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82496" y="5065776"/>
            <a:ext cx="1545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仅单体后端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1700784"/>
            <a:ext cx="303580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9E5E3"/>
            </a:solidFill>
            <a:prstDash val="solid"/>
          </a:ln>
          <a:effectLst>
            <a:outerShdw sx="100000" sy="100000" kx="0" ky="0" algn="bl" rotWithShape="0" blurRad="50800" dist="50800" dir="8100000">
              <a:srgbClr val="0B4454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10912" y="1929384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9D8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14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5742432" y="1956816"/>
            <a:ext cx="1673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单体后端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742432" y="2340864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8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工作流 / AI / 工具类 / 解析器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56448" y="1700784"/>
            <a:ext cx="303580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9E5E3"/>
            </a:solidFill>
            <a:prstDash val="solid"/>
          </a:ln>
          <a:effectLst>
            <a:outerShdw sx="100000" sy="100000" kx="0" ky="0" algn="bl" rotWithShape="0" blurRad="50800" dist="50800" dir="8100000">
              <a:srgbClr val="0B4454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12480" y="1929384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B13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</a:t>
            </a:r>
            <a:endParaRPr lang="en-US" sz="2900" dirty="0"/>
          </a:p>
        </p:txBody>
      </p:sp>
      <p:sp>
        <p:nvSpPr>
          <p:cNvPr id="21" name="Text 19"/>
          <p:cNvSpPr/>
          <p:nvPr/>
        </p:nvSpPr>
        <p:spPr>
          <a:xfrm>
            <a:off x="9144000" y="1956816"/>
            <a:ext cx="1673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微服务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0" y="2340864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8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暂无测试类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3328416"/>
            <a:ext cx="303580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9E5E3"/>
            </a:solidFill>
            <a:prstDash val="solid"/>
          </a:ln>
          <a:effectLst>
            <a:outerShdw sx="100000" sy="100000" kx="0" ky="0" algn="bl" rotWithShape="0" blurRad="50800" dist="50800" dir="8100000">
              <a:srgbClr val="0B4454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10912" y="3557016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B13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</a:t>
            </a:r>
            <a:endParaRPr lang="en-US" sz="2900" dirty="0"/>
          </a:p>
        </p:txBody>
      </p:sp>
      <p:sp>
        <p:nvSpPr>
          <p:cNvPr id="25" name="Text 23"/>
          <p:cNvSpPr/>
          <p:nvPr/>
        </p:nvSpPr>
        <p:spPr>
          <a:xfrm>
            <a:off x="5742432" y="3584448"/>
            <a:ext cx="1673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742432" y="3968496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8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暂无 spec / test 文件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56448" y="3328416"/>
            <a:ext cx="3035808" cy="1298448"/>
          </a:xfrm>
          <a:prstGeom prst="roundRect">
            <a:avLst>
              <a:gd name="adj" fmla="val 5634"/>
            </a:avLst>
          </a:prstGeom>
          <a:solidFill>
            <a:srgbClr val="FFF1EE"/>
          </a:solidFill>
          <a:ln w="12700">
            <a:solidFill>
              <a:srgbClr val="F0B8AB"/>
            </a:solidFill>
            <a:prstDash val="solid"/>
          </a:ln>
          <a:effectLst>
            <a:outerShdw sx="100000" sy="100000" kx="0" ky="0" algn="bl" rotWithShape="0" blurRad="50800" dist="50800" dir="8100000">
              <a:srgbClr val="0B4454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412480" y="3557016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D9534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</a:t>
            </a:r>
            <a:endParaRPr lang="en-US" sz="2900" dirty="0"/>
          </a:p>
        </p:txBody>
      </p:sp>
      <p:sp>
        <p:nvSpPr>
          <p:cNvPr id="29" name="Text 27"/>
          <p:cNvSpPr/>
          <p:nvPr/>
        </p:nvSpPr>
        <p:spPr>
          <a:xfrm>
            <a:off x="9144000" y="3584448"/>
            <a:ext cx="1673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CI 工作流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0" y="3968496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8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 GitHub Actions / Jenkins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5047488"/>
            <a:ext cx="6839712" cy="813816"/>
          </a:xfrm>
          <a:prstGeom prst="roundRect">
            <a:avLst>
              <a:gd name="adj" fmla="val 8989"/>
            </a:avLst>
          </a:prstGeom>
          <a:solidFill>
            <a:srgbClr val="FFF8E7"/>
          </a:solidFill>
          <a:ln w="12700">
            <a:solidFill>
              <a:srgbClr val="F2D6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10912" y="529437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D64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稳定性提示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36208" y="52669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153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多项测试依赖真实 AI API、Redis、浏览器或云服务；缺密钥环境下不宜视为稳定回归集。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389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4572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· 未完成项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877824"/>
            <a:ext cx="8138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从“已拆分”走向“可运行、可验证、可演进”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458200" y="941832"/>
            <a:ext cx="3127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5472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建议按集成闭环排序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6510528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78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YU AI CODE MOTHER · 每日项目状态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91088" y="6455664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1100023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C9E5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975104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029968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755648" y="18928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统一入口与前端适配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224528" y="188366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微服务缺少 API Gateway；前端默认仍连接单体 8123。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7900416" y="1874520"/>
            <a:ext cx="0" cy="530352"/>
          </a:xfrm>
          <a:prstGeom prst="line">
            <a:avLst/>
          </a:prstGeom>
          <a:noFill/>
          <a:ln w="15240">
            <a:solidFill>
              <a:srgbClr val="C9E5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74736" y="1883664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472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验收：单一域名完成用户、应用、截图全链路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2788920"/>
            <a:ext cx="1100023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C9E5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072384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" y="3127248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755648" y="29900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微服务能力对齐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4224528" y="298094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LangGraph4j 工作流、健康检查与监控仍主要存在于单体。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7900416" y="2971800"/>
            <a:ext cx="0" cy="530352"/>
          </a:xfrm>
          <a:prstGeom prst="line">
            <a:avLst/>
          </a:prstGeom>
          <a:noFill/>
          <a:ln w="15240">
            <a:solidFill>
              <a:srgbClr val="C9E5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74736" y="2980944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472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验收：能力清单逐项对齐并标记保留/迁移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3886200"/>
            <a:ext cx="1100023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C9E5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4169664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" y="4224528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755648" y="40873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自动化测试补齐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4224528" y="407822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微服务与前端测试为 0，现有测试强依赖外部系统。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7900416" y="4069080"/>
            <a:ext cx="0" cy="530352"/>
          </a:xfrm>
          <a:prstGeom prst="line">
            <a:avLst/>
          </a:prstGeom>
          <a:noFill/>
          <a:ln w="15240">
            <a:solidFill>
              <a:srgbClr val="C9E5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74736" y="4078224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472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验收：核心 API、路由与前端关键流进入稳定回归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4360" y="4983480"/>
            <a:ext cx="1100023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C9E5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" y="5266944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" y="5321808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755648" y="51846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CI 质量门禁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4224528" y="517550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仓库未配置自动化构建、lint、测试或制品校验。</a:t>
            </a:r>
            <a:endParaRPr lang="en-US" sz="1320" dirty="0"/>
          </a:p>
        </p:txBody>
      </p:sp>
      <p:sp>
        <p:nvSpPr>
          <p:cNvPr id="34" name="Shape 32"/>
          <p:cNvSpPr/>
          <p:nvPr/>
        </p:nvSpPr>
        <p:spPr>
          <a:xfrm>
            <a:off x="7900416" y="5166360"/>
            <a:ext cx="0" cy="530352"/>
          </a:xfrm>
          <a:prstGeom prst="line">
            <a:avLst/>
          </a:prstGeom>
          <a:noFill/>
          <a:ln w="15240">
            <a:solidFill>
              <a:srgbClr val="C9E5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74736" y="5175504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472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验收：PR 必跑前端构建、后端单测与安全扫描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389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4572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· 风险与阻塞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877824"/>
            <a:ext cx="8138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最高风险来自集成依赖与双轨能力漂移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458200" y="941832"/>
            <a:ext cx="3127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5472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影响 × 发生可能性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6510528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78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YU AI CODE MOTHER · 每日项目状态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91088" y="6455664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700784"/>
            <a:ext cx="7086600" cy="4279392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 w="12700">
            <a:solidFill>
              <a:srgbClr val="C9E5E3"/>
            </a:solidFill>
            <a:prstDash val="solid"/>
          </a:ln>
          <a:effectLst>
            <a:outerShdw sx="100000" sy="100000" kx="0" ky="0" algn="bl" rotWithShape="0" blurRad="50800" dist="50800" dir="8100000">
              <a:srgbClr val="0B445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58952" y="18105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72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影响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72784" y="5586984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72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发生可能性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34440" y="1975104"/>
            <a:ext cx="2889504" cy="1627632"/>
          </a:xfrm>
          <a:prstGeom prst="rect">
            <a:avLst/>
          </a:prstGeom>
          <a:solidFill>
            <a:srgbClr val="EFF7E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23944" y="1975104"/>
            <a:ext cx="3063240" cy="1627632"/>
          </a:xfrm>
          <a:prstGeom prst="rect">
            <a:avLst/>
          </a:prstGeom>
          <a:solidFill>
            <a:srgbClr val="FDEBE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4440" y="3602736"/>
            <a:ext cx="2889504" cy="1737360"/>
          </a:xfrm>
          <a:prstGeom prst="rect">
            <a:avLst/>
          </a:prstGeom>
          <a:solidFill>
            <a:srgbClr val="EDF6F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23944" y="3602736"/>
            <a:ext cx="3063240" cy="1737360"/>
          </a:xfrm>
          <a:prstGeom prst="rect">
            <a:avLst/>
          </a:prstGeom>
          <a:solidFill>
            <a:srgbClr val="FFF5D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44752" y="217627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高影响 / 低可能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43400" y="217627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高影响 / 高可能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2587752"/>
            <a:ext cx="1152144" cy="1152144"/>
          </a:xfrm>
          <a:prstGeom prst="ellipse">
            <a:avLst/>
          </a:prstGeom>
          <a:solidFill>
            <a:srgbClr val="D9534F">
              <a:alpha val="9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2910352"/>
            <a:ext cx="1060704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外部服务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依赖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815584" y="2743200"/>
            <a:ext cx="1042416" cy="1042416"/>
          </a:xfrm>
          <a:prstGeom prst="ellipse">
            <a:avLst/>
          </a:prstGeom>
          <a:solidFill>
            <a:srgbClr val="E76F51">
              <a:alpha val="9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61304" y="3035076"/>
            <a:ext cx="950976" cy="45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双轨能力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漂移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98848" y="4096512"/>
            <a:ext cx="1024128" cy="1024128"/>
          </a:xfrm>
          <a:prstGeom prst="ellipse">
            <a:avLst/>
          </a:prstGeom>
          <a:solidFill>
            <a:srgbClr val="F2B134">
              <a:alpha val="9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44568" y="4383268"/>
            <a:ext cx="932688" cy="450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 CI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门禁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788152" y="4297680"/>
            <a:ext cx="1078992" cy="1078992"/>
          </a:xfrm>
          <a:prstGeom prst="ellipse">
            <a:avLst/>
          </a:prstGeom>
          <a:solidFill>
            <a:srgbClr val="028090">
              <a:alpha val="9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33872" y="4599798"/>
            <a:ext cx="987552" cy="4747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RC 依赖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331720" y="2743200"/>
            <a:ext cx="1051560" cy="1051560"/>
          </a:xfrm>
          <a:prstGeom prst="ellipse">
            <a:avLst/>
          </a:prstGeom>
          <a:solidFill>
            <a:srgbClr val="065A82">
              <a:alpha val="9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0" y="3037637"/>
            <a:ext cx="96012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配置与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密钥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28432" y="1700784"/>
            <a:ext cx="3566160" cy="4279392"/>
          </a:xfrm>
          <a:prstGeom prst="roundRect">
            <a:avLst>
              <a:gd name="adj" fmla="val 2051"/>
            </a:avLst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  <a:effectLst>
            <a:outerShdw sx="100000" sy="100000" kx="0" ky="0" algn="bl" rotWithShape="0" blurRad="50800" dist="50800" dir="8100000">
              <a:srgbClr val="0B4454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366760" y="20208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阻塞信号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8375904" y="2688336"/>
            <a:ext cx="438912" cy="43891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75904" y="274320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015984" y="2697480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DF4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Nacos、Redis、MySQL、AI API 与 COS 均需配置</a:t>
            </a:r>
            <a:endParaRPr lang="en-US" sz="1220" dirty="0"/>
          </a:p>
        </p:txBody>
      </p:sp>
      <p:sp>
        <p:nvSpPr>
          <p:cNvPr id="32" name="Shape 30"/>
          <p:cNvSpPr/>
          <p:nvPr/>
        </p:nvSpPr>
        <p:spPr>
          <a:xfrm>
            <a:off x="8375904" y="3392424"/>
            <a:ext cx="438912" cy="43891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75904" y="344728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015984" y="3401568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DF4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截图链路依赖 Chrome / Selenium 运行环境</a:t>
            </a:r>
            <a:endParaRPr lang="en-US" sz="1220" dirty="0"/>
          </a:p>
        </p:txBody>
      </p:sp>
      <p:sp>
        <p:nvSpPr>
          <p:cNvPr id="35" name="Shape 33"/>
          <p:cNvSpPr/>
          <p:nvPr/>
        </p:nvSpPr>
        <p:spPr>
          <a:xfrm>
            <a:off x="8375904" y="4096512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75904" y="415137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015984" y="4105656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DF4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local 配置不入库，首次启动门槛较高</a:t>
            </a:r>
            <a:endParaRPr lang="en-US" sz="1220" dirty="0"/>
          </a:p>
        </p:txBody>
      </p:sp>
      <p:sp>
        <p:nvSpPr>
          <p:cNvPr id="38" name="Shape 36"/>
          <p:cNvSpPr/>
          <p:nvPr/>
        </p:nvSpPr>
        <p:spPr>
          <a:xfrm>
            <a:off x="8375904" y="4800600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75904" y="485546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015984" y="4809744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DF4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LangGraph4j 仍采用 1.6.0-rc2</a:t>
            </a:r>
            <a:endParaRPr lang="en-US" sz="12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389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4572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 · 下一步计划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877824"/>
            <a:ext cx="8138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优先完成可运行闭环，再扩展能力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458200" y="941832"/>
            <a:ext cx="3127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5472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三阶段推进，均带可验证出口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6510528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7891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YU AI CODE MOTHER · 每日项目状态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91088" y="6455664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58768" y="3547872"/>
            <a:ext cx="566928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708392" y="3547872"/>
            <a:ext cx="566928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94360" y="1737360"/>
            <a:ext cx="3319272" cy="411480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C9E5E3"/>
            </a:solidFill>
            <a:prstDash val="solid"/>
          </a:ln>
          <a:effectLst>
            <a:outerShdw sx="100000" sy="100000" kx="0" ky="0" algn="bl" rotWithShape="0" blurRad="50800" dist="50800" dir="8100000">
              <a:srgbClr val="0B4454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2011680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066544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P0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91640" y="198424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集成闭环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68680" y="26517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53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网关 + 前端适配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05256" y="3182112"/>
            <a:ext cx="251460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01549" indent="-201549">
              <a:buSzPct val="100000"/>
              <a:buChar char="•"/>
            </a:pPr>
            <a:r>
              <a:rPr lang="en-US" sz="138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 API 入口</a:t>
            </a:r>
            <a:endParaRPr lang="en-US" sz="1380" dirty="0"/>
          </a:p>
          <a:p>
            <a:pPr marL="201549" indent="-201549">
              <a:buSzPct val="100000"/>
              <a:buChar char="•"/>
            </a:pPr>
            <a:r>
              <a:rPr lang="en-US" sz="138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跑通用户—生成—部署</a:t>
            </a:r>
            <a:endParaRPr lang="en-US" sz="1380" dirty="0"/>
          </a:p>
          <a:p>
            <a:pPr marL="201549" indent="-201549">
              <a:buSzPct val="100000"/>
              <a:buChar char="•"/>
            </a:pPr>
            <a:r>
              <a:rPr lang="en-US" sz="138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补齐健康检查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868680" y="4773168"/>
            <a:ext cx="2770632" cy="704088"/>
          </a:xfrm>
          <a:prstGeom prst="roundRect">
            <a:avLst>
              <a:gd name="adj" fmla="val 7792"/>
            </a:avLst>
          </a:prstGeom>
          <a:solidFill>
            <a:srgbClr val="FFF1EE"/>
          </a:solidFill>
          <a:ln w="12700">
            <a:solidFill>
              <a:srgbClr val="F0B8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937760"/>
            <a:ext cx="749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53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验收出口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801368" y="491032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一个域名可演示全流程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34840" y="1737360"/>
            <a:ext cx="3319272" cy="411480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C9E5E3"/>
            </a:solidFill>
            <a:prstDash val="solid"/>
          </a:ln>
          <a:effectLst>
            <a:outerShdw sx="100000" sy="100000" kx="0" ky="0" algn="bl" rotWithShape="0" blurRad="50800" dist="50800" dir="8100000">
              <a:srgbClr val="0B4454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011680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2312" y="2066544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532120" y="198424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质量闭环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4709160" y="26517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B1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 + CI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745736" y="3182112"/>
            <a:ext cx="251460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01549" indent="-201549">
              <a:buSzPct val="100000"/>
              <a:buChar char="•"/>
            </a:pPr>
            <a:r>
              <a:rPr lang="en-US" sz="138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外部依赖可 Mock</a:t>
            </a:r>
            <a:endParaRPr lang="en-US" sz="1380" dirty="0"/>
          </a:p>
          <a:p>
            <a:pPr marL="201549" indent="-201549">
              <a:buSzPct val="100000"/>
              <a:buChar char="•"/>
            </a:pPr>
            <a:r>
              <a:rPr lang="en-US" sz="138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后端 / 前端最小回归</a:t>
            </a:r>
            <a:endParaRPr lang="en-US" sz="1380" dirty="0"/>
          </a:p>
          <a:p>
            <a:pPr marL="201549" indent="-201549">
              <a:buSzPct val="100000"/>
              <a:buChar char="•"/>
            </a:pPr>
            <a:r>
              <a:rPr lang="en-US" sz="138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 构建质量门禁</a:t>
            </a:r>
            <a:endParaRPr lang="en-US" sz="1380" dirty="0"/>
          </a:p>
        </p:txBody>
      </p:sp>
      <p:sp>
        <p:nvSpPr>
          <p:cNvPr id="25" name="Shape 23"/>
          <p:cNvSpPr/>
          <p:nvPr/>
        </p:nvSpPr>
        <p:spPr>
          <a:xfrm>
            <a:off x="4709160" y="4773168"/>
            <a:ext cx="2770632" cy="704088"/>
          </a:xfrm>
          <a:prstGeom prst="roundRect">
            <a:avLst>
              <a:gd name="adj" fmla="val 7792"/>
            </a:avLst>
          </a:prstGeom>
          <a:solidFill>
            <a:srgbClr val="FFF8E7"/>
          </a:solidFill>
          <a:ln w="12700">
            <a:solidFill>
              <a:srgbClr val="F2D6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4937760"/>
            <a:ext cx="749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B1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验收出口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41848" y="491032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每次变更可重复验证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75320" y="1737360"/>
            <a:ext cx="3319272" cy="411480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C9E5E3"/>
            </a:solidFill>
            <a:prstDash val="solid"/>
          </a:ln>
          <a:effectLst>
            <a:outerShdw sx="100000" sy="100000" kx="0" ky="0" algn="bl" rotWithShape="0" blurRad="50800" dist="50800" dir="8100000">
              <a:srgbClr val="0B4454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549640" y="2011680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22792" y="2066544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P2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372600" y="198424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73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能力收口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8549640" y="26517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工作流 + 监控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586216" y="3182112"/>
            <a:ext cx="251460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01549" indent="-201549">
              <a:buSzPct val="100000"/>
              <a:buChar char="•"/>
            </a:pPr>
            <a:r>
              <a:rPr lang="en-US" sz="138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明确单体保留边界</a:t>
            </a:r>
            <a:endParaRPr lang="en-US" sz="1380" dirty="0"/>
          </a:p>
          <a:p>
            <a:pPr marL="201549" indent="-201549">
              <a:buSzPct val="100000"/>
              <a:buChar char="•"/>
            </a:pPr>
            <a:r>
              <a:rPr lang="en-US" sz="138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迁移 LangGraph / 指标</a:t>
            </a:r>
            <a:endParaRPr lang="en-US" sz="1380" dirty="0"/>
          </a:p>
          <a:p>
            <a:pPr marL="201549" indent="-201549">
              <a:buSzPct val="100000"/>
              <a:buChar char="•"/>
            </a:pPr>
            <a:r>
              <a:rPr lang="en-US" sz="138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统一运维手册</a:t>
            </a:r>
            <a:endParaRPr lang="en-US" sz="1380" dirty="0"/>
          </a:p>
        </p:txBody>
      </p:sp>
      <p:sp>
        <p:nvSpPr>
          <p:cNvPr id="34" name="Shape 32"/>
          <p:cNvSpPr/>
          <p:nvPr/>
        </p:nvSpPr>
        <p:spPr>
          <a:xfrm>
            <a:off x="8549640" y="4773168"/>
            <a:ext cx="2770632" cy="704088"/>
          </a:xfrm>
          <a:prstGeom prst="roundRect">
            <a:avLst>
              <a:gd name="adj" fmla="val 7792"/>
            </a:avLst>
          </a:prstGeom>
          <a:solidFill>
            <a:srgbClr val="DFF4F1"/>
          </a:solidFill>
          <a:ln w="12700">
            <a:solidFill>
              <a:srgbClr val="B6E2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32520" y="4937760"/>
            <a:ext cx="749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验收出口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482328" y="491032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B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双轨差异可控、可追踪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-320040"/>
            <a:ext cx="4389120" cy="4389120"/>
          </a:xfrm>
          <a:prstGeom prst="ellipse">
            <a:avLst/>
          </a:prstGeom>
          <a:solidFill>
            <a:srgbClr val="028090">
              <a:alpha val="55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73184" y="548640"/>
            <a:ext cx="2788920" cy="2788920"/>
          </a:xfrm>
          <a:prstGeom prst="ellipse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669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EDDD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726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平台能力已成形，下一阶段是工程化收口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13232" y="2743200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79806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75234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产品闭环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88336" y="2743200"/>
            <a:ext cx="5120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7E9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生成、编辑、部署、管理四大能力均有代码支撑。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13232" y="3621024"/>
            <a:ext cx="438912" cy="438912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67588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363016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当前信号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88336" y="3621024"/>
            <a:ext cx="5120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7E9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近 7 天无提交；最新里程碑仍是 2025-08 微服务改造。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13232" y="4498848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455371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450799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团队焦点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88336" y="4498848"/>
            <a:ext cx="5120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7E9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统一入口、测试与 CI 应先于新增功能。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4944" y="5577840"/>
            <a:ext cx="7196328" cy="603504"/>
          </a:xfrm>
          <a:prstGeom prst="roundRect">
            <a:avLst>
              <a:gd name="adj" fmla="val 9091"/>
            </a:avLst>
          </a:prstGeom>
          <a:solidFill>
            <a:srgbClr val="028090">
              <a:alpha val="94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5760720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建议决策：确认微服务作为主线，并为“可运行闭环”指定明确负责人和验收清单。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8540496" y="5907024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EDD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数据截至 2026-07-20（北京时间）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" y="6510528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9EDD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YU AI CODE MOTHER · 每日项目状态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91088" y="6455664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yu-ai-code-mother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2026-07-20</dc:title>
  <dc:subject>每日项目状态汇报</dc:subject>
  <dc:creator>yu-ai-code-mother 项目自动化</dc:creator>
  <cp:lastModifiedBy>yu-ai-code-mother 项目自动化</cp:lastModifiedBy>
  <cp:revision>1</cp:revision>
  <dcterms:created xsi:type="dcterms:W3CDTF">2026-07-20T09:08:10Z</dcterms:created>
  <dcterms:modified xsi:type="dcterms:W3CDTF">2026-07-20T09:08:10Z</dcterms:modified>
</cp:coreProperties>
</file>